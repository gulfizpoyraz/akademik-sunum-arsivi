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8" r:id="rId4"/>
    <p:sldId id="259" r:id="rId5"/>
    <p:sldId id="262" r:id="rId6"/>
    <p:sldId id="264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64" d="100"/>
          <a:sy n="64" d="100"/>
        </p:scale>
        <p:origin x="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90533\Desktop\bak&#305;r&#231;ay\veri%20g&#246;rselle&#351;tirme%20ve%20raporlama\Vize\Vize_grafi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980299237897428"/>
          <c:y val="0.22002874989260465"/>
          <c:w val="0.43312074113880145"/>
          <c:h val="0.70315701334879155"/>
        </c:manualLayout>
      </c:layout>
      <c:doughnutChart>
        <c:varyColors val="1"/>
        <c:ser>
          <c:idx val="0"/>
          <c:order val="0"/>
          <c:spPr>
            <a:ln>
              <a:solidFill>
                <a:sysClr val="windowText" lastClr="000000">
                  <a:lumMod val="25000"/>
                  <a:lumOff val="75000"/>
                  <a:alpha val="99000"/>
                </a:sysClr>
              </a:solidFill>
            </a:ln>
            <a:effectLst>
              <a:outerShdw blurRad="76200" algn="ctr" rotWithShape="0">
                <a:srgbClr val="000000"/>
              </a:outerShdw>
            </a:effectLst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ysClr val="windowText" lastClr="000000">
                    <a:lumMod val="25000"/>
                    <a:lumOff val="75000"/>
                    <a:alpha val="99000"/>
                  </a:sysClr>
                </a:solidFill>
              </a:ln>
              <a:effectLst>
                <a:outerShdw blurRad="76200" algn="ctr" rotWithShape="0">
                  <a:srgbClr val="000000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FEF-4454-AA6E-EDEB7CFF86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ysClr val="windowText" lastClr="000000">
                    <a:lumMod val="25000"/>
                    <a:lumOff val="75000"/>
                    <a:alpha val="99000"/>
                  </a:sysClr>
                </a:solidFill>
              </a:ln>
              <a:effectLst>
                <a:outerShdw blurRad="76200" algn="ctr" rotWithShape="0">
                  <a:srgbClr val="000000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FEF-4454-AA6E-EDEB7CFF86C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ysClr val="windowText" lastClr="000000">
                    <a:lumMod val="25000"/>
                    <a:lumOff val="75000"/>
                    <a:alpha val="99000"/>
                  </a:sysClr>
                </a:solidFill>
              </a:ln>
              <a:effectLst>
                <a:outerShdw blurRad="76200" algn="ctr" rotWithShape="0">
                  <a:srgbClr val="000000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FEF-4454-AA6E-EDEB7CFF86C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ysClr val="windowText" lastClr="000000">
                    <a:lumMod val="25000"/>
                    <a:lumOff val="75000"/>
                    <a:alpha val="99000"/>
                  </a:sysClr>
                </a:solidFill>
              </a:ln>
              <a:effectLst>
                <a:outerShdw blurRad="76200" algn="ctr" rotWithShape="0">
                  <a:srgbClr val="000000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1FEF-4454-AA6E-EDEB7CFF86C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ysClr val="windowText" lastClr="000000">
                    <a:lumMod val="25000"/>
                    <a:lumOff val="75000"/>
                    <a:alpha val="99000"/>
                  </a:sysClr>
                </a:solidFill>
              </a:ln>
              <a:effectLst>
                <a:outerShdw blurRad="76200" algn="ctr" rotWithShape="0">
                  <a:srgbClr val="000000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1FEF-4454-AA6E-EDEB7CFF86C3}"/>
              </c:ext>
            </c:extLst>
          </c:dPt>
          <c:dLbls>
            <c:dLbl>
              <c:idx val="0"/>
              <c:layout>
                <c:manualLayout>
                  <c:x val="0.11112620630421302"/>
                  <c:y val="-0.1172564754580812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FEF-4454-AA6E-EDEB7CFF86C3}"/>
                </c:ext>
              </c:extLst>
            </c:dLbl>
            <c:dLbl>
              <c:idx val="1"/>
              <c:layout>
                <c:manualLayout>
                  <c:x val="0.11307578887095375"/>
                  <c:y val="0.11725647545808107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FEF-4454-AA6E-EDEB7CFF86C3}"/>
                </c:ext>
              </c:extLst>
            </c:dLbl>
            <c:dLbl>
              <c:idx val="2"/>
              <c:layout>
                <c:manualLayout>
                  <c:x val="-0.10527745860399146"/>
                  <c:y val="8.7942356593560783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FEF-4454-AA6E-EDEB7CFF86C3}"/>
                </c:ext>
              </c:extLst>
            </c:dLbl>
            <c:dLbl>
              <c:idx val="3"/>
              <c:layout>
                <c:manualLayout>
                  <c:x val="-9.5529545770288521E-2"/>
                  <c:y val="-0.10097085386668106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FEF-4454-AA6E-EDEB7CFF86C3}"/>
                </c:ext>
              </c:extLst>
            </c:dLbl>
            <c:dLbl>
              <c:idx val="4"/>
              <c:layout>
                <c:manualLayout>
                  <c:x val="-4.8739564168514549E-2"/>
                  <c:y val="-0.19542745909680201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FEF-4454-AA6E-EDEB7CFF86C3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numRef>
              <c:f>'Grafik 3'!$A$23:$A$27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'Grafik 3'!$B$23:$B$27</c:f>
              <c:numCache>
                <c:formatCode>General</c:formatCode>
                <c:ptCount val="5"/>
                <c:pt idx="0">
                  <c:v>81624</c:v>
                </c:pt>
                <c:pt idx="1">
                  <c:v>117152</c:v>
                </c:pt>
                <c:pt idx="2">
                  <c:v>134980</c:v>
                </c:pt>
                <c:pt idx="3">
                  <c:v>70010</c:v>
                </c:pt>
                <c:pt idx="4">
                  <c:v>47562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FEF-4454-AA6E-EDEB7CFF86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7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>
      <a:gsLst>
        <a:gs pos="0">
          <a:schemeClr val="accent1">
            <a:lumMod val="5000"/>
            <a:lumOff val="95000"/>
          </a:schemeClr>
        </a:gs>
        <a:gs pos="42000">
          <a:schemeClr val="accent1">
            <a:lumMod val="45000"/>
            <a:lumOff val="55000"/>
          </a:schemeClr>
        </a:gs>
        <a:gs pos="68000">
          <a:schemeClr val="accent1">
            <a:lumMod val="45000"/>
            <a:lumOff val="55000"/>
          </a:schemeClr>
        </a:gs>
        <a:gs pos="92240">
          <a:srgbClr val="A2D8F0"/>
        </a:gs>
        <a:gs pos="97479">
          <a:schemeClr val="accent1">
            <a:lumMod val="20000"/>
            <a:lumOff val="80000"/>
          </a:schemeClr>
        </a:gs>
        <a:gs pos="87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r="5400000" algn="ctr" rotWithShape="0">
        <a:srgbClr val="000000">
          <a:alpha val="43137"/>
        </a:srgb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CE88D-E24B-FAE3-3C69-75EDA52ED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A5F8B-FEC2-F424-7052-1055EC4BE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CD9FA-041A-1A62-573F-7B01C5A5E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B4C6-7A27-4799-9ABD-7C143DA7670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1327A-1DCA-1E8A-F9C1-E72873C0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7C2A-99DC-0925-E531-95F9D81B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1645-4962-4449-8290-BECA6E64F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8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37589-6695-470C-9087-2F899428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76C83-A7D6-2CFA-8573-B902C51D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D7953-EDB9-0D65-02D6-320477126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B4C6-7A27-4799-9ABD-7C143DA7670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4561F-DC58-0AE0-8914-B9520B0A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A7EF6-99C0-B263-1AA4-BC10B1949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1645-4962-4449-8290-BECA6E64F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10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6565-76CA-B494-0807-B4CF39CD1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73533-4380-6A26-03FC-F2876EBF4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29BBD-3A7D-AE5C-0AD6-CA20C32B2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B4C6-7A27-4799-9ABD-7C143DA7670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4C6C3-77F9-7F50-B540-C3F7CA995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97744-9D5F-A193-46C4-39A37640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1645-4962-4449-8290-BECA6E64F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69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75B84-7393-FF98-2E8F-4B536D55F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0F0B3-22C3-2B52-1F71-B8A37E97E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2F163F-323F-AF23-75E3-76CD3A64F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F2D2E-A0B0-1757-6B6E-8D2ADA3E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B4C6-7A27-4799-9ABD-7C143DA7670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99647-DF51-069A-610F-EC71DABD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E2205-085B-CA17-1A72-EA3DA1D5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1645-4962-4449-8290-BECA6E64F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930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2A34-4A00-3E4F-AC98-A8AAD7B55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01933-D79E-C9E1-E15F-CFA9D9563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2133B-4AC0-F2FC-DB8F-B6BBC8990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91E35-5A7D-06E0-1699-4BDEB49BB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0B7FAD-ADE3-0081-81EB-C1BBFABB30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11D9E-B20A-977C-12D9-3E24AE0FB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B4C6-7A27-4799-9ABD-7C143DA7670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8F37F-564E-FC8E-5BF0-704500A7D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FA4C12-E660-43AB-CBF3-7DF1B5EC4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1645-4962-4449-8290-BECA6E64F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35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21C3-715F-2E09-D7BA-E401DA34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8AF68C-8039-D8C7-E062-BA497325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B4C6-7A27-4799-9ABD-7C143DA7670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691143-A484-27AC-3991-FA4F95335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FABE8-E8B5-5538-8BEE-2078DC226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1645-4962-4449-8290-BECA6E64F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57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D951B9-0215-C521-4EF5-9FD478DF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B4C6-7A27-4799-9ABD-7C143DA7670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C807A-C9CE-B065-70C8-77F4FBDCD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5A65D-8BCB-EAC5-7B33-0A96CC80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1645-4962-4449-8290-BECA6E64F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13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8E49A-AFF7-B27D-7E86-0C37B323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80EBC-A388-6BED-6A44-4023FE716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2FB5D-E727-402E-6E1E-676C83259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C7BB7-193C-C128-59B3-4E7D48AC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B4C6-7A27-4799-9ABD-7C143DA7670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8CC74-FACF-2884-1CC3-D8C18E50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89BF3-8144-6348-12F7-5D4734F9B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1645-4962-4449-8290-BECA6E64F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2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2C55-7691-DC2B-73E8-B1DA8588D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D8DDC2-6CEC-8E6A-AD6B-F105BEFFC3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B8F57-C715-9E10-F98D-7D8F99D1A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31586-DB54-8B28-8137-83E878310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B4C6-7A27-4799-9ABD-7C143DA7670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FF9F1-E045-A936-EC76-43101B2A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8C142-CE5B-91F5-9127-55315534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1645-4962-4449-8290-BECA6E64F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66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E475B-3D20-9E48-CC96-F7A53AB43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BFAB2-8DFF-32EB-AB3B-A53FA47BE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37CCD-791D-CF1D-6199-62D13D53A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B4C6-7A27-4799-9ABD-7C143DA7670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4C393-6C80-03DC-924F-11782F34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6EE45-5E41-5304-954E-3D2244FA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1645-4962-4449-8290-BECA6E64F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68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BD4E0-E80A-B2F8-57D9-E4B795501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DF3B7-5FFF-633B-49BE-4CCFEFD81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2D8E3-4C27-4E1E-CDC1-36D34712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4B4C6-7A27-4799-9ABD-7C143DA7670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CEC39-E23B-EEBE-8834-7E3A0D0E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C4DB9-7486-761D-1BCB-2E57E548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1645-4962-4449-8290-BECA6E64F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9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2EB131-A3CD-1733-5735-EC7D36DC7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2A55A-2A82-97A6-86B5-3BA7F38DC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D78A-D145-4A03-EBD6-B834D6BC4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4B4C6-7A27-4799-9ABD-7C143DA7670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E2840-4142-3F07-248E-AD2D0B650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E5CF8-DD31-F833-E6A1-3FF353F9C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E1645-4962-4449-8290-BECA6E64F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86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A9ED47-DB64-4E98-6CA7-01F233D79B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6" t="2292" r="4315" b="3645"/>
          <a:stretch>
            <a:fillRect/>
          </a:stretch>
        </p:blipFill>
        <p:spPr>
          <a:xfrm>
            <a:off x="1047261" y="468923"/>
            <a:ext cx="10378831" cy="615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21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8BA467-1F48-CBA4-BDFA-75D09370A4C5}"/>
              </a:ext>
            </a:extLst>
          </p:cNvPr>
          <p:cNvSpPr txBox="1"/>
          <p:nvPr/>
        </p:nvSpPr>
        <p:spPr>
          <a:xfrm>
            <a:off x="2065201" y="292946"/>
            <a:ext cx="66239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200" b="1" dirty="0">
                <a:latin typeface="Arial" panose="020B0604020202020204" pitchFamily="34" charset="0"/>
                <a:cs typeface="Arial" panose="020B0604020202020204" pitchFamily="34" charset="0"/>
              </a:rPr>
              <a:t>Grafik 1: </a:t>
            </a:r>
            <a:r>
              <a:rPr lang="tr-TR" sz="1200" b="1" noProof="0" dirty="0">
                <a:latin typeface="Arial" panose="020B0604020202020204" pitchFamily="34" charset="0"/>
                <a:cs typeface="Arial" panose="020B0604020202020204" pitchFamily="34" charset="0"/>
              </a:rPr>
              <a:t>2020–2024 Yılları Arasında Toplam, Kadın ve Erkek Konut Satın Alma Eğilimleri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70A37-72B7-E70B-C11D-F744D25FCC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8" t="6425" r="1393" b="1996"/>
          <a:stretch>
            <a:fillRect/>
          </a:stretch>
        </p:blipFill>
        <p:spPr>
          <a:xfrm>
            <a:off x="1911246" y="846944"/>
            <a:ext cx="8416977" cy="542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11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E3AA2-A331-BF3B-394B-DDB4BA0E35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145"/>
          <a:stretch>
            <a:fillRect/>
          </a:stretch>
        </p:blipFill>
        <p:spPr>
          <a:xfrm>
            <a:off x="991167" y="1423315"/>
            <a:ext cx="8496710" cy="45252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B69F9F-2308-5252-F103-61BE57571400}"/>
              </a:ext>
            </a:extLst>
          </p:cNvPr>
          <p:cNvSpPr txBox="1"/>
          <p:nvPr/>
        </p:nvSpPr>
        <p:spPr>
          <a:xfrm>
            <a:off x="2553315" y="205797"/>
            <a:ext cx="6094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1️</a:t>
            </a:r>
            <a:r>
              <a:rPr lang="en-US" sz="18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⃣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Kadın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Erkek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Konut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Sahipliği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Oranlarının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Zaman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İçindeki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Değişimi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(2020–2025)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64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6DD6367-49CF-D3EA-B1F4-7AB136FAA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249" y="1098755"/>
            <a:ext cx="7362001" cy="445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24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62D7C36-3D58-623F-EDE7-F444E14F17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8806356"/>
              </p:ext>
            </p:extLst>
          </p:nvPr>
        </p:nvGraphicFramePr>
        <p:xfrm>
          <a:off x="4219657" y="898943"/>
          <a:ext cx="6514215" cy="38991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509561B-3C03-3D1E-3AA1-7DA40D795DE4}"/>
              </a:ext>
            </a:extLst>
          </p:cNvPr>
          <p:cNvSpPr txBox="1"/>
          <p:nvPr/>
        </p:nvSpPr>
        <p:spPr>
          <a:xfrm>
            <a:off x="4437310" y="652722"/>
            <a:ext cx="60789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000" b="1" noProof="0" dirty="0">
                <a:latin typeface="Arial" panose="020B0604020202020204" pitchFamily="34" charset="0"/>
                <a:cs typeface="Arial" panose="020B0604020202020204" pitchFamily="34" charset="0"/>
              </a:rPr>
              <a:t>Grafik 3: 2020–2024 Yılları Arasında Yabancılara Yapılan Konut Satışlarının Yıllık Oransal Dağılımı</a:t>
            </a:r>
          </a:p>
        </p:txBody>
      </p:sp>
    </p:spTree>
    <p:extLst>
      <p:ext uri="{BB962C8B-B14F-4D97-AF65-F5344CB8AC3E}">
        <p14:creationId xmlns:p14="http://schemas.microsoft.com/office/powerpoint/2010/main" val="3941201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E1680E-234A-0259-6028-51E179A67D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42" t="2263" r="612" b="9632"/>
          <a:stretch>
            <a:fillRect/>
          </a:stretch>
        </p:blipFill>
        <p:spPr>
          <a:xfrm>
            <a:off x="1665027" y="423081"/>
            <a:ext cx="9277208" cy="554781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04A4B81-FC80-3C1F-7855-A16223634863}"/>
              </a:ext>
            </a:extLst>
          </p:cNvPr>
          <p:cNvSpPr/>
          <p:nvPr/>
        </p:nvSpPr>
        <p:spPr>
          <a:xfrm>
            <a:off x="1842448" y="559558"/>
            <a:ext cx="5981635" cy="3627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D04D4-2F46-CD2F-F245-6EF727C938EF}"/>
              </a:ext>
            </a:extLst>
          </p:cNvPr>
          <p:cNvSpPr/>
          <p:nvPr/>
        </p:nvSpPr>
        <p:spPr>
          <a:xfrm>
            <a:off x="1842448" y="5377218"/>
            <a:ext cx="914400" cy="3627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82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AA339-ED9B-ABCE-6A4C-F9786BB5B5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5" t="5777" r="5386" b="3951"/>
          <a:stretch>
            <a:fillRect/>
          </a:stretch>
        </p:blipFill>
        <p:spPr>
          <a:xfrm>
            <a:off x="1661823" y="2019632"/>
            <a:ext cx="9947081" cy="335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058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88F20B-7AD4-A6F4-1868-34A58C5627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81" t="10433" r="971" b="1226"/>
          <a:stretch>
            <a:fillRect/>
          </a:stretch>
        </p:blipFill>
        <p:spPr>
          <a:xfrm>
            <a:off x="1484923" y="1141046"/>
            <a:ext cx="9491932" cy="51082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D6FD83-F47C-4B69-4684-671EB1196AD4}"/>
              </a:ext>
            </a:extLst>
          </p:cNvPr>
          <p:cNvSpPr/>
          <p:nvPr/>
        </p:nvSpPr>
        <p:spPr>
          <a:xfrm>
            <a:off x="1384183" y="5796793"/>
            <a:ext cx="864067" cy="452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D0B2F-E1DA-30E2-3F5D-6CB793682B60}"/>
              </a:ext>
            </a:extLst>
          </p:cNvPr>
          <p:cNvSpPr/>
          <p:nvPr/>
        </p:nvSpPr>
        <p:spPr>
          <a:xfrm>
            <a:off x="1532313" y="5796793"/>
            <a:ext cx="1311555" cy="55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9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56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Gülfiz POYRAZ</dc:creator>
  <cp:lastModifiedBy>Gülfiz POYRAZ</cp:lastModifiedBy>
  <cp:revision>14</cp:revision>
  <dcterms:created xsi:type="dcterms:W3CDTF">2025-11-04T18:50:48Z</dcterms:created>
  <dcterms:modified xsi:type="dcterms:W3CDTF">2025-11-05T21:23:22Z</dcterms:modified>
</cp:coreProperties>
</file>