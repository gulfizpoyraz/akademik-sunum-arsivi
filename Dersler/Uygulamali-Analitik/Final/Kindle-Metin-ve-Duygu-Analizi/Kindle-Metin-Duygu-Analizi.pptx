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87" r:id="rId2"/>
    <p:sldId id="256" r:id="rId3"/>
    <p:sldId id="286" r:id="rId4"/>
    <p:sldId id="261" r:id="rId5"/>
    <p:sldId id="262" r:id="rId6"/>
    <p:sldId id="258" r:id="rId7"/>
    <p:sldId id="263" r:id="rId8"/>
    <p:sldId id="264" r:id="rId9"/>
    <p:sldId id="265" r:id="rId10"/>
    <p:sldId id="267" r:id="rId11"/>
    <p:sldId id="269" r:id="rId12"/>
    <p:sldId id="266" r:id="rId13"/>
    <p:sldId id="268" r:id="rId14"/>
    <p:sldId id="270" r:id="rId15"/>
    <p:sldId id="272" r:id="rId16"/>
    <p:sldId id="273" r:id="rId17"/>
    <p:sldId id="278" r:id="rId18"/>
    <p:sldId id="276" r:id="rId19"/>
    <p:sldId id="277" r:id="rId20"/>
    <p:sldId id="279" r:id="rId21"/>
    <p:sldId id="280" r:id="rId22"/>
    <p:sldId id="281" r:id="rId23"/>
    <p:sldId id="282" r:id="rId24"/>
    <p:sldId id="283" r:id="rId25"/>
    <p:sldId id="284" r:id="rId26"/>
    <p:sldId id="285" r:id="rId27"/>
    <p:sldId id="274" r:id="rId28"/>
    <p:sldId id="294" r:id="rId29"/>
    <p:sldId id="288" r:id="rId30"/>
    <p:sldId id="289" r:id="rId31"/>
    <p:sldId id="293" r:id="rId32"/>
    <p:sldId id="290" r:id="rId33"/>
    <p:sldId id="291" r:id="rId34"/>
    <p:sldId id="292" r:id="rId35"/>
    <p:sldId id="29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FFCC00"/>
    <a:srgbClr val="FF6600"/>
    <a:srgbClr val="78D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70" d="100"/>
          <a:sy n="70" d="100"/>
        </p:scale>
        <p:origin x="52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C57711-3732-45D8-8911-75F4FCDB4767}"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F38EAE4F-AFC7-4BB4-95FE-26DFB5C4BA9A}">
      <dgm:prSet/>
      <dgm:spPr/>
      <dgm:t>
        <a:bodyPr/>
        <a:lstStyle/>
        <a:p>
          <a:pPr algn="ctr"/>
          <a:r>
            <a:rPr lang="en-US" dirty="0"/>
            <a:t>METİN MADENCİLİĞİ (TEXT MINING)  </a:t>
          </a:r>
        </a:p>
      </dgm:t>
    </dgm:pt>
    <dgm:pt modelId="{5469EC96-4763-4C93-8639-62D47FD373FF}" type="parTrans" cxnId="{A5174ED2-7244-454E-908D-626704E33479}">
      <dgm:prSet/>
      <dgm:spPr/>
      <dgm:t>
        <a:bodyPr/>
        <a:lstStyle/>
        <a:p>
          <a:endParaRPr lang="en-US"/>
        </a:p>
      </dgm:t>
    </dgm:pt>
    <dgm:pt modelId="{88D0EF56-603B-487B-9AF0-76A2D669B630}" type="sibTrans" cxnId="{A5174ED2-7244-454E-908D-626704E33479}">
      <dgm:prSet/>
      <dgm:spPr/>
      <dgm:t>
        <a:bodyPr/>
        <a:lstStyle/>
        <a:p>
          <a:endParaRPr lang="en-US"/>
        </a:p>
      </dgm:t>
    </dgm:pt>
    <dgm:pt modelId="{235E08DC-102B-4FF4-9B91-1B12EEC544F1}">
      <dgm:prSet/>
      <dgm:spPr/>
      <dgm:t>
        <a:bodyPr/>
        <a:lstStyle/>
        <a:p>
          <a:pPr algn="ctr"/>
          <a:r>
            <a:rPr lang="en-US" dirty="0"/>
            <a:t>VE </a:t>
          </a:r>
        </a:p>
      </dgm:t>
    </dgm:pt>
    <dgm:pt modelId="{4449C679-2386-4A81-A711-CD29BDF79429}" type="parTrans" cxnId="{260E8FB2-A652-47E0-A420-CC495E7F73B2}">
      <dgm:prSet/>
      <dgm:spPr/>
      <dgm:t>
        <a:bodyPr/>
        <a:lstStyle/>
        <a:p>
          <a:endParaRPr lang="en-US"/>
        </a:p>
      </dgm:t>
    </dgm:pt>
    <dgm:pt modelId="{6317C6E8-A409-41D7-BA54-659C90407390}" type="sibTrans" cxnId="{260E8FB2-A652-47E0-A420-CC495E7F73B2}">
      <dgm:prSet/>
      <dgm:spPr/>
      <dgm:t>
        <a:bodyPr/>
        <a:lstStyle/>
        <a:p>
          <a:endParaRPr lang="en-US"/>
        </a:p>
      </dgm:t>
    </dgm:pt>
    <dgm:pt modelId="{8DE7BFF2-98FE-40D1-99EF-B4B9569B60EE}">
      <dgm:prSet/>
      <dgm:spPr/>
      <dgm:t>
        <a:bodyPr/>
        <a:lstStyle/>
        <a:p>
          <a:pPr algn="ctr"/>
          <a:r>
            <a:rPr lang="en-US" dirty="0"/>
            <a:t>DUYGU ANALİTİĞİ (SENTIMENT ANALYSIS)</a:t>
          </a:r>
        </a:p>
      </dgm:t>
    </dgm:pt>
    <dgm:pt modelId="{DC2C3280-5277-4C86-83B9-7D1C039CF00C}" type="parTrans" cxnId="{61BFF72D-A2CF-4655-84F8-13FB7C93C91A}">
      <dgm:prSet/>
      <dgm:spPr/>
      <dgm:t>
        <a:bodyPr/>
        <a:lstStyle/>
        <a:p>
          <a:endParaRPr lang="en-US"/>
        </a:p>
      </dgm:t>
    </dgm:pt>
    <dgm:pt modelId="{BEFC033E-C5C3-451A-8316-3C9F1CDDE4D8}" type="sibTrans" cxnId="{61BFF72D-A2CF-4655-84F8-13FB7C93C91A}">
      <dgm:prSet/>
      <dgm:spPr/>
      <dgm:t>
        <a:bodyPr/>
        <a:lstStyle/>
        <a:p>
          <a:endParaRPr lang="en-US"/>
        </a:p>
      </dgm:t>
    </dgm:pt>
    <dgm:pt modelId="{7D8F7BE5-8169-49F6-A9B9-E90FABC9FE7C}" type="pres">
      <dgm:prSet presAssocID="{94C57711-3732-45D8-8911-75F4FCDB4767}" presName="outerComposite" presStyleCnt="0">
        <dgm:presLayoutVars>
          <dgm:chMax val="5"/>
          <dgm:dir/>
          <dgm:resizeHandles val="exact"/>
        </dgm:presLayoutVars>
      </dgm:prSet>
      <dgm:spPr/>
    </dgm:pt>
    <dgm:pt modelId="{B1B42D7F-1293-4261-BC41-C686ACD923D2}" type="pres">
      <dgm:prSet presAssocID="{94C57711-3732-45D8-8911-75F4FCDB4767}" presName="dummyMaxCanvas" presStyleCnt="0">
        <dgm:presLayoutVars/>
      </dgm:prSet>
      <dgm:spPr/>
    </dgm:pt>
    <dgm:pt modelId="{587B8CB4-7CE4-4039-A5FF-055C35C349D0}" type="pres">
      <dgm:prSet presAssocID="{94C57711-3732-45D8-8911-75F4FCDB4767}" presName="ThreeNodes_1" presStyleLbl="node1" presStyleIdx="0" presStyleCnt="3">
        <dgm:presLayoutVars>
          <dgm:bulletEnabled val="1"/>
        </dgm:presLayoutVars>
      </dgm:prSet>
      <dgm:spPr/>
    </dgm:pt>
    <dgm:pt modelId="{9858DDA0-CF20-4971-AE3B-37F70158ED6D}" type="pres">
      <dgm:prSet presAssocID="{94C57711-3732-45D8-8911-75F4FCDB4767}" presName="ThreeNodes_2" presStyleLbl="node1" presStyleIdx="1" presStyleCnt="3">
        <dgm:presLayoutVars>
          <dgm:bulletEnabled val="1"/>
        </dgm:presLayoutVars>
      </dgm:prSet>
      <dgm:spPr/>
    </dgm:pt>
    <dgm:pt modelId="{CD3D90C8-C4E6-40A4-A21B-2AC86068D294}" type="pres">
      <dgm:prSet presAssocID="{94C57711-3732-45D8-8911-75F4FCDB4767}" presName="ThreeNodes_3" presStyleLbl="node1" presStyleIdx="2" presStyleCnt="3">
        <dgm:presLayoutVars>
          <dgm:bulletEnabled val="1"/>
        </dgm:presLayoutVars>
      </dgm:prSet>
      <dgm:spPr/>
    </dgm:pt>
    <dgm:pt modelId="{F1E480D2-57D7-456B-812E-81D3F8CA1ED1}" type="pres">
      <dgm:prSet presAssocID="{94C57711-3732-45D8-8911-75F4FCDB4767}" presName="ThreeConn_1-2" presStyleLbl="fgAccFollowNode1" presStyleIdx="0" presStyleCnt="2">
        <dgm:presLayoutVars>
          <dgm:bulletEnabled val="1"/>
        </dgm:presLayoutVars>
      </dgm:prSet>
      <dgm:spPr/>
    </dgm:pt>
    <dgm:pt modelId="{58C6F6BC-C499-46E8-A73A-B801C1960B7E}" type="pres">
      <dgm:prSet presAssocID="{94C57711-3732-45D8-8911-75F4FCDB4767}" presName="ThreeConn_2-3" presStyleLbl="fgAccFollowNode1" presStyleIdx="1" presStyleCnt="2">
        <dgm:presLayoutVars>
          <dgm:bulletEnabled val="1"/>
        </dgm:presLayoutVars>
      </dgm:prSet>
      <dgm:spPr/>
    </dgm:pt>
    <dgm:pt modelId="{78926114-09CA-479E-ACCB-6DD748E8E5B8}" type="pres">
      <dgm:prSet presAssocID="{94C57711-3732-45D8-8911-75F4FCDB4767}" presName="ThreeNodes_1_text" presStyleLbl="node1" presStyleIdx="2" presStyleCnt="3">
        <dgm:presLayoutVars>
          <dgm:bulletEnabled val="1"/>
        </dgm:presLayoutVars>
      </dgm:prSet>
      <dgm:spPr/>
    </dgm:pt>
    <dgm:pt modelId="{98F13D25-9FC7-45B1-827E-CDFE16E3BC56}" type="pres">
      <dgm:prSet presAssocID="{94C57711-3732-45D8-8911-75F4FCDB4767}" presName="ThreeNodes_2_text" presStyleLbl="node1" presStyleIdx="2" presStyleCnt="3">
        <dgm:presLayoutVars>
          <dgm:bulletEnabled val="1"/>
        </dgm:presLayoutVars>
      </dgm:prSet>
      <dgm:spPr/>
    </dgm:pt>
    <dgm:pt modelId="{8E48BBA6-FB7F-4EB0-AC72-293C4F65E81E}" type="pres">
      <dgm:prSet presAssocID="{94C57711-3732-45D8-8911-75F4FCDB4767}" presName="ThreeNodes_3_text" presStyleLbl="node1" presStyleIdx="2" presStyleCnt="3">
        <dgm:presLayoutVars>
          <dgm:bulletEnabled val="1"/>
        </dgm:presLayoutVars>
      </dgm:prSet>
      <dgm:spPr/>
    </dgm:pt>
  </dgm:ptLst>
  <dgm:cxnLst>
    <dgm:cxn modelId="{06FEC229-2124-47BB-8E30-A7D3C1F829BC}" type="presOf" srcId="{94C57711-3732-45D8-8911-75F4FCDB4767}" destId="{7D8F7BE5-8169-49F6-A9B9-E90FABC9FE7C}" srcOrd="0" destOrd="0" presId="urn:microsoft.com/office/officeart/2005/8/layout/vProcess5"/>
    <dgm:cxn modelId="{7343FB2B-8824-4109-A1BB-783C610B2B0B}" type="presOf" srcId="{235E08DC-102B-4FF4-9B91-1B12EEC544F1}" destId="{9858DDA0-CF20-4971-AE3B-37F70158ED6D}" srcOrd="0" destOrd="0" presId="urn:microsoft.com/office/officeart/2005/8/layout/vProcess5"/>
    <dgm:cxn modelId="{61BFF72D-A2CF-4655-84F8-13FB7C93C91A}" srcId="{94C57711-3732-45D8-8911-75F4FCDB4767}" destId="{8DE7BFF2-98FE-40D1-99EF-B4B9569B60EE}" srcOrd="2" destOrd="0" parTransId="{DC2C3280-5277-4C86-83B9-7D1C039CF00C}" sibTransId="{BEFC033E-C5C3-451A-8316-3C9F1CDDE4D8}"/>
    <dgm:cxn modelId="{235EB936-647E-47B6-9865-1C3D97D9A06F}" type="presOf" srcId="{F38EAE4F-AFC7-4BB4-95FE-26DFB5C4BA9A}" destId="{587B8CB4-7CE4-4039-A5FF-055C35C349D0}" srcOrd="0" destOrd="0" presId="urn:microsoft.com/office/officeart/2005/8/layout/vProcess5"/>
    <dgm:cxn modelId="{167B1D40-EB6E-4805-AC4A-FDEEF702FBA2}" type="presOf" srcId="{88D0EF56-603B-487B-9AF0-76A2D669B630}" destId="{F1E480D2-57D7-456B-812E-81D3F8CA1ED1}" srcOrd="0" destOrd="0" presId="urn:microsoft.com/office/officeart/2005/8/layout/vProcess5"/>
    <dgm:cxn modelId="{300A3E71-2142-4156-B6E0-E788827EEB1C}" type="presOf" srcId="{F38EAE4F-AFC7-4BB4-95FE-26DFB5C4BA9A}" destId="{78926114-09CA-479E-ACCB-6DD748E8E5B8}" srcOrd="1" destOrd="0" presId="urn:microsoft.com/office/officeart/2005/8/layout/vProcess5"/>
    <dgm:cxn modelId="{68D3267C-EBB1-4411-9B86-677E81F8C931}" type="presOf" srcId="{6317C6E8-A409-41D7-BA54-659C90407390}" destId="{58C6F6BC-C499-46E8-A73A-B801C1960B7E}" srcOrd="0" destOrd="0" presId="urn:microsoft.com/office/officeart/2005/8/layout/vProcess5"/>
    <dgm:cxn modelId="{C038AE82-CCF8-4372-9B7B-E82512AE8B51}" type="presOf" srcId="{235E08DC-102B-4FF4-9B91-1B12EEC544F1}" destId="{98F13D25-9FC7-45B1-827E-CDFE16E3BC56}" srcOrd="1" destOrd="0" presId="urn:microsoft.com/office/officeart/2005/8/layout/vProcess5"/>
    <dgm:cxn modelId="{D48D8685-8EA6-48CA-876B-B74C19223623}" type="presOf" srcId="{8DE7BFF2-98FE-40D1-99EF-B4B9569B60EE}" destId="{8E48BBA6-FB7F-4EB0-AC72-293C4F65E81E}" srcOrd="1" destOrd="0" presId="urn:microsoft.com/office/officeart/2005/8/layout/vProcess5"/>
    <dgm:cxn modelId="{260E8FB2-A652-47E0-A420-CC495E7F73B2}" srcId="{94C57711-3732-45D8-8911-75F4FCDB4767}" destId="{235E08DC-102B-4FF4-9B91-1B12EEC544F1}" srcOrd="1" destOrd="0" parTransId="{4449C679-2386-4A81-A711-CD29BDF79429}" sibTransId="{6317C6E8-A409-41D7-BA54-659C90407390}"/>
    <dgm:cxn modelId="{A5174ED2-7244-454E-908D-626704E33479}" srcId="{94C57711-3732-45D8-8911-75F4FCDB4767}" destId="{F38EAE4F-AFC7-4BB4-95FE-26DFB5C4BA9A}" srcOrd="0" destOrd="0" parTransId="{5469EC96-4763-4C93-8639-62D47FD373FF}" sibTransId="{88D0EF56-603B-487B-9AF0-76A2D669B630}"/>
    <dgm:cxn modelId="{BFB1EBF3-405D-41F3-B627-94720FA9EACF}" type="presOf" srcId="{8DE7BFF2-98FE-40D1-99EF-B4B9569B60EE}" destId="{CD3D90C8-C4E6-40A4-A21B-2AC86068D294}" srcOrd="0" destOrd="0" presId="urn:microsoft.com/office/officeart/2005/8/layout/vProcess5"/>
    <dgm:cxn modelId="{5D24560A-1E01-4C80-8E6E-4D04C10CB9F7}" type="presParOf" srcId="{7D8F7BE5-8169-49F6-A9B9-E90FABC9FE7C}" destId="{B1B42D7F-1293-4261-BC41-C686ACD923D2}" srcOrd="0" destOrd="0" presId="urn:microsoft.com/office/officeart/2005/8/layout/vProcess5"/>
    <dgm:cxn modelId="{7C56F029-DB76-4B7C-AF2A-B3723F42752F}" type="presParOf" srcId="{7D8F7BE5-8169-49F6-A9B9-E90FABC9FE7C}" destId="{587B8CB4-7CE4-4039-A5FF-055C35C349D0}" srcOrd="1" destOrd="0" presId="urn:microsoft.com/office/officeart/2005/8/layout/vProcess5"/>
    <dgm:cxn modelId="{F12CED4C-4A93-4C34-BBB4-9F5DEBF919DA}" type="presParOf" srcId="{7D8F7BE5-8169-49F6-A9B9-E90FABC9FE7C}" destId="{9858DDA0-CF20-4971-AE3B-37F70158ED6D}" srcOrd="2" destOrd="0" presId="urn:microsoft.com/office/officeart/2005/8/layout/vProcess5"/>
    <dgm:cxn modelId="{F1A91133-8E78-45B1-81CA-D0A0DC61D9F3}" type="presParOf" srcId="{7D8F7BE5-8169-49F6-A9B9-E90FABC9FE7C}" destId="{CD3D90C8-C4E6-40A4-A21B-2AC86068D294}" srcOrd="3" destOrd="0" presId="urn:microsoft.com/office/officeart/2005/8/layout/vProcess5"/>
    <dgm:cxn modelId="{AC3A27B3-FFAC-4C3C-A2AC-16DEF4ED5857}" type="presParOf" srcId="{7D8F7BE5-8169-49F6-A9B9-E90FABC9FE7C}" destId="{F1E480D2-57D7-456B-812E-81D3F8CA1ED1}" srcOrd="4" destOrd="0" presId="urn:microsoft.com/office/officeart/2005/8/layout/vProcess5"/>
    <dgm:cxn modelId="{CB9D0144-FE23-42B9-8A6E-0938ACFCD1DF}" type="presParOf" srcId="{7D8F7BE5-8169-49F6-A9B9-E90FABC9FE7C}" destId="{58C6F6BC-C499-46E8-A73A-B801C1960B7E}" srcOrd="5" destOrd="0" presId="urn:microsoft.com/office/officeart/2005/8/layout/vProcess5"/>
    <dgm:cxn modelId="{FE381802-0C2C-487B-8EC1-F56284B635C0}" type="presParOf" srcId="{7D8F7BE5-8169-49F6-A9B9-E90FABC9FE7C}" destId="{78926114-09CA-479E-ACCB-6DD748E8E5B8}" srcOrd="6" destOrd="0" presId="urn:microsoft.com/office/officeart/2005/8/layout/vProcess5"/>
    <dgm:cxn modelId="{03C923D2-3BB2-46C6-A8E7-774F527D4A16}" type="presParOf" srcId="{7D8F7BE5-8169-49F6-A9B9-E90FABC9FE7C}" destId="{98F13D25-9FC7-45B1-827E-CDFE16E3BC56}" srcOrd="7" destOrd="0" presId="urn:microsoft.com/office/officeart/2005/8/layout/vProcess5"/>
    <dgm:cxn modelId="{226F1965-95A3-4F7E-B25C-18D83DCFE639}" type="presParOf" srcId="{7D8F7BE5-8169-49F6-A9B9-E90FABC9FE7C}" destId="{8E48BBA6-FB7F-4EB0-AC72-293C4F65E81E}"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7B8CB4-7CE4-4039-A5FF-055C35C349D0}">
      <dsp:nvSpPr>
        <dsp:cNvPr id="0" name=""/>
        <dsp:cNvSpPr/>
      </dsp:nvSpPr>
      <dsp:spPr>
        <a:xfrm>
          <a:off x="0" y="0"/>
          <a:ext cx="4530955" cy="97134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METİN MADENCİLİĞİ (TEXT MINING)  </a:t>
          </a:r>
        </a:p>
      </dsp:txBody>
      <dsp:txXfrm>
        <a:off x="28450" y="28450"/>
        <a:ext cx="3482800" cy="914442"/>
      </dsp:txXfrm>
    </dsp:sp>
    <dsp:sp modelId="{9858DDA0-CF20-4971-AE3B-37F70158ED6D}">
      <dsp:nvSpPr>
        <dsp:cNvPr id="0" name=""/>
        <dsp:cNvSpPr/>
      </dsp:nvSpPr>
      <dsp:spPr>
        <a:xfrm>
          <a:off x="399790" y="1133233"/>
          <a:ext cx="4530955" cy="97134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VE </a:t>
          </a:r>
        </a:p>
      </dsp:txBody>
      <dsp:txXfrm>
        <a:off x="428240" y="1161683"/>
        <a:ext cx="3442892" cy="914442"/>
      </dsp:txXfrm>
    </dsp:sp>
    <dsp:sp modelId="{CD3D90C8-C4E6-40A4-A21B-2AC86068D294}">
      <dsp:nvSpPr>
        <dsp:cNvPr id="0" name=""/>
        <dsp:cNvSpPr/>
      </dsp:nvSpPr>
      <dsp:spPr>
        <a:xfrm>
          <a:off x="799580" y="2266466"/>
          <a:ext cx="4530955" cy="97134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DUYGU ANALİTİĞİ (SENTIMENT ANALYSIS)</a:t>
          </a:r>
        </a:p>
      </dsp:txBody>
      <dsp:txXfrm>
        <a:off x="828030" y="2294916"/>
        <a:ext cx="3442892" cy="914442"/>
      </dsp:txXfrm>
    </dsp:sp>
    <dsp:sp modelId="{F1E480D2-57D7-456B-812E-81D3F8CA1ED1}">
      <dsp:nvSpPr>
        <dsp:cNvPr id="0" name=""/>
        <dsp:cNvSpPr/>
      </dsp:nvSpPr>
      <dsp:spPr>
        <a:xfrm>
          <a:off x="3899582" y="736601"/>
          <a:ext cx="631372" cy="631372"/>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4041641" y="736601"/>
        <a:ext cx="347254" cy="475107"/>
      </dsp:txXfrm>
    </dsp:sp>
    <dsp:sp modelId="{58C6F6BC-C499-46E8-A73A-B801C1960B7E}">
      <dsp:nvSpPr>
        <dsp:cNvPr id="0" name=""/>
        <dsp:cNvSpPr/>
      </dsp:nvSpPr>
      <dsp:spPr>
        <a:xfrm>
          <a:off x="4299373" y="1863359"/>
          <a:ext cx="631372" cy="631372"/>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4441432" y="1863359"/>
        <a:ext cx="347254" cy="47510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03E838-88F4-45B8-ADAB-D9731A2BD2F8}" type="datetimeFigureOut">
              <a:rPr lang="tr-TR" smtClean="0"/>
              <a:t>17.12.2025</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F0DB2A-1DDB-43C9-9DA1-A31DE184AE2F}" type="slidenum">
              <a:rPr lang="tr-TR" smtClean="0"/>
              <a:t>‹#›</a:t>
            </a:fld>
            <a:endParaRPr lang="tr-TR"/>
          </a:p>
        </p:txBody>
      </p:sp>
    </p:spTree>
    <p:extLst>
      <p:ext uri="{BB962C8B-B14F-4D97-AF65-F5344CB8AC3E}">
        <p14:creationId xmlns:p14="http://schemas.microsoft.com/office/powerpoint/2010/main" val="4044071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fld id="{F5F0DB2A-1DDB-43C9-9DA1-A31DE184AE2F}" type="slidenum">
              <a:rPr lang="tr-TR" smtClean="0"/>
              <a:t>2</a:t>
            </a:fld>
            <a:endParaRPr lang="tr-TR"/>
          </a:p>
        </p:txBody>
      </p:sp>
    </p:spTree>
    <p:extLst>
      <p:ext uri="{BB962C8B-B14F-4D97-AF65-F5344CB8AC3E}">
        <p14:creationId xmlns:p14="http://schemas.microsoft.com/office/powerpoint/2010/main" val="3017887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fld id="{F5F0DB2A-1DDB-43C9-9DA1-A31DE184AE2F}" type="slidenum">
              <a:rPr lang="tr-TR" smtClean="0"/>
              <a:t>13</a:t>
            </a:fld>
            <a:endParaRPr lang="tr-TR"/>
          </a:p>
        </p:txBody>
      </p:sp>
    </p:spTree>
    <p:extLst>
      <p:ext uri="{BB962C8B-B14F-4D97-AF65-F5344CB8AC3E}">
        <p14:creationId xmlns:p14="http://schemas.microsoft.com/office/powerpoint/2010/main" val="475119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97960-94C9-6DA1-064D-2B38BA0866F8}"/>
              </a:ext>
            </a:extLst>
          </p:cNvPr>
          <p:cNvSpPr>
            <a:spLocks noGrp="1"/>
          </p:cNvSpPr>
          <p:nvPr>
            <p:ph type="ctrTitle"/>
          </p:nvPr>
        </p:nvSpPr>
        <p:spPr>
          <a:xfrm>
            <a:off x="1524000" y="1122363"/>
            <a:ext cx="9144000" cy="2387600"/>
          </a:xfrm>
        </p:spPr>
        <p:txBody>
          <a:bodyPr anchor="b">
            <a:normAutofit/>
          </a:bodyPr>
          <a:lstStyle>
            <a:lvl1pPr algn="ctr">
              <a:defRPr sz="3600">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3EC8BFF4-5CAA-D7D9-7CC0-C714AE543B42}"/>
              </a:ext>
            </a:extLst>
          </p:cNvPr>
          <p:cNvSpPr>
            <a:spLocks noGrp="1"/>
          </p:cNvSpPr>
          <p:nvPr>
            <p:ph type="subTitle" idx="1"/>
          </p:nvPr>
        </p:nvSpPr>
        <p:spPr>
          <a:xfrm>
            <a:off x="1524000" y="3602038"/>
            <a:ext cx="9144000" cy="1655762"/>
          </a:xfrm>
        </p:spPr>
        <p:txBody>
          <a:bodyPr>
            <a:normAutofit/>
          </a:bodyPr>
          <a:lstStyle>
            <a:lvl1pPr marL="0" indent="0" algn="ctr">
              <a:buNone/>
              <a:defRPr sz="12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7DDE4CA-5CD2-2DA7-5F30-7BA4FF0C550B}"/>
              </a:ext>
            </a:extLst>
          </p:cNvPr>
          <p:cNvSpPr>
            <a:spLocks noGrp="1"/>
          </p:cNvSpPr>
          <p:nvPr>
            <p:ph type="dt" sz="half" idx="10"/>
          </p:nvPr>
        </p:nvSpPr>
        <p:spPr/>
        <p:txBody>
          <a:bodyPr/>
          <a:lstStyle/>
          <a:p>
            <a:fld id="{F0028515-5E74-426F-9987-F02BC37D8076}" type="datetimeFigureOut">
              <a:rPr lang="en-US" smtClean="0"/>
              <a:t>12/17/2025</a:t>
            </a:fld>
            <a:endParaRPr lang="en-US"/>
          </a:p>
        </p:txBody>
      </p:sp>
      <p:sp>
        <p:nvSpPr>
          <p:cNvPr id="5" name="Footer Placeholder 4">
            <a:extLst>
              <a:ext uri="{FF2B5EF4-FFF2-40B4-BE49-F238E27FC236}">
                <a16:creationId xmlns:a16="http://schemas.microsoft.com/office/drawing/2014/main" id="{9515F6AF-4F8A-A567-EC7E-AF44BDF752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138D94-E9A6-B901-4E12-9EB951E4D3B6}"/>
              </a:ext>
            </a:extLst>
          </p:cNvPr>
          <p:cNvSpPr>
            <a:spLocks noGrp="1"/>
          </p:cNvSpPr>
          <p:nvPr>
            <p:ph type="sldNum" sz="quarter" idx="12"/>
          </p:nvPr>
        </p:nvSpPr>
        <p:spPr/>
        <p:txBody>
          <a:bodyPr/>
          <a:lstStyle/>
          <a:p>
            <a:fld id="{B2F6CC32-F41D-4A57-9030-412D32BBB70A}" type="slidenum">
              <a:rPr lang="en-US" smtClean="0"/>
              <a:t>‹#›</a:t>
            </a:fld>
            <a:endParaRPr lang="en-US"/>
          </a:p>
        </p:txBody>
      </p:sp>
    </p:spTree>
    <p:extLst>
      <p:ext uri="{BB962C8B-B14F-4D97-AF65-F5344CB8AC3E}">
        <p14:creationId xmlns:p14="http://schemas.microsoft.com/office/powerpoint/2010/main" val="3063000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8F14F-6FA4-65FB-D316-02A23788DE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0498F1-88BD-12C6-FFB1-367070FADF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9B48E4-72BD-7863-E857-A6CCE7B8903B}"/>
              </a:ext>
            </a:extLst>
          </p:cNvPr>
          <p:cNvSpPr>
            <a:spLocks noGrp="1"/>
          </p:cNvSpPr>
          <p:nvPr>
            <p:ph type="dt" sz="half" idx="10"/>
          </p:nvPr>
        </p:nvSpPr>
        <p:spPr/>
        <p:txBody>
          <a:bodyPr/>
          <a:lstStyle/>
          <a:p>
            <a:fld id="{F0028515-5E74-426F-9987-F02BC37D8076}" type="datetimeFigureOut">
              <a:rPr lang="en-US" smtClean="0"/>
              <a:t>12/17/2025</a:t>
            </a:fld>
            <a:endParaRPr lang="en-US"/>
          </a:p>
        </p:txBody>
      </p:sp>
      <p:sp>
        <p:nvSpPr>
          <p:cNvPr id="5" name="Footer Placeholder 4">
            <a:extLst>
              <a:ext uri="{FF2B5EF4-FFF2-40B4-BE49-F238E27FC236}">
                <a16:creationId xmlns:a16="http://schemas.microsoft.com/office/drawing/2014/main" id="{880C44C0-C7B2-E5CA-FCE9-B0EA7709D5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0746E2-61E6-A329-5EC9-A8AA230F3261}"/>
              </a:ext>
            </a:extLst>
          </p:cNvPr>
          <p:cNvSpPr>
            <a:spLocks noGrp="1"/>
          </p:cNvSpPr>
          <p:nvPr>
            <p:ph type="sldNum" sz="quarter" idx="12"/>
          </p:nvPr>
        </p:nvSpPr>
        <p:spPr/>
        <p:txBody>
          <a:bodyPr/>
          <a:lstStyle/>
          <a:p>
            <a:fld id="{B2F6CC32-F41D-4A57-9030-412D32BBB70A}" type="slidenum">
              <a:rPr lang="en-US" smtClean="0"/>
              <a:t>‹#›</a:t>
            </a:fld>
            <a:endParaRPr lang="en-US"/>
          </a:p>
        </p:txBody>
      </p:sp>
    </p:spTree>
    <p:extLst>
      <p:ext uri="{BB962C8B-B14F-4D97-AF65-F5344CB8AC3E}">
        <p14:creationId xmlns:p14="http://schemas.microsoft.com/office/powerpoint/2010/main" val="2205057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504DF-2E4E-8E12-37AE-D43E5E3E7F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98BB0E-4164-6058-F822-EF481355B7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929A35-67FC-2085-8078-6E7FCBA7E2A7}"/>
              </a:ext>
            </a:extLst>
          </p:cNvPr>
          <p:cNvSpPr>
            <a:spLocks noGrp="1"/>
          </p:cNvSpPr>
          <p:nvPr>
            <p:ph type="dt" sz="half" idx="10"/>
          </p:nvPr>
        </p:nvSpPr>
        <p:spPr/>
        <p:txBody>
          <a:bodyPr/>
          <a:lstStyle/>
          <a:p>
            <a:fld id="{F0028515-5E74-426F-9987-F02BC37D8076}" type="datetimeFigureOut">
              <a:rPr lang="en-US" smtClean="0"/>
              <a:t>12/17/2025</a:t>
            </a:fld>
            <a:endParaRPr lang="en-US"/>
          </a:p>
        </p:txBody>
      </p:sp>
      <p:sp>
        <p:nvSpPr>
          <p:cNvPr id="5" name="Footer Placeholder 4">
            <a:extLst>
              <a:ext uri="{FF2B5EF4-FFF2-40B4-BE49-F238E27FC236}">
                <a16:creationId xmlns:a16="http://schemas.microsoft.com/office/drawing/2014/main" id="{966F5C3A-1771-6B57-06A1-3A588A822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DA1947-6331-96C9-6956-EA56BC660B8F}"/>
              </a:ext>
            </a:extLst>
          </p:cNvPr>
          <p:cNvSpPr>
            <a:spLocks noGrp="1"/>
          </p:cNvSpPr>
          <p:nvPr>
            <p:ph type="sldNum" sz="quarter" idx="12"/>
          </p:nvPr>
        </p:nvSpPr>
        <p:spPr/>
        <p:txBody>
          <a:bodyPr/>
          <a:lstStyle/>
          <a:p>
            <a:fld id="{B2F6CC32-F41D-4A57-9030-412D32BBB70A}" type="slidenum">
              <a:rPr lang="en-US" smtClean="0"/>
              <a:t>‹#›</a:t>
            </a:fld>
            <a:endParaRPr lang="en-US"/>
          </a:p>
        </p:txBody>
      </p:sp>
    </p:spTree>
    <p:extLst>
      <p:ext uri="{BB962C8B-B14F-4D97-AF65-F5344CB8AC3E}">
        <p14:creationId xmlns:p14="http://schemas.microsoft.com/office/powerpoint/2010/main" val="647570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CCF2A-9D6F-8B13-1F28-1D11E63E722F}"/>
              </a:ext>
            </a:extLst>
          </p:cNvPr>
          <p:cNvSpPr>
            <a:spLocks noGrp="1"/>
          </p:cNvSpPr>
          <p:nvPr>
            <p:ph type="title"/>
          </p:nvPr>
        </p:nvSpPr>
        <p:spPr/>
        <p:txBody>
          <a:bodyPr>
            <a:normAutofit/>
          </a:bodyPr>
          <a:lstStyle>
            <a:lvl1pPr>
              <a:defRPr sz="3600">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F50F5265-8DD0-07EA-2B13-FD8B3BD8518D}"/>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00A2440-9BCA-8FA1-7AAE-06E29946C32A}"/>
              </a:ext>
            </a:extLst>
          </p:cNvPr>
          <p:cNvSpPr>
            <a:spLocks noGrp="1"/>
          </p:cNvSpPr>
          <p:nvPr>
            <p:ph sz="half" idx="2"/>
          </p:nvPr>
        </p:nvSpPr>
        <p:spPr>
          <a:xfrm>
            <a:off x="6172200" y="1825625"/>
            <a:ext cx="5181600" cy="4351338"/>
          </a:xfrm>
        </p:spPr>
        <p:txBody>
          <a:bodyPr/>
          <a:lstStyle>
            <a:lvl3pPr>
              <a:defRPr sz="1200">
                <a:latin typeface="Arial" panose="020B0604020202020204" pitchFamily="34" charset="0"/>
                <a:cs typeface="Arial" panose="020B0604020202020204" pitchFamily="34" charset="0"/>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A61257-A5DE-F9F2-9192-A8E9515F4EC1}"/>
              </a:ext>
            </a:extLst>
          </p:cNvPr>
          <p:cNvSpPr>
            <a:spLocks noGrp="1"/>
          </p:cNvSpPr>
          <p:nvPr>
            <p:ph type="dt" sz="half" idx="10"/>
          </p:nvPr>
        </p:nvSpPr>
        <p:spPr/>
        <p:txBody>
          <a:bodyPr/>
          <a:lstStyle/>
          <a:p>
            <a:fld id="{F0028515-5E74-426F-9987-F02BC37D8076}" type="datetimeFigureOut">
              <a:rPr lang="en-US" smtClean="0"/>
              <a:t>12/17/2025</a:t>
            </a:fld>
            <a:endParaRPr lang="en-US" dirty="0"/>
          </a:p>
        </p:txBody>
      </p:sp>
      <p:sp>
        <p:nvSpPr>
          <p:cNvPr id="6" name="Footer Placeholder 5">
            <a:extLst>
              <a:ext uri="{FF2B5EF4-FFF2-40B4-BE49-F238E27FC236}">
                <a16:creationId xmlns:a16="http://schemas.microsoft.com/office/drawing/2014/main" id="{F846147B-F884-783D-F5CE-91BAA9C18C4B}"/>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dirty="0">
              <a:latin typeface="Arial" panose="020B0604020202020204" pitchFamily="34" charset="0"/>
              <a:cs typeface="Arial" panose="020B0604020202020204" pitchFamily="34" charset="0"/>
            </a:endParaRPr>
          </a:p>
        </p:txBody>
      </p:sp>
      <p:sp>
        <p:nvSpPr>
          <p:cNvPr id="7" name="Slide Number Placeholder 6">
            <a:extLst>
              <a:ext uri="{FF2B5EF4-FFF2-40B4-BE49-F238E27FC236}">
                <a16:creationId xmlns:a16="http://schemas.microsoft.com/office/drawing/2014/main" id="{18DAED79-D5F5-DC3E-653A-28D6699DBE5A}"/>
              </a:ext>
            </a:extLst>
          </p:cNvPr>
          <p:cNvSpPr>
            <a:spLocks noGrp="1"/>
          </p:cNvSpPr>
          <p:nvPr>
            <p:ph type="sldNum" sz="quarter" idx="12"/>
          </p:nvPr>
        </p:nvSpPr>
        <p:spPr/>
        <p:txBody>
          <a:bodyPr/>
          <a:lstStyle/>
          <a:p>
            <a:fld id="{B2F6CC32-F41D-4A57-9030-412D32BBB70A}" type="slidenum">
              <a:rPr lang="en-US" smtClean="0"/>
              <a:t>‹#›</a:t>
            </a:fld>
            <a:endParaRPr lang="en-US" dirty="0"/>
          </a:p>
        </p:txBody>
      </p:sp>
    </p:spTree>
    <p:extLst>
      <p:ext uri="{BB962C8B-B14F-4D97-AF65-F5344CB8AC3E}">
        <p14:creationId xmlns:p14="http://schemas.microsoft.com/office/powerpoint/2010/main" val="3121333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68443-4A07-5464-AECF-FBE12D24AD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AA9C4F-27DA-E62A-1B70-04C29B2741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B0CCE7-BE52-3C00-FE87-F7359EAEC9F7}"/>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AA4862D-BC3B-CFA7-A32D-C22F6F7476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DE0FD7-2DC7-BAB1-60FD-77C05F0E3D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634A0F-0944-8851-3D8F-B91527C48BF4}"/>
              </a:ext>
            </a:extLst>
          </p:cNvPr>
          <p:cNvSpPr>
            <a:spLocks noGrp="1"/>
          </p:cNvSpPr>
          <p:nvPr>
            <p:ph type="dt" sz="half" idx="10"/>
          </p:nvPr>
        </p:nvSpPr>
        <p:spPr/>
        <p:txBody>
          <a:bodyPr/>
          <a:lstStyle/>
          <a:p>
            <a:fld id="{F0028515-5E74-426F-9987-F02BC37D8076}" type="datetimeFigureOut">
              <a:rPr lang="en-US" smtClean="0"/>
              <a:t>12/17/2025</a:t>
            </a:fld>
            <a:endParaRPr lang="en-US"/>
          </a:p>
        </p:txBody>
      </p:sp>
      <p:sp>
        <p:nvSpPr>
          <p:cNvPr id="8" name="Footer Placeholder 7">
            <a:extLst>
              <a:ext uri="{FF2B5EF4-FFF2-40B4-BE49-F238E27FC236}">
                <a16:creationId xmlns:a16="http://schemas.microsoft.com/office/drawing/2014/main" id="{2AC2BD4F-6527-1983-4EB5-A64C906C64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EA8FB1-A66E-A395-40C6-586C67989511}"/>
              </a:ext>
            </a:extLst>
          </p:cNvPr>
          <p:cNvSpPr>
            <a:spLocks noGrp="1"/>
          </p:cNvSpPr>
          <p:nvPr>
            <p:ph type="sldNum" sz="quarter" idx="12"/>
          </p:nvPr>
        </p:nvSpPr>
        <p:spPr/>
        <p:txBody>
          <a:bodyPr/>
          <a:lstStyle/>
          <a:p>
            <a:fld id="{B2F6CC32-F41D-4A57-9030-412D32BBB70A}" type="slidenum">
              <a:rPr lang="en-US" smtClean="0"/>
              <a:t>‹#›</a:t>
            </a:fld>
            <a:endParaRPr lang="en-US"/>
          </a:p>
        </p:txBody>
      </p:sp>
    </p:spTree>
    <p:extLst>
      <p:ext uri="{BB962C8B-B14F-4D97-AF65-F5344CB8AC3E}">
        <p14:creationId xmlns:p14="http://schemas.microsoft.com/office/powerpoint/2010/main" val="3303381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FB156-2D08-11D0-D6DD-9770A5DCB9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3523A3-B666-632A-9262-F248C6CAD940}"/>
              </a:ext>
            </a:extLst>
          </p:cNvPr>
          <p:cNvSpPr>
            <a:spLocks noGrp="1"/>
          </p:cNvSpPr>
          <p:nvPr>
            <p:ph type="dt" sz="half" idx="10"/>
          </p:nvPr>
        </p:nvSpPr>
        <p:spPr/>
        <p:txBody>
          <a:bodyPr/>
          <a:lstStyle/>
          <a:p>
            <a:fld id="{F0028515-5E74-426F-9987-F02BC37D8076}" type="datetimeFigureOut">
              <a:rPr lang="en-US" smtClean="0"/>
              <a:t>12/17/2025</a:t>
            </a:fld>
            <a:endParaRPr lang="en-US"/>
          </a:p>
        </p:txBody>
      </p:sp>
      <p:sp>
        <p:nvSpPr>
          <p:cNvPr id="4" name="Footer Placeholder 3">
            <a:extLst>
              <a:ext uri="{FF2B5EF4-FFF2-40B4-BE49-F238E27FC236}">
                <a16:creationId xmlns:a16="http://schemas.microsoft.com/office/drawing/2014/main" id="{3E4D299E-F349-7A4C-36F6-2007EFC23F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8A853A-94CE-7E0C-B1DE-657836FC83C8}"/>
              </a:ext>
            </a:extLst>
          </p:cNvPr>
          <p:cNvSpPr>
            <a:spLocks noGrp="1"/>
          </p:cNvSpPr>
          <p:nvPr>
            <p:ph type="sldNum" sz="quarter" idx="12"/>
          </p:nvPr>
        </p:nvSpPr>
        <p:spPr/>
        <p:txBody>
          <a:bodyPr/>
          <a:lstStyle/>
          <a:p>
            <a:fld id="{B2F6CC32-F41D-4A57-9030-412D32BBB70A}" type="slidenum">
              <a:rPr lang="en-US" smtClean="0"/>
              <a:t>‹#›</a:t>
            </a:fld>
            <a:endParaRPr lang="en-US"/>
          </a:p>
        </p:txBody>
      </p:sp>
    </p:spTree>
    <p:extLst>
      <p:ext uri="{BB962C8B-B14F-4D97-AF65-F5344CB8AC3E}">
        <p14:creationId xmlns:p14="http://schemas.microsoft.com/office/powerpoint/2010/main" val="906872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CE1528-80E4-0860-B07D-19BD1BF35C60}"/>
              </a:ext>
            </a:extLst>
          </p:cNvPr>
          <p:cNvSpPr>
            <a:spLocks noGrp="1"/>
          </p:cNvSpPr>
          <p:nvPr>
            <p:ph type="dt" sz="half" idx="10"/>
          </p:nvPr>
        </p:nvSpPr>
        <p:spPr/>
        <p:txBody>
          <a:bodyPr/>
          <a:lstStyle/>
          <a:p>
            <a:fld id="{F0028515-5E74-426F-9987-F02BC37D8076}" type="datetimeFigureOut">
              <a:rPr lang="en-US" smtClean="0"/>
              <a:t>12/17/2025</a:t>
            </a:fld>
            <a:endParaRPr lang="en-US"/>
          </a:p>
        </p:txBody>
      </p:sp>
      <p:sp>
        <p:nvSpPr>
          <p:cNvPr id="3" name="Footer Placeholder 2">
            <a:extLst>
              <a:ext uri="{FF2B5EF4-FFF2-40B4-BE49-F238E27FC236}">
                <a16:creationId xmlns:a16="http://schemas.microsoft.com/office/drawing/2014/main" id="{814E2693-E44B-77B5-03D2-6212381F95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FEF564-686C-CC79-2035-660A0DAE20FB}"/>
              </a:ext>
            </a:extLst>
          </p:cNvPr>
          <p:cNvSpPr>
            <a:spLocks noGrp="1"/>
          </p:cNvSpPr>
          <p:nvPr>
            <p:ph type="sldNum" sz="quarter" idx="12"/>
          </p:nvPr>
        </p:nvSpPr>
        <p:spPr/>
        <p:txBody>
          <a:bodyPr/>
          <a:lstStyle/>
          <a:p>
            <a:fld id="{B2F6CC32-F41D-4A57-9030-412D32BBB70A}" type="slidenum">
              <a:rPr lang="en-US" smtClean="0"/>
              <a:t>‹#›</a:t>
            </a:fld>
            <a:endParaRPr lang="en-US"/>
          </a:p>
        </p:txBody>
      </p:sp>
    </p:spTree>
    <p:extLst>
      <p:ext uri="{BB962C8B-B14F-4D97-AF65-F5344CB8AC3E}">
        <p14:creationId xmlns:p14="http://schemas.microsoft.com/office/powerpoint/2010/main" val="2049061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8481F-F32A-B009-9E48-7DAE57ACE8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C391D8-0A83-366A-758F-B82B3C0DEF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29C427-1519-F4CE-392C-16EA364616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A93628-0C23-C3A3-A166-DF2AE008F965}"/>
              </a:ext>
            </a:extLst>
          </p:cNvPr>
          <p:cNvSpPr>
            <a:spLocks noGrp="1"/>
          </p:cNvSpPr>
          <p:nvPr>
            <p:ph type="dt" sz="half" idx="10"/>
          </p:nvPr>
        </p:nvSpPr>
        <p:spPr/>
        <p:txBody>
          <a:bodyPr/>
          <a:lstStyle/>
          <a:p>
            <a:fld id="{F0028515-5E74-426F-9987-F02BC37D8076}" type="datetimeFigureOut">
              <a:rPr lang="en-US" smtClean="0"/>
              <a:t>12/17/2025</a:t>
            </a:fld>
            <a:endParaRPr lang="en-US"/>
          </a:p>
        </p:txBody>
      </p:sp>
      <p:sp>
        <p:nvSpPr>
          <p:cNvPr id="6" name="Footer Placeholder 5">
            <a:extLst>
              <a:ext uri="{FF2B5EF4-FFF2-40B4-BE49-F238E27FC236}">
                <a16:creationId xmlns:a16="http://schemas.microsoft.com/office/drawing/2014/main" id="{1ADB5116-54EB-8C35-A13D-80BFF44724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596711-93E0-2356-9404-28C3DD6D633B}"/>
              </a:ext>
            </a:extLst>
          </p:cNvPr>
          <p:cNvSpPr>
            <a:spLocks noGrp="1"/>
          </p:cNvSpPr>
          <p:nvPr>
            <p:ph type="sldNum" sz="quarter" idx="12"/>
          </p:nvPr>
        </p:nvSpPr>
        <p:spPr/>
        <p:txBody>
          <a:bodyPr/>
          <a:lstStyle/>
          <a:p>
            <a:fld id="{B2F6CC32-F41D-4A57-9030-412D32BBB70A}" type="slidenum">
              <a:rPr lang="en-US" smtClean="0"/>
              <a:t>‹#›</a:t>
            </a:fld>
            <a:endParaRPr lang="en-US"/>
          </a:p>
        </p:txBody>
      </p:sp>
    </p:spTree>
    <p:extLst>
      <p:ext uri="{BB962C8B-B14F-4D97-AF65-F5344CB8AC3E}">
        <p14:creationId xmlns:p14="http://schemas.microsoft.com/office/powerpoint/2010/main" val="3943355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CE8D0-DB91-1A2A-22B2-9453DE05F4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1E6D85-6F24-D73E-5AC5-18FEC11A32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59E5B8-06BF-BE42-932E-D054295C61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1C471E-A50E-1E4F-0464-38B85FF11E95}"/>
              </a:ext>
            </a:extLst>
          </p:cNvPr>
          <p:cNvSpPr>
            <a:spLocks noGrp="1"/>
          </p:cNvSpPr>
          <p:nvPr>
            <p:ph type="dt" sz="half" idx="10"/>
          </p:nvPr>
        </p:nvSpPr>
        <p:spPr/>
        <p:txBody>
          <a:bodyPr/>
          <a:lstStyle/>
          <a:p>
            <a:fld id="{F0028515-5E74-426F-9987-F02BC37D8076}" type="datetimeFigureOut">
              <a:rPr lang="en-US" smtClean="0"/>
              <a:t>12/17/2025</a:t>
            </a:fld>
            <a:endParaRPr lang="en-US"/>
          </a:p>
        </p:txBody>
      </p:sp>
      <p:sp>
        <p:nvSpPr>
          <p:cNvPr id="6" name="Footer Placeholder 5">
            <a:extLst>
              <a:ext uri="{FF2B5EF4-FFF2-40B4-BE49-F238E27FC236}">
                <a16:creationId xmlns:a16="http://schemas.microsoft.com/office/drawing/2014/main" id="{33838183-5A43-7CC6-297A-1BB6A233B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A8166-8947-97D9-48F0-545D7A2223B1}"/>
              </a:ext>
            </a:extLst>
          </p:cNvPr>
          <p:cNvSpPr>
            <a:spLocks noGrp="1"/>
          </p:cNvSpPr>
          <p:nvPr>
            <p:ph type="sldNum" sz="quarter" idx="12"/>
          </p:nvPr>
        </p:nvSpPr>
        <p:spPr/>
        <p:txBody>
          <a:bodyPr/>
          <a:lstStyle/>
          <a:p>
            <a:fld id="{B2F6CC32-F41D-4A57-9030-412D32BBB70A}" type="slidenum">
              <a:rPr lang="en-US" smtClean="0"/>
              <a:t>‹#›</a:t>
            </a:fld>
            <a:endParaRPr lang="en-US"/>
          </a:p>
        </p:txBody>
      </p:sp>
    </p:spTree>
    <p:extLst>
      <p:ext uri="{BB962C8B-B14F-4D97-AF65-F5344CB8AC3E}">
        <p14:creationId xmlns:p14="http://schemas.microsoft.com/office/powerpoint/2010/main" val="421072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907D5-AA3F-DE15-3218-3F8EF35EE4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0F46E-8F42-1414-E2CA-CE8BB991C6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A4D024-2040-A9FC-2668-6A6DCAFA5DD9}"/>
              </a:ext>
            </a:extLst>
          </p:cNvPr>
          <p:cNvSpPr>
            <a:spLocks noGrp="1"/>
          </p:cNvSpPr>
          <p:nvPr>
            <p:ph type="dt" sz="half" idx="10"/>
          </p:nvPr>
        </p:nvSpPr>
        <p:spPr/>
        <p:txBody>
          <a:bodyPr/>
          <a:lstStyle/>
          <a:p>
            <a:fld id="{F0028515-5E74-426F-9987-F02BC37D8076}" type="datetimeFigureOut">
              <a:rPr lang="en-US" smtClean="0"/>
              <a:t>12/17/2025</a:t>
            </a:fld>
            <a:endParaRPr lang="en-US"/>
          </a:p>
        </p:txBody>
      </p:sp>
      <p:sp>
        <p:nvSpPr>
          <p:cNvPr id="5" name="Footer Placeholder 4">
            <a:extLst>
              <a:ext uri="{FF2B5EF4-FFF2-40B4-BE49-F238E27FC236}">
                <a16:creationId xmlns:a16="http://schemas.microsoft.com/office/drawing/2014/main" id="{C93FC7AA-3989-693E-72B7-75FB8CDB80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B62C39-0564-0AF4-4DCC-4ADB824A6F70}"/>
              </a:ext>
            </a:extLst>
          </p:cNvPr>
          <p:cNvSpPr>
            <a:spLocks noGrp="1"/>
          </p:cNvSpPr>
          <p:nvPr>
            <p:ph type="sldNum" sz="quarter" idx="12"/>
          </p:nvPr>
        </p:nvSpPr>
        <p:spPr/>
        <p:txBody>
          <a:bodyPr/>
          <a:lstStyle/>
          <a:p>
            <a:fld id="{B2F6CC32-F41D-4A57-9030-412D32BBB70A}" type="slidenum">
              <a:rPr lang="en-US" smtClean="0"/>
              <a:t>‹#›</a:t>
            </a:fld>
            <a:endParaRPr lang="en-US"/>
          </a:p>
        </p:txBody>
      </p:sp>
    </p:spTree>
    <p:extLst>
      <p:ext uri="{BB962C8B-B14F-4D97-AF65-F5344CB8AC3E}">
        <p14:creationId xmlns:p14="http://schemas.microsoft.com/office/powerpoint/2010/main" val="1531784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3888FB-9C08-8A19-D3F3-79C27F3AC7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717EDA-9CA3-B4C3-0BA3-1BC815A760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C0F948-40D3-C9C7-1804-D3246B0227E1}"/>
              </a:ext>
            </a:extLst>
          </p:cNvPr>
          <p:cNvSpPr>
            <a:spLocks noGrp="1"/>
          </p:cNvSpPr>
          <p:nvPr>
            <p:ph type="dt" sz="half" idx="10"/>
          </p:nvPr>
        </p:nvSpPr>
        <p:spPr/>
        <p:txBody>
          <a:bodyPr/>
          <a:lstStyle/>
          <a:p>
            <a:fld id="{F0028515-5E74-426F-9987-F02BC37D8076}" type="datetimeFigureOut">
              <a:rPr lang="en-US" smtClean="0"/>
              <a:t>12/17/2025</a:t>
            </a:fld>
            <a:endParaRPr lang="en-US"/>
          </a:p>
        </p:txBody>
      </p:sp>
      <p:sp>
        <p:nvSpPr>
          <p:cNvPr id="5" name="Footer Placeholder 4">
            <a:extLst>
              <a:ext uri="{FF2B5EF4-FFF2-40B4-BE49-F238E27FC236}">
                <a16:creationId xmlns:a16="http://schemas.microsoft.com/office/drawing/2014/main" id="{0C5E5D46-1B15-13BD-A92A-64095DBC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F0E69D-8129-88DF-0361-28FD06C80CDB}"/>
              </a:ext>
            </a:extLst>
          </p:cNvPr>
          <p:cNvSpPr>
            <a:spLocks noGrp="1"/>
          </p:cNvSpPr>
          <p:nvPr>
            <p:ph type="sldNum" sz="quarter" idx="12"/>
          </p:nvPr>
        </p:nvSpPr>
        <p:spPr/>
        <p:txBody>
          <a:bodyPr/>
          <a:lstStyle/>
          <a:p>
            <a:fld id="{B2F6CC32-F41D-4A57-9030-412D32BBB70A}" type="slidenum">
              <a:rPr lang="en-US" smtClean="0"/>
              <a:t>‹#›</a:t>
            </a:fld>
            <a:endParaRPr lang="en-US"/>
          </a:p>
        </p:txBody>
      </p:sp>
    </p:spTree>
    <p:extLst>
      <p:ext uri="{BB962C8B-B14F-4D97-AF65-F5344CB8AC3E}">
        <p14:creationId xmlns:p14="http://schemas.microsoft.com/office/powerpoint/2010/main" val="3984673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A9EBC4-9BBC-8552-C899-DF623D6EB5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4BE3F4-CEEF-D7A7-30E9-63D4EE3A85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7BE18-A29D-C67F-9470-83BF8F322F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028515-5E74-426F-9987-F02BC37D8076}" type="datetimeFigureOut">
              <a:rPr lang="en-US" smtClean="0"/>
              <a:t>12/17/2025</a:t>
            </a:fld>
            <a:endParaRPr lang="en-US"/>
          </a:p>
        </p:txBody>
      </p:sp>
      <p:sp>
        <p:nvSpPr>
          <p:cNvPr id="5" name="Footer Placeholder 4">
            <a:extLst>
              <a:ext uri="{FF2B5EF4-FFF2-40B4-BE49-F238E27FC236}">
                <a16:creationId xmlns:a16="http://schemas.microsoft.com/office/drawing/2014/main" id="{DA98684E-18CF-B434-6EB8-2246FC8507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F0747BE-2935-02B6-4BFF-FDCFCD09C5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F6CC32-F41D-4A57-9030-412D32BBB70A}" type="slidenum">
              <a:rPr lang="en-US" smtClean="0"/>
              <a:t>‹#›</a:t>
            </a:fld>
            <a:endParaRPr lang="en-US"/>
          </a:p>
        </p:txBody>
      </p:sp>
    </p:spTree>
    <p:extLst>
      <p:ext uri="{BB962C8B-B14F-4D97-AF65-F5344CB8AC3E}">
        <p14:creationId xmlns:p14="http://schemas.microsoft.com/office/powerpoint/2010/main" val="2946318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hyperlink" Target="https://www.kaggle.com/datasets/meetnagadia/amazon-kindle-book-review-for-sentiment-analysis"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C2E17-54AE-EAD5-2835-D205FF21D19F}"/>
            </a:ext>
          </a:extLst>
        </p:cNvPr>
        <p:cNvGrpSpPr/>
        <p:nvPr/>
      </p:nvGrpSpPr>
      <p:grpSpPr>
        <a:xfrm>
          <a:off x="0" y="0"/>
          <a:ext cx="0" cy="0"/>
          <a:chOff x="0" y="0"/>
          <a:chExt cx="0" cy="0"/>
        </a:xfrm>
      </p:grpSpPr>
      <p:pic>
        <p:nvPicPr>
          <p:cNvPr id="227" name="Picture 226" descr="A brain and circuit board&#10;&#10;AI-generated content may be incorrect.">
            <a:extLst>
              <a:ext uri="{FF2B5EF4-FFF2-40B4-BE49-F238E27FC236}">
                <a16:creationId xmlns:a16="http://schemas.microsoft.com/office/drawing/2014/main" id="{0FEFF1B5-BBC7-3D41-D70F-6A83136DCC4C}"/>
              </a:ext>
            </a:extLst>
          </p:cNvPr>
          <p:cNvPicPr>
            <a:picLocks noChangeAspect="1"/>
          </p:cNvPicPr>
          <p:nvPr/>
        </p:nvPicPr>
        <p:blipFill>
          <a:blip r:embed="rId2"/>
          <a:srcRect l="254" r="1" b="1"/>
          <a:stretch>
            <a:fillRect/>
          </a:stretch>
        </p:blipFill>
        <p:spPr>
          <a:xfrm>
            <a:off x="336602" y="335897"/>
            <a:ext cx="5759398" cy="543105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TextBox 4">
            <a:extLst>
              <a:ext uri="{FF2B5EF4-FFF2-40B4-BE49-F238E27FC236}">
                <a16:creationId xmlns:a16="http://schemas.microsoft.com/office/drawing/2014/main" id="{793D323B-B79A-7889-8D7D-D969E2EF43C4}"/>
              </a:ext>
            </a:extLst>
          </p:cNvPr>
          <p:cNvSpPr txBox="1"/>
          <p:nvPr/>
        </p:nvSpPr>
        <p:spPr>
          <a:xfrm>
            <a:off x="7107617" y="4424085"/>
            <a:ext cx="4747781" cy="1208792"/>
          </a:xfrm>
          <a:prstGeom prst="rect">
            <a:avLst/>
          </a:prstGeom>
          <a:noFill/>
        </p:spPr>
        <p:txBody>
          <a:bodyPr wrap="square">
            <a:spAutoFit/>
          </a:bodyPr>
          <a:lstStyle/>
          <a:p>
            <a:pPr indent="-228600">
              <a:lnSpc>
                <a:spcPct val="150000"/>
              </a:lnSpc>
              <a:spcAft>
                <a:spcPts val="6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DERYA Ç</a:t>
            </a:r>
            <a:r>
              <a:rPr lang="tr-TR" sz="2400" b="1" dirty="0">
                <a:latin typeface="Arial" panose="020B0604020202020204" pitchFamily="34" charset="0"/>
                <a:cs typeface="Arial" panose="020B0604020202020204" pitchFamily="34" charset="0"/>
              </a:rPr>
              <a:t>İ</a:t>
            </a:r>
            <a:r>
              <a:rPr lang="en-US" sz="2400" b="1" dirty="0">
                <a:latin typeface="Arial" panose="020B0604020202020204" pitchFamily="34" charset="0"/>
                <a:cs typeface="Arial" panose="020B0604020202020204" pitchFamily="34" charset="0"/>
              </a:rPr>
              <a:t>TAK(</a:t>
            </a:r>
            <a:r>
              <a:rPr lang="tr-TR" sz="2400" b="1" dirty="0">
                <a:latin typeface="Arial" panose="020B0604020202020204" pitchFamily="34" charset="0"/>
                <a:cs typeface="Arial" panose="020B0604020202020204" pitchFamily="34" charset="0"/>
              </a:rPr>
              <a:t>600???</a:t>
            </a:r>
            <a:r>
              <a:rPr lang="en-US" sz="2400" b="1" dirty="0">
                <a:latin typeface="Arial" panose="020B0604020202020204" pitchFamily="34" charset="0"/>
                <a:cs typeface="Arial" panose="020B0604020202020204" pitchFamily="34" charset="0"/>
              </a:rPr>
              <a:t>)</a:t>
            </a:r>
          </a:p>
          <a:p>
            <a:pPr indent="-228600">
              <a:lnSpc>
                <a:spcPct val="150000"/>
              </a:lnSpc>
              <a:spcAft>
                <a:spcPts val="6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GÜLFİZ POYRAZ(6006179</a:t>
            </a:r>
            <a:r>
              <a:rPr lang="en-US" sz="1800" dirty="0"/>
              <a:t>)</a:t>
            </a:r>
          </a:p>
        </p:txBody>
      </p:sp>
      <p:graphicFrame>
        <p:nvGraphicFramePr>
          <p:cNvPr id="236" name="TextBox 2">
            <a:extLst>
              <a:ext uri="{FF2B5EF4-FFF2-40B4-BE49-F238E27FC236}">
                <a16:creationId xmlns:a16="http://schemas.microsoft.com/office/drawing/2014/main" id="{61C0C079-9657-3CA0-60A6-0DFD20E22EA8}"/>
              </a:ext>
            </a:extLst>
          </p:cNvPr>
          <p:cNvGraphicFramePr/>
          <p:nvPr/>
        </p:nvGraphicFramePr>
        <p:xfrm>
          <a:off x="6432602" y="729336"/>
          <a:ext cx="5330536" cy="3237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22204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2" name="Rectangle 231">
            <a:extLst>
              <a:ext uri="{FF2B5EF4-FFF2-40B4-BE49-F238E27FC236}">
                <a16:creationId xmlns:a16="http://schemas.microsoft.com/office/drawing/2014/main" id="{6680F1D3-7650-4307-A001-0163AD371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7A99974-4D64-3097-DCC0-A07B3D76EF74}"/>
              </a:ext>
            </a:extLst>
          </p:cNvPr>
          <p:cNvSpPr txBox="1"/>
          <p:nvPr/>
        </p:nvSpPr>
        <p:spPr>
          <a:xfrm>
            <a:off x="891778" y="865029"/>
            <a:ext cx="5202698" cy="5447645"/>
          </a:xfrm>
          <a:prstGeom prst="rect">
            <a:avLst/>
          </a:prstGeom>
          <a:noFill/>
        </p:spPr>
        <p:txBody>
          <a:bodyPr wrap="square">
            <a:spAutoFit/>
          </a:bodyPr>
          <a:lstStyle/>
          <a:p>
            <a:pPr>
              <a:spcAft>
                <a:spcPts val="800"/>
              </a:spcAft>
              <a:buNone/>
            </a:pPr>
            <a:r>
              <a:rPr lang="tr-TR" sz="1200" b="1" kern="100" dirty="0">
                <a:effectLst/>
                <a:latin typeface="Arial" panose="020B0604020202020204" pitchFamily="34" charset="0"/>
                <a:ea typeface="Aptos" panose="020B0004020202020204" pitchFamily="34" charset="0"/>
                <a:cs typeface="Arial" panose="020B0604020202020204" pitchFamily="34" charset="0"/>
              </a:rPr>
              <a:t>1.BÖLÜM</a:t>
            </a:r>
            <a:r>
              <a:rPr lang="tr-TR" sz="1200" b="1" dirty="0"/>
              <a:t> – METIN ANALİTİĞİ VE DUYGU ANALİZİ TEMELLERİ</a:t>
            </a:r>
            <a:endParaRPr lang="tr-TR" sz="1200" kern="100" dirty="0">
              <a:effectLst/>
              <a:latin typeface="Arial" panose="020B0604020202020204" pitchFamily="34" charset="0"/>
              <a:ea typeface="Aptos" panose="020B0004020202020204" pitchFamily="34" charset="0"/>
              <a:cs typeface="Arial" panose="020B0604020202020204" pitchFamily="34" charset="0"/>
            </a:endParaRP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1.1 Giriş					3</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1.2 Metin Analitiği ve Duygu Analizine Genel Bakış		4</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1.3 </a:t>
            </a:r>
            <a:r>
              <a:rPr lang="tr-TR" sz="1200" kern="100" dirty="0">
                <a:latin typeface="Arial" panose="020B0604020202020204" pitchFamily="34" charset="0"/>
                <a:ea typeface="Aptos" panose="020B0004020202020204" pitchFamily="34" charset="0"/>
                <a:cs typeface="Arial" panose="020B0604020202020204" pitchFamily="34" charset="0"/>
              </a:rPr>
              <a:t>Metin Madenciliği Temel Kavramları </a:t>
            </a:r>
            <a:r>
              <a:rPr lang="tr-TR" sz="1200" kern="100" dirty="0">
                <a:effectLst/>
                <a:latin typeface="Arial" panose="020B0604020202020204" pitchFamily="34" charset="0"/>
                <a:ea typeface="Aptos" panose="020B0004020202020204" pitchFamily="34" charset="0"/>
                <a:cs typeface="Arial" panose="020B0604020202020204" pitchFamily="34" charset="0"/>
              </a:rPr>
              <a:t>			5</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1.4 </a:t>
            </a:r>
            <a:r>
              <a:rPr lang="tr-TR" sz="1200" kern="100" dirty="0">
                <a:latin typeface="Arial" panose="020B0604020202020204" pitchFamily="34" charset="0"/>
                <a:ea typeface="Aptos" panose="020B0004020202020204" pitchFamily="34" charset="0"/>
                <a:cs typeface="Arial" panose="020B0604020202020204" pitchFamily="34" charset="0"/>
              </a:rPr>
              <a:t>NLP (Doğal Dil İşleme) Nedir? 			</a:t>
            </a:r>
            <a:r>
              <a:rPr lang="tr-TR" sz="1200" kern="100" dirty="0">
                <a:effectLst/>
                <a:latin typeface="Arial" panose="020B0604020202020204" pitchFamily="34" charset="0"/>
                <a:ea typeface="Aptos" panose="020B0004020202020204" pitchFamily="34" charset="0"/>
                <a:cs typeface="Arial" panose="020B0604020202020204" pitchFamily="34" charset="0"/>
              </a:rPr>
              <a:t>6</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1.5 Metin Analitiği Nedir?				7</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1.6 Metin Analitiğinde Veri Kaynakları			8</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1.7 Metin Analitiğinde Veri Toplama Yöntemleri		9</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1.8 Ham Metnin Zorlukları				10</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1.9</a:t>
            </a:r>
            <a:r>
              <a:rPr lang="tr-TR" sz="12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tr-TR" sz="1200" kern="100" dirty="0">
                <a:effectLst/>
                <a:latin typeface="Arial" panose="020B0604020202020204" pitchFamily="34" charset="0"/>
                <a:ea typeface="Aptos" panose="020B0004020202020204" pitchFamily="34" charset="0"/>
                <a:cs typeface="Arial" panose="020B0604020202020204" pitchFamily="34" charset="0"/>
              </a:rPr>
              <a:t>Metin Ön İşleme (</a:t>
            </a:r>
            <a:r>
              <a:rPr lang="tr-TR" sz="1200" kern="100" dirty="0" err="1">
                <a:effectLst/>
                <a:latin typeface="Arial" panose="020B0604020202020204" pitchFamily="34" charset="0"/>
                <a:ea typeface="Aptos" panose="020B0004020202020204" pitchFamily="34" charset="0"/>
                <a:cs typeface="Arial" panose="020B0604020202020204" pitchFamily="34" charset="0"/>
              </a:rPr>
              <a:t>Preprocessing</a:t>
            </a:r>
            <a:r>
              <a:rPr lang="tr-TR" sz="1200" kern="100" dirty="0">
                <a:effectLst/>
                <a:latin typeface="Arial" panose="020B0604020202020204" pitchFamily="34" charset="0"/>
                <a:ea typeface="Aptos" panose="020B0004020202020204" pitchFamily="34" charset="0"/>
                <a:cs typeface="Arial" panose="020B0604020202020204" pitchFamily="34" charset="0"/>
              </a:rPr>
              <a:t>) Nedir?		11</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1.10 Metin Temizleme (</a:t>
            </a:r>
            <a:r>
              <a:rPr lang="tr-TR" sz="1200" kern="100" dirty="0" err="1">
                <a:effectLst/>
                <a:latin typeface="Arial" panose="020B0604020202020204" pitchFamily="34" charset="0"/>
                <a:ea typeface="Aptos" panose="020B0004020202020204" pitchFamily="34" charset="0"/>
                <a:cs typeface="Arial" panose="020B0604020202020204" pitchFamily="34" charset="0"/>
              </a:rPr>
              <a:t>Preprocessing</a:t>
            </a:r>
            <a:r>
              <a:rPr lang="tr-TR" sz="1200" kern="100" dirty="0">
                <a:effectLst/>
                <a:latin typeface="Arial" panose="020B0604020202020204" pitchFamily="34" charset="0"/>
                <a:ea typeface="Aptos" panose="020B0004020202020204" pitchFamily="34" charset="0"/>
                <a:cs typeface="Arial" panose="020B0604020202020204" pitchFamily="34" charset="0"/>
              </a:rPr>
              <a:t>) Adımları		12</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1.11 Metin Temizleme – </a:t>
            </a:r>
            <a:r>
              <a:rPr lang="tr-TR" sz="1200" kern="100" dirty="0" err="1">
                <a:effectLst/>
                <a:latin typeface="Arial" panose="020B0604020202020204" pitchFamily="34" charset="0"/>
                <a:ea typeface="Aptos" panose="020B0004020202020204" pitchFamily="34" charset="0"/>
                <a:cs typeface="Arial" panose="020B0604020202020204" pitchFamily="34" charset="0"/>
              </a:rPr>
              <a:t>Tokenizasyon</a:t>
            </a:r>
            <a:r>
              <a:rPr lang="tr-TR" sz="1200" kern="100" dirty="0">
                <a:effectLst/>
                <a:latin typeface="Arial" panose="020B0604020202020204" pitchFamily="34" charset="0"/>
                <a:ea typeface="Aptos" panose="020B0004020202020204" pitchFamily="34" charset="0"/>
                <a:cs typeface="Arial" panose="020B0604020202020204" pitchFamily="34" charset="0"/>
              </a:rPr>
              <a:t> (</a:t>
            </a:r>
            <a:r>
              <a:rPr lang="tr-TR" sz="1200" kern="100" dirty="0" err="1">
                <a:effectLst/>
                <a:latin typeface="Arial" panose="020B0604020202020204" pitchFamily="34" charset="0"/>
                <a:ea typeface="Aptos" panose="020B0004020202020204" pitchFamily="34" charset="0"/>
                <a:cs typeface="Arial" panose="020B0604020202020204" pitchFamily="34" charset="0"/>
              </a:rPr>
              <a:t>Tokenization</a:t>
            </a:r>
            <a:r>
              <a:rPr lang="tr-TR" sz="1200" kern="100" dirty="0">
                <a:effectLst/>
                <a:latin typeface="Arial" panose="020B0604020202020204" pitchFamily="34" charset="0"/>
                <a:ea typeface="Aptos" panose="020B0004020202020204" pitchFamily="34" charset="0"/>
                <a:cs typeface="Arial" panose="020B0604020202020204" pitchFamily="34" charset="0"/>
              </a:rPr>
              <a:t>) 		13</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1.12 Metin Temizleme – </a:t>
            </a:r>
            <a:r>
              <a:rPr lang="tr-TR" sz="1200" kern="100" dirty="0" err="1">
                <a:effectLst/>
                <a:latin typeface="Arial" panose="020B0604020202020204" pitchFamily="34" charset="0"/>
                <a:ea typeface="Aptos" panose="020B0004020202020204" pitchFamily="34" charset="0"/>
                <a:cs typeface="Arial" panose="020B0604020202020204" pitchFamily="34" charset="0"/>
              </a:rPr>
              <a:t>Stopwords</a:t>
            </a:r>
            <a:r>
              <a:rPr lang="tr-TR" sz="1200" kern="100" dirty="0">
                <a:effectLst/>
                <a:latin typeface="Arial" panose="020B0604020202020204" pitchFamily="34" charset="0"/>
                <a:ea typeface="Aptos" panose="020B0004020202020204" pitchFamily="34" charset="0"/>
                <a:cs typeface="Arial" panose="020B0604020202020204" pitchFamily="34" charset="0"/>
              </a:rPr>
              <a:t> (Anlam Taşımayan Kelimeler) 	14</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1.13 Metin Temizleme – </a:t>
            </a:r>
            <a:r>
              <a:rPr lang="tr-TR" sz="1200" kern="100" dirty="0" err="1">
                <a:effectLst/>
                <a:latin typeface="Arial" panose="020B0604020202020204" pitchFamily="34" charset="0"/>
                <a:ea typeface="Aptos" panose="020B0004020202020204" pitchFamily="34" charset="0"/>
                <a:cs typeface="Arial" panose="020B0604020202020204" pitchFamily="34" charset="0"/>
              </a:rPr>
              <a:t>Stemming</a:t>
            </a:r>
            <a:r>
              <a:rPr lang="tr-TR" sz="1200" kern="100" dirty="0">
                <a:effectLst/>
                <a:latin typeface="Arial" panose="020B0604020202020204" pitchFamily="34" charset="0"/>
                <a:ea typeface="Aptos" panose="020B0004020202020204" pitchFamily="34" charset="0"/>
                <a:cs typeface="Arial" panose="020B0604020202020204" pitchFamily="34" charset="0"/>
              </a:rPr>
              <a:t> / </a:t>
            </a:r>
            <a:r>
              <a:rPr lang="tr-TR" sz="1200" kern="100" dirty="0" err="1">
                <a:effectLst/>
                <a:latin typeface="Arial" panose="020B0604020202020204" pitchFamily="34" charset="0"/>
                <a:ea typeface="Aptos" panose="020B0004020202020204" pitchFamily="34" charset="0"/>
                <a:cs typeface="Arial" panose="020B0604020202020204" pitchFamily="34" charset="0"/>
              </a:rPr>
              <a:t>Lemmatization</a:t>
            </a:r>
            <a:r>
              <a:rPr lang="tr-TR" sz="1200" kern="100" dirty="0">
                <a:effectLst/>
                <a:latin typeface="Arial" panose="020B0604020202020204" pitchFamily="34" charset="0"/>
                <a:ea typeface="Aptos" panose="020B0004020202020204" pitchFamily="34" charset="0"/>
                <a:cs typeface="Arial" panose="020B0604020202020204" pitchFamily="34" charset="0"/>
              </a:rPr>
              <a:t>		15</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1.14</a:t>
            </a:r>
            <a:r>
              <a:rPr lang="tr-TR" sz="12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tr-TR" sz="1200" kern="100" dirty="0">
                <a:effectLst/>
                <a:latin typeface="Arial" panose="020B0604020202020204" pitchFamily="34" charset="0"/>
                <a:ea typeface="Aptos" panose="020B0004020202020204" pitchFamily="34" charset="0"/>
                <a:cs typeface="Arial" panose="020B0604020202020204" pitchFamily="34" charset="0"/>
              </a:rPr>
              <a:t>Metni Sayısal Formata Dönüştürme (</a:t>
            </a:r>
            <a:r>
              <a:rPr lang="tr-TR" sz="1200" kern="100" dirty="0" err="1">
                <a:effectLst/>
                <a:latin typeface="Arial" panose="020B0604020202020204" pitchFamily="34" charset="0"/>
                <a:ea typeface="Aptos" panose="020B0004020202020204" pitchFamily="34" charset="0"/>
                <a:cs typeface="Arial" panose="020B0604020202020204" pitchFamily="34" charset="0"/>
              </a:rPr>
              <a:t>Vectorization</a:t>
            </a:r>
            <a:r>
              <a:rPr lang="tr-TR" sz="1200" kern="100" dirty="0">
                <a:effectLst/>
                <a:latin typeface="Arial" panose="020B0604020202020204" pitchFamily="34" charset="0"/>
                <a:ea typeface="Aptos" panose="020B0004020202020204" pitchFamily="34" charset="0"/>
                <a:cs typeface="Arial" panose="020B0604020202020204" pitchFamily="34" charset="0"/>
              </a:rPr>
              <a:t>)	16</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1.15 </a:t>
            </a:r>
            <a:r>
              <a:rPr lang="tr-TR" sz="1200" kern="100" dirty="0" err="1">
                <a:effectLst/>
                <a:latin typeface="Arial" panose="020B0604020202020204" pitchFamily="34" charset="0"/>
                <a:ea typeface="Aptos" panose="020B0004020202020204" pitchFamily="34" charset="0"/>
                <a:cs typeface="Arial" panose="020B0604020202020204" pitchFamily="34" charset="0"/>
              </a:rPr>
              <a:t>Bag</a:t>
            </a:r>
            <a:r>
              <a:rPr lang="tr-TR" sz="1200" kern="100" dirty="0">
                <a:effectLst/>
                <a:latin typeface="Arial" panose="020B0604020202020204" pitchFamily="34" charset="0"/>
                <a:ea typeface="Aptos" panose="020B0004020202020204" pitchFamily="34" charset="0"/>
                <a:cs typeface="Arial" panose="020B0604020202020204" pitchFamily="34" charset="0"/>
              </a:rPr>
              <a:t>-of-</a:t>
            </a:r>
            <a:r>
              <a:rPr lang="tr-TR" sz="1200" kern="100" dirty="0" err="1">
                <a:effectLst/>
                <a:latin typeface="Arial" panose="020B0604020202020204" pitchFamily="34" charset="0"/>
                <a:ea typeface="Aptos" panose="020B0004020202020204" pitchFamily="34" charset="0"/>
                <a:cs typeface="Arial" panose="020B0604020202020204" pitchFamily="34" charset="0"/>
              </a:rPr>
              <a:t>Words</a:t>
            </a:r>
            <a:r>
              <a:rPr lang="tr-TR" sz="1200" kern="100" dirty="0">
                <a:effectLst/>
                <a:latin typeface="Arial" panose="020B0604020202020204" pitchFamily="34" charset="0"/>
                <a:ea typeface="Aptos" panose="020B0004020202020204" pitchFamily="34" charset="0"/>
                <a:cs typeface="Arial" panose="020B0604020202020204" pitchFamily="34" charset="0"/>
              </a:rPr>
              <a:t> (</a:t>
            </a:r>
            <a:r>
              <a:rPr lang="tr-TR" sz="1200" kern="100" dirty="0" err="1">
                <a:effectLst/>
                <a:latin typeface="Arial" panose="020B0604020202020204" pitchFamily="34" charset="0"/>
                <a:ea typeface="Aptos" panose="020B0004020202020204" pitchFamily="34" charset="0"/>
                <a:cs typeface="Arial" panose="020B0604020202020204" pitchFamily="34" charset="0"/>
              </a:rPr>
              <a:t>BoW</a:t>
            </a:r>
            <a:r>
              <a:rPr lang="tr-TR" sz="1200" kern="100" dirty="0">
                <a:effectLst/>
                <a:latin typeface="Arial" panose="020B0604020202020204" pitchFamily="34" charset="0"/>
                <a:ea typeface="Aptos" panose="020B0004020202020204" pitchFamily="34" charset="0"/>
                <a:cs typeface="Arial" panose="020B0604020202020204" pitchFamily="34" charset="0"/>
              </a:rPr>
              <a:t>) Nedir?			17</a:t>
            </a:r>
          </a:p>
          <a:p>
            <a:pPr>
              <a:spcAft>
                <a:spcPts val="800"/>
              </a:spcAft>
              <a:buNone/>
            </a:pPr>
            <a:r>
              <a:rPr lang="tr-TR" sz="1200" kern="100" dirty="0">
                <a:latin typeface="Arial" panose="020B0604020202020204" pitchFamily="34" charset="0"/>
                <a:ea typeface="Aptos" panose="020B0004020202020204" pitchFamily="34" charset="0"/>
                <a:cs typeface="Arial" panose="020B0604020202020204" pitchFamily="34" charset="0"/>
              </a:rPr>
              <a:t>1.16 </a:t>
            </a:r>
            <a:r>
              <a:rPr lang="tr-TR" sz="1200" kern="100" dirty="0" err="1">
                <a:latin typeface="Arial" panose="020B0604020202020204" pitchFamily="34" charset="0"/>
                <a:ea typeface="Aptos" panose="020B0004020202020204" pitchFamily="34" charset="0"/>
                <a:cs typeface="Arial" panose="020B0604020202020204" pitchFamily="34" charset="0"/>
              </a:rPr>
              <a:t>Count</a:t>
            </a:r>
            <a:r>
              <a:rPr lang="tr-TR" sz="1200" kern="100" dirty="0">
                <a:latin typeface="Arial" panose="020B0604020202020204" pitchFamily="34" charset="0"/>
                <a:ea typeface="Aptos" panose="020B0004020202020204" pitchFamily="34" charset="0"/>
                <a:cs typeface="Arial" panose="020B0604020202020204" pitchFamily="34" charset="0"/>
              </a:rPr>
              <a:t> </a:t>
            </a:r>
            <a:r>
              <a:rPr lang="tr-TR" sz="1200" kern="100" dirty="0" err="1">
                <a:latin typeface="Arial" panose="020B0604020202020204" pitchFamily="34" charset="0"/>
                <a:ea typeface="Aptos" panose="020B0004020202020204" pitchFamily="34" charset="0"/>
                <a:cs typeface="Arial" panose="020B0604020202020204" pitchFamily="34" charset="0"/>
              </a:rPr>
              <a:t>Vectorizer</a:t>
            </a:r>
            <a:r>
              <a:rPr lang="tr-TR" sz="1200" kern="100" dirty="0">
                <a:latin typeface="Arial" panose="020B0604020202020204" pitchFamily="34" charset="0"/>
                <a:ea typeface="Aptos" panose="020B0004020202020204" pitchFamily="34" charset="0"/>
                <a:cs typeface="Arial" panose="020B0604020202020204" pitchFamily="34" charset="0"/>
              </a:rPr>
              <a:t> Nedir?			18</a:t>
            </a:r>
          </a:p>
          <a:p>
            <a:pPr>
              <a:spcAft>
                <a:spcPts val="800"/>
              </a:spcAft>
              <a:buNone/>
            </a:pPr>
            <a:r>
              <a:rPr lang="tr-TR" sz="1200" kern="100" dirty="0">
                <a:latin typeface="Arial" panose="020B0604020202020204" pitchFamily="34" charset="0"/>
                <a:ea typeface="Aptos" panose="020B0004020202020204" pitchFamily="34" charset="0"/>
                <a:cs typeface="Arial" panose="020B0604020202020204" pitchFamily="34" charset="0"/>
              </a:rPr>
              <a:t>1.17 TF-IDF Nedir?				19</a:t>
            </a:r>
          </a:p>
          <a:p>
            <a:pPr>
              <a:spcAft>
                <a:spcPts val="800"/>
              </a:spcAft>
              <a:buNone/>
            </a:pPr>
            <a:r>
              <a:rPr lang="tr-TR" sz="1200" kern="100" dirty="0">
                <a:latin typeface="Arial" panose="020B0604020202020204" pitchFamily="34" charset="0"/>
                <a:ea typeface="Aptos" panose="020B0004020202020204" pitchFamily="34" charset="0"/>
                <a:cs typeface="Arial" panose="020B0604020202020204" pitchFamily="34" charset="0"/>
              </a:rPr>
              <a:t>		</a:t>
            </a:r>
            <a:r>
              <a:rPr lang="tr-TR" sz="1200" kern="100" dirty="0">
                <a:effectLst/>
                <a:latin typeface="Arial" panose="020B0604020202020204" pitchFamily="34" charset="0"/>
                <a:ea typeface="Aptos" panose="020B0004020202020204" pitchFamily="34" charset="0"/>
                <a:cs typeface="Arial" panose="020B0604020202020204" pitchFamily="34" charset="0"/>
              </a:rPr>
              <a:t>	</a:t>
            </a:r>
          </a:p>
        </p:txBody>
      </p:sp>
      <p:sp>
        <p:nvSpPr>
          <p:cNvPr id="8" name="TextBox 7">
            <a:extLst>
              <a:ext uri="{FF2B5EF4-FFF2-40B4-BE49-F238E27FC236}">
                <a16:creationId xmlns:a16="http://schemas.microsoft.com/office/drawing/2014/main" id="{409B43CD-D9AE-8659-FFC4-864476651841}"/>
              </a:ext>
            </a:extLst>
          </p:cNvPr>
          <p:cNvSpPr txBox="1"/>
          <p:nvPr/>
        </p:nvSpPr>
        <p:spPr>
          <a:xfrm>
            <a:off x="6094476" y="1035474"/>
            <a:ext cx="5364099" cy="5403210"/>
          </a:xfrm>
          <a:prstGeom prst="rect">
            <a:avLst/>
          </a:prstGeom>
          <a:noFill/>
        </p:spPr>
        <p:txBody>
          <a:bodyPr wrap="square">
            <a:spAutoFit/>
          </a:bodyPr>
          <a:lstStyle/>
          <a:p>
            <a:pPr>
              <a:spcAft>
                <a:spcPts val="800"/>
              </a:spcAft>
              <a:buNone/>
            </a:pPr>
            <a:r>
              <a:rPr lang="tr-TR" sz="1200" kern="100" dirty="0">
                <a:latin typeface="Arial" panose="020B0604020202020204" pitchFamily="34" charset="0"/>
                <a:ea typeface="Aptos" panose="020B0004020202020204" pitchFamily="34" charset="0"/>
                <a:cs typeface="Arial" panose="020B0604020202020204" pitchFamily="34" charset="0"/>
              </a:rPr>
              <a:t>1.18 N-</a:t>
            </a:r>
            <a:r>
              <a:rPr lang="tr-TR" sz="1200" kern="100" dirty="0" err="1">
                <a:latin typeface="Arial" panose="020B0604020202020204" pitchFamily="34" charset="0"/>
                <a:ea typeface="Aptos" panose="020B0004020202020204" pitchFamily="34" charset="0"/>
                <a:cs typeface="Arial" panose="020B0604020202020204" pitchFamily="34" charset="0"/>
              </a:rPr>
              <a:t>Grams</a:t>
            </a:r>
            <a:r>
              <a:rPr lang="tr-TR" sz="1200" kern="100" dirty="0">
                <a:latin typeface="Arial" panose="020B0604020202020204" pitchFamily="34" charset="0"/>
                <a:ea typeface="Aptos" panose="020B0004020202020204" pitchFamily="34" charset="0"/>
                <a:cs typeface="Arial" panose="020B0604020202020204" pitchFamily="34" charset="0"/>
              </a:rPr>
              <a:t> Nedir?				20</a:t>
            </a:r>
          </a:p>
          <a:p>
            <a:pPr>
              <a:spcAft>
                <a:spcPts val="800"/>
              </a:spcAft>
              <a:buNone/>
            </a:pPr>
            <a:r>
              <a:rPr lang="tr-TR" sz="1200" kern="100" dirty="0">
                <a:latin typeface="Arial" panose="020B0604020202020204" pitchFamily="34" charset="0"/>
                <a:ea typeface="Aptos" panose="020B0004020202020204" pitchFamily="34" charset="0"/>
                <a:cs typeface="Arial" panose="020B0604020202020204" pitchFamily="34" charset="0"/>
              </a:rPr>
              <a:t>1.19 Word </a:t>
            </a:r>
            <a:r>
              <a:rPr lang="tr-TR" sz="1200" kern="100" dirty="0" err="1">
                <a:latin typeface="Arial" panose="020B0604020202020204" pitchFamily="34" charset="0"/>
                <a:ea typeface="Aptos" panose="020B0004020202020204" pitchFamily="34" charset="0"/>
                <a:cs typeface="Arial" panose="020B0604020202020204" pitchFamily="34" charset="0"/>
              </a:rPr>
              <a:t>Embeddings</a:t>
            </a:r>
            <a:r>
              <a:rPr lang="tr-TR" sz="1200" kern="100" dirty="0">
                <a:latin typeface="Arial" panose="020B0604020202020204" pitchFamily="34" charset="0"/>
                <a:ea typeface="Aptos" panose="020B0004020202020204" pitchFamily="34" charset="0"/>
                <a:cs typeface="Arial" panose="020B0604020202020204" pitchFamily="34" charset="0"/>
              </a:rPr>
              <a:t> (Kelime Gömme Yöntemleri) Nedir?	21</a:t>
            </a:r>
          </a:p>
          <a:p>
            <a:pPr>
              <a:spcAft>
                <a:spcPts val="800"/>
              </a:spcAft>
              <a:buNone/>
            </a:pPr>
            <a:r>
              <a:rPr lang="tr-TR" sz="1200" kern="100" dirty="0">
                <a:latin typeface="Arial" panose="020B0604020202020204" pitchFamily="34" charset="0"/>
                <a:ea typeface="Aptos" panose="020B0004020202020204" pitchFamily="34" charset="0"/>
                <a:cs typeface="Arial" panose="020B0604020202020204" pitchFamily="34" charset="0"/>
              </a:rPr>
              <a:t>1.20 Modern NLP Yaklaşımları (</a:t>
            </a:r>
            <a:r>
              <a:rPr lang="tr-TR" sz="1200" kern="100" dirty="0" err="1">
                <a:latin typeface="Arial" panose="020B0604020202020204" pitchFamily="34" charset="0"/>
                <a:ea typeface="Aptos" panose="020B0004020202020204" pitchFamily="34" charset="0"/>
                <a:cs typeface="Arial" panose="020B0604020202020204" pitchFamily="34" charset="0"/>
              </a:rPr>
              <a:t>Transformers</a:t>
            </a:r>
            <a:r>
              <a:rPr lang="tr-TR" sz="1200" kern="100" dirty="0">
                <a:latin typeface="Arial" panose="020B0604020202020204" pitchFamily="34" charset="0"/>
                <a:ea typeface="Aptos" panose="020B0004020202020204" pitchFamily="34" charset="0"/>
                <a:cs typeface="Arial" panose="020B0604020202020204" pitchFamily="34" charset="0"/>
              </a:rPr>
              <a:t>) Nedir?		22</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1.21 Duygu Analizi (</a:t>
            </a:r>
            <a:r>
              <a:rPr lang="tr-TR" sz="1200" kern="100" dirty="0" err="1">
                <a:effectLst/>
                <a:latin typeface="Arial" panose="020B0604020202020204" pitchFamily="34" charset="0"/>
                <a:ea typeface="Aptos" panose="020B0004020202020204" pitchFamily="34" charset="0"/>
                <a:cs typeface="Arial" panose="020B0604020202020204" pitchFamily="34" charset="0"/>
              </a:rPr>
              <a:t>Sentiment</a:t>
            </a:r>
            <a:r>
              <a:rPr lang="tr-TR" sz="1200" kern="100" dirty="0">
                <a:effectLst/>
                <a:latin typeface="Arial" panose="020B0604020202020204" pitchFamily="34" charset="0"/>
                <a:ea typeface="Aptos" panose="020B0004020202020204" pitchFamily="34" charset="0"/>
                <a:cs typeface="Arial" panose="020B0604020202020204" pitchFamily="34" charset="0"/>
              </a:rPr>
              <a:t> Analysis)</a:t>
            </a:r>
            <a:r>
              <a:rPr lang="tr-TR" sz="1200" kern="100" dirty="0">
                <a:latin typeface="Arial" panose="020B0604020202020204" pitchFamily="34" charset="0"/>
                <a:ea typeface="Aptos" panose="020B0004020202020204" pitchFamily="34" charset="0"/>
                <a:cs typeface="Arial" panose="020B0604020202020204" pitchFamily="34" charset="0"/>
              </a:rPr>
              <a:t> Nedir?</a:t>
            </a:r>
            <a:r>
              <a:rPr lang="tr-TR" sz="1200" kern="100" dirty="0">
                <a:effectLst/>
                <a:latin typeface="Arial" panose="020B0604020202020204" pitchFamily="34" charset="0"/>
                <a:ea typeface="Aptos" panose="020B0004020202020204" pitchFamily="34" charset="0"/>
                <a:cs typeface="Arial" panose="020B0604020202020204" pitchFamily="34" charset="0"/>
              </a:rPr>
              <a:t>		23</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1.22 Duygu Analizi Türleri (</a:t>
            </a:r>
            <a:r>
              <a:rPr lang="tr-TR" sz="1200" kern="100" dirty="0" err="1">
                <a:effectLst/>
                <a:latin typeface="Arial" panose="020B0604020202020204" pitchFamily="34" charset="0"/>
                <a:ea typeface="Aptos" panose="020B0004020202020204" pitchFamily="34" charset="0"/>
                <a:cs typeface="Arial" panose="020B0604020202020204" pitchFamily="34" charset="0"/>
              </a:rPr>
              <a:t>Types</a:t>
            </a:r>
            <a:r>
              <a:rPr lang="tr-TR" sz="1200" kern="100" dirty="0">
                <a:effectLst/>
                <a:latin typeface="Arial" panose="020B0604020202020204" pitchFamily="34" charset="0"/>
                <a:ea typeface="Aptos" panose="020B0004020202020204" pitchFamily="34" charset="0"/>
                <a:cs typeface="Arial" panose="020B0604020202020204" pitchFamily="34" charset="0"/>
              </a:rPr>
              <a:t> of </a:t>
            </a:r>
            <a:r>
              <a:rPr lang="tr-TR" sz="1200" kern="100" dirty="0" err="1">
                <a:effectLst/>
                <a:latin typeface="Arial" panose="020B0604020202020204" pitchFamily="34" charset="0"/>
                <a:ea typeface="Aptos" panose="020B0004020202020204" pitchFamily="34" charset="0"/>
                <a:cs typeface="Arial" panose="020B0604020202020204" pitchFamily="34" charset="0"/>
              </a:rPr>
              <a:t>Sentiment</a:t>
            </a:r>
            <a:r>
              <a:rPr lang="tr-TR" sz="1200" kern="100" dirty="0">
                <a:effectLst/>
                <a:latin typeface="Arial" panose="020B0604020202020204" pitchFamily="34" charset="0"/>
                <a:ea typeface="Aptos" panose="020B0004020202020204" pitchFamily="34" charset="0"/>
                <a:cs typeface="Arial" panose="020B0604020202020204" pitchFamily="34" charset="0"/>
              </a:rPr>
              <a:t> Analysis) Nedir?	24</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1.23 Makine Öğrenmesi Tabanlı Yaklaşım Nedir?		25</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1.24</a:t>
            </a:r>
            <a:r>
              <a:rPr lang="tr-TR" sz="12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tr-TR" sz="1200" kern="100" dirty="0">
                <a:effectLst/>
                <a:latin typeface="Arial" panose="020B0604020202020204" pitchFamily="34" charset="0"/>
                <a:ea typeface="Aptos" panose="020B0004020202020204" pitchFamily="34" charset="0"/>
                <a:cs typeface="Arial" panose="020B0604020202020204" pitchFamily="34" charset="0"/>
              </a:rPr>
              <a:t>En Çok Kullanılan Temel Terimler (İngilizce –Türkçe)	26</a:t>
            </a:r>
          </a:p>
          <a:p>
            <a:pPr>
              <a:spcAft>
                <a:spcPts val="800"/>
              </a:spcAft>
              <a:buNone/>
            </a:pPr>
            <a:r>
              <a:rPr lang="tr-TR" sz="1200" kern="100" dirty="0">
                <a:effectLst/>
                <a:latin typeface="Arial" panose="020B0604020202020204" pitchFamily="34" charset="0"/>
                <a:ea typeface="Aptos" panose="020B0004020202020204" pitchFamily="34" charset="0"/>
                <a:cs typeface="Arial" panose="020B0604020202020204" pitchFamily="34" charset="0"/>
              </a:rPr>
              <a:t>1.25 Performans Metrikleri				27</a:t>
            </a:r>
          </a:p>
          <a:p>
            <a:pPr>
              <a:lnSpc>
                <a:spcPct val="150000"/>
              </a:lnSpc>
              <a:buNone/>
            </a:pPr>
            <a:r>
              <a:rPr lang="tr-TR" sz="1200" b="1" noProof="0" dirty="0"/>
              <a:t>2. BÖLÜM – R UYGULAMALARI</a:t>
            </a:r>
          </a:p>
          <a:p>
            <a:pPr>
              <a:lnSpc>
                <a:spcPct val="150000"/>
              </a:lnSpc>
            </a:pPr>
            <a:r>
              <a:rPr lang="tr-TR" sz="1200" noProof="0" dirty="0"/>
              <a:t>2.1 Veri Setinin Tanıtımı (Amazon </a:t>
            </a:r>
            <a:r>
              <a:rPr lang="tr-TR" sz="1200" noProof="0" dirty="0" err="1"/>
              <a:t>Kindle</a:t>
            </a:r>
            <a:r>
              <a:rPr lang="tr-TR" sz="1200" noProof="0" dirty="0"/>
              <a:t> Yorumları)</a:t>
            </a:r>
            <a:r>
              <a:rPr lang="tr-TR" sz="1200" dirty="0"/>
              <a:t>		</a:t>
            </a:r>
            <a:r>
              <a:rPr lang="tr-TR" sz="1200" noProof="0" dirty="0"/>
              <a:t>29</a:t>
            </a:r>
            <a:br>
              <a:rPr lang="tr-TR" sz="1200" noProof="0" dirty="0"/>
            </a:br>
            <a:r>
              <a:rPr lang="tr-TR" sz="1200" noProof="0" dirty="0"/>
              <a:t>2.2 </a:t>
            </a:r>
            <a:r>
              <a:rPr lang="tr-TR" sz="1200" dirty="0"/>
              <a:t>En Sık Geçen Kelimeler (Frekans) – Bar ve Pasta Grafik</a:t>
            </a:r>
          </a:p>
          <a:p>
            <a:pPr>
              <a:lnSpc>
                <a:spcPct val="150000"/>
              </a:lnSpc>
            </a:pPr>
            <a:r>
              <a:rPr lang="tr-TR" sz="1200" dirty="0"/>
              <a:t>    Gösterimi					</a:t>
            </a:r>
            <a:r>
              <a:rPr lang="tr-TR" sz="1200" noProof="0" dirty="0"/>
              <a:t>30</a:t>
            </a:r>
            <a:br>
              <a:rPr lang="tr-TR" sz="1200" noProof="0" dirty="0"/>
            </a:br>
            <a:r>
              <a:rPr lang="tr-TR" sz="1200" noProof="0" dirty="0"/>
              <a:t>2.3 </a:t>
            </a:r>
            <a:r>
              <a:rPr lang="tr-TR" sz="1200" dirty="0"/>
              <a:t>Kelime Bulutu (Word Cloud)	</a:t>
            </a:r>
            <a:r>
              <a:rPr lang="tr-TR" sz="1200" noProof="0" dirty="0"/>
              <a:t>		31</a:t>
            </a:r>
            <a:br>
              <a:rPr lang="tr-TR" sz="1200" noProof="0" dirty="0"/>
            </a:br>
            <a:r>
              <a:rPr lang="tr-TR" sz="1200" noProof="0" dirty="0"/>
              <a:t>2.4 </a:t>
            </a:r>
            <a:r>
              <a:rPr lang="tr-TR" sz="1200" dirty="0"/>
              <a:t>Rating Bazlı </a:t>
            </a:r>
            <a:r>
              <a:rPr lang="tr-TR" sz="1200" dirty="0" err="1"/>
              <a:t>Syuzhet</a:t>
            </a:r>
            <a:r>
              <a:rPr lang="tr-TR" sz="1200" dirty="0"/>
              <a:t>, Bing ve </a:t>
            </a:r>
            <a:r>
              <a:rPr lang="tr-TR" sz="1200" dirty="0" err="1"/>
              <a:t>Afinn</a:t>
            </a:r>
            <a:r>
              <a:rPr lang="tr-TR" sz="1200" dirty="0"/>
              <a:t> Duygu Skoru Dağılımları</a:t>
            </a:r>
            <a:r>
              <a:rPr lang="tr-TR" sz="1200" noProof="0" dirty="0"/>
              <a:t>	32</a:t>
            </a:r>
            <a:br>
              <a:rPr lang="tr-TR" sz="1200" noProof="0" dirty="0"/>
            </a:br>
            <a:r>
              <a:rPr lang="tr-TR" sz="1200" noProof="0" dirty="0"/>
              <a:t>2.5 </a:t>
            </a:r>
            <a:r>
              <a:rPr lang="tr-TR" sz="1200" dirty="0"/>
              <a:t>Duygu Analizi Yöntemlerinin Karşılaştırılması	</a:t>
            </a:r>
            <a:r>
              <a:rPr lang="tr-TR" sz="1200" noProof="0" dirty="0"/>
              <a:t>	33</a:t>
            </a:r>
            <a:br>
              <a:rPr lang="tr-TR" sz="1200" noProof="0" dirty="0"/>
            </a:br>
            <a:r>
              <a:rPr lang="tr-TR" sz="1200" noProof="0" dirty="0"/>
              <a:t>2.6 </a:t>
            </a:r>
            <a:r>
              <a:rPr lang="tr-TR" sz="1200" dirty="0"/>
              <a:t>NRC Sözlüğüne Göre Duygu Dağılımı</a:t>
            </a:r>
            <a:r>
              <a:rPr lang="tr-TR" sz="1200" noProof="0" dirty="0"/>
              <a:t>		34</a:t>
            </a:r>
          </a:p>
          <a:p>
            <a:pPr>
              <a:lnSpc>
                <a:spcPct val="150000"/>
              </a:lnSpc>
              <a:buNone/>
            </a:pPr>
            <a:r>
              <a:rPr lang="tr-TR" sz="1200" b="1" noProof="0" dirty="0"/>
              <a:t>3. BÖLÜM – KAYNAKÇA</a:t>
            </a:r>
          </a:p>
          <a:p>
            <a:pPr>
              <a:lnSpc>
                <a:spcPct val="150000"/>
              </a:lnSpc>
              <a:buNone/>
            </a:pPr>
            <a:r>
              <a:rPr lang="tr-TR" sz="1200" noProof="0" dirty="0"/>
              <a:t>3.1 Kullanılan Veri Seti ve Kaynaklar 			35</a:t>
            </a:r>
            <a:r>
              <a:rPr lang="tr-TR" sz="1200" kern="100" dirty="0">
                <a:latin typeface="Arial" panose="020B0604020202020204" pitchFamily="34" charset="0"/>
                <a:ea typeface="Aptos" panose="020B0004020202020204" pitchFamily="34" charset="0"/>
                <a:cs typeface="Arial" panose="020B0604020202020204" pitchFamily="34" charset="0"/>
              </a:rPr>
              <a:t>		</a:t>
            </a:r>
            <a:r>
              <a:rPr lang="tr-TR" sz="1200" kern="100" dirty="0">
                <a:effectLst/>
                <a:latin typeface="Arial" panose="020B0604020202020204" pitchFamily="34" charset="0"/>
                <a:ea typeface="Aptos" panose="020B0004020202020204" pitchFamily="34" charset="0"/>
                <a:cs typeface="Arial" panose="020B0604020202020204" pitchFamily="34" charset="0"/>
              </a:rPr>
              <a:t> </a:t>
            </a:r>
          </a:p>
        </p:txBody>
      </p:sp>
      <p:sp>
        <p:nvSpPr>
          <p:cNvPr id="3" name="TextBox 2">
            <a:extLst>
              <a:ext uri="{FF2B5EF4-FFF2-40B4-BE49-F238E27FC236}">
                <a16:creationId xmlns:a16="http://schemas.microsoft.com/office/drawing/2014/main" id="{BA829E79-647D-F09B-390C-3CB1F95C881F}"/>
              </a:ext>
            </a:extLst>
          </p:cNvPr>
          <p:cNvSpPr txBox="1"/>
          <p:nvPr/>
        </p:nvSpPr>
        <p:spPr>
          <a:xfrm>
            <a:off x="0" y="341809"/>
            <a:ext cx="12188952" cy="523220"/>
          </a:xfrm>
          <a:prstGeom prst="rect">
            <a:avLst/>
          </a:prstGeom>
          <a:noFill/>
        </p:spPr>
        <p:txBody>
          <a:bodyPr wrap="square">
            <a:spAutoFit/>
          </a:bodyPr>
          <a:lstStyle/>
          <a:p>
            <a:pPr algn="ctr">
              <a:spcAft>
                <a:spcPts val="800"/>
              </a:spcAft>
              <a:buNone/>
            </a:pPr>
            <a:r>
              <a:rPr lang="tr-TR" sz="2800" b="1" kern="100" dirty="0">
                <a:effectLst/>
                <a:latin typeface="Arial" panose="020B0604020202020204" pitchFamily="34" charset="0"/>
                <a:ea typeface="Aptos" panose="020B0004020202020204" pitchFamily="34" charset="0"/>
                <a:cs typeface="Arial" panose="020B0604020202020204" pitchFamily="34" charset="0"/>
              </a:rPr>
              <a:t>İÇİNDEKİLER</a:t>
            </a:r>
            <a:endParaRPr lang="en-US" sz="2800" b="1"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708040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0B7490-53BB-AA65-ABE4-9EE7C5EF579D}"/>
              </a:ext>
            </a:extLst>
          </p:cNvPr>
          <p:cNvSpPr txBox="1"/>
          <p:nvPr/>
        </p:nvSpPr>
        <p:spPr>
          <a:xfrm>
            <a:off x="3050275" y="1573997"/>
            <a:ext cx="6408191" cy="4276620"/>
          </a:xfrm>
          <a:prstGeom prst="rect">
            <a:avLst/>
          </a:prstGeom>
          <a:noFill/>
        </p:spPr>
        <p:txBody>
          <a:bodyPr wrap="square">
            <a:spAutoFit/>
          </a:bodyPr>
          <a:lstStyle/>
          <a:p>
            <a:pPr>
              <a:lnSpc>
                <a:spcPct val="150000"/>
              </a:lnSpc>
            </a:pPr>
            <a:r>
              <a:rPr lang="tr-TR" sz="1300" noProof="0" dirty="0"/>
              <a:t>Bu bölümde öncelikle metin analitiği ve duygu analizi kapsamında kullanılan temel kavramlar ve yöntemler ele alınacaktır.  </a:t>
            </a:r>
          </a:p>
          <a:p>
            <a:pPr>
              <a:lnSpc>
                <a:spcPct val="150000"/>
              </a:lnSpc>
            </a:pPr>
            <a:endParaRPr lang="tr-TR" sz="1300" noProof="0" dirty="0"/>
          </a:p>
          <a:p>
            <a:pPr>
              <a:lnSpc>
                <a:spcPct val="150000"/>
              </a:lnSpc>
            </a:pPr>
            <a:r>
              <a:rPr lang="tr-TR" sz="1300" noProof="0" dirty="0"/>
              <a:t>Anlatılan bu yöntemler, daha sonra kullanıcıların yazılı yorumlarından oluşan bir CSV veri seti üzerinde R programlama dili kullanılarak uygulamalı olarak gösterilecektir. </a:t>
            </a:r>
          </a:p>
          <a:p>
            <a:pPr>
              <a:lnSpc>
                <a:spcPct val="150000"/>
              </a:lnSpc>
            </a:pPr>
            <a:endParaRPr lang="tr-TR" sz="1300" noProof="0" dirty="0"/>
          </a:p>
          <a:p>
            <a:pPr>
              <a:lnSpc>
                <a:spcPct val="150000"/>
              </a:lnSpc>
            </a:pPr>
            <a:r>
              <a:rPr lang="tr-TR" sz="1300" noProof="0" dirty="0"/>
              <a:t>Metin analitiği, kullanıcı yorumlarının yapısal olarak işlenmesini sağlarken; duygu analizi ise bu yorumların olumlu, olumsuz veya nötr duygu içerip içermediğini belirlemeyi amaçlamaktadır.  </a:t>
            </a:r>
          </a:p>
          <a:p>
            <a:pPr>
              <a:lnSpc>
                <a:spcPct val="150000"/>
              </a:lnSpc>
            </a:pPr>
            <a:endParaRPr lang="tr-TR" sz="1300" noProof="0" dirty="0"/>
          </a:p>
          <a:p>
            <a:pPr>
              <a:lnSpc>
                <a:spcPct val="150000"/>
              </a:lnSpc>
            </a:pPr>
            <a:r>
              <a:rPr lang="tr-TR" sz="1300" noProof="0" dirty="0"/>
              <a:t>Kullanıcıların bu yorumlar aracılığıyla ifade ettikleri memnuniyet ve şikâyetler, bu yöntemler sayesinde ölçülebilir ve yorumlanabilir bilgilere dönüştürülmektedir.</a:t>
            </a:r>
          </a:p>
          <a:p>
            <a:pPr>
              <a:lnSpc>
                <a:spcPct val="150000"/>
              </a:lnSpc>
            </a:pPr>
            <a:r>
              <a:rPr lang="tr-TR" sz="1300" noProof="0" dirty="0"/>
              <a:t>Anlatılan bu yöntemler, kullanıcıların yazılı yorumlarından oluşan bir CSV veri seti üzerinde R programlama dili kullanılarak uygulamalı olarak gösterilecektir</a:t>
            </a:r>
            <a:r>
              <a:rPr lang="en-US" sz="1400" dirty="0"/>
              <a:t>.</a:t>
            </a:r>
            <a:endParaRPr lang="tr-TR" sz="1300" noProof="0" dirty="0"/>
          </a:p>
        </p:txBody>
      </p:sp>
      <p:sp>
        <p:nvSpPr>
          <p:cNvPr id="4" name="TextBox 3">
            <a:extLst>
              <a:ext uri="{FF2B5EF4-FFF2-40B4-BE49-F238E27FC236}">
                <a16:creationId xmlns:a16="http://schemas.microsoft.com/office/drawing/2014/main" id="{B6CADB8A-AED4-FD00-643F-E1823A17DFBF}"/>
              </a:ext>
            </a:extLst>
          </p:cNvPr>
          <p:cNvSpPr txBox="1"/>
          <p:nvPr/>
        </p:nvSpPr>
        <p:spPr>
          <a:xfrm>
            <a:off x="-99062" y="702479"/>
            <a:ext cx="12192000" cy="523220"/>
          </a:xfrm>
          <a:prstGeom prst="rect">
            <a:avLst/>
          </a:prstGeom>
          <a:noFill/>
        </p:spPr>
        <p:txBody>
          <a:bodyPr wrap="square" rtlCol="0">
            <a:spAutoFit/>
          </a:bodyPr>
          <a:lstStyle/>
          <a:p>
            <a:pPr algn="ctr"/>
            <a:r>
              <a:rPr lang="tr-TR" sz="2800" b="1" dirty="0"/>
              <a:t>GİRİŞ</a:t>
            </a:r>
          </a:p>
        </p:txBody>
      </p:sp>
      <p:pic>
        <p:nvPicPr>
          <p:cNvPr id="5" name="Picture 4">
            <a:extLst>
              <a:ext uri="{FF2B5EF4-FFF2-40B4-BE49-F238E27FC236}">
                <a16:creationId xmlns:a16="http://schemas.microsoft.com/office/drawing/2014/main" id="{2A6FB8F1-D3DF-8E8E-DCBC-CBAE040A5B2F}"/>
              </a:ext>
            </a:extLst>
          </p:cNvPr>
          <p:cNvPicPr>
            <a:picLocks noChangeAspect="1"/>
          </p:cNvPicPr>
          <p:nvPr/>
        </p:nvPicPr>
        <p:blipFill>
          <a:blip r:embed="rId2"/>
          <a:srcRect t="1088" r="-1" b="4417"/>
          <a:stretch>
            <a:fillRect/>
          </a:stretch>
        </p:blipFill>
        <p:spPr>
          <a:xfrm>
            <a:off x="254774" y="5018664"/>
            <a:ext cx="2350711" cy="146717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8" name="Picture 7">
            <a:extLst>
              <a:ext uri="{FF2B5EF4-FFF2-40B4-BE49-F238E27FC236}">
                <a16:creationId xmlns:a16="http://schemas.microsoft.com/office/drawing/2014/main" id="{2C75345B-3CE8-A8BF-37F2-A832AC453E73}"/>
              </a:ext>
            </a:extLst>
          </p:cNvPr>
          <p:cNvPicPr>
            <a:picLocks noChangeAspect="1"/>
          </p:cNvPicPr>
          <p:nvPr/>
        </p:nvPicPr>
        <p:blipFill>
          <a:blip r:embed="rId3"/>
          <a:stretch>
            <a:fillRect/>
          </a:stretch>
        </p:blipFill>
        <p:spPr>
          <a:xfrm>
            <a:off x="9458466" y="4101644"/>
            <a:ext cx="2350711" cy="2384198"/>
          </a:xfrm>
          <a:prstGeom prst="rect">
            <a:avLst/>
          </a:prstGeom>
        </p:spPr>
      </p:pic>
      <p:pic>
        <p:nvPicPr>
          <p:cNvPr id="9" name="Picture 8">
            <a:extLst>
              <a:ext uri="{FF2B5EF4-FFF2-40B4-BE49-F238E27FC236}">
                <a16:creationId xmlns:a16="http://schemas.microsoft.com/office/drawing/2014/main" id="{655D5AED-C4D6-CC8E-CADF-1E7C3189F57F}"/>
              </a:ext>
            </a:extLst>
          </p:cNvPr>
          <p:cNvPicPr>
            <a:picLocks noChangeAspect="1"/>
          </p:cNvPicPr>
          <p:nvPr/>
        </p:nvPicPr>
        <p:blipFill>
          <a:blip r:embed="rId4"/>
          <a:stretch>
            <a:fillRect/>
          </a:stretch>
        </p:blipFill>
        <p:spPr>
          <a:xfrm>
            <a:off x="9662250" y="616648"/>
            <a:ext cx="1943142" cy="694882"/>
          </a:xfrm>
          <a:prstGeom prst="rect">
            <a:avLst/>
          </a:prstGeom>
        </p:spPr>
      </p:pic>
      <p:pic>
        <p:nvPicPr>
          <p:cNvPr id="10" name="Picture 9">
            <a:extLst>
              <a:ext uri="{FF2B5EF4-FFF2-40B4-BE49-F238E27FC236}">
                <a16:creationId xmlns:a16="http://schemas.microsoft.com/office/drawing/2014/main" id="{7C948F3F-92ED-DD91-AAA7-24A156535DE7}"/>
              </a:ext>
            </a:extLst>
          </p:cNvPr>
          <p:cNvPicPr>
            <a:picLocks noChangeAspect="1"/>
          </p:cNvPicPr>
          <p:nvPr/>
        </p:nvPicPr>
        <p:blipFill>
          <a:blip r:embed="rId5"/>
          <a:stretch>
            <a:fillRect/>
          </a:stretch>
        </p:blipFill>
        <p:spPr>
          <a:xfrm>
            <a:off x="99062" y="88842"/>
            <a:ext cx="2817624" cy="1750495"/>
          </a:xfrm>
          <a:prstGeom prst="rect">
            <a:avLst/>
          </a:prstGeom>
        </p:spPr>
      </p:pic>
    </p:spTree>
    <p:extLst>
      <p:ext uri="{BB962C8B-B14F-4D97-AF65-F5344CB8AC3E}">
        <p14:creationId xmlns:p14="http://schemas.microsoft.com/office/powerpoint/2010/main" val="1366937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81BC3-80D3-8AD6-91DF-09274409AF5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70105D0-D0A6-0295-B04D-4F615224745A}"/>
              </a:ext>
            </a:extLst>
          </p:cNvPr>
          <p:cNvPicPr>
            <a:picLocks noChangeAspect="1"/>
          </p:cNvPicPr>
          <p:nvPr/>
        </p:nvPicPr>
        <p:blipFill>
          <a:blip r:embed="rId2"/>
          <a:stretch>
            <a:fillRect/>
          </a:stretch>
        </p:blipFill>
        <p:spPr>
          <a:xfrm>
            <a:off x="780396" y="1371602"/>
            <a:ext cx="3063259" cy="301869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TextBox 5">
            <a:extLst>
              <a:ext uri="{FF2B5EF4-FFF2-40B4-BE49-F238E27FC236}">
                <a16:creationId xmlns:a16="http://schemas.microsoft.com/office/drawing/2014/main" id="{768512B8-423A-2851-F58B-3FCC1523A9C3}"/>
              </a:ext>
            </a:extLst>
          </p:cNvPr>
          <p:cNvSpPr txBox="1"/>
          <p:nvPr/>
        </p:nvSpPr>
        <p:spPr>
          <a:xfrm>
            <a:off x="0" y="456328"/>
            <a:ext cx="12192000" cy="523220"/>
          </a:xfrm>
          <a:prstGeom prst="rect">
            <a:avLst/>
          </a:prstGeom>
          <a:noFill/>
        </p:spPr>
        <p:txBody>
          <a:bodyPr wrap="square">
            <a:spAutoFit/>
          </a:bodyPr>
          <a:lstStyle/>
          <a:p>
            <a:pPr algn="ctr"/>
            <a:r>
              <a:rPr lang="tr-TR" sz="2800" noProof="0" dirty="0">
                <a:latin typeface="Arial" panose="020B0604020202020204" pitchFamily="34" charset="0"/>
                <a:cs typeface="Arial" panose="020B0604020202020204" pitchFamily="34" charset="0"/>
              </a:rPr>
              <a:t>Metin Analitiği ve Duygu Analizine Genel Bakış</a:t>
            </a:r>
          </a:p>
        </p:txBody>
      </p:sp>
      <p:sp>
        <p:nvSpPr>
          <p:cNvPr id="12" name="TextBox 11">
            <a:extLst>
              <a:ext uri="{FF2B5EF4-FFF2-40B4-BE49-F238E27FC236}">
                <a16:creationId xmlns:a16="http://schemas.microsoft.com/office/drawing/2014/main" id="{FFD39A96-8656-66D1-92AC-260E0F6FEB63}"/>
              </a:ext>
            </a:extLst>
          </p:cNvPr>
          <p:cNvSpPr txBox="1"/>
          <p:nvPr/>
        </p:nvSpPr>
        <p:spPr>
          <a:xfrm>
            <a:off x="3984250" y="1154746"/>
            <a:ext cx="7573497" cy="3568734"/>
          </a:xfrm>
          <a:prstGeom prst="rect">
            <a:avLst/>
          </a:prstGeom>
          <a:noFill/>
        </p:spPr>
        <p:txBody>
          <a:bodyPr wrap="square">
            <a:spAutoFit/>
          </a:bodyPr>
          <a:lstStyle/>
          <a:p>
            <a:pPr>
              <a:lnSpc>
                <a:spcPct val="125000"/>
              </a:lnSpc>
              <a:buNone/>
            </a:pPr>
            <a:r>
              <a:rPr lang="tr-TR" sz="1300" noProof="0" dirty="0">
                <a:latin typeface="Arial" panose="020B0604020202020204" pitchFamily="34" charset="0"/>
                <a:cs typeface="Arial" panose="020B0604020202020204" pitchFamily="34" charset="0"/>
              </a:rPr>
              <a:t>Yapılandırılmamış metinlerin anlamlı bilgilere dönüştürülmesi, modern veri analitiğinde merkezi bir role sahiptir. Metinlerde saklı örüntülerin ortaya çıkarılması, temaların belirlenmesi ve kullanıcı ifadelerindeki duygusal tonun analiz edilmesi; hem akademik araştırmalarda hem de iş dünyasında önemli içgörüler sunmaktadır. Bu süreçler birlikte ele alındığında, metnin hem içerik hem de duygusal açıdan bütüncül bir biçimde değerlendirilmesi mümkün olur.</a:t>
            </a:r>
          </a:p>
          <a:p>
            <a:pPr>
              <a:lnSpc>
                <a:spcPct val="125000"/>
              </a:lnSpc>
              <a:buNone/>
            </a:pPr>
            <a:r>
              <a:rPr lang="tr-TR" sz="1300" noProof="0" dirty="0">
                <a:latin typeface="Arial" panose="020B0604020202020204" pitchFamily="34" charset="0"/>
                <a:cs typeface="Arial" panose="020B0604020202020204" pitchFamily="34" charset="0"/>
              </a:rPr>
              <a:t>• </a:t>
            </a:r>
            <a:r>
              <a:rPr lang="tr-TR" sz="1300" b="1" noProof="0" dirty="0">
                <a:latin typeface="Arial" panose="020B0604020202020204" pitchFamily="34" charset="0"/>
                <a:cs typeface="Arial" panose="020B0604020202020204" pitchFamily="34" charset="0"/>
              </a:rPr>
              <a:t>Metin Madenciliği:</a:t>
            </a:r>
            <a:br>
              <a:rPr lang="tr-TR" sz="1300" noProof="0" dirty="0">
                <a:latin typeface="Arial" panose="020B0604020202020204" pitchFamily="34" charset="0"/>
                <a:cs typeface="Arial" panose="020B0604020202020204" pitchFamily="34" charset="0"/>
              </a:rPr>
            </a:br>
            <a:r>
              <a:rPr lang="tr-TR" sz="1300" noProof="0" dirty="0">
                <a:latin typeface="Arial" panose="020B0604020202020204" pitchFamily="34" charset="0"/>
                <a:cs typeface="Arial" panose="020B0604020202020204" pitchFamily="34" charset="0"/>
              </a:rPr>
              <a:t>Ham metnin temizlenmesi, dönüştürülmesi ve anlamlı yapılara ayrılması için kullanılan yapısal işleme sürecidir.</a:t>
            </a:r>
          </a:p>
          <a:p>
            <a:pPr>
              <a:lnSpc>
                <a:spcPct val="125000"/>
              </a:lnSpc>
              <a:buNone/>
            </a:pPr>
            <a:r>
              <a:rPr lang="tr-TR" sz="1300" noProof="0" dirty="0">
                <a:latin typeface="Arial" panose="020B0604020202020204" pitchFamily="34" charset="0"/>
                <a:cs typeface="Arial" panose="020B0604020202020204" pitchFamily="34" charset="0"/>
              </a:rPr>
              <a:t>• </a:t>
            </a:r>
            <a:r>
              <a:rPr lang="tr-TR" sz="1300" b="1" noProof="0" dirty="0">
                <a:latin typeface="Arial" panose="020B0604020202020204" pitchFamily="34" charset="0"/>
                <a:cs typeface="Arial" panose="020B0604020202020204" pitchFamily="34" charset="0"/>
              </a:rPr>
              <a:t>Metin Analitiği:</a:t>
            </a:r>
            <a:br>
              <a:rPr lang="tr-TR" sz="1300" noProof="0" dirty="0">
                <a:latin typeface="Arial" panose="020B0604020202020204" pitchFamily="34" charset="0"/>
                <a:cs typeface="Arial" panose="020B0604020202020204" pitchFamily="34" charset="0"/>
              </a:rPr>
            </a:br>
            <a:r>
              <a:rPr lang="tr-TR" sz="1300" noProof="0" dirty="0">
                <a:latin typeface="Arial" panose="020B0604020202020204" pitchFamily="34" charset="0"/>
                <a:cs typeface="Arial" panose="020B0604020202020204" pitchFamily="34" charset="0"/>
              </a:rPr>
              <a:t>Metin madenciliği sonucunda elde edilen yapıları analiz ederek içgörüye dönüştüren yorumlayıcı aşamadır.</a:t>
            </a:r>
          </a:p>
          <a:p>
            <a:pPr>
              <a:lnSpc>
                <a:spcPct val="125000"/>
              </a:lnSpc>
              <a:buNone/>
            </a:pPr>
            <a:r>
              <a:rPr lang="tr-TR" sz="1300" noProof="0" dirty="0">
                <a:latin typeface="Arial" panose="020B0604020202020204" pitchFamily="34" charset="0"/>
                <a:cs typeface="Arial" panose="020B0604020202020204" pitchFamily="34" charset="0"/>
              </a:rPr>
              <a:t>• </a:t>
            </a:r>
            <a:r>
              <a:rPr lang="tr-TR" sz="1300" b="1" noProof="0" dirty="0">
                <a:latin typeface="Arial" panose="020B0604020202020204" pitchFamily="34" charset="0"/>
                <a:cs typeface="Arial" panose="020B0604020202020204" pitchFamily="34" charset="0"/>
              </a:rPr>
              <a:t>Duygu Analitiği:</a:t>
            </a:r>
            <a:br>
              <a:rPr lang="tr-TR" sz="1300" noProof="0" dirty="0">
                <a:latin typeface="Arial" panose="020B0604020202020204" pitchFamily="34" charset="0"/>
                <a:cs typeface="Arial" panose="020B0604020202020204" pitchFamily="34" charset="0"/>
              </a:rPr>
            </a:br>
            <a:r>
              <a:rPr lang="tr-TR" sz="1300" noProof="0" dirty="0">
                <a:latin typeface="Arial" panose="020B0604020202020204" pitchFamily="34" charset="0"/>
                <a:cs typeface="Arial" panose="020B0604020202020204" pitchFamily="34" charset="0"/>
              </a:rPr>
              <a:t>Metindeki ifadelerin olumlu, olumsuz veya nötr duygusal tonunu belirlemeye yönelik temel bir NLP tekniğidir.</a:t>
            </a:r>
          </a:p>
        </p:txBody>
      </p:sp>
      <p:sp>
        <p:nvSpPr>
          <p:cNvPr id="15" name="TextBox 14">
            <a:extLst>
              <a:ext uri="{FF2B5EF4-FFF2-40B4-BE49-F238E27FC236}">
                <a16:creationId xmlns:a16="http://schemas.microsoft.com/office/drawing/2014/main" id="{5EFCAEAE-C701-3860-DBB9-01F66C7B6795}"/>
              </a:ext>
            </a:extLst>
          </p:cNvPr>
          <p:cNvSpPr txBox="1"/>
          <p:nvPr/>
        </p:nvSpPr>
        <p:spPr>
          <a:xfrm>
            <a:off x="759760" y="4590897"/>
            <a:ext cx="10797987" cy="1555682"/>
          </a:xfrm>
          <a:prstGeom prst="rect">
            <a:avLst/>
          </a:prstGeom>
          <a:noFill/>
        </p:spPr>
        <p:txBody>
          <a:bodyPr wrap="square">
            <a:spAutoFit/>
          </a:bodyPr>
          <a:lstStyle/>
          <a:p>
            <a:pPr>
              <a:lnSpc>
                <a:spcPct val="150000"/>
              </a:lnSpc>
              <a:buNone/>
            </a:pPr>
            <a:r>
              <a:rPr lang="tr-TR" sz="1200" noProof="0" dirty="0">
                <a:latin typeface="Arial" panose="020B0604020202020204" pitchFamily="34" charset="0"/>
                <a:cs typeface="Arial" panose="020B0604020202020204" pitchFamily="34" charset="0"/>
              </a:rPr>
              <a:t>   </a:t>
            </a:r>
            <a:r>
              <a:rPr lang="tr-TR" sz="1300" noProof="0" dirty="0">
                <a:latin typeface="Arial" panose="020B0604020202020204" pitchFamily="34" charset="0"/>
                <a:cs typeface="Arial" panose="020B0604020202020204" pitchFamily="34" charset="0"/>
              </a:rPr>
              <a:t>Kullanım alanları arasında sosyal medya yorumları, ürün değerlendirmeleri, marka yönetimi, müşteri memnuniyeti ölçümleri ve e-ticaret analitiği bulunmaktadır.</a:t>
            </a:r>
          </a:p>
          <a:p>
            <a:pPr>
              <a:lnSpc>
                <a:spcPct val="150000"/>
              </a:lnSpc>
              <a:buNone/>
            </a:pPr>
            <a:r>
              <a:rPr lang="tr-TR" sz="1300" noProof="0" dirty="0">
                <a:latin typeface="Arial" panose="020B0604020202020204" pitchFamily="34" charset="0"/>
                <a:cs typeface="Arial" panose="020B0604020202020204" pitchFamily="34" charset="0"/>
              </a:rPr>
              <a:t>   Bu üç kavram birbiriyle ilişkili olsa da farklı aşamalara odaklanır: </a:t>
            </a:r>
            <a:r>
              <a:rPr lang="tr-TR" sz="1300" b="1" i="1" noProof="0" dirty="0">
                <a:latin typeface="Arial" panose="020B0604020202020204" pitchFamily="34" charset="0"/>
                <a:cs typeface="Arial" panose="020B0604020202020204" pitchFamily="34" charset="0"/>
              </a:rPr>
              <a:t>Metin Madenciliği</a:t>
            </a:r>
            <a:r>
              <a:rPr lang="tr-TR" sz="1300" b="1" noProof="0" dirty="0">
                <a:latin typeface="Arial" panose="020B0604020202020204" pitchFamily="34" charset="0"/>
                <a:cs typeface="Arial" panose="020B0604020202020204" pitchFamily="34" charset="0"/>
              </a:rPr>
              <a:t> </a:t>
            </a:r>
            <a:r>
              <a:rPr lang="tr-TR" sz="1300" noProof="0" dirty="0">
                <a:latin typeface="Arial" panose="020B0604020202020204" pitchFamily="34" charset="0"/>
                <a:cs typeface="Arial" panose="020B0604020202020204" pitchFamily="34" charset="0"/>
              </a:rPr>
              <a:t>metni işler, </a:t>
            </a:r>
            <a:r>
              <a:rPr lang="tr-TR" sz="1300" b="1" i="1" noProof="0" dirty="0">
                <a:latin typeface="Arial" panose="020B0604020202020204" pitchFamily="34" charset="0"/>
                <a:cs typeface="Arial" panose="020B0604020202020204" pitchFamily="34" charset="0"/>
              </a:rPr>
              <a:t>Metin Analitiği</a:t>
            </a:r>
            <a:r>
              <a:rPr lang="tr-TR" sz="1300" b="1" noProof="0" dirty="0">
                <a:latin typeface="Arial" panose="020B0604020202020204" pitchFamily="34" charset="0"/>
                <a:cs typeface="Arial" panose="020B0604020202020204" pitchFamily="34" charset="0"/>
              </a:rPr>
              <a:t> </a:t>
            </a:r>
            <a:r>
              <a:rPr lang="tr-TR" sz="1300" noProof="0" dirty="0">
                <a:latin typeface="Arial" panose="020B0604020202020204" pitchFamily="34" charset="0"/>
                <a:cs typeface="Arial" panose="020B0604020202020204" pitchFamily="34" charset="0"/>
              </a:rPr>
              <a:t>bu işlenmiş yapıları yorumlar, </a:t>
            </a:r>
            <a:r>
              <a:rPr lang="tr-TR" sz="1300" b="1" i="1" noProof="0" dirty="0">
                <a:latin typeface="Arial" panose="020B0604020202020204" pitchFamily="34" charset="0"/>
                <a:cs typeface="Arial" panose="020B0604020202020204" pitchFamily="34" charset="0"/>
              </a:rPr>
              <a:t>Duygu Analitiği</a:t>
            </a:r>
            <a:r>
              <a:rPr lang="tr-TR" sz="1300" b="1" noProof="0" dirty="0">
                <a:latin typeface="Arial" panose="020B0604020202020204" pitchFamily="34" charset="0"/>
                <a:cs typeface="Arial" panose="020B0604020202020204" pitchFamily="34" charset="0"/>
              </a:rPr>
              <a:t> </a:t>
            </a:r>
            <a:r>
              <a:rPr lang="tr-TR" sz="1300" noProof="0" dirty="0">
                <a:latin typeface="Arial" panose="020B0604020202020204" pitchFamily="34" charset="0"/>
                <a:cs typeface="Arial" panose="020B0604020202020204" pitchFamily="34" charset="0"/>
              </a:rPr>
              <a:t>ise metindeki duygusal yönelimi belirler. Böylece metnin yapısal, anlamsal ve duygusal yönleri birlikte değerlendirilerek çok daha bütüncül bir analiz elde edilir.</a:t>
            </a:r>
          </a:p>
        </p:txBody>
      </p:sp>
    </p:spTree>
    <p:extLst>
      <p:ext uri="{BB962C8B-B14F-4D97-AF65-F5344CB8AC3E}">
        <p14:creationId xmlns:p14="http://schemas.microsoft.com/office/powerpoint/2010/main" val="1105773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39D25-B57C-9A04-DD86-B7284FFC0B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A6FD4AC-2258-22DE-A346-0E9154A23201}"/>
              </a:ext>
            </a:extLst>
          </p:cNvPr>
          <p:cNvSpPr txBox="1"/>
          <p:nvPr/>
        </p:nvSpPr>
        <p:spPr>
          <a:xfrm>
            <a:off x="-47066" y="571819"/>
            <a:ext cx="12135971" cy="584775"/>
          </a:xfrm>
          <a:prstGeom prst="rect">
            <a:avLst/>
          </a:prstGeom>
          <a:noFill/>
        </p:spPr>
        <p:txBody>
          <a:bodyPr wrap="square">
            <a:spAutoFit/>
          </a:bodyPr>
          <a:lstStyle/>
          <a:p>
            <a:pPr algn="ctr"/>
            <a:r>
              <a:rPr lang="tr-TR" sz="3200" noProof="0" dirty="0"/>
              <a:t>Metin Madenciliği </a:t>
            </a:r>
            <a:r>
              <a:rPr lang="tr-TR" sz="2800" noProof="0" dirty="0"/>
              <a:t>Temel</a:t>
            </a:r>
            <a:r>
              <a:rPr lang="tr-TR" sz="3200" noProof="0" dirty="0"/>
              <a:t> Kavramları</a:t>
            </a:r>
          </a:p>
        </p:txBody>
      </p:sp>
      <p:sp>
        <p:nvSpPr>
          <p:cNvPr id="5" name="TextBox 4">
            <a:extLst>
              <a:ext uri="{FF2B5EF4-FFF2-40B4-BE49-F238E27FC236}">
                <a16:creationId xmlns:a16="http://schemas.microsoft.com/office/drawing/2014/main" id="{4D2DA2F0-ECD4-76C8-6A49-6F9B2E7CD00A}"/>
              </a:ext>
            </a:extLst>
          </p:cNvPr>
          <p:cNvSpPr txBox="1"/>
          <p:nvPr/>
        </p:nvSpPr>
        <p:spPr>
          <a:xfrm>
            <a:off x="1694329" y="1246427"/>
            <a:ext cx="8390965" cy="817981"/>
          </a:xfrm>
          <a:prstGeom prst="rect">
            <a:avLst/>
          </a:prstGeom>
          <a:noFill/>
        </p:spPr>
        <p:txBody>
          <a:bodyPr wrap="square">
            <a:spAutoFit/>
          </a:bodyPr>
          <a:lstStyle/>
          <a:p>
            <a:pPr algn="just">
              <a:lnSpc>
                <a:spcPct val="125000"/>
              </a:lnSpc>
            </a:pPr>
            <a:r>
              <a:rPr lang="tr-TR" sz="1300" b="1" noProof="0" dirty="0"/>
              <a:t>Metin Madenciliği</a:t>
            </a:r>
            <a:r>
              <a:rPr lang="tr-TR" sz="1300" noProof="0" dirty="0"/>
              <a:t>, yapılandırılmamış metinlerden anlamlı bilgi elde etmeyi amaçlayan geniş bir analiz alanıdır. Bu alan; metni işleyen, anlamlandıran ve sınıflandıran birçok bileşenden oluşur ve NLP, metin analitiği, makine öğrenmesi ve bilgi erişim gibi süreçleri kapsar</a:t>
            </a:r>
            <a:r>
              <a:rPr lang="tr-TR" sz="1200" noProof="0" dirty="0"/>
              <a:t>.</a:t>
            </a:r>
          </a:p>
        </p:txBody>
      </p:sp>
      <p:sp>
        <p:nvSpPr>
          <p:cNvPr id="7" name="TextBox 6">
            <a:extLst>
              <a:ext uri="{FF2B5EF4-FFF2-40B4-BE49-F238E27FC236}">
                <a16:creationId xmlns:a16="http://schemas.microsoft.com/office/drawing/2014/main" id="{335624A6-6EE0-9CA4-2812-D9195BE3F6D2}"/>
              </a:ext>
            </a:extLst>
          </p:cNvPr>
          <p:cNvSpPr txBox="1"/>
          <p:nvPr/>
        </p:nvSpPr>
        <p:spPr>
          <a:xfrm>
            <a:off x="925606" y="2071478"/>
            <a:ext cx="9789459" cy="523220"/>
          </a:xfrm>
          <a:prstGeom prst="rect">
            <a:avLst/>
          </a:prstGeom>
          <a:noFill/>
        </p:spPr>
        <p:txBody>
          <a:bodyPr wrap="square">
            <a:spAutoFit/>
          </a:bodyPr>
          <a:lstStyle/>
          <a:p>
            <a:pPr algn="ctr">
              <a:buNone/>
            </a:pPr>
            <a:r>
              <a:rPr lang="tr-TR" sz="1600" b="1" noProof="0" dirty="0"/>
              <a:t>Metin Madenciliğinin Temel Bileşenleri</a:t>
            </a:r>
          </a:p>
          <a:p>
            <a:pPr>
              <a:buNone/>
            </a:pPr>
            <a:endParaRPr lang="tr-TR" sz="1200" noProof="0" dirty="0"/>
          </a:p>
        </p:txBody>
      </p:sp>
      <p:sp>
        <p:nvSpPr>
          <p:cNvPr id="17" name="Thought Bubble: Cloud 16">
            <a:extLst>
              <a:ext uri="{FF2B5EF4-FFF2-40B4-BE49-F238E27FC236}">
                <a16:creationId xmlns:a16="http://schemas.microsoft.com/office/drawing/2014/main" id="{7D8838F7-94A4-121F-4A5A-E48C7FB0C760}"/>
              </a:ext>
            </a:extLst>
          </p:cNvPr>
          <p:cNvSpPr/>
          <p:nvPr/>
        </p:nvSpPr>
        <p:spPr>
          <a:xfrm rot="1572821">
            <a:off x="433429" y="3010559"/>
            <a:ext cx="2845742" cy="1759844"/>
          </a:xfrm>
          <a:prstGeom prst="cloudCallout">
            <a:avLst>
              <a:gd name="adj1" fmla="val 52051"/>
              <a:gd name="adj2" fmla="val -124197"/>
            </a:avLst>
          </a:prstGeom>
          <a:ln>
            <a:solidFill>
              <a:schemeClr val="tx2">
                <a:lumMod val="75000"/>
                <a:lumOff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buNone/>
            </a:pPr>
            <a:r>
              <a:rPr lang="tr-TR" sz="1400" noProof="0" dirty="0"/>
              <a:t> </a:t>
            </a:r>
          </a:p>
          <a:p>
            <a:pPr marL="171450" indent="-171450" algn="ctr">
              <a:buFont typeface="Arial" panose="020B0604020202020204" pitchFamily="34" charset="0"/>
              <a:buChar char="•"/>
            </a:pPr>
            <a:r>
              <a:rPr lang="tr-TR" sz="1300" b="1" noProof="0" dirty="0"/>
              <a:t>Metin Analitiği:</a:t>
            </a:r>
            <a:br>
              <a:rPr lang="tr-TR" sz="1300" noProof="0" dirty="0"/>
            </a:br>
            <a:r>
              <a:rPr lang="tr-TR" sz="1300" noProof="0" dirty="0"/>
              <a:t>Metin verilerinden istatistiksel ve görsel yöntemlerle içgörü çıkarılmasını sağlar.</a:t>
            </a:r>
          </a:p>
        </p:txBody>
      </p:sp>
      <p:sp>
        <p:nvSpPr>
          <p:cNvPr id="18" name="Thought Bubble: Cloud 17">
            <a:extLst>
              <a:ext uri="{FF2B5EF4-FFF2-40B4-BE49-F238E27FC236}">
                <a16:creationId xmlns:a16="http://schemas.microsoft.com/office/drawing/2014/main" id="{9509B866-160D-01C2-713D-CEBB739F85EE}"/>
              </a:ext>
            </a:extLst>
          </p:cNvPr>
          <p:cNvSpPr/>
          <p:nvPr/>
        </p:nvSpPr>
        <p:spPr>
          <a:xfrm>
            <a:off x="3043238" y="3821988"/>
            <a:ext cx="2716212" cy="2128985"/>
          </a:xfrm>
          <a:prstGeom prst="cloudCallout">
            <a:avLst>
              <a:gd name="adj1" fmla="val 30867"/>
              <a:gd name="adj2" fmla="val -105087"/>
            </a:avLst>
          </a:prstGeom>
          <a:ln>
            <a:solidFill>
              <a:schemeClr val="tx2">
                <a:lumMod val="75000"/>
                <a:lumOff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tr-TR" noProof="0" dirty="0"/>
              <a:t>• </a:t>
            </a:r>
            <a:r>
              <a:rPr lang="tr-TR" sz="1300" b="1" noProof="0" dirty="0"/>
              <a:t>Doğal Dil İşleme (NLP):</a:t>
            </a:r>
            <a:br>
              <a:rPr lang="tr-TR" sz="1300" noProof="0" dirty="0"/>
            </a:br>
            <a:r>
              <a:rPr lang="tr-TR" sz="1300" noProof="0" dirty="0"/>
              <a:t>Bilgisayarların insan dilini anlaması ve işleyebilmesi için kullanılan yapay zekâ teknikleridir</a:t>
            </a:r>
          </a:p>
        </p:txBody>
      </p:sp>
      <p:sp>
        <p:nvSpPr>
          <p:cNvPr id="19" name="Thought Bubble: Cloud 18">
            <a:extLst>
              <a:ext uri="{FF2B5EF4-FFF2-40B4-BE49-F238E27FC236}">
                <a16:creationId xmlns:a16="http://schemas.microsoft.com/office/drawing/2014/main" id="{2C3D2A50-6521-D8B2-1510-CBD1DCC6B2FC}"/>
              </a:ext>
            </a:extLst>
          </p:cNvPr>
          <p:cNvSpPr/>
          <p:nvPr/>
        </p:nvSpPr>
        <p:spPr>
          <a:xfrm>
            <a:off x="5820334" y="3776515"/>
            <a:ext cx="3102209" cy="2128985"/>
          </a:xfrm>
          <a:prstGeom prst="cloudCallout">
            <a:avLst>
              <a:gd name="adj1" fmla="val -23494"/>
              <a:gd name="adj2" fmla="val -103915"/>
            </a:avLst>
          </a:prstGeom>
          <a:ln>
            <a:solidFill>
              <a:schemeClr val="tx2">
                <a:lumMod val="75000"/>
                <a:lumOff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171450" indent="-171450" algn="ctr">
              <a:buFont typeface="Arial" panose="020B0604020202020204" pitchFamily="34" charset="0"/>
              <a:buChar char="•"/>
            </a:pPr>
            <a:r>
              <a:rPr lang="tr-TR" sz="1300" b="1" noProof="0" dirty="0"/>
              <a:t>Makine Öğrenmesi:</a:t>
            </a:r>
            <a:br>
              <a:rPr lang="tr-TR" sz="1300" noProof="0" dirty="0"/>
            </a:br>
            <a:r>
              <a:rPr lang="tr-TR" sz="1300" noProof="0" dirty="0"/>
              <a:t>Metin verilerinden öğrenerek sınıflandırma, tahmin ve kümeleme yapan algoritmaları içerir.</a:t>
            </a:r>
          </a:p>
        </p:txBody>
      </p:sp>
      <p:sp>
        <p:nvSpPr>
          <p:cNvPr id="20" name="Thought Bubble: Cloud 19">
            <a:extLst>
              <a:ext uri="{FF2B5EF4-FFF2-40B4-BE49-F238E27FC236}">
                <a16:creationId xmlns:a16="http://schemas.microsoft.com/office/drawing/2014/main" id="{4D603BD6-0380-BC50-C69E-7A2C994E6911}"/>
              </a:ext>
            </a:extLst>
          </p:cNvPr>
          <p:cNvSpPr/>
          <p:nvPr/>
        </p:nvSpPr>
        <p:spPr>
          <a:xfrm rot="20027311">
            <a:off x="8738137" y="3017165"/>
            <a:ext cx="2840348" cy="1873564"/>
          </a:xfrm>
          <a:prstGeom prst="cloudCallout">
            <a:avLst>
              <a:gd name="adj1" fmla="val -50747"/>
              <a:gd name="adj2" fmla="val -120771"/>
            </a:avLst>
          </a:prstGeom>
          <a:ln>
            <a:solidFill>
              <a:schemeClr val="tx2">
                <a:lumMod val="75000"/>
                <a:lumOff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tr-TR" sz="1300" noProof="0" dirty="0"/>
              <a:t>• </a:t>
            </a:r>
            <a:r>
              <a:rPr lang="tr-TR" sz="1300" b="1" noProof="0" dirty="0"/>
              <a:t>Bilgi Erişim:</a:t>
            </a:r>
            <a:br>
              <a:rPr lang="tr-TR" sz="1300" noProof="0" dirty="0"/>
            </a:br>
            <a:r>
              <a:rPr lang="tr-TR" sz="1300" noProof="0" dirty="0"/>
              <a:t>Büyük veri koleksiyonlarından kullanıcı için en uygun bilginin bulunmasını sağlar</a:t>
            </a:r>
            <a:r>
              <a:rPr lang="tr-TR" sz="1200" noProof="0" dirty="0"/>
              <a:t>.</a:t>
            </a:r>
          </a:p>
        </p:txBody>
      </p:sp>
    </p:spTree>
    <p:extLst>
      <p:ext uri="{BB962C8B-B14F-4D97-AF65-F5344CB8AC3E}">
        <p14:creationId xmlns:p14="http://schemas.microsoft.com/office/powerpoint/2010/main" val="947100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BBE4A3-F9D3-48D6-A06E-A1E987E36335}"/>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7742A528-B5BC-48B8-92DE-9C2B44451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1A42E9C-5EEA-789E-1568-37D4E1B44574}"/>
              </a:ext>
            </a:extLst>
          </p:cNvPr>
          <p:cNvPicPr>
            <a:picLocks noChangeAspect="1"/>
          </p:cNvPicPr>
          <p:nvPr/>
        </p:nvPicPr>
        <p:blipFill>
          <a:blip r:embed="rId2"/>
          <a:srcRect t="1088" r="-1" b="4417"/>
          <a:stretch>
            <a:fillRect/>
          </a:stretch>
        </p:blipFill>
        <p:spPr>
          <a:xfrm>
            <a:off x="6391322" y="3513667"/>
            <a:ext cx="4111578" cy="256621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TextBox 4">
            <a:extLst>
              <a:ext uri="{FF2B5EF4-FFF2-40B4-BE49-F238E27FC236}">
                <a16:creationId xmlns:a16="http://schemas.microsoft.com/office/drawing/2014/main" id="{52A1DA5C-8746-07CA-CA82-BBD34012DB0F}"/>
              </a:ext>
            </a:extLst>
          </p:cNvPr>
          <p:cNvSpPr txBox="1"/>
          <p:nvPr/>
        </p:nvSpPr>
        <p:spPr>
          <a:xfrm>
            <a:off x="9802906" y="1337982"/>
            <a:ext cx="184731" cy="461665"/>
          </a:xfrm>
          <a:prstGeom prst="rect">
            <a:avLst/>
          </a:prstGeom>
          <a:noFill/>
        </p:spPr>
        <p:txBody>
          <a:bodyPr wrap="none" rtlCol="0">
            <a:spAutoFit/>
          </a:bodyPr>
          <a:lstStyle/>
          <a:p>
            <a:endParaRPr lang="tr-TR"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920036C-09F6-AD59-08A0-6258EF82E4D0}"/>
              </a:ext>
            </a:extLst>
          </p:cNvPr>
          <p:cNvSpPr txBox="1"/>
          <p:nvPr/>
        </p:nvSpPr>
        <p:spPr>
          <a:xfrm>
            <a:off x="1244600" y="1141402"/>
            <a:ext cx="9474200" cy="2068323"/>
          </a:xfrm>
          <a:prstGeom prst="rect">
            <a:avLst/>
          </a:prstGeom>
          <a:noFill/>
        </p:spPr>
        <p:txBody>
          <a:bodyPr wrap="square" rtlCol="0">
            <a:spAutoFit/>
          </a:bodyPr>
          <a:lstStyle/>
          <a:p>
            <a:pPr>
              <a:lnSpc>
                <a:spcPct val="125000"/>
              </a:lnSpc>
            </a:pPr>
            <a:r>
              <a:rPr lang="tr-TR" sz="1300" dirty="0">
                <a:latin typeface="Arial" panose="020B0604020202020204" pitchFamily="34" charset="0"/>
                <a:cs typeface="Arial" panose="020B0604020202020204" pitchFamily="34" charset="0"/>
              </a:rPr>
              <a:t>Doğal Dil İşleme (NLP), bilgisayarların insan dilini anlamasını ve dil üzerinden işlem yapabilmesini sağlayan bir yapay zekâ alanıdır. </a:t>
            </a:r>
            <a:r>
              <a:rPr lang="tr-TR" sz="1300" dirty="0" err="1">
                <a:latin typeface="Arial" panose="020B0604020202020204" pitchFamily="34" charset="0"/>
                <a:cs typeface="Arial" panose="020B0604020202020204" pitchFamily="34" charset="0"/>
              </a:rPr>
              <a:t>NLP’nin</a:t>
            </a:r>
            <a:r>
              <a:rPr lang="tr-TR" sz="1300" dirty="0">
                <a:latin typeface="Arial" panose="020B0604020202020204" pitchFamily="34" charset="0"/>
                <a:cs typeface="Arial" panose="020B0604020202020204" pitchFamily="34" charset="0"/>
              </a:rPr>
              <a:t> temel işlevleri şu şekilde özetlenebilir:</a:t>
            </a:r>
          </a:p>
          <a:p>
            <a:pPr marL="285750" indent="-285750">
              <a:lnSpc>
                <a:spcPct val="125000"/>
              </a:lnSpc>
              <a:buFont typeface="Arial" panose="020B0604020202020204" pitchFamily="34" charset="0"/>
              <a:buChar char="•"/>
            </a:pPr>
            <a:r>
              <a:rPr lang="tr-TR" sz="1300" b="1" dirty="0">
                <a:latin typeface="Arial" panose="020B0604020202020204" pitchFamily="34" charset="0"/>
                <a:cs typeface="Arial" panose="020B0604020202020204" pitchFamily="34" charset="0"/>
              </a:rPr>
              <a:t>Dilsel içeriği sayısal yapılara dönüştürür:</a:t>
            </a:r>
            <a:r>
              <a:rPr lang="tr-TR" sz="1300" dirty="0">
                <a:latin typeface="Arial" panose="020B0604020202020204" pitchFamily="34" charset="0"/>
                <a:cs typeface="Arial" panose="020B0604020202020204" pitchFamily="34" charset="0"/>
              </a:rPr>
              <a:t> Metni matematiksel temsillere çevirerek bilgisayarın analiz yapmasını sağlar.</a:t>
            </a:r>
          </a:p>
          <a:p>
            <a:pPr marL="285750" indent="-285750">
              <a:lnSpc>
                <a:spcPct val="125000"/>
              </a:lnSpc>
              <a:buFont typeface="Arial" panose="020B0604020202020204" pitchFamily="34" charset="0"/>
              <a:buChar char="•"/>
            </a:pPr>
            <a:r>
              <a:rPr lang="tr-TR" sz="1300" b="1" noProof="0" dirty="0">
                <a:latin typeface="Arial" panose="020B0604020202020204" pitchFamily="34" charset="0"/>
                <a:cs typeface="Arial" panose="020B0604020202020204" pitchFamily="34" charset="0"/>
              </a:rPr>
              <a:t>Anlamsal ilişkileri çözümler:</a:t>
            </a:r>
            <a:r>
              <a:rPr lang="tr-TR" sz="1300" noProof="0" dirty="0">
                <a:latin typeface="Arial" panose="020B0604020202020204" pitchFamily="34" charset="0"/>
                <a:cs typeface="Arial" panose="020B0604020202020204" pitchFamily="34" charset="0"/>
              </a:rPr>
              <a:t> Kelimeler arasındaki anlam bağlarını, temaları ve örüntüleri ortaya çıkarır.</a:t>
            </a:r>
          </a:p>
          <a:p>
            <a:pPr marL="285750" indent="-285750">
              <a:lnSpc>
                <a:spcPct val="125000"/>
              </a:lnSpc>
              <a:buFont typeface="Arial" panose="020B0604020202020204" pitchFamily="34" charset="0"/>
              <a:buChar char="•"/>
            </a:pPr>
            <a:r>
              <a:rPr lang="tr-TR" sz="1300" b="1" noProof="0" dirty="0">
                <a:latin typeface="Arial" panose="020B0604020202020204" pitchFamily="34" charset="0"/>
                <a:cs typeface="Arial" panose="020B0604020202020204" pitchFamily="34" charset="0"/>
              </a:rPr>
              <a:t>Metin tabanlı görevleri otomatikleştirir:</a:t>
            </a:r>
            <a:r>
              <a:rPr lang="tr-TR" sz="1300" noProof="0" dirty="0">
                <a:latin typeface="Arial" panose="020B0604020202020204" pitchFamily="34" charset="0"/>
                <a:cs typeface="Arial" panose="020B0604020202020204" pitchFamily="34" charset="0"/>
              </a:rPr>
              <a:t> Sınıflandırma, özetleme, çeviri ve duygu tespiti gibi işlemlere altyapı sunar.</a:t>
            </a:r>
          </a:p>
          <a:p>
            <a:pPr marL="285750" indent="-285750">
              <a:lnSpc>
                <a:spcPct val="125000"/>
              </a:lnSpc>
              <a:buFont typeface="Arial" panose="020B0604020202020204" pitchFamily="34" charset="0"/>
              <a:buChar char="•"/>
            </a:pPr>
            <a:r>
              <a:rPr lang="tr-TR" sz="1300" b="1" dirty="0">
                <a:latin typeface="Arial" panose="020B0604020202020204" pitchFamily="34" charset="0"/>
                <a:cs typeface="Arial" panose="020B0604020202020204" pitchFamily="34" charset="0"/>
              </a:rPr>
              <a:t>Gerçek yaşam uygulamalarını destekler:</a:t>
            </a:r>
            <a:r>
              <a:rPr lang="tr-TR" sz="1300" dirty="0">
                <a:latin typeface="Arial" panose="020B0604020202020204" pitchFamily="34" charset="0"/>
                <a:cs typeface="Arial" panose="020B0604020202020204" pitchFamily="34" charset="0"/>
              </a:rPr>
              <a:t> </a:t>
            </a:r>
            <a:r>
              <a:rPr lang="tr-TR" sz="1300" dirty="0" err="1">
                <a:latin typeface="Arial" panose="020B0604020202020204" pitchFamily="34" charset="0"/>
                <a:cs typeface="Arial" panose="020B0604020202020204" pitchFamily="34" charset="0"/>
              </a:rPr>
              <a:t>Chatbot’lar</a:t>
            </a:r>
            <a:r>
              <a:rPr lang="tr-TR" sz="1300" dirty="0">
                <a:latin typeface="Arial" panose="020B0604020202020204" pitchFamily="34" charset="0"/>
                <a:cs typeface="Arial" panose="020B0604020202020204" pitchFamily="34" charset="0"/>
              </a:rPr>
              <a:t>, arama motorları ve öneri motorlarının temelinde  NLP teknikleri bulunur.</a:t>
            </a:r>
          </a:p>
          <a:p>
            <a:pPr marL="285750" indent="-285750">
              <a:lnSpc>
                <a:spcPct val="125000"/>
              </a:lnSpc>
              <a:buFont typeface="Arial" panose="020B0604020202020204" pitchFamily="34" charset="0"/>
              <a:buChar char="•"/>
            </a:pPr>
            <a:r>
              <a:rPr lang="tr-TR" sz="1300" b="1" dirty="0">
                <a:latin typeface="Arial" panose="020B0604020202020204" pitchFamily="34" charset="0"/>
                <a:cs typeface="Arial" panose="020B0604020202020204" pitchFamily="34" charset="0"/>
              </a:rPr>
              <a:t>Metin ve duygu analitiğinin temelini oluşturur:</a:t>
            </a:r>
            <a:r>
              <a:rPr lang="tr-TR" sz="1300" dirty="0">
                <a:latin typeface="Arial" panose="020B0604020202020204" pitchFamily="34" charset="0"/>
                <a:cs typeface="Arial" panose="020B0604020202020204" pitchFamily="34" charset="0"/>
              </a:rPr>
              <a:t> Bu iki sürecin tüm teknik adımları NLP üzerine  kuruludur.</a:t>
            </a:r>
            <a:endParaRPr lang="en-US" sz="1300" dirty="0"/>
          </a:p>
        </p:txBody>
      </p:sp>
      <p:sp>
        <p:nvSpPr>
          <p:cNvPr id="8" name="TextBox 7">
            <a:extLst>
              <a:ext uri="{FF2B5EF4-FFF2-40B4-BE49-F238E27FC236}">
                <a16:creationId xmlns:a16="http://schemas.microsoft.com/office/drawing/2014/main" id="{AE2809C8-EF6C-C9BE-38CD-BEAB8DE5546C}"/>
              </a:ext>
            </a:extLst>
          </p:cNvPr>
          <p:cNvSpPr txBox="1"/>
          <p:nvPr/>
        </p:nvSpPr>
        <p:spPr>
          <a:xfrm>
            <a:off x="0" y="579608"/>
            <a:ext cx="12188952" cy="584775"/>
          </a:xfrm>
          <a:prstGeom prst="rect">
            <a:avLst/>
          </a:prstGeom>
          <a:noFill/>
        </p:spPr>
        <p:txBody>
          <a:bodyPr wrap="square">
            <a:spAutoFit/>
          </a:bodyPr>
          <a:lstStyle/>
          <a:p>
            <a:pPr algn="ctr"/>
            <a:r>
              <a:rPr lang="tr-TR" sz="3200" noProof="0" dirty="0"/>
              <a:t>NLP (Doğal Dil İşleme) Nedir?</a:t>
            </a:r>
          </a:p>
        </p:txBody>
      </p:sp>
      <p:graphicFrame>
        <p:nvGraphicFramePr>
          <p:cNvPr id="9" name="Table 8">
            <a:extLst>
              <a:ext uri="{FF2B5EF4-FFF2-40B4-BE49-F238E27FC236}">
                <a16:creationId xmlns:a16="http://schemas.microsoft.com/office/drawing/2014/main" id="{F891169F-0EAB-080A-F9B7-BCFF190F4E4D}"/>
              </a:ext>
            </a:extLst>
          </p:cNvPr>
          <p:cNvGraphicFramePr>
            <a:graphicFrameLocks noGrp="1"/>
          </p:cNvGraphicFramePr>
          <p:nvPr>
            <p:extLst>
              <p:ext uri="{D42A27DB-BD31-4B8C-83A1-F6EECF244321}">
                <p14:modId xmlns:p14="http://schemas.microsoft.com/office/powerpoint/2010/main" val="866891187"/>
              </p:ext>
            </p:extLst>
          </p:nvPr>
        </p:nvGraphicFramePr>
        <p:xfrm>
          <a:off x="1413204" y="3732544"/>
          <a:ext cx="3899648" cy="1767709"/>
        </p:xfrm>
        <a:graphic>
          <a:graphicData uri="http://schemas.openxmlformats.org/drawingml/2006/table">
            <a:tbl>
              <a:tblPr firstRow="1" bandRow="1">
                <a:tableStyleId>{5C22544A-7EE6-4342-B048-85BDC9FD1C3A}</a:tableStyleId>
              </a:tblPr>
              <a:tblGrid>
                <a:gridCol w="1949824">
                  <a:extLst>
                    <a:ext uri="{9D8B030D-6E8A-4147-A177-3AD203B41FA5}">
                      <a16:colId xmlns:a16="http://schemas.microsoft.com/office/drawing/2014/main" val="1335983480"/>
                    </a:ext>
                  </a:extLst>
                </a:gridCol>
                <a:gridCol w="1949824">
                  <a:extLst>
                    <a:ext uri="{9D8B030D-6E8A-4147-A177-3AD203B41FA5}">
                      <a16:colId xmlns:a16="http://schemas.microsoft.com/office/drawing/2014/main" val="2649065914"/>
                    </a:ext>
                  </a:extLst>
                </a:gridCol>
              </a:tblGrid>
              <a:tr h="417614">
                <a:tc>
                  <a:txBody>
                    <a:bodyPr/>
                    <a:lstStyle/>
                    <a:p>
                      <a:pPr>
                        <a:buNone/>
                      </a:pPr>
                      <a:r>
                        <a:rPr lang="tr-TR" sz="1200" b="1" noProof="0" dirty="0"/>
                        <a:t>Türkçe Terim</a:t>
                      </a:r>
                      <a:endParaRPr lang="tr-TR" sz="1200" noProof="0" dirty="0"/>
                    </a:p>
                  </a:txBody>
                  <a:tcPr anchor="ctr"/>
                </a:tc>
                <a:tc>
                  <a:txBody>
                    <a:bodyPr/>
                    <a:lstStyle/>
                    <a:p>
                      <a:pPr>
                        <a:buNone/>
                      </a:pPr>
                      <a:r>
                        <a:rPr lang="tr-TR" sz="1200" b="1" noProof="0" dirty="0"/>
                        <a:t>İngilizce Terim</a:t>
                      </a:r>
                      <a:endParaRPr lang="tr-TR" sz="1200" noProof="0" dirty="0"/>
                    </a:p>
                  </a:txBody>
                  <a:tcPr anchor="ctr"/>
                </a:tc>
                <a:extLst>
                  <a:ext uri="{0D108BD9-81ED-4DB2-BD59-A6C34878D82A}">
                    <a16:rowId xmlns:a16="http://schemas.microsoft.com/office/drawing/2014/main" val="1797894692"/>
                  </a:ext>
                </a:extLst>
              </a:tr>
              <a:tr h="514867">
                <a:tc>
                  <a:txBody>
                    <a:bodyPr/>
                    <a:lstStyle/>
                    <a:p>
                      <a:pPr>
                        <a:buNone/>
                      </a:pPr>
                      <a:r>
                        <a:rPr lang="tr-TR" sz="1200" noProof="0" dirty="0"/>
                        <a:t>Doğal Dil İşleme</a:t>
                      </a:r>
                    </a:p>
                  </a:txBody>
                  <a:tcPr anchor="ctr"/>
                </a:tc>
                <a:tc>
                  <a:txBody>
                    <a:bodyPr/>
                    <a:lstStyle/>
                    <a:p>
                      <a:pPr>
                        <a:buNone/>
                      </a:pPr>
                      <a:r>
                        <a:rPr lang="tr-TR" sz="1200" noProof="0" dirty="0"/>
                        <a:t>Natural Language </a:t>
                      </a:r>
                      <a:r>
                        <a:rPr lang="tr-TR" sz="1200" noProof="0" dirty="0" err="1"/>
                        <a:t>Processing</a:t>
                      </a:r>
                      <a:r>
                        <a:rPr lang="tr-TR" sz="1200" noProof="0" dirty="0"/>
                        <a:t> (NLP)</a:t>
                      </a:r>
                    </a:p>
                  </a:txBody>
                  <a:tcPr anchor="ctr"/>
                </a:tc>
                <a:extLst>
                  <a:ext uri="{0D108BD9-81ED-4DB2-BD59-A6C34878D82A}">
                    <a16:rowId xmlns:a16="http://schemas.microsoft.com/office/drawing/2014/main" val="3590541319"/>
                  </a:ext>
                </a:extLst>
              </a:tr>
              <a:tr h="417614">
                <a:tc>
                  <a:txBody>
                    <a:bodyPr/>
                    <a:lstStyle/>
                    <a:p>
                      <a:pPr>
                        <a:buNone/>
                      </a:pPr>
                      <a:r>
                        <a:rPr lang="tr-TR" sz="1200" noProof="0" dirty="0"/>
                        <a:t>Anlamsal İlişkiler</a:t>
                      </a:r>
                    </a:p>
                  </a:txBody>
                  <a:tcPr anchor="ctr"/>
                </a:tc>
                <a:tc>
                  <a:txBody>
                    <a:bodyPr/>
                    <a:lstStyle/>
                    <a:p>
                      <a:pPr>
                        <a:buNone/>
                      </a:pPr>
                      <a:r>
                        <a:rPr lang="tr-TR" sz="1200" noProof="0" dirty="0" err="1"/>
                        <a:t>Semantic</a:t>
                      </a:r>
                      <a:r>
                        <a:rPr lang="tr-TR" sz="1200" noProof="0" dirty="0"/>
                        <a:t> </a:t>
                      </a:r>
                      <a:r>
                        <a:rPr lang="tr-TR" sz="1200" noProof="0" dirty="0" err="1"/>
                        <a:t>Relationships</a:t>
                      </a:r>
                      <a:endParaRPr lang="tr-TR" sz="1200" noProof="0" dirty="0"/>
                    </a:p>
                  </a:txBody>
                  <a:tcPr anchor="ctr"/>
                </a:tc>
                <a:extLst>
                  <a:ext uri="{0D108BD9-81ED-4DB2-BD59-A6C34878D82A}">
                    <a16:rowId xmlns:a16="http://schemas.microsoft.com/office/drawing/2014/main" val="2003534299"/>
                  </a:ext>
                </a:extLst>
              </a:tr>
              <a:tr h="417614">
                <a:tc>
                  <a:txBody>
                    <a:bodyPr/>
                    <a:lstStyle/>
                    <a:p>
                      <a:pPr>
                        <a:buNone/>
                      </a:pPr>
                      <a:r>
                        <a:rPr lang="tr-TR" sz="1200" noProof="0" dirty="0"/>
                        <a:t>Sınıflandırma</a:t>
                      </a:r>
                    </a:p>
                  </a:txBody>
                  <a:tcPr anchor="ctr"/>
                </a:tc>
                <a:tc>
                  <a:txBody>
                    <a:bodyPr/>
                    <a:lstStyle/>
                    <a:p>
                      <a:pPr>
                        <a:buNone/>
                      </a:pPr>
                      <a:r>
                        <a:rPr lang="tr-TR" sz="1200" noProof="0" dirty="0" err="1"/>
                        <a:t>Classification</a:t>
                      </a:r>
                      <a:endParaRPr lang="tr-TR" sz="1200" noProof="0" dirty="0"/>
                    </a:p>
                  </a:txBody>
                  <a:tcPr anchor="ctr"/>
                </a:tc>
                <a:extLst>
                  <a:ext uri="{0D108BD9-81ED-4DB2-BD59-A6C34878D82A}">
                    <a16:rowId xmlns:a16="http://schemas.microsoft.com/office/drawing/2014/main" val="1225501392"/>
                  </a:ext>
                </a:extLst>
              </a:tr>
            </a:tbl>
          </a:graphicData>
        </a:graphic>
      </p:graphicFrame>
      <p:sp>
        <p:nvSpPr>
          <p:cNvPr id="15" name="TextBox 14">
            <a:extLst>
              <a:ext uri="{FF2B5EF4-FFF2-40B4-BE49-F238E27FC236}">
                <a16:creationId xmlns:a16="http://schemas.microsoft.com/office/drawing/2014/main" id="{A931B233-8CCE-6E4B-1D77-27DC821C0642}"/>
              </a:ext>
            </a:extLst>
          </p:cNvPr>
          <p:cNvSpPr txBox="1"/>
          <p:nvPr/>
        </p:nvSpPr>
        <p:spPr>
          <a:xfrm>
            <a:off x="1375592" y="3416928"/>
            <a:ext cx="3899647" cy="323165"/>
          </a:xfrm>
          <a:prstGeom prst="rect">
            <a:avLst/>
          </a:prstGeom>
          <a:noFill/>
        </p:spPr>
        <p:txBody>
          <a:bodyPr wrap="square">
            <a:spAutoFit/>
          </a:bodyPr>
          <a:lstStyle/>
          <a:p>
            <a:pPr algn="ctr"/>
            <a:r>
              <a:rPr lang="tr-TR" sz="1500" noProof="0" dirty="0" err="1"/>
              <a:t>NLP’nin</a:t>
            </a:r>
            <a:r>
              <a:rPr lang="tr-TR" sz="1500" noProof="0" dirty="0"/>
              <a:t> Temel Terimleri</a:t>
            </a:r>
          </a:p>
        </p:txBody>
      </p:sp>
      <p:sp>
        <p:nvSpPr>
          <p:cNvPr id="17" name="TextBox 16">
            <a:extLst>
              <a:ext uri="{FF2B5EF4-FFF2-40B4-BE49-F238E27FC236}">
                <a16:creationId xmlns:a16="http://schemas.microsoft.com/office/drawing/2014/main" id="{99351735-2F93-D53E-0CD8-04678ED8961A}"/>
              </a:ext>
            </a:extLst>
          </p:cNvPr>
          <p:cNvSpPr txBox="1"/>
          <p:nvPr/>
        </p:nvSpPr>
        <p:spPr>
          <a:xfrm>
            <a:off x="1413204" y="5500253"/>
            <a:ext cx="3824425" cy="261610"/>
          </a:xfrm>
          <a:prstGeom prst="rect">
            <a:avLst/>
          </a:prstGeom>
          <a:noFill/>
        </p:spPr>
        <p:txBody>
          <a:bodyPr wrap="square">
            <a:spAutoFit/>
          </a:bodyPr>
          <a:lstStyle/>
          <a:p>
            <a:pPr algn="ctr"/>
            <a:r>
              <a:rPr lang="tr-TR" sz="1100" noProof="0" dirty="0"/>
              <a:t>   Temel Kavramların Türkçe–</a:t>
            </a:r>
            <a:r>
              <a:rPr lang="tr-TR" sz="1100" noProof="0" dirty="0" err="1"/>
              <a:t>ingilizce</a:t>
            </a:r>
            <a:r>
              <a:rPr lang="tr-TR" sz="1100" noProof="0" dirty="0"/>
              <a:t> Karşılıkları</a:t>
            </a:r>
          </a:p>
        </p:txBody>
      </p:sp>
    </p:spTree>
    <p:extLst>
      <p:ext uri="{BB962C8B-B14F-4D97-AF65-F5344CB8AC3E}">
        <p14:creationId xmlns:p14="http://schemas.microsoft.com/office/powerpoint/2010/main" val="3274463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62E2B-F159-6F09-1C3C-C060E5E166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92E4FC-C5FD-BC08-A093-372758B7EB33}"/>
              </a:ext>
            </a:extLst>
          </p:cNvPr>
          <p:cNvSpPr txBox="1"/>
          <p:nvPr/>
        </p:nvSpPr>
        <p:spPr>
          <a:xfrm>
            <a:off x="50800" y="659884"/>
            <a:ext cx="12077700" cy="523220"/>
          </a:xfrm>
          <a:prstGeom prst="rect">
            <a:avLst/>
          </a:prstGeom>
          <a:noFill/>
        </p:spPr>
        <p:txBody>
          <a:bodyPr wrap="square">
            <a:spAutoFit/>
          </a:bodyPr>
          <a:lstStyle/>
          <a:p>
            <a:pPr algn="ctr">
              <a:buNone/>
            </a:pPr>
            <a:r>
              <a:rPr lang="tr-TR" sz="2800" noProof="0" dirty="0"/>
              <a:t>Metin Analitiği Nedir?</a:t>
            </a:r>
          </a:p>
        </p:txBody>
      </p:sp>
      <p:sp>
        <p:nvSpPr>
          <p:cNvPr id="5" name="TextBox 4">
            <a:extLst>
              <a:ext uri="{FF2B5EF4-FFF2-40B4-BE49-F238E27FC236}">
                <a16:creationId xmlns:a16="http://schemas.microsoft.com/office/drawing/2014/main" id="{5EF8286F-9F29-DA26-B0D5-C509FF77B4F3}"/>
              </a:ext>
            </a:extLst>
          </p:cNvPr>
          <p:cNvSpPr txBox="1"/>
          <p:nvPr/>
        </p:nvSpPr>
        <p:spPr>
          <a:xfrm>
            <a:off x="1006876" y="1379166"/>
            <a:ext cx="5476473" cy="317844"/>
          </a:xfrm>
          <a:prstGeom prst="rect">
            <a:avLst/>
          </a:prstGeom>
          <a:noFill/>
        </p:spPr>
        <p:txBody>
          <a:bodyPr wrap="square">
            <a:spAutoFit/>
          </a:bodyPr>
          <a:lstStyle/>
          <a:p>
            <a:pPr>
              <a:lnSpc>
                <a:spcPct val="125000"/>
              </a:lnSpc>
              <a:buNone/>
            </a:pPr>
            <a:endParaRPr lang="en-US" sz="1300" dirty="0"/>
          </a:p>
        </p:txBody>
      </p:sp>
      <p:sp>
        <p:nvSpPr>
          <p:cNvPr id="6" name="Rectangle 1">
            <a:extLst>
              <a:ext uri="{FF2B5EF4-FFF2-40B4-BE49-F238E27FC236}">
                <a16:creationId xmlns:a16="http://schemas.microsoft.com/office/drawing/2014/main" id="{86E62F4E-ACF8-1763-D830-71035CE1511B}"/>
              </a:ext>
            </a:extLst>
          </p:cNvPr>
          <p:cNvSpPr>
            <a:spLocks noChangeArrowheads="1"/>
          </p:cNvSpPr>
          <p:nvPr/>
        </p:nvSpPr>
        <p:spPr bwMode="auto">
          <a:xfrm>
            <a:off x="1060236" y="1274913"/>
            <a:ext cx="5369751" cy="4569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25000"/>
              </a:lnSpc>
              <a:buNone/>
            </a:pPr>
            <a:r>
              <a:rPr lang="tr-TR" sz="1300" b="1" dirty="0"/>
              <a:t>Metin Analitiği</a:t>
            </a:r>
            <a:r>
              <a:rPr lang="tr-TR" sz="1300" dirty="0"/>
              <a:t>, metin verilerinden anlamlı bilgi ve içgörü çıkarmayı amaçlayan analiz sürecidir. Bu süreçte metin; sınıflandırılır, özetlenir, görselleştirilir ve istatistiksel yöntemlerle yorumlanır. </a:t>
            </a:r>
          </a:p>
          <a:p>
            <a:pPr>
              <a:lnSpc>
                <a:spcPct val="125000"/>
              </a:lnSpc>
              <a:buNone/>
            </a:pPr>
            <a:r>
              <a:rPr lang="tr-TR" sz="1300" dirty="0"/>
              <a:t>Kullanım alanları arasında pazarlama, finans, müşteri memnuniyeti analizi ve e-ticaret yer almaktadır</a:t>
            </a:r>
            <a:r>
              <a:rPr lang="en-US" sz="1300" dirty="0"/>
              <a:t>.</a:t>
            </a:r>
            <a:endParaRPr lang="tr-TR" sz="1300" dirty="0"/>
          </a:p>
          <a:p>
            <a:pPr>
              <a:lnSpc>
                <a:spcPct val="125000"/>
              </a:lnSpc>
              <a:buNone/>
            </a:pPr>
            <a:endParaRPr kumimoji="0" lang="tr-TR" sz="1300" b="1" i="0" u="none" strike="noStrike" cap="none" normalizeH="0" baseline="0" noProof="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b="1" i="0" u="none" strike="noStrike" cap="none" normalizeH="0" baseline="0" noProof="0" dirty="0">
                <a:ln>
                  <a:noFill/>
                </a:ln>
                <a:solidFill>
                  <a:schemeClr val="tx1"/>
                </a:solidFill>
                <a:effectLst/>
                <a:latin typeface="Arial" panose="020B0604020202020204" pitchFamily="34" charset="0"/>
              </a:rPr>
              <a:t>Veriyi Anlamlandırma:</a:t>
            </a:r>
            <a:br>
              <a:rPr kumimoji="0" lang="tr-TR" sz="1300" b="0" i="0" u="none" strike="noStrike" cap="none" normalizeH="0" baseline="0" noProof="0" dirty="0">
                <a:ln>
                  <a:noFill/>
                </a:ln>
                <a:solidFill>
                  <a:schemeClr val="tx1"/>
                </a:solidFill>
                <a:effectLst/>
                <a:latin typeface="Arial" panose="020B0604020202020204" pitchFamily="34" charset="0"/>
              </a:rPr>
            </a:br>
            <a:r>
              <a:rPr kumimoji="0" lang="tr-TR" sz="1300" b="0" i="0" u="none" strike="noStrike" cap="none" normalizeH="0" baseline="0" noProof="0" dirty="0">
                <a:ln>
                  <a:noFill/>
                </a:ln>
                <a:solidFill>
                  <a:schemeClr val="tx1"/>
                </a:solidFill>
                <a:effectLst/>
                <a:latin typeface="Arial" panose="020B0604020202020204" pitchFamily="34" charset="0"/>
              </a:rPr>
              <a:t>  Metinleri kategorize etme, tema çıkarımı, özetleme ve örüntü belirleme işlemlerini içerir.</a:t>
            </a:r>
          </a:p>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b="1" i="0" u="none" strike="noStrike" cap="none" normalizeH="0" baseline="0" noProof="0" dirty="0">
                <a:ln>
                  <a:noFill/>
                </a:ln>
                <a:solidFill>
                  <a:schemeClr val="tx1"/>
                </a:solidFill>
                <a:effectLst/>
                <a:latin typeface="Arial" panose="020B0604020202020204" pitchFamily="34" charset="0"/>
              </a:rPr>
              <a:t>Görselleştirme Teknikleri:</a:t>
            </a:r>
            <a:br>
              <a:rPr kumimoji="0" lang="tr-TR" sz="1300" b="0" i="0" u="none" strike="noStrike" cap="none" normalizeH="0" baseline="0" noProof="0" dirty="0">
                <a:ln>
                  <a:noFill/>
                </a:ln>
                <a:solidFill>
                  <a:schemeClr val="tx1"/>
                </a:solidFill>
                <a:effectLst/>
                <a:latin typeface="Arial" panose="020B0604020202020204" pitchFamily="34" charset="0"/>
              </a:rPr>
            </a:br>
            <a:r>
              <a:rPr kumimoji="0" lang="tr-TR" sz="1300" b="0" i="0" u="none" strike="noStrike" cap="none" normalizeH="0" baseline="0" noProof="0" dirty="0">
                <a:ln>
                  <a:noFill/>
                </a:ln>
                <a:solidFill>
                  <a:schemeClr val="tx1"/>
                </a:solidFill>
                <a:effectLst/>
                <a:latin typeface="Arial" panose="020B0604020202020204" pitchFamily="34" charset="0"/>
              </a:rPr>
              <a:t>  Kelime bulutları, konu haritaları, frekans analizleri gibi görsel yaklaşımlar veriyi anlaşılır hâle getirir.</a:t>
            </a:r>
          </a:p>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b="1" i="0" u="none" strike="noStrike" cap="none" normalizeH="0" baseline="0" noProof="0" dirty="0">
                <a:ln>
                  <a:noFill/>
                </a:ln>
                <a:solidFill>
                  <a:schemeClr val="tx1"/>
                </a:solidFill>
                <a:effectLst/>
                <a:latin typeface="Arial" panose="020B0604020202020204" pitchFamily="34" charset="0"/>
              </a:rPr>
              <a:t>Kullanım Alanları:</a:t>
            </a:r>
            <a:br>
              <a:rPr kumimoji="0" lang="tr-TR" sz="1300" b="0" i="0" u="none" strike="noStrike" cap="none" normalizeH="0" baseline="0" noProof="0" dirty="0">
                <a:ln>
                  <a:noFill/>
                </a:ln>
                <a:solidFill>
                  <a:schemeClr val="tx1"/>
                </a:solidFill>
                <a:effectLst/>
                <a:latin typeface="Arial" panose="020B0604020202020204" pitchFamily="34" charset="0"/>
              </a:rPr>
            </a:br>
            <a:r>
              <a:rPr kumimoji="0" lang="tr-TR" sz="1300" b="0" i="0" u="none" strike="noStrike" cap="none" normalizeH="0" baseline="0" noProof="0" dirty="0">
                <a:ln>
                  <a:noFill/>
                </a:ln>
                <a:solidFill>
                  <a:schemeClr val="tx1"/>
                </a:solidFill>
                <a:effectLst/>
                <a:latin typeface="Arial" panose="020B0604020202020204" pitchFamily="34" charset="0"/>
              </a:rPr>
              <a:t>  Pazarlama, finans, sosyal medya analitiği, ürün yorumları, müşteri memnuniyeti çalışmaları.</a:t>
            </a:r>
          </a:p>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b="1" i="0" u="none" strike="noStrike" cap="none" normalizeH="0" baseline="0" noProof="0" dirty="0">
                <a:ln>
                  <a:noFill/>
                </a:ln>
                <a:solidFill>
                  <a:schemeClr val="tx1"/>
                </a:solidFill>
                <a:effectLst/>
                <a:latin typeface="Arial" panose="020B0604020202020204" pitchFamily="34" charset="0"/>
              </a:rPr>
              <a:t>Metin Madenciliği İçindeki Yeri:</a:t>
            </a:r>
            <a:br>
              <a:rPr kumimoji="0" lang="tr-TR" sz="1300" b="0" i="0" u="none" strike="noStrike" cap="none" normalizeH="0" baseline="0" noProof="0" dirty="0">
                <a:ln>
                  <a:noFill/>
                </a:ln>
                <a:solidFill>
                  <a:schemeClr val="tx1"/>
                </a:solidFill>
                <a:effectLst/>
                <a:latin typeface="Arial" panose="020B0604020202020204" pitchFamily="34" charset="0"/>
              </a:rPr>
            </a:br>
            <a:r>
              <a:rPr kumimoji="0" lang="tr-TR" sz="1300" b="0" i="0" u="none" strike="noStrike" cap="none" normalizeH="0" baseline="0" noProof="0" dirty="0">
                <a:ln>
                  <a:noFill/>
                </a:ln>
                <a:solidFill>
                  <a:schemeClr val="tx1"/>
                </a:solidFill>
                <a:effectLst/>
                <a:latin typeface="Arial" panose="020B0604020202020204" pitchFamily="34" charset="0"/>
              </a:rPr>
              <a:t>  NLP ile işlenen metnin yorumlanmasını sağlar ve duygu analizi gibi süreçlerin zeminini oluşturur.</a:t>
            </a:r>
          </a:p>
        </p:txBody>
      </p:sp>
      <p:pic>
        <p:nvPicPr>
          <p:cNvPr id="7" name="Picture 6">
            <a:extLst>
              <a:ext uri="{FF2B5EF4-FFF2-40B4-BE49-F238E27FC236}">
                <a16:creationId xmlns:a16="http://schemas.microsoft.com/office/drawing/2014/main" id="{EEAEAEDE-F31C-AA09-D01E-D06302295B68}"/>
              </a:ext>
            </a:extLst>
          </p:cNvPr>
          <p:cNvPicPr>
            <a:picLocks noChangeAspect="1"/>
          </p:cNvPicPr>
          <p:nvPr/>
        </p:nvPicPr>
        <p:blipFill>
          <a:blip r:embed="rId2"/>
          <a:stretch>
            <a:fillRect/>
          </a:stretch>
        </p:blipFill>
        <p:spPr>
          <a:xfrm>
            <a:off x="6826249" y="1379166"/>
            <a:ext cx="3921073" cy="2428264"/>
          </a:xfrm>
          <a:prstGeom prst="rect">
            <a:avLst/>
          </a:prstGeom>
        </p:spPr>
      </p:pic>
      <p:sp>
        <p:nvSpPr>
          <p:cNvPr id="9" name="TextBox 8">
            <a:extLst>
              <a:ext uri="{FF2B5EF4-FFF2-40B4-BE49-F238E27FC236}">
                <a16:creationId xmlns:a16="http://schemas.microsoft.com/office/drawing/2014/main" id="{53E86A6F-FF95-B4E0-B539-242272C57D1F}"/>
              </a:ext>
            </a:extLst>
          </p:cNvPr>
          <p:cNvSpPr txBox="1"/>
          <p:nvPr/>
        </p:nvSpPr>
        <p:spPr>
          <a:xfrm>
            <a:off x="6849789" y="6228372"/>
            <a:ext cx="3897534" cy="261610"/>
          </a:xfrm>
          <a:prstGeom prst="rect">
            <a:avLst/>
          </a:prstGeom>
          <a:noFill/>
        </p:spPr>
        <p:txBody>
          <a:bodyPr wrap="square">
            <a:spAutoFit/>
          </a:bodyPr>
          <a:lstStyle/>
          <a:p>
            <a:pPr algn="ctr"/>
            <a:r>
              <a:rPr lang="tr-TR" sz="1100" noProof="0" dirty="0"/>
              <a:t>Temel kavramların Türkçe – İngilizce karşılıkları</a:t>
            </a:r>
          </a:p>
        </p:txBody>
      </p:sp>
      <p:graphicFrame>
        <p:nvGraphicFramePr>
          <p:cNvPr id="10" name="Table 9">
            <a:extLst>
              <a:ext uri="{FF2B5EF4-FFF2-40B4-BE49-F238E27FC236}">
                <a16:creationId xmlns:a16="http://schemas.microsoft.com/office/drawing/2014/main" id="{791EA96C-07E4-2F07-AB13-B3767E3DBFA6}"/>
              </a:ext>
            </a:extLst>
          </p:cNvPr>
          <p:cNvGraphicFramePr>
            <a:graphicFrameLocks noGrp="1"/>
          </p:cNvGraphicFramePr>
          <p:nvPr>
            <p:extLst>
              <p:ext uri="{D42A27DB-BD31-4B8C-83A1-F6EECF244321}">
                <p14:modId xmlns:p14="http://schemas.microsoft.com/office/powerpoint/2010/main" val="504626688"/>
              </p:ext>
            </p:extLst>
          </p:nvPr>
        </p:nvGraphicFramePr>
        <p:xfrm>
          <a:off x="6826249" y="4211939"/>
          <a:ext cx="3921074" cy="2006604"/>
        </p:xfrm>
        <a:graphic>
          <a:graphicData uri="http://schemas.openxmlformats.org/drawingml/2006/table">
            <a:tbl>
              <a:tblPr firstRow="1" bandRow="1">
                <a:tableStyleId>{5C22544A-7EE6-4342-B048-85BDC9FD1C3A}</a:tableStyleId>
              </a:tblPr>
              <a:tblGrid>
                <a:gridCol w="1960537">
                  <a:extLst>
                    <a:ext uri="{9D8B030D-6E8A-4147-A177-3AD203B41FA5}">
                      <a16:colId xmlns:a16="http://schemas.microsoft.com/office/drawing/2014/main" val="3092771529"/>
                    </a:ext>
                  </a:extLst>
                </a:gridCol>
                <a:gridCol w="1960537">
                  <a:extLst>
                    <a:ext uri="{9D8B030D-6E8A-4147-A177-3AD203B41FA5}">
                      <a16:colId xmlns:a16="http://schemas.microsoft.com/office/drawing/2014/main" val="2032701375"/>
                    </a:ext>
                  </a:extLst>
                </a:gridCol>
              </a:tblGrid>
              <a:tr h="334434">
                <a:tc>
                  <a:txBody>
                    <a:bodyPr/>
                    <a:lstStyle/>
                    <a:p>
                      <a:pPr algn="ctr">
                        <a:buNone/>
                      </a:pPr>
                      <a:r>
                        <a:rPr lang="tr-TR" sz="1300" b="1" noProof="0" dirty="0"/>
                        <a:t>Türkçe Terim</a:t>
                      </a:r>
                      <a:endParaRPr lang="tr-TR" sz="1300" noProof="0" dirty="0"/>
                    </a:p>
                  </a:txBody>
                  <a:tcPr anchor="ctr"/>
                </a:tc>
                <a:tc>
                  <a:txBody>
                    <a:bodyPr/>
                    <a:lstStyle/>
                    <a:p>
                      <a:pPr algn="ctr">
                        <a:buNone/>
                      </a:pPr>
                      <a:r>
                        <a:rPr lang="tr-TR" sz="1300" b="1" noProof="0" dirty="0"/>
                        <a:t>İngilizce Terim</a:t>
                      </a:r>
                      <a:endParaRPr lang="tr-TR" sz="1300" noProof="0" dirty="0"/>
                    </a:p>
                  </a:txBody>
                  <a:tcPr anchor="ctr"/>
                </a:tc>
                <a:extLst>
                  <a:ext uri="{0D108BD9-81ED-4DB2-BD59-A6C34878D82A}">
                    <a16:rowId xmlns:a16="http://schemas.microsoft.com/office/drawing/2014/main" val="3951523523"/>
                  </a:ext>
                </a:extLst>
              </a:tr>
              <a:tr h="334434">
                <a:tc>
                  <a:txBody>
                    <a:bodyPr/>
                    <a:lstStyle/>
                    <a:p>
                      <a:pPr algn="ctr">
                        <a:buNone/>
                      </a:pPr>
                      <a:r>
                        <a:rPr lang="tr-TR" sz="1300" noProof="0" dirty="0"/>
                        <a:t>Metin Analitiği</a:t>
                      </a:r>
                    </a:p>
                  </a:txBody>
                  <a:tcPr anchor="ctr"/>
                </a:tc>
                <a:tc>
                  <a:txBody>
                    <a:bodyPr/>
                    <a:lstStyle/>
                    <a:p>
                      <a:pPr algn="ctr">
                        <a:buNone/>
                      </a:pPr>
                      <a:r>
                        <a:rPr lang="tr-TR" sz="1300" noProof="0" dirty="0" err="1"/>
                        <a:t>Text</a:t>
                      </a:r>
                      <a:r>
                        <a:rPr lang="tr-TR" sz="1300" noProof="0" dirty="0"/>
                        <a:t> </a:t>
                      </a:r>
                      <a:r>
                        <a:rPr lang="tr-TR" sz="1300" noProof="0" dirty="0" err="1"/>
                        <a:t>Analytics</a:t>
                      </a:r>
                      <a:endParaRPr lang="tr-TR" sz="1300" noProof="0" dirty="0"/>
                    </a:p>
                  </a:txBody>
                  <a:tcPr anchor="ctr"/>
                </a:tc>
                <a:extLst>
                  <a:ext uri="{0D108BD9-81ED-4DB2-BD59-A6C34878D82A}">
                    <a16:rowId xmlns:a16="http://schemas.microsoft.com/office/drawing/2014/main" val="933731002"/>
                  </a:ext>
                </a:extLst>
              </a:tr>
              <a:tr h="334434">
                <a:tc>
                  <a:txBody>
                    <a:bodyPr/>
                    <a:lstStyle/>
                    <a:p>
                      <a:pPr algn="ctr">
                        <a:buNone/>
                      </a:pPr>
                      <a:r>
                        <a:rPr lang="tr-TR" sz="1300" noProof="0" dirty="0"/>
                        <a:t>Örüntü</a:t>
                      </a:r>
                    </a:p>
                  </a:txBody>
                  <a:tcPr anchor="ctr"/>
                </a:tc>
                <a:tc>
                  <a:txBody>
                    <a:bodyPr/>
                    <a:lstStyle/>
                    <a:p>
                      <a:pPr algn="ctr">
                        <a:buNone/>
                      </a:pPr>
                      <a:r>
                        <a:rPr lang="tr-TR" sz="1300" noProof="0" dirty="0" err="1"/>
                        <a:t>Pattern</a:t>
                      </a:r>
                      <a:endParaRPr lang="tr-TR" sz="1300" noProof="0" dirty="0"/>
                    </a:p>
                  </a:txBody>
                  <a:tcPr anchor="ctr"/>
                </a:tc>
                <a:extLst>
                  <a:ext uri="{0D108BD9-81ED-4DB2-BD59-A6C34878D82A}">
                    <a16:rowId xmlns:a16="http://schemas.microsoft.com/office/drawing/2014/main" val="3748938495"/>
                  </a:ext>
                </a:extLst>
              </a:tr>
              <a:tr h="334434">
                <a:tc>
                  <a:txBody>
                    <a:bodyPr/>
                    <a:lstStyle/>
                    <a:p>
                      <a:pPr algn="ctr">
                        <a:buNone/>
                      </a:pPr>
                      <a:r>
                        <a:rPr lang="tr-TR" sz="1300" noProof="0" dirty="0"/>
                        <a:t>Tema</a:t>
                      </a:r>
                    </a:p>
                  </a:txBody>
                  <a:tcPr anchor="ctr"/>
                </a:tc>
                <a:tc>
                  <a:txBody>
                    <a:bodyPr/>
                    <a:lstStyle/>
                    <a:p>
                      <a:pPr algn="ctr">
                        <a:buNone/>
                      </a:pPr>
                      <a:r>
                        <a:rPr lang="tr-TR" sz="1300" noProof="0" dirty="0" err="1"/>
                        <a:t>Theme</a:t>
                      </a:r>
                      <a:endParaRPr lang="tr-TR" sz="1300" noProof="0" dirty="0"/>
                    </a:p>
                  </a:txBody>
                  <a:tcPr anchor="ctr"/>
                </a:tc>
                <a:extLst>
                  <a:ext uri="{0D108BD9-81ED-4DB2-BD59-A6C34878D82A}">
                    <a16:rowId xmlns:a16="http://schemas.microsoft.com/office/drawing/2014/main" val="3569345313"/>
                  </a:ext>
                </a:extLst>
              </a:tr>
              <a:tr h="334434">
                <a:tc>
                  <a:txBody>
                    <a:bodyPr/>
                    <a:lstStyle/>
                    <a:p>
                      <a:pPr algn="ctr">
                        <a:buNone/>
                      </a:pPr>
                      <a:r>
                        <a:rPr lang="tr-TR" sz="1300" noProof="0" dirty="0"/>
                        <a:t>Görselleştirme</a:t>
                      </a:r>
                    </a:p>
                  </a:txBody>
                  <a:tcPr anchor="ctr"/>
                </a:tc>
                <a:tc>
                  <a:txBody>
                    <a:bodyPr/>
                    <a:lstStyle/>
                    <a:p>
                      <a:pPr algn="ctr">
                        <a:buNone/>
                      </a:pPr>
                      <a:r>
                        <a:rPr lang="tr-TR" sz="1300" noProof="0" dirty="0" err="1"/>
                        <a:t>Visualization</a:t>
                      </a:r>
                      <a:endParaRPr lang="tr-TR" sz="1300" noProof="0" dirty="0"/>
                    </a:p>
                  </a:txBody>
                  <a:tcPr anchor="ctr"/>
                </a:tc>
                <a:extLst>
                  <a:ext uri="{0D108BD9-81ED-4DB2-BD59-A6C34878D82A}">
                    <a16:rowId xmlns:a16="http://schemas.microsoft.com/office/drawing/2014/main" val="1865444375"/>
                  </a:ext>
                </a:extLst>
              </a:tr>
              <a:tr h="334434">
                <a:tc>
                  <a:txBody>
                    <a:bodyPr/>
                    <a:lstStyle/>
                    <a:p>
                      <a:pPr algn="ctr">
                        <a:buNone/>
                      </a:pPr>
                      <a:r>
                        <a:rPr lang="tr-TR" sz="1300" noProof="0" dirty="0"/>
                        <a:t>Sınıflandırma</a:t>
                      </a:r>
                    </a:p>
                  </a:txBody>
                  <a:tcPr anchor="ctr"/>
                </a:tc>
                <a:tc>
                  <a:txBody>
                    <a:bodyPr/>
                    <a:lstStyle/>
                    <a:p>
                      <a:pPr algn="ctr">
                        <a:buNone/>
                      </a:pPr>
                      <a:r>
                        <a:rPr lang="tr-TR" sz="1300" noProof="0" dirty="0" err="1"/>
                        <a:t>Classification</a:t>
                      </a:r>
                      <a:endParaRPr lang="tr-TR" sz="1300" noProof="0" dirty="0"/>
                    </a:p>
                  </a:txBody>
                  <a:tcPr anchor="ctr"/>
                </a:tc>
                <a:extLst>
                  <a:ext uri="{0D108BD9-81ED-4DB2-BD59-A6C34878D82A}">
                    <a16:rowId xmlns:a16="http://schemas.microsoft.com/office/drawing/2014/main" val="1390537143"/>
                  </a:ext>
                </a:extLst>
              </a:tr>
            </a:tbl>
          </a:graphicData>
        </a:graphic>
      </p:graphicFrame>
      <p:sp>
        <p:nvSpPr>
          <p:cNvPr id="12" name="TextBox 11">
            <a:extLst>
              <a:ext uri="{FF2B5EF4-FFF2-40B4-BE49-F238E27FC236}">
                <a16:creationId xmlns:a16="http://schemas.microsoft.com/office/drawing/2014/main" id="{21277EBC-8CF0-DC44-CE12-43B5BB30DE91}"/>
              </a:ext>
            </a:extLst>
          </p:cNvPr>
          <p:cNvSpPr txBox="1"/>
          <p:nvPr/>
        </p:nvSpPr>
        <p:spPr>
          <a:xfrm>
            <a:off x="6826249" y="3888774"/>
            <a:ext cx="3921073" cy="323165"/>
          </a:xfrm>
          <a:prstGeom prst="rect">
            <a:avLst/>
          </a:prstGeom>
          <a:noFill/>
        </p:spPr>
        <p:txBody>
          <a:bodyPr wrap="square">
            <a:spAutoFit/>
          </a:bodyPr>
          <a:lstStyle/>
          <a:p>
            <a:pPr algn="ctr"/>
            <a:r>
              <a:rPr lang="tr-TR" sz="1500" noProof="0" dirty="0"/>
              <a:t>Metin Analitiği Temel Terimleri </a:t>
            </a:r>
          </a:p>
        </p:txBody>
      </p:sp>
    </p:spTree>
    <p:extLst>
      <p:ext uri="{BB962C8B-B14F-4D97-AF65-F5344CB8AC3E}">
        <p14:creationId xmlns:p14="http://schemas.microsoft.com/office/powerpoint/2010/main" val="3140609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34CF6-11EC-0F71-97A9-776C4C874E0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8FA5D38-1190-2DCF-45DB-18E288CD8246}"/>
              </a:ext>
            </a:extLst>
          </p:cNvPr>
          <p:cNvPicPr>
            <a:picLocks noChangeAspect="1"/>
          </p:cNvPicPr>
          <p:nvPr/>
        </p:nvPicPr>
        <p:blipFill>
          <a:blip r:embed="rId2"/>
          <a:stretch>
            <a:fillRect/>
          </a:stretch>
        </p:blipFill>
        <p:spPr>
          <a:xfrm>
            <a:off x="4001654" y="1220464"/>
            <a:ext cx="3634511" cy="2093640"/>
          </a:xfrm>
          <a:prstGeom prst="rect">
            <a:avLst/>
          </a:prstGeom>
        </p:spPr>
      </p:pic>
      <p:sp>
        <p:nvSpPr>
          <p:cNvPr id="27" name="Speech Bubble: Rectangle with Corners Rounded 26">
            <a:extLst>
              <a:ext uri="{FF2B5EF4-FFF2-40B4-BE49-F238E27FC236}">
                <a16:creationId xmlns:a16="http://schemas.microsoft.com/office/drawing/2014/main" id="{1403BF58-6FEA-2A1C-0F85-F9D813326300}"/>
              </a:ext>
            </a:extLst>
          </p:cNvPr>
          <p:cNvSpPr/>
          <p:nvPr/>
        </p:nvSpPr>
        <p:spPr>
          <a:xfrm>
            <a:off x="8082669" y="1185583"/>
            <a:ext cx="2963881" cy="1092606"/>
          </a:xfrm>
          <a:prstGeom prst="wedgeRoundRectCallout">
            <a:avLst>
              <a:gd name="adj1" fmla="val -103438"/>
              <a:gd name="adj2" fmla="val 15030"/>
              <a:gd name="adj3" fmla="val 16667"/>
            </a:avLst>
          </a:prstGeom>
          <a:ln>
            <a:solidFill>
              <a:srgbClr val="78D8E8"/>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4" name="TextBox 3">
            <a:extLst>
              <a:ext uri="{FF2B5EF4-FFF2-40B4-BE49-F238E27FC236}">
                <a16:creationId xmlns:a16="http://schemas.microsoft.com/office/drawing/2014/main" id="{2C06562D-8683-36AB-9785-2E4842734556}"/>
              </a:ext>
            </a:extLst>
          </p:cNvPr>
          <p:cNvSpPr txBox="1"/>
          <p:nvPr/>
        </p:nvSpPr>
        <p:spPr>
          <a:xfrm>
            <a:off x="-3" y="545911"/>
            <a:ext cx="12192000" cy="523220"/>
          </a:xfrm>
          <a:prstGeom prst="rect">
            <a:avLst/>
          </a:prstGeom>
          <a:noFill/>
        </p:spPr>
        <p:txBody>
          <a:bodyPr wrap="square">
            <a:spAutoFit/>
          </a:bodyPr>
          <a:lstStyle/>
          <a:p>
            <a:pPr algn="ctr"/>
            <a:r>
              <a:rPr lang="tr-TR" sz="2800" noProof="0" dirty="0"/>
              <a:t>Metin Analitiğinde Veri Kaynakları</a:t>
            </a:r>
          </a:p>
        </p:txBody>
      </p:sp>
      <p:sp>
        <p:nvSpPr>
          <p:cNvPr id="12" name="TextBox 11">
            <a:extLst>
              <a:ext uri="{FF2B5EF4-FFF2-40B4-BE49-F238E27FC236}">
                <a16:creationId xmlns:a16="http://schemas.microsoft.com/office/drawing/2014/main" id="{994CA5F0-2EA9-DBEA-2C41-04710A1488D3}"/>
              </a:ext>
            </a:extLst>
          </p:cNvPr>
          <p:cNvSpPr txBox="1"/>
          <p:nvPr/>
        </p:nvSpPr>
        <p:spPr>
          <a:xfrm>
            <a:off x="8198561" y="1185583"/>
            <a:ext cx="2691548" cy="1092607"/>
          </a:xfrm>
          <a:prstGeom prst="rect">
            <a:avLst/>
          </a:prstGeom>
          <a:noFill/>
        </p:spPr>
        <p:txBody>
          <a:bodyPr wrap="square">
            <a:spAutoFit/>
          </a:bodyPr>
          <a:lstStyle/>
          <a:p>
            <a:r>
              <a:rPr lang="tr-TR" sz="1300" b="1" noProof="0" dirty="0"/>
              <a:t>Kurumsal Dokümanlar:</a:t>
            </a:r>
            <a:br>
              <a:rPr lang="tr-TR" sz="1300" noProof="0" dirty="0"/>
            </a:br>
            <a:r>
              <a:rPr lang="tr-TR" sz="1300" noProof="0" dirty="0"/>
              <a:t>E-postalar, çağrı merkezi kayıtları, müşteri destek kayıtları.</a:t>
            </a:r>
            <a:br>
              <a:rPr lang="tr-TR" sz="1300" noProof="0" dirty="0"/>
            </a:br>
            <a:r>
              <a:rPr lang="tr-TR" sz="1300" noProof="0" dirty="0"/>
              <a:t>Kurumsal içgörü üretiminde kullanılır.</a:t>
            </a:r>
          </a:p>
        </p:txBody>
      </p:sp>
      <p:graphicFrame>
        <p:nvGraphicFramePr>
          <p:cNvPr id="17" name="Table 16">
            <a:extLst>
              <a:ext uri="{FF2B5EF4-FFF2-40B4-BE49-F238E27FC236}">
                <a16:creationId xmlns:a16="http://schemas.microsoft.com/office/drawing/2014/main" id="{D792F6E9-8791-09EB-92EE-D41CB38126F2}"/>
              </a:ext>
            </a:extLst>
          </p:cNvPr>
          <p:cNvGraphicFramePr>
            <a:graphicFrameLocks noGrp="1"/>
          </p:cNvGraphicFramePr>
          <p:nvPr>
            <p:extLst>
              <p:ext uri="{D42A27DB-BD31-4B8C-83A1-F6EECF244321}">
                <p14:modId xmlns:p14="http://schemas.microsoft.com/office/powerpoint/2010/main" val="2824575207"/>
              </p:ext>
            </p:extLst>
          </p:nvPr>
        </p:nvGraphicFramePr>
        <p:xfrm>
          <a:off x="4031674" y="3746831"/>
          <a:ext cx="3634510" cy="2534315"/>
        </p:xfrm>
        <a:graphic>
          <a:graphicData uri="http://schemas.openxmlformats.org/drawingml/2006/table">
            <a:tbl>
              <a:tblPr firstRow="1" bandRow="1">
                <a:tableStyleId>{5C22544A-7EE6-4342-B048-85BDC9FD1C3A}</a:tableStyleId>
              </a:tblPr>
              <a:tblGrid>
                <a:gridCol w="1817255">
                  <a:extLst>
                    <a:ext uri="{9D8B030D-6E8A-4147-A177-3AD203B41FA5}">
                      <a16:colId xmlns:a16="http://schemas.microsoft.com/office/drawing/2014/main" val="752681885"/>
                    </a:ext>
                  </a:extLst>
                </a:gridCol>
                <a:gridCol w="1817255">
                  <a:extLst>
                    <a:ext uri="{9D8B030D-6E8A-4147-A177-3AD203B41FA5}">
                      <a16:colId xmlns:a16="http://schemas.microsoft.com/office/drawing/2014/main" val="3473734466"/>
                    </a:ext>
                  </a:extLst>
                </a:gridCol>
              </a:tblGrid>
              <a:tr h="311791">
                <a:tc>
                  <a:txBody>
                    <a:bodyPr/>
                    <a:lstStyle/>
                    <a:p>
                      <a:pPr>
                        <a:buNone/>
                      </a:pPr>
                      <a:r>
                        <a:rPr lang="tr-TR" sz="1300" noProof="0" dirty="0"/>
                        <a:t>Türkçe Terim</a:t>
                      </a:r>
                    </a:p>
                  </a:txBody>
                  <a:tcPr anchor="ctr"/>
                </a:tc>
                <a:tc>
                  <a:txBody>
                    <a:bodyPr/>
                    <a:lstStyle/>
                    <a:p>
                      <a:pPr>
                        <a:buNone/>
                      </a:pPr>
                      <a:r>
                        <a:rPr lang="tr-TR" sz="1300" noProof="0" dirty="0"/>
                        <a:t>İngilizce Terim</a:t>
                      </a:r>
                    </a:p>
                  </a:txBody>
                  <a:tcPr anchor="ctr"/>
                </a:tc>
                <a:extLst>
                  <a:ext uri="{0D108BD9-81ED-4DB2-BD59-A6C34878D82A}">
                    <a16:rowId xmlns:a16="http://schemas.microsoft.com/office/drawing/2014/main" val="601974374"/>
                  </a:ext>
                </a:extLst>
              </a:tr>
              <a:tr h="311791">
                <a:tc>
                  <a:txBody>
                    <a:bodyPr/>
                    <a:lstStyle/>
                    <a:p>
                      <a:pPr>
                        <a:buNone/>
                      </a:pPr>
                      <a:r>
                        <a:rPr lang="tr-TR" sz="1300" noProof="0" dirty="0"/>
                        <a:t>Sosyal Medya</a:t>
                      </a:r>
                    </a:p>
                  </a:txBody>
                  <a:tcPr anchor="ctr"/>
                </a:tc>
                <a:tc>
                  <a:txBody>
                    <a:bodyPr/>
                    <a:lstStyle/>
                    <a:p>
                      <a:pPr>
                        <a:buNone/>
                      </a:pPr>
                      <a:r>
                        <a:rPr lang="tr-TR" sz="1300" noProof="0" dirty="0" err="1"/>
                        <a:t>Social</a:t>
                      </a:r>
                      <a:r>
                        <a:rPr lang="tr-TR" sz="1300" noProof="0" dirty="0"/>
                        <a:t> Media</a:t>
                      </a:r>
                    </a:p>
                  </a:txBody>
                  <a:tcPr anchor="ctr"/>
                </a:tc>
                <a:extLst>
                  <a:ext uri="{0D108BD9-81ED-4DB2-BD59-A6C34878D82A}">
                    <a16:rowId xmlns:a16="http://schemas.microsoft.com/office/drawing/2014/main" val="41536807"/>
                  </a:ext>
                </a:extLst>
              </a:tr>
              <a:tr h="311791">
                <a:tc>
                  <a:txBody>
                    <a:bodyPr/>
                    <a:lstStyle/>
                    <a:p>
                      <a:pPr>
                        <a:buNone/>
                      </a:pPr>
                      <a:r>
                        <a:rPr lang="tr-TR" sz="1300" noProof="0" dirty="0"/>
                        <a:t>Ürün Yorumları</a:t>
                      </a:r>
                    </a:p>
                  </a:txBody>
                  <a:tcPr anchor="ctr"/>
                </a:tc>
                <a:tc>
                  <a:txBody>
                    <a:bodyPr/>
                    <a:lstStyle/>
                    <a:p>
                      <a:pPr>
                        <a:buNone/>
                      </a:pPr>
                      <a:r>
                        <a:rPr lang="tr-TR" sz="1300" noProof="0" dirty="0"/>
                        <a:t>Product </a:t>
                      </a:r>
                      <a:r>
                        <a:rPr lang="tr-TR" sz="1300" noProof="0" dirty="0" err="1"/>
                        <a:t>Reviews</a:t>
                      </a:r>
                      <a:endParaRPr lang="tr-TR" sz="1300" noProof="0" dirty="0"/>
                    </a:p>
                  </a:txBody>
                  <a:tcPr anchor="ctr"/>
                </a:tc>
                <a:extLst>
                  <a:ext uri="{0D108BD9-81ED-4DB2-BD59-A6C34878D82A}">
                    <a16:rowId xmlns:a16="http://schemas.microsoft.com/office/drawing/2014/main" val="386323038"/>
                  </a:ext>
                </a:extLst>
              </a:tr>
              <a:tr h="311791">
                <a:tc>
                  <a:txBody>
                    <a:bodyPr/>
                    <a:lstStyle/>
                    <a:p>
                      <a:pPr>
                        <a:buNone/>
                      </a:pPr>
                      <a:r>
                        <a:rPr lang="tr-TR" sz="1300" noProof="0" dirty="0"/>
                        <a:t>Web Siteleri</a:t>
                      </a:r>
                    </a:p>
                  </a:txBody>
                  <a:tcPr anchor="ctr"/>
                </a:tc>
                <a:tc>
                  <a:txBody>
                    <a:bodyPr/>
                    <a:lstStyle/>
                    <a:p>
                      <a:pPr>
                        <a:buNone/>
                      </a:pPr>
                      <a:r>
                        <a:rPr lang="tr-TR" sz="1300" noProof="0" dirty="0" err="1"/>
                        <a:t>Websites</a:t>
                      </a:r>
                      <a:endParaRPr lang="tr-TR" sz="1300" noProof="0" dirty="0"/>
                    </a:p>
                  </a:txBody>
                  <a:tcPr anchor="ctr"/>
                </a:tc>
                <a:extLst>
                  <a:ext uri="{0D108BD9-81ED-4DB2-BD59-A6C34878D82A}">
                    <a16:rowId xmlns:a16="http://schemas.microsoft.com/office/drawing/2014/main" val="1406731972"/>
                  </a:ext>
                </a:extLst>
              </a:tr>
              <a:tr h="311791">
                <a:tc>
                  <a:txBody>
                    <a:bodyPr/>
                    <a:lstStyle/>
                    <a:p>
                      <a:pPr>
                        <a:buNone/>
                      </a:pPr>
                      <a:r>
                        <a:rPr lang="tr-TR" sz="1300" noProof="0" dirty="0"/>
                        <a:t>Haber İçerikleri</a:t>
                      </a:r>
                    </a:p>
                  </a:txBody>
                  <a:tcPr anchor="ctr"/>
                </a:tc>
                <a:tc>
                  <a:txBody>
                    <a:bodyPr/>
                    <a:lstStyle/>
                    <a:p>
                      <a:pPr>
                        <a:buNone/>
                      </a:pPr>
                      <a:r>
                        <a:rPr lang="tr-TR" sz="1300" noProof="0" dirty="0"/>
                        <a:t>News Content</a:t>
                      </a:r>
                    </a:p>
                  </a:txBody>
                  <a:tcPr anchor="ctr"/>
                </a:tc>
                <a:extLst>
                  <a:ext uri="{0D108BD9-81ED-4DB2-BD59-A6C34878D82A}">
                    <a16:rowId xmlns:a16="http://schemas.microsoft.com/office/drawing/2014/main" val="1417171849"/>
                  </a:ext>
                </a:extLst>
              </a:tr>
              <a:tr h="311791">
                <a:tc>
                  <a:txBody>
                    <a:bodyPr/>
                    <a:lstStyle/>
                    <a:p>
                      <a:pPr>
                        <a:buNone/>
                      </a:pPr>
                      <a:r>
                        <a:rPr lang="tr-TR" sz="1300" noProof="0" dirty="0"/>
                        <a:t>Kurumsal Dokümanlar</a:t>
                      </a:r>
                    </a:p>
                  </a:txBody>
                  <a:tcPr anchor="ctr"/>
                </a:tc>
                <a:tc>
                  <a:txBody>
                    <a:bodyPr/>
                    <a:lstStyle/>
                    <a:p>
                      <a:pPr>
                        <a:buNone/>
                      </a:pPr>
                      <a:r>
                        <a:rPr lang="tr-TR" sz="1300" noProof="0" dirty="0" err="1"/>
                        <a:t>Corporate</a:t>
                      </a:r>
                      <a:r>
                        <a:rPr lang="tr-TR" sz="1300" noProof="0" dirty="0"/>
                        <a:t> </a:t>
                      </a:r>
                      <a:r>
                        <a:rPr lang="tr-TR" sz="1300" noProof="0" dirty="0" err="1"/>
                        <a:t>Documents</a:t>
                      </a:r>
                      <a:endParaRPr lang="tr-TR" sz="1300" noProof="0" dirty="0"/>
                    </a:p>
                  </a:txBody>
                  <a:tcPr anchor="ctr"/>
                </a:tc>
                <a:extLst>
                  <a:ext uri="{0D108BD9-81ED-4DB2-BD59-A6C34878D82A}">
                    <a16:rowId xmlns:a16="http://schemas.microsoft.com/office/drawing/2014/main" val="4106662935"/>
                  </a:ext>
                </a:extLst>
              </a:tr>
              <a:tr h="311791">
                <a:tc>
                  <a:txBody>
                    <a:bodyPr/>
                    <a:lstStyle/>
                    <a:p>
                      <a:pPr>
                        <a:buNone/>
                      </a:pPr>
                      <a:r>
                        <a:rPr lang="tr-TR" sz="1300" noProof="0" dirty="0"/>
                        <a:t>Akademik Yayınlar</a:t>
                      </a:r>
                    </a:p>
                  </a:txBody>
                  <a:tcPr anchor="ctr"/>
                </a:tc>
                <a:tc>
                  <a:txBody>
                    <a:bodyPr/>
                    <a:lstStyle/>
                    <a:p>
                      <a:pPr>
                        <a:buNone/>
                      </a:pPr>
                      <a:r>
                        <a:rPr lang="tr-TR" sz="1300" noProof="0" dirty="0" err="1"/>
                        <a:t>Academic</a:t>
                      </a:r>
                      <a:r>
                        <a:rPr lang="tr-TR" sz="1300" noProof="0" dirty="0"/>
                        <a:t> Publications</a:t>
                      </a:r>
                    </a:p>
                  </a:txBody>
                  <a:tcPr anchor="ctr"/>
                </a:tc>
                <a:extLst>
                  <a:ext uri="{0D108BD9-81ED-4DB2-BD59-A6C34878D82A}">
                    <a16:rowId xmlns:a16="http://schemas.microsoft.com/office/drawing/2014/main" val="3678064486"/>
                  </a:ext>
                </a:extLst>
              </a:tr>
            </a:tbl>
          </a:graphicData>
        </a:graphic>
      </p:graphicFrame>
      <p:sp>
        <p:nvSpPr>
          <p:cNvPr id="19" name="TextBox 18">
            <a:extLst>
              <a:ext uri="{FF2B5EF4-FFF2-40B4-BE49-F238E27FC236}">
                <a16:creationId xmlns:a16="http://schemas.microsoft.com/office/drawing/2014/main" id="{22FB48F0-3EB4-D405-C466-5A7006CDBDFE}"/>
              </a:ext>
            </a:extLst>
          </p:cNvPr>
          <p:cNvSpPr txBox="1"/>
          <p:nvPr/>
        </p:nvSpPr>
        <p:spPr>
          <a:xfrm>
            <a:off x="4031675" y="6281146"/>
            <a:ext cx="3634510" cy="261610"/>
          </a:xfrm>
          <a:prstGeom prst="rect">
            <a:avLst/>
          </a:prstGeom>
          <a:noFill/>
        </p:spPr>
        <p:txBody>
          <a:bodyPr wrap="square">
            <a:spAutoFit/>
          </a:bodyPr>
          <a:lstStyle/>
          <a:p>
            <a:pPr algn="ctr">
              <a:buNone/>
            </a:pPr>
            <a:r>
              <a:rPr lang="tr-TR" sz="1100" i="1" noProof="0" dirty="0"/>
              <a:t>Veri Kaynaklarının Türkçe–İngilizce karşılıkları</a:t>
            </a:r>
            <a:endParaRPr lang="tr-TR" sz="1100" noProof="0" dirty="0"/>
          </a:p>
        </p:txBody>
      </p:sp>
      <p:sp>
        <p:nvSpPr>
          <p:cNvPr id="29" name="Speech Bubble: Rectangle with Corners Rounded 28">
            <a:extLst>
              <a:ext uri="{FF2B5EF4-FFF2-40B4-BE49-F238E27FC236}">
                <a16:creationId xmlns:a16="http://schemas.microsoft.com/office/drawing/2014/main" id="{8BA49851-8E32-BA7E-9898-9352488FBCBF}"/>
              </a:ext>
            </a:extLst>
          </p:cNvPr>
          <p:cNvSpPr/>
          <p:nvPr/>
        </p:nvSpPr>
        <p:spPr>
          <a:xfrm>
            <a:off x="8057281" y="4144768"/>
            <a:ext cx="3065469" cy="1102700"/>
          </a:xfrm>
          <a:prstGeom prst="wedgeRoundRectCallout">
            <a:avLst>
              <a:gd name="adj1" fmla="val -105319"/>
              <a:gd name="adj2" fmla="val -182328"/>
              <a:gd name="adj3" fmla="val 16667"/>
            </a:avLst>
          </a:prstGeom>
          <a:ln>
            <a:solidFill>
              <a:srgbClr val="78D8E8"/>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16" name="TextBox 15">
            <a:extLst>
              <a:ext uri="{FF2B5EF4-FFF2-40B4-BE49-F238E27FC236}">
                <a16:creationId xmlns:a16="http://schemas.microsoft.com/office/drawing/2014/main" id="{AC3D57DD-74FB-6B08-54FB-E4E5E31BF841}"/>
              </a:ext>
            </a:extLst>
          </p:cNvPr>
          <p:cNvSpPr txBox="1"/>
          <p:nvPr/>
        </p:nvSpPr>
        <p:spPr>
          <a:xfrm>
            <a:off x="8264948" y="4226846"/>
            <a:ext cx="2697725" cy="892552"/>
          </a:xfrm>
          <a:prstGeom prst="rect">
            <a:avLst/>
          </a:prstGeom>
          <a:noFill/>
        </p:spPr>
        <p:txBody>
          <a:bodyPr wrap="square">
            <a:spAutoFit/>
          </a:bodyPr>
          <a:lstStyle/>
          <a:p>
            <a:pPr>
              <a:buNone/>
            </a:pPr>
            <a:r>
              <a:rPr lang="tr-TR" sz="1300" b="1" noProof="0" dirty="0"/>
              <a:t>Akademik Yayınlar:</a:t>
            </a:r>
            <a:br>
              <a:rPr lang="tr-TR" sz="1300" noProof="0" dirty="0"/>
            </a:br>
            <a:r>
              <a:rPr lang="tr-TR" sz="1300" noProof="0" dirty="0"/>
              <a:t>Tezler, araştırma makaleleri, literatür incelemeleri.</a:t>
            </a:r>
            <a:br>
              <a:rPr lang="tr-TR" sz="1300" noProof="0" dirty="0"/>
            </a:br>
            <a:r>
              <a:rPr lang="tr-TR" sz="1300" noProof="0" dirty="0"/>
              <a:t>Bilimsel içerik analizi yapılabilir.</a:t>
            </a:r>
          </a:p>
        </p:txBody>
      </p:sp>
      <p:sp>
        <p:nvSpPr>
          <p:cNvPr id="30" name="Speech Bubble: Rectangle with Corners Rounded 29">
            <a:extLst>
              <a:ext uri="{FF2B5EF4-FFF2-40B4-BE49-F238E27FC236}">
                <a16:creationId xmlns:a16="http://schemas.microsoft.com/office/drawing/2014/main" id="{5979EACB-EE58-EB29-660F-707CB2C4DB4B}"/>
              </a:ext>
            </a:extLst>
          </p:cNvPr>
          <p:cNvSpPr/>
          <p:nvPr/>
        </p:nvSpPr>
        <p:spPr>
          <a:xfrm>
            <a:off x="8083121" y="2635812"/>
            <a:ext cx="3039630" cy="1111019"/>
          </a:xfrm>
          <a:prstGeom prst="wedgeRoundRectCallout">
            <a:avLst>
              <a:gd name="adj1" fmla="val -85311"/>
              <a:gd name="adj2" fmla="val -71662"/>
              <a:gd name="adj3" fmla="val 16667"/>
            </a:avLst>
          </a:prstGeom>
          <a:ln>
            <a:solidFill>
              <a:srgbClr val="78D8E8"/>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14" name="TextBox 13">
            <a:extLst>
              <a:ext uri="{FF2B5EF4-FFF2-40B4-BE49-F238E27FC236}">
                <a16:creationId xmlns:a16="http://schemas.microsoft.com/office/drawing/2014/main" id="{8C8E2A31-6E1A-8CAD-E477-41962119955C}"/>
              </a:ext>
            </a:extLst>
          </p:cNvPr>
          <p:cNvSpPr txBox="1"/>
          <p:nvPr/>
        </p:nvSpPr>
        <p:spPr>
          <a:xfrm>
            <a:off x="8172309" y="2712009"/>
            <a:ext cx="2717800" cy="89255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wrap="square">
            <a:spAutoFit/>
          </a:bodyPr>
          <a:lstStyle/>
          <a:p>
            <a:r>
              <a:rPr lang="tr-TR" sz="1300" b="1" noProof="0" dirty="0"/>
              <a:t>Anket Açık Uçlu Yanıtları:</a:t>
            </a:r>
            <a:br>
              <a:rPr lang="tr-TR" sz="1300" noProof="0" dirty="0"/>
            </a:br>
            <a:r>
              <a:rPr lang="tr-TR" sz="1300" noProof="0" dirty="0"/>
              <a:t>Katılımcı ifadeleri metin madenciliği ile analiz edilerek eğilim ve temalar çıkarılır.</a:t>
            </a:r>
          </a:p>
        </p:txBody>
      </p:sp>
      <p:sp>
        <p:nvSpPr>
          <p:cNvPr id="33" name="Speech Bubble: Rectangle with Corners Rounded 32">
            <a:extLst>
              <a:ext uri="{FF2B5EF4-FFF2-40B4-BE49-F238E27FC236}">
                <a16:creationId xmlns:a16="http://schemas.microsoft.com/office/drawing/2014/main" id="{B0853515-6E57-928C-0CAC-CF7EBFC20E97}"/>
              </a:ext>
            </a:extLst>
          </p:cNvPr>
          <p:cNvSpPr/>
          <p:nvPr/>
        </p:nvSpPr>
        <p:spPr>
          <a:xfrm>
            <a:off x="780620" y="4086687"/>
            <a:ext cx="2856633" cy="1366603"/>
          </a:xfrm>
          <a:prstGeom prst="wedgeRoundRectCallout">
            <a:avLst>
              <a:gd name="adj1" fmla="val 99794"/>
              <a:gd name="adj2" fmla="val -151710"/>
              <a:gd name="adj3" fmla="val 16667"/>
            </a:avLst>
          </a:prstGeom>
          <a:ln>
            <a:solidFill>
              <a:srgbClr val="78D8E8"/>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32" name="Speech Bubble: Rectangle with Corners Rounded 31">
            <a:extLst>
              <a:ext uri="{FF2B5EF4-FFF2-40B4-BE49-F238E27FC236}">
                <a16:creationId xmlns:a16="http://schemas.microsoft.com/office/drawing/2014/main" id="{83BB14E3-489C-C65B-4C4E-3753B34F2696}"/>
              </a:ext>
            </a:extLst>
          </p:cNvPr>
          <p:cNvSpPr/>
          <p:nvPr/>
        </p:nvSpPr>
        <p:spPr>
          <a:xfrm>
            <a:off x="780620" y="2636881"/>
            <a:ext cx="2860963" cy="1239982"/>
          </a:xfrm>
          <a:prstGeom prst="wedgeRoundRectCallout">
            <a:avLst>
              <a:gd name="adj1" fmla="val 87785"/>
              <a:gd name="adj2" fmla="val -74929"/>
              <a:gd name="adj3" fmla="val 16667"/>
            </a:avLst>
          </a:prstGeom>
          <a:ln>
            <a:solidFill>
              <a:srgbClr val="78D8E8"/>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6" name="TextBox 5">
            <a:extLst>
              <a:ext uri="{FF2B5EF4-FFF2-40B4-BE49-F238E27FC236}">
                <a16:creationId xmlns:a16="http://schemas.microsoft.com/office/drawing/2014/main" id="{596EF414-E667-C2BC-AA83-593E79717BCC}"/>
              </a:ext>
            </a:extLst>
          </p:cNvPr>
          <p:cNvSpPr txBox="1"/>
          <p:nvPr/>
        </p:nvSpPr>
        <p:spPr>
          <a:xfrm>
            <a:off x="972274" y="4160628"/>
            <a:ext cx="2664979" cy="1292662"/>
          </a:xfrm>
          <a:prstGeom prst="rect">
            <a:avLst/>
          </a:prstGeom>
          <a:noFill/>
        </p:spPr>
        <p:txBody>
          <a:bodyPr wrap="square">
            <a:spAutoFit/>
          </a:bodyPr>
          <a:lstStyle/>
          <a:p>
            <a:r>
              <a:rPr lang="tr-TR" sz="1300" b="1" noProof="0" dirty="0"/>
              <a:t>Sosyal Medya:</a:t>
            </a:r>
            <a:br>
              <a:rPr lang="tr-TR" sz="1300" noProof="0" dirty="0"/>
            </a:br>
            <a:r>
              <a:rPr lang="tr-TR" sz="1300" noProof="0" dirty="0"/>
              <a:t>Tweetler, Instagram yorumları, forum mesajları, topluluk paylaşımları. Kullanıcı davranışını anlamada en zengin veri kümesidir.</a:t>
            </a:r>
          </a:p>
        </p:txBody>
      </p:sp>
      <p:sp>
        <p:nvSpPr>
          <p:cNvPr id="8" name="TextBox 7">
            <a:extLst>
              <a:ext uri="{FF2B5EF4-FFF2-40B4-BE49-F238E27FC236}">
                <a16:creationId xmlns:a16="http://schemas.microsoft.com/office/drawing/2014/main" id="{F2576DE1-4585-BBF6-FB91-569FA88EE30F}"/>
              </a:ext>
            </a:extLst>
          </p:cNvPr>
          <p:cNvSpPr txBox="1"/>
          <p:nvPr/>
        </p:nvSpPr>
        <p:spPr>
          <a:xfrm>
            <a:off x="865190" y="2635812"/>
            <a:ext cx="2749548" cy="1323439"/>
          </a:xfrm>
          <a:prstGeom prst="rect">
            <a:avLst/>
          </a:prstGeom>
          <a:noFill/>
        </p:spPr>
        <p:txBody>
          <a:bodyPr wrap="square">
            <a:spAutoFit/>
          </a:bodyPr>
          <a:lstStyle/>
          <a:p>
            <a:r>
              <a:rPr lang="tr-TR" sz="1300" b="1" noProof="0" dirty="0"/>
              <a:t>E-Ticaret Platformları:</a:t>
            </a:r>
            <a:br>
              <a:rPr lang="tr-TR" sz="1300" noProof="0" dirty="0"/>
            </a:br>
            <a:r>
              <a:rPr lang="tr-TR" sz="1300" noProof="0" dirty="0"/>
              <a:t>Ürün yorumları, mağaza puanlamaları, müşteri geri bildirimleri. Duygu analizi için ideal veri kaynağıdır.</a:t>
            </a:r>
            <a:r>
              <a:rPr lang="en-US" sz="1400" dirty="0"/>
              <a:t> </a:t>
            </a:r>
            <a:r>
              <a:rPr lang="tr-TR" sz="1300" noProof="0" dirty="0"/>
              <a:t>Marka algısı ölçümünde sıkça kullanılır.</a:t>
            </a:r>
          </a:p>
        </p:txBody>
      </p:sp>
      <p:sp>
        <p:nvSpPr>
          <p:cNvPr id="31" name="Speech Bubble: Rectangle with Corners Rounded 30">
            <a:extLst>
              <a:ext uri="{FF2B5EF4-FFF2-40B4-BE49-F238E27FC236}">
                <a16:creationId xmlns:a16="http://schemas.microsoft.com/office/drawing/2014/main" id="{56DBF827-B5C4-3012-754D-9610A8D43D6C}"/>
              </a:ext>
            </a:extLst>
          </p:cNvPr>
          <p:cNvSpPr/>
          <p:nvPr/>
        </p:nvSpPr>
        <p:spPr>
          <a:xfrm>
            <a:off x="780620" y="1272403"/>
            <a:ext cx="2749549" cy="1164423"/>
          </a:xfrm>
          <a:prstGeom prst="wedgeRoundRectCallout">
            <a:avLst>
              <a:gd name="adj1" fmla="val 107103"/>
              <a:gd name="adj2" fmla="val 5917"/>
              <a:gd name="adj3" fmla="val 16667"/>
            </a:avLst>
          </a:prstGeom>
          <a:ln>
            <a:solidFill>
              <a:srgbClr val="78D8E8"/>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10" name="TextBox 9">
            <a:extLst>
              <a:ext uri="{FF2B5EF4-FFF2-40B4-BE49-F238E27FC236}">
                <a16:creationId xmlns:a16="http://schemas.microsoft.com/office/drawing/2014/main" id="{F330A9A8-9A79-CF99-CB21-30AAF2FC8D65}"/>
              </a:ext>
            </a:extLst>
          </p:cNvPr>
          <p:cNvSpPr txBox="1"/>
          <p:nvPr/>
        </p:nvSpPr>
        <p:spPr>
          <a:xfrm>
            <a:off x="856820" y="1272403"/>
            <a:ext cx="2586183" cy="1092607"/>
          </a:xfrm>
          <a:prstGeom prst="rect">
            <a:avLst/>
          </a:prstGeom>
          <a:noFill/>
        </p:spPr>
        <p:txBody>
          <a:bodyPr wrap="square">
            <a:spAutoFit/>
          </a:bodyPr>
          <a:lstStyle/>
          <a:p>
            <a:r>
              <a:rPr lang="tr-TR" sz="1300" b="1" noProof="0" dirty="0"/>
              <a:t>Web Siteleri / Haber İçerikleri:</a:t>
            </a:r>
            <a:br>
              <a:rPr lang="tr-TR" sz="1300" noProof="0" dirty="0"/>
            </a:br>
            <a:r>
              <a:rPr lang="tr-TR" sz="1300" noProof="0" dirty="0"/>
              <a:t>Blog yazıları, haber metinleri, makaleler.</a:t>
            </a:r>
            <a:br>
              <a:rPr lang="tr-TR" sz="1300" noProof="0" dirty="0"/>
            </a:br>
            <a:r>
              <a:rPr lang="tr-TR" sz="1300" noProof="0" dirty="0"/>
              <a:t>Web </a:t>
            </a:r>
            <a:r>
              <a:rPr lang="tr-TR" sz="1300" noProof="0" dirty="0" err="1"/>
              <a:t>scraping</a:t>
            </a:r>
            <a:r>
              <a:rPr lang="tr-TR" sz="1300" noProof="0" dirty="0"/>
              <a:t> ile otomatik toplanır.</a:t>
            </a:r>
          </a:p>
        </p:txBody>
      </p:sp>
      <p:sp>
        <p:nvSpPr>
          <p:cNvPr id="35" name="TextBox 34">
            <a:extLst>
              <a:ext uri="{FF2B5EF4-FFF2-40B4-BE49-F238E27FC236}">
                <a16:creationId xmlns:a16="http://schemas.microsoft.com/office/drawing/2014/main" id="{A5B6FD93-42D9-0D15-DAEA-0E68F4E62846}"/>
              </a:ext>
            </a:extLst>
          </p:cNvPr>
          <p:cNvSpPr txBox="1"/>
          <p:nvPr/>
        </p:nvSpPr>
        <p:spPr>
          <a:xfrm>
            <a:off x="4058519" y="3430556"/>
            <a:ext cx="3607666" cy="323165"/>
          </a:xfrm>
          <a:prstGeom prst="rect">
            <a:avLst/>
          </a:prstGeom>
          <a:noFill/>
        </p:spPr>
        <p:txBody>
          <a:bodyPr wrap="square">
            <a:spAutoFit/>
          </a:bodyPr>
          <a:lstStyle/>
          <a:p>
            <a:pPr algn="ctr"/>
            <a:r>
              <a:rPr lang="tr-TR" sz="1500" noProof="0" dirty="0"/>
              <a:t>Metin Analitiği Terimleri</a:t>
            </a:r>
          </a:p>
        </p:txBody>
      </p:sp>
    </p:spTree>
    <p:extLst>
      <p:ext uri="{BB962C8B-B14F-4D97-AF65-F5344CB8AC3E}">
        <p14:creationId xmlns:p14="http://schemas.microsoft.com/office/powerpoint/2010/main" val="805742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72C5B-9B8A-207B-EA23-7FD735992A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EE1292-1879-5269-12D3-4D2CD5F966B7}"/>
              </a:ext>
            </a:extLst>
          </p:cNvPr>
          <p:cNvSpPr txBox="1"/>
          <p:nvPr/>
        </p:nvSpPr>
        <p:spPr>
          <a:xfrm>
            <a:off x="0" y="523542"/>
            <a:ext cx="12192000" cy="523220"/>
          </a:xfrm>
          <a:prstGeom prst="rect">
            <a:avLst/>
          </a:prstGeom>
          <a:noFill/>
        </p:spPr>
        <p:txBody>
          <a:bodyPr wrap="square">
            <a:spAutoFit/>
          </a:bodyPr>
          <a:lstStyle/>
          <a:p>
            <a:pPr algn="ctr"/>
            <a:r>
              <a:rPr lang="fi-FI" sz="2800" dirty="0"/>
              <a:t>Metin Analitiğinde Veri Toplama Yöntemleri</a:t>
            </a:r>
            <a:endParaRPr lang="tr-TR" sz="2800" dirty="0"/>
          </a:p>
        </p:txBody>
      </p:sp>
      <p:pic>
        <p:nvPicPr>
          <p:cNvPr id="4" name="Picture 3">
            <a:extLst>
              <a:ext uri="{FF2B5EF4-FFF2-40B4-BE49-F238E27FC236}">
                <a16:creationId xmlns:a16="http://schemas.microsoft.com/office/drawing/2014/main" id="{DEF1B9B2-FBA0-5245-5ADC-2022BBAA1317}"/>
              </a:ext>
            </a:extLst>
          </p:cNvPr>
          <p:cNvPicPr>
            <a:picLocks noChangeAspect="1"/>
          </p:cNvPicPr>
          <p:nvPr/>
        </p:nvPicPr>
        <p:blipFill>
          <a:blip r:embed="rId2"/>
          <a:srcRect l="3940" t="3822"/>
          <a:stretch>
            <a:fillRect/>
          </a:stretch>
        </p:blipFill>
        <p:spPr>
          <a:xfrm>
            <a:off x="8186738" y="1400175"/>
            <a:ext cx="3433682" cy="2583643"/>
          </a:xfrm>
          <a:prstGeom prst="rect">
            <a:avLst/>
          </a:prstGeom>
        </p:spPr>
      </p:pic>
      <p:sp>
        <p:nvSpPr>
          <p:cNvPr id="6" name="TextBox 5">
            <a:extLst>
              <a:ext uri="{FF2B5EF4-FFF2-40B4-BE49-F238E27FC236}">
                <a16:creationId xmlns:a16="http://schemas.microsoft.com/office/drawing/2014/main" id="{7624FD0D-D3B9-6E69-4C8B-B1CDF28657E0}"/>
              </a:ext>
            </a:extLst>
          </p:cNvPr>
          <p:cNvSpPr txBox="1"/>
          <p:nvPr/>
        </p:nvSpPr>
        <p:spPr>
          <a:xfrm>
            <a:off x="444137" y="1291937"/>
            <a:ext cx="7592582" cy="5120633"/>
          </a:xfrm>
          <a:prstGeom prst="rect">
            <a:avLst/>
          </a:prstGeom>
          <a:noFill/>
        </p:spPr>
        <p:txBody>
          <a:bodyPr wrap="square">
            <a:spAutoFit/>
          </a:bodyPr>
          <a:lstStyle/>
          <a:p>
            <a:pPr>
              <a:lnSpc>
                <a:spcPct val="125000"/>
              </a:lnSpc>
              <a:buNone/>
            </a:pPr>
            <a:r>
              <a:rPr lang="tr-TR" sz="1300" noProof="0" dirty="0"/>
              <a:t>   Metin analitiğinde kullanılacak verilerin toplanması, analiz sürecinin ilk ve en kritik aşamasıdır.</a:t>
            </a:r>
          </a:p>
          <a:p>
            <a:pPr>
              <a:lnSpc>
                <a:spcPct val="125000"/>
              </a:lnSpc>
              <a:buNone/>
            </a:pPr>
            <a:r>
              <a:rPr lang="tr-TR" sz="1300" dirty="0"/>
              <a:t>Veri, web siteleri, sosyal medya platformları, e-ticaret yorumları, haber içerikleri, kurumsal dokümanlar veya API tabanlı uygulamalar gibi farklı kaynaklardan toplanabilir.</a:t>
            </a:r>
            <a:br>
              <a:rPr lang="tr-TR" sz="1300" dirty="0"/>
            </a:br>
            <a:r>
              <a:rPr lang="tr-TR" sz="1300" dirty="0"/>
              <a:t>   Kullanılan yöntemin doğruluğu ve veri kaynağının niteliği, analizden elde edilecek sonuçların güvenilirliğini doğrudan belirler.</a:t>
            </a:r>
          </a:p>
          <a:p>
            <a:pPr marL="285750" indent="-285750">
              <a:lnSpc>
                <a:spcPct val="125000"/>
              </a:lnSpc>
              <a:buFont typeface="Arial" panose="020B0604020202020204" pitchFamily="34" charset="0"/>
              <a:buChar char="•"/>
            </a:pPr>
            <a:r>
              <a:rPr lang="tr-TR" sz="1300" b="1" dirty="0"/>
              <a:t>Web </a:t>
            </a:r>
            <a:r>
              <a:rPr lang="tr-TR" sz="1300" b="1" dirty="0" err="1"/>
              <a:t>Scraping</a:t>
            </a:r>
            <a:r>
              <a:rPr lang="tr-TR" sz="1300" b="1" dirty="0"/>
              <a:t> (Web Kazıma):</a:t>
            </a:r>
          </a:p>
          <a:p>
            <a:pPr>
              <a:lnSpc>
                <a:spcPct val="125000"/>
              </a:lnSpc>
            </a:pPr>
            <a:r>
              <a:rPr lang="tr-TR" sz="1300" dirty="0"/>
              <a:t> Web sitelerinden otomatik olarak veri çekme işlemidir. HTML yapısını çözümleyerek metin, başlık, yorum, fiyat bilgisi ve haber içerikleri gibi unsurların toplanmasını sağlar. Özellikle büyük ölçekli veri toplama projelerinde hız ve otomasyon avantajı sunar.</a:t>
            </a:r>
          </a:p>
          <a:p>
            <a:pPr marL="285750" indent="-285750">
              <a:lnSpc>
                <a:spcPct val="125000"/>
              </a:lnSpc>
              <a:buFont typeface="Arial" panose="020B0604020202020204" pitchFamily="34" charset="0"/>
              <a:buChar char="•"/>
            </a:pPr>
            <a:r>
              <a:rPr lang="tr-TR" sz="1300" b="1" dirty="0"/>
              <a:t>API Kullanımı:</a:t>
            </a:r>
          </a:p>
          <a:p>
            <a:pPr>
              <a:lnSpc>
                <a:spcPct val="125000"/>
              </a:lnSpc>
            </a:pPr>
            <a:r>
              <a:rPr lang="tr-TR" sz="1300" dirty="0"/>
              <a:t>Twitter, Instagram, YouTube veya e-ticaret platformlarının sunduğu API arayüzleri üzerinden yapılandırılmış veri çekme yöntemidir. Düzenli formatta veri sağladığı için temizleme kolaydır ve analiz sürecini hızlandırır.</a:t>
            </a:r>
          </a:p>
          <a:p>
            <a:pPr marL="285750" indent="-285750">
              <a:lnSpc>
                <a:spcPct val="125000"/>
              </a:lnSpc>
              <a:buFont typeface="Arial" panose="020B0604020202020204" pitchFamily="34" charset="0"/>
              <a:buChar char="•"/>
            </a:pPr>
            <a:r>
              <a:rPr lang="tr-TR" sz="1300" b="1" dirty="0"/>
              <a:t>Manuel Veri Toplama:</a:t>
            </a:r>
          </a:p>
          <a:p>
            <a:pPr>
              <a:lnSpc>
                <a:spcPct val="125000"/>
              </a:lnSpc>
            </a:pPr>
            <a:r>
              <a:rPr lang="tr-TR" sz="1300" dirty="0"/>
              <a:t>Anketler, formlar, müşteri geri bildirimleri, görüşmeler, çağrı merkezi kayıtları ve kurumsal dokümanların doğrudan toplanmasıyla elde edilen veridir.</a:t>
            </a:r>
            <a:br>
              <a:rPr lang="tr-TR" sz="1300" dirty="0"/>
            </a:br>
            <a:r>
              <a:rPr lang="tr-TR" sz="1300" dirty="0"/>
              <a:t>Nitel analizlerde kullanıcı niyetini ve bağlamsal anlamı derinlemesine anlamak için en değerli veri kaynaklarından biridir.</a:t>
            </a:r>
            <a:br>
              <a:rPr lang="tr-TR" sz="1300" dirty="0"/>
            </a:br>
            <a:r>
              <a:rPr lang="tr-TR" sz="1300" dirty="0"/>
              <a:t>Ayrıca hazır veri bulunmadığında araştırmacının kendi veri setini oluşturmasına olanak sağlar.</a:t>
            </a:r>
          </a:p>
          <a:p>
            <a:pPr>
              <a:buNone/>
            </a:pPr>
            <a:endParaRPr lang="en-US" dirty="0"/>
          </a:p>
        </p:txBody>
      </p:sp>
      <p:graphicFrame>
        <p:nvGraphicFramePr>
          <p:cNvPr id="7" name="Table 6">
            <a:extLst>
              <a:ext uri="{FF2B5EF4-FFF2-40B4-BE49-F238E27FC236}">
                <a16:creationId xmlns:a16="http://schemas.microsoft.com/office/drawing/2014/main" id="{33886837-5559-87CC-7A82-D0B6748319F9}"/>
              </a:ext>
            </a:extLst>
          </p:cNvPr>
          <p:cNvGraphicFramePr>
            <a:graphicFrameLocks noGrp="1"/>
          </p:cNvGraphicFramePr>
          <p:nvPr>
            <p:extLst>
              <p:ext uri="{D42A27DB-BD31-4B8C-83A1-F6EECF244321}">
                <p14:modId xmlns:p14="http://schemas.microsoft.com/office/powerpoint/2010/main" val="4248340503"/>
              </p:ext>
            </p:extLst>
          </p:nvPr>
        </p:nvGraphicFramePr>
        <p:xfrm>
          <a:off x="7911683" y="4338886"/>
          <a:ext cx="3836180" cy="1798320"/>
        </p:xfrm>
        <a:graphic>
          <a:graphicData uri="http://schemas.openxmlformats.org/drawingml/2006/table">
            <a:tbl>
              <a:tblPr firstRow="1" bandRow="1">
                <a:tableStyleId>{5C22544A-7EE6-4342-B048-85BDC9FD1C3A}</a:tableStyleId>
              </a:tblPr>
              <a:tblGrid>
                <a:gridCol w="1918090">
                  <a:extLst>
                    <a:ext uri="{9D8B030D-6E8A-4147-A177-3AD203B41FA5}">
                      <a16:colId xmlns:a16="http://schemas.microsoft.com/office/drawing/2014/main" val="2392696897"/>
                    </a:ext>
                  </a:extLst>
                </a:gridCol>
                <a:gridCol w="1918090">
                  <a:extLst>
                    <a:ext uri="{9D8B030D-6E8A-4147-A177-3AD203B41FA5}">
                      <a16:colId xmlns:a16="http://schemas.microsoft.com/office/drawing/2014/main" val="648572613"/>
                    </a:ext>
                  </a:extLst>
                </a:gridCol>
              </a:tblGrid>
              <a:tr h="370840">
                <a:tc>
                  <a:txBody>
                    <a:bodyPr/>
                    <a:lstStyle/>
                    <a:p>
                      <a:pPr>
                        <a:buNone/>
                      </a:pPr>
                      <a:r>
                        <a:rPr lang="tr-TR" sz="1300" b="1" noProof="0" dirty="0"/>
                        <a:t>Türkçe Terim</a:t>
                      </a:r>
                      <a:endParaRPr lang="tr-TR" sz="1300" noProof="0" dirty="0"/>
                    </a:p>
                  </a:txBody>
                  <a:tcPr anchor="ctr"/>
                </a:tc>
                <a:tc>
                  <a:txBody>
                    <a:bodyPr/>
                    <a:lstStyle/>
                    <a:p>
                      <a:pPr>
                        <a:buNone/>
                      </a:pPr>
                      <a:r>
                        <a:rPr lang="tr-TR" sz="1300" b="1" noProof="0" dirty="0"/>
                        <a:t>İngilizce Terim</a:t>
                      </a:r>
                      <a:endParaRPr lang="tr-TR" sz="1300" noProof="0" dirty="0"/>
                    </a:p>
                  </a:txBody>
                  <a:tcPr anchor="ctr"/>
                </a:tc>
                <a:extLst>
                  <a:ext uri="{0D108BD9-81ED-4DB2-BD59-A6C34878D82A}">
                    <a16:rowId xmlns:a16="http://schemas.microsoft.com/office/drawing/2014/main" val="2645264855"/>
                  </a:ext>
                </a:extLst>
              </a:tr>
              <a:tr h="370840">
                <a:tc>
                  <a:txBody>
                    <a:bodyPr/>
                    <a:lstStyle/>
                    <a:p>
                      <a:pPr>
                        <a:buNone/>
                      </a:pPr>
                      <a:r>
                        <a:rPr lang="tr-TR" sz="1300" noProof="0" dirty="0"/>
                        <a:t>Web Kazıma</a:t>
                      </a:r>
                    </a:p>
                  </a:txBody>
                  <a:tcPr anchor="ctr"/>
                </a:tc>
                <a:tc>
                  <a:txBody>
                    <a:bodyPr/>
                    <a:lstStyle/>
                    <a:p>
                      <a:pPr>
                        <a:buNone/>
                      </a:pPr>
                      <a:r>
                        <a:rPr lang="tr-TR" sz="1300" noProof="0" dirty="0"/>
                        <a:t>Web </a:t>
                      </a:r>
                      <a:r>
                        <a:rPr lang="tr-TR" sz="1300" noProof="0" dirty="0" err="1"/>
                        <a:t>Scraping</a:t>
                      </a:r>
                      <a:endParaRPr lang="tr-TR" sz="1300" noProof="0" dirty="0"/>
                    </a:p>
                  </a:txBody>
                  <a:tcPr anchor="ctr"/>
                </a:tc>
                <a:extLst>
                  <a:ext uri="{0D108BD9-81ED-4DB2-BD59-A6C34878D82A}">
                    <a16:rowId xmlns:a16="http://schemas.microsoft.com/office/drawing/2014/main" val="2691812459"/>
                  </a:ext>
                </a:extLst>
              </a:tr>
              <a:tr h="370840">
                <a:tc>
                  <a:txBody>
                    <a:bodyPr/>
                    <a:lstStyle/>
                    <a:p>
                      <a:pPr>
                        <a:buNone/>
                      </a:pPr>
                      <a:r>
                        <a:rPr lang="tr-TR" sz="1300" noProof="0" dirty="0"/>
                        <a:t>Uygulama Arayüzü</a:t>
                      </a:r>
                    </a:p>
                  </a:txBody>
                  <a:tcPr anchor="ctr"/>
                </a:tc>
                <a:tc>
                  <a:txBody>
                    <a:bodyPr/>
                    <a:lstStyle/>
                    <a:p>
                      <a:pPr>
                        <a:buNone/>
                      </a:pPr>
                      <a:r>
                        <a:rPr lang="tr-TR" sz="1300" noProof="0" dirty="0"/>
                        <a:t>API (Application Programming </a:t>
                      </a:r>
                      <a:r>
                        <a:rPr lang="tr-TR" sz="1300" noProof="0" dirty="0" err="1"/>
                        <a:t>Interface</a:t>
                      </a:r>
                      <a:r>
                        <a:rPr lang="tr-TR" sz="1300" noProof="0" dirty="0"/>
                        <a:t>)</a:t>
                      </a:r>
                    </a:p>
                  </a:txBody>
                  <a:tcPr anchor="ctr"/>
                </a:tc>
                <a:extLst>
                  <a:ext uri="{0D108BD9-81ED-4DB2-BD59-A6C34878D82A}">
                    <a16:rowId xmlns:a16="http://schemas.microsoft.com/office/drawing/2014/main" val="415254505"/>
                  </a:ext>
                </a:extLst>
              </a:tr>
              <a:tr h="370840">
                <a:tc>
                  <a:txBody>
                    <a:bodyPr/>
                    <a:lstStyle/>
                    <a:p>
                      <a:pPr>
                        <a:buNone/>
                      </a:pPr>
                      <a:r>
                        <a:rPr lang="tr-TR" sz="1300" noProof="0" dirty="0"/>
                        <a:t>Manuel Toplama</a:t>
                      </a:r>
                    </a:p>
                  </a:txBody>
                  <a:tcPr anchor="ctr"/>
                </a:tc>
                <a:tc>
                  <a:txBody>
                    <a:bodyPr/>
                    <a:lstStyle/>
                    <a:p>
                      <a:pPr>
                        <a:buNone/>
                      </a:pPr>
                      <a:r>
                        <a:rPr lang="tr-TR" sz="1300" noProof="0" dirty="0"/>
                        <a:t>Manual Data Collection</a:t>
                      </a:r>
                    </a:p>
                  </a:txBody>
                  <a:tcPr anchor="ctr"/>
                </a:tc>
                <a:extLst>
                  <a:ext uri="{0D108BD9-81ED-4DB2-BD59-A6C34878D82A}">
                    <a16:rowId xmlns:a16="http://schemas.microsoft.com/office/drawing/2014/main" val="1140453125"/>
                  </a:ext>
                </a:extLst>
              </a:tr>
            </a:tbl>
          </a:graphicData>
        </a:graphic>
      </p:graphicFrame>
      <p:sp>
        <p:nvSpPr>
          <p:cNvPr id="9" name="TextBox 8">
            <a:extLst>
              <a:ext uri="{FF2B5EF4-FFF2-40B4-BE49-F238E27FC236}">
                <a16:creationId xmlns:a16="http://schemas.microsoft.com/office/drawing/2014/main" id="{3F38BACB-7CEE-9CD0-FB57-7D44F52B7891}"/>
              </a:ext>
            </a:extLst>
          </p:cNvPr>
          <p:cNvSpPr txBox="1"/>
          <p:nvPr/>
        </p:nvSpPr>
        <p:spPr>
          <a:xfrm>
            <a:off x="7911683" y="4037624"/>
            <a:ext cx="3836180" cy="323165"/>
          </a:xfrm>
          <a:prstGeom prst="rect">
            <a:avLst/>
          </a:prstGeom>
          <a:noFill/>
        </p:spPr>
        <p:txBody>
          <a:bodyPr wrap="square">
            <a:spAutoFit/>
          </a:bodyPr>
          <a:lstStyle/>
          <a:p>
            <a:pPr algn="ctr"/>
            <a:r>
              <a:rPr lang="tr-TR" sz="1500" noProof="0" dirty="0"/>
              <a:t>Veri Toplama Terimleri</a:t>
            </a:r>
          </a:p>
        </p:txBody>
      </p:sp>
      <p:sp>
        <p:nvSpPr>
          <p:cNvPr id="14" name="TextBox 13">
            <a:extLst>
              <a:ext uri="{FF2B5EF4-FFF2-40B4-BE49-F238E27FC236}">
                <a16:creationId xmlns:a16="http://schemas.microsoft.com/office/drawing/2014/main" id="{9B446B45-8CA1-071E-2C8C-5AB94AB729B2}"/>
              </a:ext>
            </a:extLst>
          </p:cNvPr>
          <p:cNvSpPr txBox="1"/>
          <p:nvPr/>
        </p:nvSpPr>
        <p:spPr>
          <a:xfrm>
            <a:off x="7881647" y="6122856"/>
            <a:ext cx="4082337" cy="261610"/>
          </a:xfrm>
          <a:prstGeom prst="rect">
            <a:avLst/>
          </a:prstGeom>
          <a:noFill/>
        </p:spPr>
        <p:txBody>
          <a:bodyPr wrap="square">
            <a:spAutoFit/>
          </a:bodyPr>
          <a:lstStyle/>
          <a:p>
            <a:pPr>
              <a:buNone/>
            </a:pPr>
            <a:r>
              <a:rPr lang="tr-TR" sz="1100" noProof="0" dirty="0"/>
              <a:t>Temel veri toplama yöntemlerinin Türkçe–İngilizce karşılıkları.</a:t>
            </a:r>
          </a:p>
        </p:txBody>
      </p:sp>
    </p:spTree>
    <p:extLst>
      <p:ext uri="{BB962C8B-B14F-4D97-AF65-F5344CB8AC3E}">
        <p14:creationId xmlns:p14="http://schemas.microsoft.com/office/powerpoint/2010/main" val="2134310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5AD5B9-5020-E51D-CE5C-45D3E2A9C9AA}"/>
              </a:ext>
            </a:extLst>
          </p:cNvPr>
          <p:cNvPicPr>
            <a:picLocks noChangeAspect="1"/>
          </p:cNvPicPr>
          <p:nvPr/>
        </p:nvPicPr>
        <p:blipFill>
          <a:blip r:embed="rId2"/>
          <a:stretch>
            <a:fillRect/>
          </a:stretch>
        </p:blipFill>
        <p:spPr>
          <a:xfrm>
            <a:off x="6185473" y="55658"/>
            <a:ext cx="5292344" cy="2275281"/>
          </a:xfrm>
          <a:prstGeom prst="rect">
            <a:avLst/>
          </a:prstGeom>
        </p:spPr>
      </p:pic>
      <p:pic>
        <p:nvPicPr>
          <p:cNvPr id="7" name="Picture 6">
            <a:extLst>
              <a:ext uri="{FF2B5EF4-FFF2-40B4-BE49-F238E27FC236}">
                <a16:creationId xmlns:a16="http://schemas.microsoft.com/office/drawing/2014/main" id="{DE8AD053-A720-8051-3C24-FDDC43F53602}"/>
              </a:ext>
            </a:extLst>
          </p:cNvPr>
          <p:cNvPicPr>
            <a:picLocks noChangeAspect="1"/>
          </p:cNvPicPr>
          <p:nvPr/>
        </p:nvPicPr>
        <p:blipFill>
          <a:blip r:embed="rId2"/>
          <a:srcRect r="12737" b="27626"/>
          <a:stretch>
            <a:fillRect/>
          </a:stretch>
        </p:blipFill>
        <p:spPr>
          <a:xfrm>
            <a:off x="796124" y="55658"/>
            <a:ext cx="10005225" cy="1763577"/>
          </a:xfrm>
          <a:prstGeom prst="rect">
            <a:avLst/>
          </a:prstGeom>
        </p:spPr>
      </p:pic>
      <p:sp>
        <p:nvSpPr>
          <p:cNvPr id="9" name="TextBox 8">
            <a:extLst>
              <a:ext uri="{FF2B5EF4-FFF2-40B4-BE49-F238E27FC236}">
                <a16:creationId xmlns:a16="http://schemas.microsoft.com/office/drawing/2014/main" id="{6C785074-01BE-6AEC-9E5E-8617BB4E02F3}"/>
              </a:ext>
            </a:extLst>
          </p:cNvPr>
          <p:cNvSpPr txBox="1"/>
          <p:nvPr/>
        </p:nvSpPr>
        <p:spPr>
          <a:xfrm>
            <a:off x="844627" y="1846829"/>
            <a:ext cx="5292344" cy="567912"/>
          </a:xfrm>
          <a:prstGeom prst="rect">
            <a:avLst/>
          </a:prstGeom>
          <a:noFill/>
        </p:spPr>
        <p:txBody>
          <a:bodyPr wrap="square">
            <a:spAutoFit/>
          </a:bodyPr>
          <a:lstStyle/>
          <a:p>
            <a:pPr>
              <a:lnSpc>
                <a:spcPct val="125000"/>
              </a:lnSpc>
            </a:pPr>
            <a:r>
              <a:rPr lang="tr-TR" sz="1300" b="1" dirty="0"/>
              <a:t>  </a:t>
            </a:r>
            <a:r>
              <a:rPr lang="tr-TR" sz="1300" noProof="0" dirty="0"/>
              <a:t>Ham veri, doğrudan analiz için uygun değildir; düzensiz, gürültülü ve belirsiz bir yapıya sahiptir.</a:t>
            </a:r>
            <a:endParaRPr lang="tr-TR" sz="1300" dirty="0"/>
          </a:p>
        </p:txBody>
      </p:sp>
      <p:sp>
        <p:nvSpPr>
          <p:cNvPr id="11" name="TextBox 10">
            <a:extLst>
              <a:ext uri="{FF2B5EF4-FFF2-40B4-BE49-F238E27FC236}">
                <a16:creationId xmlns:a16="http://schemas.microsoft.com/office/drawing/2014/main" id="{849ED6FD-5A1D-F969-7D9D-9647DDB905FC}"/>
              </a:ext>
            </a:extLst>
          </p:cNvPr>
          <p:cNvSpPr txBox="1"/>
          <p:nvPr/>
        </p:nvSpPr>
        <p:spPr>
          <a:xfrm>
            <a:off x="882003" y="2468406"/>
            <a:ext cx="3115515" cy="1568186"/>
          </a:xfrm>
          <a:prstGeom prst="rect">
            <a:avLst/>
          </a:prstGeom>
          <a:noFill/>
        </p:spPr>
        <p:txBody>
          <a:bodyPr wrap="square">
            <a:spAutoFit/>
          </a:bodyPr>
          <a:lstStyle/>
          <a:p>
            <a:pPr>
              <a:lnSpc>
                <a:spcPct val="125000"/>
              </a:lnSpc>
              <a:buNone/>
            </a:pPr>
            <a:r>
              <a:rPr lang="tr-TR" sz="1300" b="1" noProof="0" dirty="0"/>
              <a:t>Gürültülü Yapı</a:t>
            </a:r>
          </a:p>
          <a:p>
            <a:pPr>
              <a:lnSpc>
                <a:spcPct val="125000"/>
              </a:lnSpc>
              <a:buNone/>
            </a:pPr>
            <a:r>
              <a:rPr lang="tr-TR" sz="1300" noProof="0" dirty="0"/>
              <a:t>  Emoji, URL, kullanıcı etiketleri, tekrar eden ifadeler ve reklam metinleri gibi öğeler içerir.</a:t>
            </a:r>
            <a:br>
              <a:rPr lang="tr-TR" sz="1300" noProof="0" dirty="0"/>
            </a:br>
            <a:r>
              <a:rPr lang="tr-TR" sz="1300" noProof="0" dirty="0"/>
              <a:t>  ➡️ Bu gürültü, metnin gerçek anlamının ortaya çıkmasını engeller.</a:t>
            </a:r>
          </a:p>
        </p:txBody>
      </p:sp>
      <p:sp>
        <p:nvSpPr>
          <p:cNvPr id="13" name="TextBox 12">
            <a:extLst>
              <a:ext uri="{FF2B5EF4-FFF2-40B4-BE49-F238E27FC236}">
                <a16:creationId xmlns:a16="http://schemas.microsoft.com/office/drawing/2014/main" id="{A2ED5480-8D7C-D7E7-16C4-F5F95718385D}"/>
              </a:ext>
            </a:extLst>
          </p:cNvPr>
          <p:cNvSpPr txBox="1"/>
          <p:nvPr/>
        </p:nvSpPr>
        <p:spPr>
          <a:xfrm>
            <a:off x="4033779" y="4138650"/>
            <a:ext cx="2893860" cy="1568186"/>
          </a:xfrm>
          <a:prstGeom prst="rect">
            <a:avLst/>
          </a:prstGeom>
          <a:noFill/>
        </p:spPr>
        <p:txBody>
          <a:bodyPr wrap="square">
            <a:spAutoFit/>
          </a:bodyPr>
          <a:lstStyle/>
          <a:p>
            <a:pPr>
              <a:lnSpc>
                <a:spcPct val="125000"/>
              </a:lnSpc>
              <a:buNone/>
            </a:pPr>
            <a:r>
              <a:rPr lang="tr-TR" sz="1300" b="1" noProof="0" dirty="0"/>
              <a:t>Dilsel Karmaşıklık</a:t>
            </a:r>
          </a:p>
          <a:p>
            <a:pPr>
              <a:lnSpc>
                <a:spcPct val="125000"/>
              </a:lnSpc>
              <a:buNone/>
            </a:pPr>
            <a:r>
              <a:rPr lang="tr-TR" sz="1300" noProof="0" dirty="0"/>
              <a:t>  Argo ifadeler, yazım hataları, kısaltmalar (</a:t>
            </a:r>
            <a:r>
              <a:rPr lang="tr-TR" sz="1300" noProof="0" dirty="0" err="1"/>
              <a:t>slm</a:t>
            </a:r>
            <a:r>
              <a:rPr lang="tr-TR" sz="1300" noProof="0" dirty="0"/>
              <a:t>, </a:t>
            </a:r>
            <a:r>
              <a:rPr lang="tr-TR" sz="1300" noProof="0" dirty="0" err="1"/>
              <a:t>mrb</a:t>
            </a:r>
            <a:r>
              <a:rPr lang="tr-TR" sz="1300" noProof="0" dirty="0"/>
              <a:t>) ve çok anlamlı kelimeler içerir.</a:t>
            </a:r>
            <a:br>
              <a:rPr lang="tr-TR" sz="1300" noProof="0" dirty="0"/>
            </a:br>
            <a:r>
              <a:rPr lang="tr-TR" sz="1300" noProof="0" dirty="0"/>
              <a:t>  ➡️ Analizin doğru yapılmasını zorlaştırır.</a:t>
            </a:r>
          </a:p>
        </p:txBody>
      </p:sp>
      <p:sp>
        <p:nvSpPr>
          <p:cNvPr id="15" name="TextBox 14">
            <a:extLst>
              <a:ext uri="{FF2B5EF4-FFF2-40B4-BE49-F238E27FC236}">
                <a16:creationId xmlns:a16="http://schemas.microsoft.com/office/drawing/2014/main" id="{263582A0-D0E7-17A3-5802-C26C0D46F5CC}"/>
              </a:ext>
            </a:extLst>
          </p:cNvPr>
          <p:cNvSpPr txBox="1"/>
          <p:nvPr/>
        </p:nvSpPr>
        <p:spPr>
          <a:xfrm>
            <a:off x="796124" y="4138650"/>
            <a:ext cx="3201394" cy="1568186"/>
          </a:xfrm>
          <a:prstGeom prst="rect">
            <a:avLst/>
          </a:prstGeom>
          <a:noFill/>
        </p:spPr>
        <p:txBody>
          <a:bodyPr wrap="square">
            <a:spAutoFit/>
          </a:bodyPr>
          <a:lstStyle/>
          <a:p>
            <a:pPr>
              <a:lnSpc>
                <a:spcPct val="125000"/>
              </a:lnSpc>
              <a:buNone/>
            </a:pPr>
            <a:r>
              <a:rPr lang="tr-TR" sz="1300" b="1" noProof="0" dirty="0"/>
              <a:t>Standartsız Format</a:t>
            </a:r>
          </a:p>
          <a:p>
            <a:pPr>
              <a:lnSpc>
                <a:spcPct val="125000"/>
              </a:lnSpc>
              <a:buNone/>
            </a:pPr>
            <a:r>
              <a:rPr lang="tr-TR" sz="1300" noProof="0" dirty="0"/>
              <a:t>  Düzensiz cümle yapıları, paragraf eksikliği, yanlış noktalama ve karışık içerikler bulunur.</a:t>
            </a:r>
            <a:br>
              <a:rPr lang="tr-TR" sz="1300" noProof="0" dirty="0"/>
            </a:br>
            <a:r>
              <a:rPr lang="tr-TR" sz="1300" noProof="0" dirty="0"/>
              <a:t>  ➡️ Metnin doğru şekilde parçalanmasını (</a:t>
            </a:r>
            <a:r>
              <a:rPr lang="tr-TR" sz="1300" noProof="0" dirty="0" err="1"/>
              <a:t>tokenizasyon</a:t>
            </a:r>
            <a:r>
              <a:rPr lang="tr-TR" sz="1300" noProof="0" dirty="0"/>
              <a:t>) engeller.</a:t>
            </a:r>
          </a:p>
        </p:txBody>
      </p:sp>
      <p:sp>
        <p:nvSpPr>
          <p:cNvPr id="17" name="TextBox 16">
            <a:extLst>
              <a:ext uri="{FF2B5EF4-FFF2-40B4-BE49-F238E27FC236}">
                <a16:creationId xmlns:a16="http://schemas.microsoft.com/office/drawing/2014/main" id="{92B382B2-A0EC-AD65-AD79-6F561A79904F}"/>
              </a:ext>
            </a:extLst>
          </p:cNvPr>
          <p:cNvSpPr txBox="1"/>
          <p:nvPr/>
        </p:nvSpPr>
        <p:spPr>
          <a:xfrm>
            <a:off x="4041407" y="2506141"/>
            <a:ext cx="3058367" cy="1523494"/>
          </a:xfrm>
          <a:prstGeom prst="rect">
            <a:avLst/>
          </a:prstGeom>
          <a:noFill/>
        </p:spPr>
        <p:txBody>
          <a:bodyPr wrap="square">
            <a:spAutoFit/>
          </a:bodyPr>
          <a:lstStyle/>
          <a:p>
            <a:r>
              <a:rPr lang="tr-TR" sz="1300" b="1" noProof="0" dirty="0"/>
              <a:t>Platform Kaynaklı Tutarsızlıklar</a:t>
            </a:r>
          </a:p>
          <a:p>
            <a:r>
              <a:rPr lang="tr-TR" sz="1300" noProof="0" dirty="0"/>
              <a:t>  Twitter, Instagram, e-ticaret yorumları ve haber metinleri birbirinden farklı dil yapıları, uzunlukları ve ifade biçimlerine sahiptir.</a:t>
            </a:r>
            <a:br>
              <a:rPr lang="tr-TR" sz="1300" noProof="0" dirty="0"/>
            </a:br>
            <a:r>
              <a:rPr lang="tr-TR" sz="1300" noProof="0" dirty="0"/>
              <a:t>  ➡️ Bu nedenle </a:t>
            </a:r>
            <a:r>
              <a:rPr lang="tr-TR" sz="1300" dirty="0"/>
              <a:t>analizden önce ortak bir formata getirilmelidir</a:t>
            </a:r>
            <a:r>
              <a:rPr lang="tr-TR" sz="1300" noProof="0" dirty="0"/>
              <a:t>.</a:t>
            </a:r>
          </a:p>
        </p:txBody>
      </p:sp>
      <p:sp>
        <p:nvSpPr>
          <p:cNvPr id="19" name="TextBox 18">
            <a:extLst>
              <a:ext uri="{FF2B5EF4-FFF2-40B4-BE49-F238E27FC236}">
                <a16:creationId xmlns:a16="http://schemas.microsoft.com/office/drawing/2014/main" id="{26D9B015-DE50-8B7E-9C89-42037BDDFBBB}"/>
              </a:ext>
            </a:extLst>
          </p:cNvPr>
          <p:cNvSpPr txBox="1"/>
          <p:nvPr/>
        </p:nvSpPr>
        <p:spPr>
          <a:xfrm>
            <a:off x="7357590" y="2474499"/>
            <a:ext cx="3904433" cy="1068049"/>
          </a:xfrm>
          <a:prstGeom prst="rect">
            <a:avLst/>
          </a:prstGeom>
          <a:noFill/>
        </p:spPr>
        <p:txBody>
          <a:bodyPr wrap="square">
            <a:spAutoFit/>
          </a:bodyPr>
          <a:lstStyle/>
          <a:p>
            <a:pPr>
              <a:lnSpc>
                <a:spcPct val="125000"/>
              </a:lnSpc>
              <a:buNone/>
            </a:pPr>
            <a:r>
              <a:rPr lang="tr-TR" sz="1300" dirty="0"/>
              <a:t>Ham veri </a:t>
            </a:r>
            <a:r>
              <a:rPr lang="tr-TR" sz="1300" dirty="0" err="1"/>
              <a:t>Matrix</a:t>
            </a:r>
            <a:r>
              <a:rPr lang="tr-TR" sz="1300" dirty="0"/>
              <a:t> görünümüne benzer: dağınık, okunması zor ve anlamı gizli bir yapıdadır.</a:t>
            </a:r>
          </a:p>
          <a:p>
            <a:pPr>
              <a:lnSpc>
                <a:spcPct val="125000"/>
              </a:lnSpc>
              <a:buNone/>
            </a:pPr>
            <a:r>
              <a:rPr lang="tr-TR" sz="1300" noProof="0" dirty="0"/>
              <a:t>  ➡️ Temizlenmeden, dönüştürülmeden ve yapılandırılmadan analiz edilemez.</a:t>
            </a:r>
          </a:p>
        </p:txBody>
      </p:sp>
      <p:graphicFrame>
        <p:nvGraphicFramePr>
          <p:cNvPr id="21" name="Table 20">
            <a:extLst>
              <a:ext uri="{FF2B5EF4-FFF2-40B4-BE49-F238E27FC236}">
                <a16:creationId xmlns:a16="http://schemas.microsoft.com/office/drawing/2014/main" id="{D2067769-42A7-B5DA-CE67-BA0B559EC878}"/>
              </a:ext>
            </a:extLst>
          </p:cNvPr>
          <p:cNvGraphicFramePr>
            <a:graphicFrameLocks noGrp="1"/>
          </p:cNvGraphicFramePr>
          <p:nvPr>
            <p:extLst>
              <p:ext uri="{D42A27DB-BD31-4B8C-83A1-F6EECF244321}">
                <p14:modId xmlns:p14="http://schemas.microsoft.com/office/powerpoint/2010/main" val="2569905822"/>
              </p:ext>
            </p:extLst>
          </p:nvPr>
        </p:nvGraphicFramePr>
        <p:xfrm>
          <a:off x="7297452" y="3865713"/>
          <a:ext cx="3969330" cy="1662185"/>
        </p:xfrm>
        <a:graphic>
          <a:graphicData uri="http://schemas.openxmlformats.org/drawingml/2006/table">
            <a:tbl>
              <a:tblPr firstRow="1" bandRow="1">
                <a:tableStyleId>{5C22544A-7EE6-4342-B048-85BDC9FD1C3A}</a:tableStyleId>
              </a:tblPr>
              <a:tblGrid>
                <a:gridCol w="1984665">
                  <a:extLst>
                    <a:ext uri="{9D8B030D-6E8A-4147-A177-3AD203B41FA5}">
                      <a16:colId xmlns:a16="http://schemas.microsoft.com/office/drawing/2014/main" val="3779765454"/>
                    </a:ext>
                  </a:extLst>
                </a:gridCol>
                <a:gridCol w="1984665">
                  <a:extLst>
                    <a:ext uri="{9D8B030D-6E8A-4147-A177-3AD203B41FA5}">
                      <a16:colId xmlns:a16="http://schemas.microsoft.com/office/drawing/2014/main" val="1046514330"/>
                    </a:ext>
                  </a:extLst>
                </a:gridCol>
              </a:tblGrid>
              <a:tr h="332437">
                <a:tc>
                  <a:txBody>
                    <a:bodyPr/>
                    <a:lstStyle/>
                    <a:p>
                      <a:pPr>
                        <a:buNone/>
                      </a:pPr>
                      <a:r>
                        <a:rPr lang="tr-TR" sz="1300" noProof="0" dirty="0"/>
                        <a:t>Türkçe Terim</a:t>
                      </a:r>
                    </a:p>
                  </a:txBody>
                  <a:tcPr anchor="ctr"/>
                </a:tc>
                <a:tc>
                  <a:txBody>
                    <a:bodyPr/>
                    <a:lstStyle/>
                    <a:p>
                      <a:pPr>
                        <a:buNone/>
                      </a:pPr>
                      <a:r>
                        <a:rPr lang="en-US" sz="1300"/>
                        <a:t>İngilizce Terim</a:t>
                      </a:r>
                    </a:p>
                  </a:txBody>
                  <a:tcPr anchor="ctr"/>
                </a:tc>
                <a:extLst>
                  <a:ext uri="{0D108BD9-81ED-4DB2-BD59-A6C34878D82A}">
                    <a16:rowId xmlns:a16="http://schemas.microsoft.com/office/drawing/2014/main" val="1958686153"/>
                  </a:ext>
                </a:extLst>
              </a:tr>
              <a:tr h="332437">
                <a:tc>
                  <a:txBody>
                    <a:bodyPr/>
                    <a:lstStyle/>
                    <a:p>
                      <a:pPr>
                        <a:buNone/>
                      </a:pPr>
                      <a:r>
                        <a:rPr lang="en-US" sz="1300"/>
                        <a:t>Gürültülü Veri</a:t>
                      </a:r>
                    </a:p>
                  </a:txBody>
                  <a:tcPr anchor="ctr"/>
                </a:tc>
                <a:tc>
                  <a:txBody>
                    <a:bodyPr/>
                    <a:lstStyle/>
                    <a:p>
                      <a:pPr>
                        <a:buNone/>
                      </a:pPr>
                      <a:r>
                        <a:rPr lang="en-US" sz="1300"/>
                        <a:t>Noisy Data</a:t>
                      </a:r>
                    </a:p>
                  </a:txBody>
                  <a:tcPr anchor="ctr"/>
                </a:tc>
                <a:extLst>
                  <a:ext uri="{0D108BD9-81ED-4DB2-BD59-A6C34878D82A}">
                    <a16:rowId xmlns:a16="http://schemas.microsoft.com/office/drawing/2014/main" val="3004309240"/>
                  </a:ext>
                </a:extLst>
              </a:tr>
              <a:tr h="332437">
                <a:tc>
                  <a:txBody>
                    <a:bodyPr/>
                    <a:lstStyle/>
                    <a:p>
                      <a:pPr>
                        <a:buNone/>
                      </a:pPr>
                      <a:r>
                        <a:rPr lang="en-US" sz="1300"/>
                        <a:t>Dilsel Karmaşıklık</a:t>
                      </a:r>
                    </a:p>
                  </a:txBody>
                  <a:tcPr anchor="ctr"/>
                </a:tc>
                <a:tc>
                  <a:txBody>
                    <a:bodyPr/>
                    <a:lstStyle/>
                    <a:p>
                      <a:pPr>
                        <a:buNone/>
                      </a:pPr>
                      <a:r>
                        <a:rPr lang="en-US" sz="1300"/>
                        <a:t>Linguistic Complexity</a:t>
                      </a:r>
                    </a:p>
                  </a:txBody>
                  <a:tcPr anchor="ctr"/>
                </a:tc>
                <a:extLst>
                  <a:ext uri="{0D108BD9-81ED-4DB2-BD59-A6C34878D82A}">
                    <a16:rowId xmlns:a16="http://schemas.microsoft.com/office/drawing/2014/main" val="754686322"/>
                  </a:ext>
                </a:extLst>
              </a:tr>
              <a:tr h="332437">
                <a:tc>
                  <a:txBody>
                    <a:bodyPr/>
                    <a:lstStyle/>
                    <a:p>
                      <a:pPr>
                        <a:buNone/>
                      </a:pPr>
                      <a:r>
                        <a:rPr lang="en-US" sz="1300"/>
                        <a:t>Standartsız Format</a:t>
                      </a:r>
                    </a:p>
                  </a:txBody>
                  <a:tcPr anchor="ctr"/>
                </a:tc>
                <a:tc>
                  <a:txBody>
                    <a:bodyPr/>
                    <a:lstStyle/>
                    <a:p>
                      <a:pPr>
                        <a:buNone/>
                      </a:pPr>
                      <a:r>
                        <a:rPr lang="en-US" sz="1300"/>
                        <a:t>Unstructured Format</a:t>
                      </a:r>
                    </a:p>
                  </a:txBody>
                  <a:tcPr anchor="ctr"/>
                </a:tc>
                <a:extLst>
                  <a:ext uri="{0D108BD9-81ED-4DB2-BD59-A6C34878D82A}">
                    <a16:rowId xmlns:a16="http://schemas.microsoft.com/office/drawing/2014/main" val="2710273137"/>
                  </a:ext>
                </a:extLst>
              </a:tr>
              <a:tr h="332437">
                <a:tc>
                  <a:txBody>
                    <a:bodyPr/>
                    <a:lstStyle/>
                    <a:p>
                      <a:pPr>
                        <a:buNone/>
                      </a:pPr>
                      <a:r>
                        <a:rPr lang="en-US" sz="1300"/>
                        <a:t>Tutarsız Veri</a:t>
                      </a:r>
                    </a:p>
                  </a:txBody>
                  <a:tcPr anchor="ctr"/>
                </a:tc>
                <a:tc>
                  <a:txBody>
                    <a:bodyPr/>
                    <a:lstStyle/>
                    <a:p>
                      <a:pPr>
                        <a:buNone/>
                      </a:pPr>
                      <a:r>
                        <a:rPr lang="en-US" sz="1300" dirty="0"/>
                        <a:t>Inconsistent Data</a:t>
                      </a:r>
                    </a:p>
                  </a:txBody>
                  <a:tcPr anchor="ctr"/>
                </a:tc>
                <a:extLst>
                  <a:ext uri="{0D108BD9-81ED-4DB2-BD59-A6C34878D82A}">
                    <a16:rowId xmlns:a16="http://schemas.microsoft.com/office/drawing/2014/main" val="1496478409"/>
                  </a:ext>
                </a:extLst>
              </a:tr>
            </a:tbl>
          </a:graphicData>
        </a:graphic>
      </p:graphicFrame>
      <p:sp>
        <p:nvSpPr>
          <p:cNvPr id="23" name="TextBox 22">
            <a:extLst>
              <a:ext uri="{FF2B5EF4-FFF2-40B4-BE49-F238E27FC236}">
                <a16:creationId xmlns:a16="http://schemas.microsoft.com/office/drawing/2014/main" id="{9C014D56-0A18-A591-E9AC-575BCB3E35F7}"/>
              </a:ext>
            </a:extLst>
          </p:cNvPr>
          <p:cNvSpPr txBox="1"/>
          <p:nvPr/>
        </p:nvSpPr>
        <p:spPr>
          <a:xfrm>
            <a:off x="7254216" y="3542548"/>
            <a:ext cx="3904433" cy="323165"/>
          </a:xfrm>
          <a:prstGeom prst="rect">
            <a:avLst/>
          </a:prstGeom>
          <a:noFill/>
        </p:spPr>
        <p:txBody>
          <a:bodyPr wrap="square">
            <a:spAutoFit/>
          </a:bodyPr>
          <a:lstStyle/>
          <a:p>
            <a:pPr algn="ctr"/>
            <a:r>
              <a:rPr lang="tr-TR" sz="1500" noProof="0" dirty="0"/>
              <a:t>Ham Metin Sorun Terimleri</a:t>
            </a:r>
          </a:p>
        </p:txBody>
      </p:sp>
      <p:sp>
        <p:nvSpPr>
          <p:cNvPr id="25" name="TextBox 24">
            <a:extLst>
              <a:ext uri="{FF2B5EF4-FFF2-40B4-BE49-F238E27FC236}">
                <a16:creationId xmlns:a16="http://schemas.microsoft.com/office/drawing/2014/main" id="{FD48F099-B6B7-5E9D-6094-E76437D019F5}"/>
              </a:ext>
            </a:extLst>
          </p:cNvPr>
          <p:cNvSpPr txBox="1"/>
          <p:nvPr/>
        </p:nvSpPr>
        <p:spPr>
          <a:xfrm>
            <a:off x="7297452" y="5537926"/>
            <a:ext cx="3969330" cy="261610"/>
          </a:xfrm>
          <a:prstGeom prst="rect">
            <a:avLst/>
          </a:prstGeom>
          <a:noFill/>
        </p:spPr>
        <p:txBody>
          <a:bodyPr wrap="square">
            <a:spAutoFit/>
          </a:bodyPr>
          <a:lstStyle/>
          <a:p>
            <a:pPr algn="ctr"/>
            <a:r>
              <a:rPr lang="tr-TR" sz="1100" noProof="0" dirty="0"/>
              <a:t>Terimlerin Türkçe–İngilizce Karşılıkları</a:t>
            </a:r>
          </a:p>
        </p:txBody>
      </p:sp>
      <p:sp>
        <p:nvSpPr>
          <p:cNvPr id="4" name="TextBox 3">
            <a:extLst>
              <a:ext uri="{FF2B5EF4-FFF2-40B4-BE49-F238E27FC236}">
                <a16:creationId xmlns:a16="http://schemas.microsoft.com/office/drawing/2014/main" id="{992682D7-69BD-751E-922D-BDAABD90D46F}"/>
              </a:ext>
            </a:extLst>
          </p:cNvPr>
          <p:cNvSpPr txBox="1"/>
          <p:nvPr/>
        </p:nvSpPr>
        <p:spPr>
          <a:xfrm>
            <a:off x="0" y="821622"/>
            <a:ext cx="12192000" cy="523220"/>
          </a:xfrm>
          <a:prstGeom prst="rect">
            <a:avLst/>
          </a:prstGeom>
          <a:noFill/>
        </p:spPr>
        <p:txBody>
          <a:bodyPr wrap="square">
            <a:spAutoFit/>
          </a:bodyPr>
          <a:lstStyle/>
          <a:p>
            <a:pPr algn="ctr"/>
            <a:r>
              <a:rPr lang="tr-TR" sz="2800" noProof="0" dirty="0">
                <a:solidFill>
                  <a:schemeClr val="accent3">
                    <a:lumMod val="40000"/>
                    <a:lumOff val="60000"/>
                  </a:schemeClr>
                </a:solidFill>
              </a:rPr>
              <a:t>Ham Metnin Zorlukları</a:t>
            </a:r>
          </a:p>
        </p:txBody>
      </p:sp>
    </p:spTree>
    <p:extLst>
      <p:ext uri="{BB962C8B-B14F-4D97-AF65-F5344CB8AC3E}">
        <p14:creationId xmlns:p14="http://schemas.microsoft.com/office/powerpoint/2010/main" val="1867485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FF48D-F4EF-8602-CA81-0E5800AADAD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08421D7-417F-737E-A2A3-F6BC38333C89}"/>
              </a:ext>
            </a:extLst>
          </p:cNvPr>
          <p:cNvSpPr txBox="1"/>
          <p:nvPr/>
        </p:nvSpPr>
        <p:spPr>
          <a:xfrm>
            <a:off x="0" y="643169"/>
            <a:ext cx="12192000" cy="523220"/>
          </a:xfrm>
          <a:prstGeom prst="rect">
            <a:avLst/>
          </a:prstGeom>
          <a:noFill/>
        </p:spPr>
        <p:txBody>
          <a:bodyPr wrap="square">
            <a:spAutoFit/>
          </a:bodyPr>
          <a:lstStyle/>
          <a:p>
            <a:pPr algn="ctr">
              <a:buNone/>
            </a:pPr>
            <a:r>
              <a:rPr lang="tr-TR" sz="2800" noProof="0" dirty="0"/>
              <a:t>Metin Ön İşleme (</a:t>
            </a:r>
            <a:r>
              <a:rPr lang="tr-TR" sz="2800" noProof="0" dirty="0" err="1"/>
              <a:t>Preprocessing</a:t>
            </a:r>
            <a:r>
              <a:rPr lang="tr-TR" sz="2800" noProof="0" dirty="0"/>
              <a:t>) Nedir?</a:t>
            </a:r>
          </a:p>
        </p:txBody>
      </p:sp>
      <p:sp>
        <p:nvSpPr>
          <p:cNvPr id="5" name="TextBox 4">
            <a:extLst>
              <a:ext uri="{FF2B5EF4-FFF2-40B4-BE49-F238E27FC236}">
                <a16:creationId xmlns:a16="http://schemas.microsoft.com/office/drawing/2014/main" id="{5E2C0AE1-5AE0-5ACE-B827-2121B4B4B10A}"/>
              </a:ext>
            </a:extLst>
          </p:cNvPr>
          <p:cNvSpPr txBox="1"/>
          <p:nvPr/>
        </p:nvSpPr>
        <p:spPr>
          <a:xfrm>
            <a:off x="888762" y="1095197"/>
            <a:ext cx="10425869" cy="567912"/>
          </a:xfrm>
          <a:prstGeom prst="rect">
            <a:avLst/>
          </a:prstGeom>
          <a:noFill/>
        </p:spPr>
        <p:txBody>
          <a:bodyPr wrap="square">
            <a:spAutoFit/>
          </a:bodyPr>
          <a:lstStyle/>
          <a:p>
            <a:pPr>
              <a:lnSpc>
                <a:spcPct val="125000"/>
              </a:lnSpc>
              <a:buNone/>
            </a:pPr>
            <a:r>
              <a:rPr lang="tr-TR" sz="1300" dirty="0"/>
              <a:t>   Ön işleme, ham metni temizleyip dönüştürerek analiz için uygun bir yapıya kavuşturan hazırlık sürecidir. Bu aşamada gürültü azaltılır, format düzenlenir ve metin model eğitimine hazır hale gelir.</a:t>
            </a:r>
            <a:endParaRPr lang="tr-TR" sz="1300" noProof="0" dirty="0"/>
          </a:p>
        </p:txBody>
      </p:sp>
      <p:sp>
        <p:nvSpPr>
          <p:cNvPr id="7" name="TextBox 6">
            <a:extLst>
              <a:ext uri="{FF2B5EF4-FFF2-40B4-BE49-F238E27FC236}">
                <a16:creationId xmlns:a16="http://schemas.microsoft.com/office/drawing/2014/main" id="{6A6226A2-0291-4A5F-EF21-517EDA7C7824}"/>
              </a:ext>
            </a:extLst>
          </p:cNvPr>
          <p:cNvSpPr txBox="1"/>
          <p:nvPr/>
        </p:nvSpPr>
        <p:spPr>
          <a:xfrm>
            <a:off x="5122838" y="6094189"/>
            <a:ext cx="6625817" cy="567912"/>
          </a:xfrm>
          <a:prstGeom prst="rect">
            <a:avLst/>
          </a:prstGeom>
          <a:noFill/>
        </p:spPr>
        <p:txBody>
          <a:bodyPr wrap="square">
            <a:spAutoFit/>
          </a:bodyPr>
          <a:lstStyle/>
          <a:p>
            <a:pPr>
              <a:lnSpc>
                <a:spcPct val="125000"/>
              </a:lnSpc>
            </a:pPr>
            <a:r>
              <a:rPr lang="tr-TR" sz="1300" noProof="0" dirty="0"/>
              <a:t>Bu işlem hattı, ham metnin modellenebilir hâle gelmesi için gereken tüm aşamaları göstermektedir.</a:t>
            </a:r>
          </a:p>
        </p:txBody>
      </p:sp>
      <p:graphicFrame>
        <p:nvGraphicFramePr>
          <p:cNvPr id="8" name="Table 7">
            <a:extLst>
              <a:ext uri="{FF2B5EF4-FFF2-40B4-BE49-F238E27FC236}">
                <a16:creationId xmlns:a16="http://schemas.microsoft.com/office/drawing/2014/main" id="{32BA58F4-740F-E380-EA07-7A9C133C8797}"/>
              </a:ext>
            </a:extLst>
          </p:cNvPr>
          <p:cNvGraphicFramePr>
            <a:graphicFrameLocks noGrp="1"/>
          </p:cNvGraphicFramePr>
          <p:nvPr>
            <p:extLst>
              <p:ext uri="{D42A27DB-BD31-4B8C-83A1-F6EECF244321}">
                <p14:modId xmlns:p14="http://schemas.microsoft.com/office/powerpoint/2010/main" val="3802132309"/>
              </p:ext>
            </p:extLst>
          </p:nvPr>
        </p:nvGraphicFramePr>
        <p:xfrm>
          <a:off x="953188" y="3429000"/>
          <a:ext cx="3883732" cy="2775238"/>
        </p:xfrm>
        <a:graphic>
          <a:graphicData uri="http://schemas.openxmlformats.org/drawingml/2006/table">
            <a:tbl>
              <a:tblPr firstRow="1" bandRow="1">
                <a:tableStyleId>{5C22544A-7EE6-4342-B048-85BDC9FD1C3A}</a:tableStyleId>
              </a:tblPr>
              <a:tblGrid>
                <a:gridCol w="1941866">
                  <a:extLst>
                    <a:ext uri="{9D8B030D-6E8A-4147-A177-3AD203B41FA5}">
                      <a16:colId xmlns:a16="http://schemas.microsoft.com/office/drawing/2014/main" val="2414812975"/>
                    </a:ext>
                  </a:extLst>
                </a:gridCol>
                <a:gridCol w="1941866">
                  <a:extLst>
                    <a:ext uri="{9D8B030D-6E8A-4147-A177-3AD203B41FA5}">
                      <a16:colId xmlns:a16="http://schemas.microsoft.com/office/drawing/2014/main" val="2988170890"/>
                    </a:ext>
                  </a:extLst>
                </a:gridCol>
              </a:tblGrid>
              <a:tr h="329113">
                <a:tc>
                  <a:txBody>
                    <a:bodyPr/>
                    <a:lstStyle/>
                    <a:p>
                      <a:pPr>
                        <a:buNone/>
                      </a:pPr>
                      <a:r>
                        <a:rPr lang="tr-TR" sz="1300" noProof="0" dirty="0"/>
                        <a:t>Türkçe Terim</a:t>
                      </a:r>
                    </a:p>
                  </a:txBody>
                  <a:tcPr anchor="ctr"/>
                </a:tc>
                <a:tc>
                  <a:txBody>
                    <a:bodyPr/>
                    <a:lstStyle/>
                    <a:p>
                      <a:pPr>
                        <a:buNone/>
                      </a:pPr>
                      <a:r>
                        <a:rPr lang="tr-TR" sz="1300" noProof="0" dirty="0"/>
                        <a:t>İngilizce Terim</a:t>
                      </a:r>
                    </a:p>
                  </a:txBody>
                  <a:tcPr anchor="ctr"/>
                </a:tc>
                <a:extLst>
                  <a:ext uri="{0D108BD9-81ED-4DB2-BD59-A6C34878D82A}">
                    <a16:rowId xmlns:a16="http://schemas.microsoft.com/office/drawing/2014/main" val="2663089182"/>
                  </a:ext>
                </a:extLst>
              </a:tr>
              <a:tr h="329113">
                <a:tc>
                  <a:txBody>
                    <a:bodyPr/>
                    <a:lstStyle/>
                    <a:p>
                      <a:pPr>
                        <a:buNone/>
                      </a:pPr>
                      <a:r>
                        <a:rPr lang="tr-TR" sz="1300" noProof="0" dirty="0"/>
                        <a:t>Veri Toplama</a:t>
                      </a:r>
                    </a:p>
                  </a:txBody>
                  <a:tcPr anchor="ctr"/>
                </a:tc>
                <a:tc>
                  <a:txBody>
                    <a:bodyPr/>
                    <a:lstStyle/>
                    <a:p>
                      <a:pPr>
                        <a:buNone/>
                      </a:pPr>
                      <a:r>
                        <a:rPr lang="tr-TR" sz="1300" noProof="0" dirty="0" err="1"/>
                        <a:t>Raw</a:t>
                      </a:r>
                      <a:r>
                        <a:rPr lang="tr-TR" sz="1300" noProof="0" dirty="0"/>
                        <a:t> Data Collection</a:t>
                      </a:r>
                    </a:p>
                  </a:txBody>
                  <a:tcPr anchor="ctr"/>
                </a:tc>
                <a:extLst>
                  <a:ext uri="{0D108BD9-81ED-4DB2-BD59-A6C34878D82A}">
                    <a16:rowId xmlns:a16="http://schemas.microsoft.com/office/drawing/2014/main" val="2250413030"/>
                  </a:ext>
                </a:extLst>
              </a:tr>
              <a:tr h="329113">
                <a:tc>
                  <a:txBody>
                    <a:bodyPr/>
                    <a:lstStyle/>
                    <a:p>
                      <a:pPr>
                        <a:buNone/>
                      </a:pPr>
                      <a:r>
                        <a:rPr lang="tr-TR" sz="1300" noProof="0" dirty="0"/>
                        <a:t>Veri Keşfi</a:t>
                      </a:r>
                    </a:p>
                  </a:txBody>
                  <a:tcPr anchor="ctr"/>
                </a:tc>
                <a:tc>
                  <a:txBody>
                    <a:bodyPr/>
                    <a:lstStyle/>
                    <a:p>
                      <a:pPr>
                        <a:buNone/>
                      </a:pPr>
                      <a:r>
                        <a:rPr lang="tr-TR" sz="1300" noProof="0" dirty="0"/>
                        <a:t>Data Exploration</a:t>
                      </a:r>
                    </a:p>
                  </a:txBody>
                  <a:tcPr anchor="ctr"/>
                </a:tc>
                <a:extLst>
                  <a:ext uri="{0D108BD9-81ED-4DB2-BD59-A6C34878D82A}">
                    <a16:rowId xmlns:a16="http://schemas.microsoft.com/office/drawing/2014/main" val="3124146403"/>
                  </a:ext>
                </a:extLst>
              </a:tr>
              <a:tr h="329113">
                <a:tc>
                  <a:txBody>
                    <a:bodyPr/>
                    <a:lstStyle/>
                    <a:p>
                      <a:pPr>
                        <a:buNone/>
                      </a:pPr>
                      <a:r>
                        <a:rPr lang="tr-TR" sz="1300" noProof="0" dirty="0"/>
                        <a:t>Veri Temizleme</a:t>
                      </a:r>
                    </a:p>
                  </a:txBody>
                  <a:tcPr anchor="ctr"/>
                </a:tc>
                <a:tc>
                  <a:txBody>
                    <a:bodyPr/>
                    <a:lstStyle/>
                    <a:p>
                      <a:pPr>
                        <a:buNone/>
                      </a:pPr>
                      <a:r>
                        <a:rPr lang="tr-TR" sz="1300" noProof="0" dirty="0"/>
                        <a:t>Data </a:t>
                      </a:r>
                      <a:r>
                        <a:rPr lang="tr-TR" sz="1300" noProof="0" dirty="0" err="1"/>
                        <a:t>Cleaning</a:t>
                      </a:r>
                      <a:endParaRPr lang="tr-TR" sz="1300" noProof="0" dirty="0"/>
                    </a:p>
                  </a:txBody>
                  <a:tcPr anchor="ctr"/>
                </a:tc>
                <a:extLst>
                  <a:ext uri="{0D108BD9-81ED-4DB2-BD59-A6C34878D82A}">
                    <a16:rowId xmlns:a16="http://schemas.microsoft.com/office/drawing/2014/main" val="550771667"/>
                  </a:ext>
                </a:extLst>
              </a:tr>
              <a:tr h="329113">
                <a:tc>
                  <a:txBody>
                    <a:bodyPr/>
                    <a:lstStyle/>
                    <a:p>
                      <a:pPr>
                        <a:buNone/>
                      </a:pPr>
                      <a:r>
                        <a:rPr lang="tr-TR" sz="1300" noProof="0" dirty="0"/>
                        <a:t>Veri Dönüştürme</a:t>
                      </a:r>
                    </a:p>
                  </a:txBody>
                  <a:tcPr anchor="ctr"/>
                </a:tc>
                <a:tc>
                  <a:txBody>
                    <a:bodyPr/>
                    <a:lstStyle/>
                    <a:p>
                      <a:pPr>
                        <a:buNone/>
                      </a:pPr>
                      <a:r>
                        <a:rPr lang="tr-TR" sz="1300" noProof="0" dirty="0"/>
                        <a:t>Data </a:t>
                      </a:r>
                      <a:r>
                        <a:rPr lang="tr-TR" sz="1300" noProof="0" dirty="0" err="1"/>
                        <a:t>Transformation</a:t>
                      </a:r>
                      <a:endParaRPr lang="tr-TR" sz="1300" noProof="0" dirty="0"/>
                    </a:p>
                  </a:txBody>
                  <a:tcPr anchor="ctr"/>
                </a:tc>
                <a:extLst>
                  <a:ext uri="{0D108BD9-81ED-4DB2-BD59-A6C34878D82A}">
                    <a16:rowId xmlns:a16="http://schemas.microsoft.com/office/drawing/2014/main" val="3720206771"/>
                  </a:ext>
                </a:extLst>
              </a:tr>
              <a:tr h="414975">
                <a:tc>
                  <a:txBody>
                    <a:bodyPr/>
                    <a:lstStyle/>
                    <a:p>
                      <a:pPr>
                        <a:buNone/>
                      </a:pPr>
                      <a:r>
                        <a:rPr lang="tr-TR" sz="1300" noProof="0" dirty="0"/>
                        <a:t>Özellik Mühendisliği</a:t>
                      </a:r>
                    </a:p>
                  </a:txBody>
                  <a:tcPr anchor="ctr"/>
                </a:tc>
                <a:tc>
                  <a:txBody>
                    <a:bodyPr/>
                    <a:lstStyle/>
                    <a:p>
                      <a:pPr>
                        <a:buNone/>
                      </a:pPr>
                      <a:r>
                        <a:rPr lang="tr-TR" sz="1300" noProof="0" dirty="0" err="1"/>
                        <a:t>Feature</a:t>
                      </a:r>
                      <a:r>
                        <a:rPr lang="tr-TR" sz="1300" noProof="0" dirty="0"/>
                        <a:t> </a:t>
                      </a:r>
                      <a:r>
                        <a:rPr lang="tr-TR" sz="1300" noProof="0" dirty="0" err="1"/>
                        <a:t>Engineering</a:t>
                      </a:r>
                      <a:endParaRPr lang="tr-TR" sz="1300" noProof="0" dirty="0"/>
                    </a:p>
                  </a:txBody>
                  <a:tcPr anchor="ctr"/>
                </a:tc>
                <a:extLst>
                  <a:ext uri="{0D108BD9-81ED-4DB2-BD59-A6C34878D82A}">
                    <a16:rowId xmlns:a16="http://schemas.microsoft.com/office/drawing/2014/main" val="2245083885"/>
                  </a:ext>
                </a:extLst>
              </a:tr>
              <a:tr h="714698">
                <a:tc>
                  <a:txBody>
                    <a:bodyPr/>
                    <a:lstStyle/>
                    <a:p>
                      <a:pPr>
                        <a:buNone/>
                      </a:pPr>
                      <a:r>
                        <a:rPr lang="tr-TR" sz="1300" noProof="0" dirty="0"/>
                        <a:t>Model İçin Hazırlık</a:t>
                      </a:r>
                    </a:p>
                  </a:txBody>
                  <a:tcPr anchor="ctr"/>
                </a:tc>
                <a:tc>
                  <a:txBody>
                    <a:bodyPr/>
                    <a:lstStyle/>
                    <a:p>
                      <a:pPr>
                        <a:buNone/>
                      </a:pPr>
                      <a:r>
                        <a:rPr lang="tr-TR" sz="1300" noProof="0" dirty="0"/>
                        <a:t>Model-Ready </a:t>
                      </a:r>
                      <a:r>
                        <a:rPr lang="tr-TR" sz="1300" noProof="0" dirty="0" err="1"/>
                        <a:t>Preparation</a:t>
                      </a:r>
                      <a:r>
                        <a:rPr lang="tr-TR" sz="1300" noProof="0" dirty="0"/>
                        <a:t> / Data </a:t>
                      </a:r>
                      <a:r>
                        <a:rPr lang="tr-TR" sz="1300" noProof="0" dirty="0" err="1"/>
                        <a:t>Splitting</a:t>
                      </a:r>
                      <a:endParaRPr lang="tr-TR" sz="1300" noProof="0" dirty="0"/>
                    </a:p>
                  </a:txBody>
                  <a:tcPr anchor="ctr"/>
                </a:tc>
                <a:extLst>
                  <a:ext uri="{0D108BD9-81ED-4DB2-BD59-A6C34878D82A}">
                    <a16:rowId xmlns:a16="http://schemas.microsoft.com/office/drawing/2014/main" val="256833980"/>
                  </a:ext>
                </a:extLst>
              </a:tr>
            </a:tbl>
          </a:graphicData>
        </a:graphic>
      </p:graphicFrame>
      <p:pic>
        <p:nvPicPr>
          <p:cNvPr id="9" name="Picture 8" descr="A diagram of a multicolored triangle&#10;&#10;AI-generated content may be incorrect.">
            <a:extLst>
              <a:ext uri="{FF2B5EF4-FFF2-40B4-BE49-F238E27FC236}">
                <a16:creationId xmlns:a16="http://schemas.microsoft.com/office/drawing/2014/main" id="{4A2B6A52-89A1-7B97-7592-B64BB08C9BE0}"/>
              </a:ext>
            </a:extLst>
          </p:cNvPr>
          <p:cNvPicPr>
            <a:picLocks noChangeAspect="1"/>
          </p:cNvPicPr>
          <p:nvPr/>
        </p:nvPicPr>
        <p:blipFill>
          <a:blip r:embed="rId2"/>
          <a:stretch>
            <a:fillRect/>
          </a:stretch>
        </p:blipFill>
        <p:spPr>
          <a:xfrm>
            <a:off x="4994648" y="3182975"/>
            <a:ext cx="6244163" cy="3012599"/>
          </a:xfrm>
          <a:prstGeom prst="rect">
            <a:avLst/>
          </a:prstGeom>
        </p:spPr>
      </p:pic>
      <p:sp>
        <p:nvSpPr>
          <p:cNvPr id="28" name="TextBox 27">
            <a:extLst>
              <a:ext uri="{FF2B5EF4-FFF2-40B4-BE49-F238E27FC236}">
                <a16:creationId xmlns:a16="http://schemas.microsoft.com/office/drawing/2014/main" id="{541E9576-8AD3-2838-5BBE-26338DFE5FFE}"/>
              </a:ext>
            </a:extLst>
          </p:cNvPr>
          <p:cNvSpPr txBox="1"/>
          <p:nvPr/>
        </p:nvSpPr>
        <p:spPr>
          <a:xfrm>
            <a:off x="-378846" y="1593878"/>
            <a:ext cx="12192000" cy="439287"/>
          </a:xfrm>
          <a:prstGeom prst="rect">
            <a:avLst/>
          </a:prstGeom>
          <a:noFill/>
        </p:spPr>
        <p:txBody>
          <a:bodyPr vert="horz" wrap="square">
            <a:spAutoFit/>
          </a:bodyPr>
          <a:lstStyle/>
          <a:p>
            <a:pPr algn="ctr">
              <a:lnSpc>
                <a:spcPct val="125000"/>
              </a:lnSpc>
              <a:buNone/>
            </a:pPr>
            <a:r>
              <a:rPr lang="tr-TR" sz="2000" noProof="0" dirty="0"/>
              <a:t>Neden Gereklidir?</a:t>
            </a:r>
          </a:p>
        </p:txBody>
      </p:sp>
      <p:sp>
        <p:nvSpPr>
          <p:cNvPr id="11" name="TextBox 10">
            <a:extLst>
              <a:ext uri="{FF2B5EF4-FFF2-40B4-BE49-F238E27FC236}">
                <a16:creationId xmlns:a16="http://schemas.microsoft.com/office/drawing/2014/main" id="{56642133-575A-BBC5-5054-7AC570C29FB8}"/>
              </a:ext>
            </a:extLst>
          </p:cNvPr>
          <p:cNvSpPr txBox="1"/>
          <p:nvPr/>
        </p:nvSpPr>
        <p:spPr>
          <a:xfrm>
            <a:off x="953188" y="6189068"/>
            <a:ext cx="3883731" cy="283154"/>
          </a:xfrm>
          <a:prstGeom prst="rect">
            <a:avLst/>
          </a:prstGeom>
          <a:noFill/>
        </p:spPr>
        <p:txBody>
          <a:bodyPr wrap="square">
            <a:spAutoFit/>
          </a:bodyPr>
          <a:lstStyle/>
          <a:p>
            <a:pPr algn="ctr">
              <a:lnSpc>
                <a:spcPct val="125000"/>
              </a:lnSpc>
            </a:pPr>
            <a:r>
              <a:rPr lang="tr-TR" sz="1100" noProof="0" dirty="0"/>
              <a:t>Terimlerin Türkçe–İngilizce karşılıkları</a:t>
            </a:r>
            <a:endParaRPr lang="tr-TR" dirty="0"/>
          </a:p>
        </p:txBody>
      </p:sp>
      <p:sp>
        <p:nvSpPr>
          <p:cNvPr id="13" name="TextBox 12">
            <a:extLst>
              <a:ext uri="{FF2B5EF4-FFF2-40B4-BE49-F238E27FC236}">
                <a16:creationId xmlns:a16="http://schemas.microsoft.com/office/drawing/2014/main" id="{540CF30F-2C18-2910-0B03-AF9B28F1E004}"/>
              </a:ext>
            </a:extLst>
          </p:cNvPr>
          <p:cNvSpPr txBox="1"/>
          <p:nvPr/>
        </p:nvSpPr>
        <p:spPr>
          <a:xfrm>
            <a:off x="953189" y="3096221"/>
            <a:ext cx="3883731" cy="352532"/>
          </a:xfrm>
          <a:prstGeom prst="rect">
            <a:avLst/>
          </a:prstGeom>
          <a:noFill/>
        </p:spPr>
        <p:txBody>
          <a:bodyPr wrap="square">
            <a:spAutoFit/>
          </a:bodyPr>
          <a:lstStyle/>
          <a:p>
            <a:pPr>
              <a:lnSpc>
                <a:spcPct val="125000"/>
              </a:lnSpc>
            </a:pPr>
            <a:r>
              <a:rPr lang="tr-TR" sz="1500" noProof="0" dirty="0"/>
              <a:t>Ön İşleme Aşamalarına Ait Temel Terimler</a:t>
            </a:r>
          </a:p>
        </p:txBody>
      </p:sp>
      <p:sp>
        <p:nvSpPr>
          <p:cNvPr id="14" name="Rectangle 1">
            <a:extLst>
              <a:ext uri="{FF2B5EF4-FFF2-40B4-BE49-F238E27FC236}">
                <a16:creationId xmlns:a16="http://schemas.microsoft.com/office/drawing/2014/main" id="{2732C7E5-AA32-3A16-3585-30FC8B99F989}"/>
              </a:ext>
            </a:extLst>
          </p:cNvPr>
          <p:cNvSpPr>
            <a:spLocks noChangeArrowheads="1"/>
          </p:cNvSpPr>
          <p:nvPr/>
        </p:nvSpPr>
        <p:spPr bwMode="auto">
          <a:xfrm>
            <a:off x="2899354" y="1930613"/>
            <a:ext cx="9227128" cy="1068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25000"/>
              </a:lnSpc>
              <a:spcBef>
                <a:spcPct val="0"/>
              </a:spcBef>
              <a:spcAft>
                <a:spcPct val="0"/>
              </a:spcAft>
              <a:buClrTx/>
              <a:buSzTx/>
              <a:buFont typeface="Arial" panose="020B0604020202020204" pitchFamily="34" charset="0"/>
              <a:buChar char="•"/>
              <a:tabLst/>
            </a:pPr>
            <a:r>
              <a:rPr kumimoji="0" lang="tr-TR" sz="1300" b="1" i="0" u="none" strike="noStrike" cap="none" normalizeH="0" baseline="0" noProof="0" dirty="0">
                <a:ln>
                  <a:noFill/>
                </a:ln>
                <a:solidFill>
                  <a:schemeClr val="tx1"/>
                </a:solidFill>
                <a:effectLst/>
                <a:latin typeface="Arial" panose="020B0604020202020204" pitchFamily="34" charset="0"/>
              </a:rPr>
              <a:t>Gürültüyü azaltır:</a:t>
            </a:r>
            <a:r>
              <a:rPr kumimoji="0" lang="tr-TR" sz="1300" b="0" i="0" u="none" strike="noStrike" cap="none" normalizeH="0" baseline="0" noProof="0" dirty="0">
                <a:ln>
                  <a:noFill/>
                </a:ln>
                <a:solidFill>
                  <a:schemeClr val="tx1"/>
                </a:solidFill>
                <a:effectLst/>
                <a:latin typeface="Arial" panose="020B0604020202020204" pitchFamily="34" charset="0"/>
              </a:rPr>
              <a:t> Emoji, URL, tekrar eden ifadeler temizlenir.</a:t>
            </a:r>
          </a:p>
          <a:p>
            <a:pPr marL="285750" marR="0" lvl="0" indent="-285750" defTabSz="914400" rtl="0" eaLnBrk="0" fontAlgn="base" latinLnBrk="0" hangingPunct="0">
              <a:lnSpc>
                <a:spcPct val="125000"/>
              </a:lnSpc>
              <a:spcBef>
                <a:spcPct val="0"/>
              </a:spcBef>
              <a:spcAft>
                <a:spcPct val="0"/>
              </a:spcAft>
              <a:buClrTx/>
              <a:buSzTx/>
              <a:buFont typeface="Arial" panose="020B0604020202020204" pitchFamily="34" charset="0"/>
              <a:buChar char="•"/>
              <a:tabLst/>
            </a:pPr>
            <a:r>
              <a:rPr kumimoji="0" lang="tr-TR" sz="1300" b="1" i="0" u="none" strike="noStrike" cap="none" normalizeH="0" baseline="0" noProof="0" dirty="0">
                <a:ln>
                  <a:noFill/>
                </a:ln>
                <a:solidFill>
                  <a:schemeClr val="tx1"/>
                </a:solidFill>
                <a:effectLst/>
                <a:latin typeface="Arial" panose="020B0604020202020204" pitchFamily="34" charset="0"/>
              </a:rPr>
              <a:t>Analiz doğruluğunu artırır:</a:t>
            </a:r>
            <a:r>
              <a:rPr kumimoji="0" lang="tr-TR" sz="1300" b="0" i="0" u="none" strike="noStrike" cap="none" normalizeH="0" baseline="0" noProof="0" dirty="0">
                <a:ln>
                  <a:noFill/>
                </a:ln>
                <a:solidFill>
                  <a:schemeClr val="tx1"/>
                </a:solidFill>
                <a:effectLst/>
                <a:latin typeface="Arial" panose="020B0604020202020204" pitchFamily="34" charset="0"/>
              </a:rPr>
              <a:t> Temiz veri → daha doğru sınıflandırma.</a:t>
            </a:r>
          </a:p>
          <a:p>
            <a:pPr marL="285750" marR="0" lvl="0" indent="-285750" defTabSz="914400" rtl="0" eaLnBrk="0" fontAlgn="base" latinLnBrk="0" hangingPunct="0">
              <a:lnSpc>
                <a:spcPct val="125000"/>
              </a:lnSpc>
              <a:spcBef>
                <a:spcPct val="0"/>
              </a:spcBef>
              <a:spcAft>
                <a:spcPct val="0"/>
              </a:spcAft>
              <a:buClrTx/>
              <a:buSzTx/>
              <a:buFont typeface="Arial" panose="020B0604020202020204" pitchFamily="34" charset="0"/>
              <a:buChar char="•"/>
              <a:tabLst/>
            </a:pPr>
            <a:r>
              <a:rPr kumimoji="0" lang="tr-TR" sz="1300" b="1" i="0" u="none" strike="noStrike" cap="none" normalizeH="0" baseline="0" noProof="0" dirty="0">
                <a:ln>
                  <a:noFill/>
                </a:ln>
                <a:solidFill>
                  <a:schemeClr val="tx1"/>
                </a:solidFill>
                <a:effectLst/>
                <a:latin typeface="Arial" panose="020B0604020202020204" pitchFamily="34" charset="0"/>
              </a:rPr>
              <a:t>Standart format oluşturur:</a:t>
            </a:r>
            <a:r>
              <a:rPr kumimoji="0" lang="tr-TR" sz="1300" b="0" i="0" u="none" strike="noStrike" cap="none" normalizeH="0" baseline="0" noProof="0" dirty="0">
                <a:ln>
                  <a:noFill/>
                </a:ln>
                <a:solidFill>
                  <a:schemeClr val="tx1"/>
                </a:solidFill>
                <a:effectLst/>
                <a:latin typeface="Arial" panose="020B0604020202020204" pitchFamily="34" charset="0"/>
              </a:rPr>
              <a:t> Farklı platformlardan gelen veri ortak hale getirilir.</a:t>
            </a:r>
          </a:p>
          <a:p>
            <a:pPr marL="285750" marR="0" lvl="0" indent="-285750" defTabSz="914400" rtl="0" eaLnBrk="0" fontAlgn="base" latinLnBrk="0" hangingPunct="0">
              <a:lnSpc>
                <a:spcPct val="125000"/>
              </a:lnSpc>
              <a:spcBef>
                <a:spcPct val="0"/>
              </a:spcBef>
              <a:spcAft>
                <a:spcPct val="0"/>
              </a:spcAft>
              <a:buClrTx/>
              <a:buSzTx/>
              <a:buFont typeface="Arial" panose="020B0604020202020204" pitchFamily="34" charset="0"/>
              <a:buChar char="•"/>
              <a:tabLst/>
            </a:pPr>
            <a:r>
              <a:rPr kumimoji="0" lang="tr-TR" sz="1300" b="1" i="0" u="none" strike="noStrike" cap="none" normalizeH="0" baseline="0" noProof="0" dirty="0" err="1">
                <a:ln>
                  <a:noFill/>
                </a:ln>
                <a:solidFill>
                  <a:schemeClr val="tx1"/>
                </a:solidFill>
                <a:effectLst/>
                <a:latin typeface="Arial" panose="020B0604020202020204" pitchFamily="34" charset="0"/>
              </a:rPr>
              <a:t>Tokenizasyonu</a:t>
            </a:r>
            <a:r>
              <a:rPr kumimoji="0" lang="tr-TR" sz="1300" b="1" i="0" u="none" strike="noStrike" cap="none" normalizeH="0" baseline="0" noProof="0" dirty="0">
                <a:ln>
                  <a:noFill/>
                </a:ln>
                <a:solidFill>
                  <a:schemeClr val="tx1"/>
                </a:solidFill>
                <a:effectLst/>
                <a:latin typeface="Arial" panose="020B0604020202020204" pitchFamily="34" charset="0"/>
              </a:rPr>
              <a:t> kolaylaştırır:</a:t>
            </a:r>
            <a:r>
              <a:rPr kumimoji="0" lang="tr-TR" sz="1300" b="0" i="0" u="none" strike="noStrike" cap="none" normalizeH="0" baseline="0" noProof="0" dirty="0">
                <a:ln>
                  <a:noFill/>
                </a:ln>
                <a:solidFill>
                  <a:schemeClr val="tx1"/>
                </a:solidFill>
                <a:effectLst/>
                <a:latin typeface="Arial" panose="020B0604020202020204" pitchFamily="34" charset="0"/>
              </a:rPr>
              <a:t> Metin doğru şekilde parçalara ayrılır.</a:t>
            </a:r>
          </a:p>
        </p:txBody>
      </p:sp>
    </p:spTree>
    <p:extLst>
      <p:ext uri="{BB962C8B-B14F-4D97-AF65-F5344CB8AC3E}">
        <p14:creationId xmlns:p14="http://schemas.microsoft.com/office/powerpoint/2010/main" val="1552816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9AAB3-8A17-A664-D12A-D2FE42AC9A83}"/>
            </a:ext>
          </a:extLst>
        </p:cNvPr>
        <p:cNvGrpSpPr/>
        <p:nvPr/>
      </p:nvGrpSpPr>
      <p:grpSpPr>
        <a:xfrm>
          <a:off x="0" y="0"/>
          <a:ext cx="0" cy="0"/>
          <a:chOff x="0" y="0"/>
          <a:chExt cx="0" cy="0"/>
        </a:xfrm>
      </p:grpSpPr>
      <p:pic>
        <p:nvPicPr>
          <p:cNvPr id="17" name="Picture 16" descr="A colorful circle with a white background&#10;&#10;AI-generated content may be incorrect.">
            <a:extLst>
              <a:ext uri="{FF2B5EF4-FFF2-40B4-BE49-F238E27FC236}">
                <a16:creationId xmlns:a16="http://schemas.microsoft.com/office/drawing/2014/main" id="{710F6BFD-BE1D-988D-D86A-953CBA72F6D6}"/>
              </a:ext>
            </a:extLst>
          </p:cNvPr>
          <p:cNvPicPr>
            <a:picLocks noChangeAspect="1"/>
          </p:cNvPicPr>
          <p:nvPr/>
        </p:nvPicPr>
        <p:blipFill>
          <a:blip r:embed="rId2"/>
          <a:srcRect l="6664" t="5989" r="5790" b="7509"/>
          <a:stretch>
            <a:fillRect/>
          </a:stretch>
        </p:blipFill>
        <p:spPr>
          <a:xfrm>
            <a:off x="2588705" y="1962031"/>
            <a:ext cx="3226266" cy="3187816"/>
          </a:xfrm>
          <a:prstGeom prst="rect">
            <a:avLst/>
          </a:prstGeom>
        </p:spPr>
      </p:pic>
      <p:sp>
        <p:nvSpPr>
          <p:cNvPr id="44" name="Speech Bubble: Rectangle with Corners Rounded 43">
            <a:extLst>
              <a:ext uri="{FF2B5EF4-FFF2-40B4-BE49-F238E27FC236}">
                <a16:creationId xmlns:a16="http://schemas.microsoft.com/office/drawing/2014/main" id="{4237BBFD-253A-DE6B-0420-FE3DA504EBDC}"/>
              </a:ext>
            </a:extLst>
          </p:cNvPr>
          <p:cNvSpPr/>
          <p:nvPr/>
        </p:nvSpPr>
        <p:spPr>
          <a:xfrm>
            <a:off x="5500006" y="1822886"/>
            <a:ext cx="2074364" cy="1077486"/>
          </a:xfrm>
          <a:prstGeom prst="wedgeRoundRectCallout">
            <a:avLst>
              <a:gd name="adj1" fmla="val -76216"/>
              <a:gd name="adj2" fmla="val -4795"/>
              <a:gd name="adj3" fmla="val 16667"/>
            </a:avLst>
          </a:prstGeom>
          <a:ln>
            <a:solidFill>
              <a:srgbClr val="FF9933"/>
            </a:solidFill>
          </a:ln>
        </p:spPr>
        <p:style>
          <a:lnRef idx="2">
            <a:schemeClr val="dk1"/>
          </a:lnRef>
          <a:fillRef idx="1">
            <a:schemeClr val="lt1"/>
          </a:fillRef>
          <a:effectRef idx="0">
            <a:schemeClr val="dk1"/>
          </a:effectRef>
          <a:fontRef idx="minor">
            <a:schemeClr val="dk1"/>
          </a:fontRef>
        </p:style>
        <p:txBody>
          <a:bodyPr rtlCol="0" anchor="ctr"/>
          <a:lstStyle/>
          <a:p>
            <a:pPr algn="ctr">
              <a:lnSpc>
                <a:spcPct val="125000"/>
              </a:lnSpc>
            </a:pPr>
            <a:endParaRPr lang="tr-TR" sz="1300" dirty="0"/>
          </a:p>
        </p:txBody>
      </p:sp>
      <p:sp>
        <p:nvSpPr>
          <p:cNvPr id="3" name="TextBox 2">
            <a:extLst>
              <a:ext uri="{FF2B5EF4-FFF2-40B4-BE49-F238E27FC236}">
                <a16:creationId xmlns:a16="http://schemas.microsoft.com/office/drawing/2014/main" id="{627D707E-123B-1AC6-77E5-F59D6D1CBA7A}"/>
              </a:ext>
            </a:extLst>
          </p:cNvPr>
          <p:cNvSpPr txBox="1"/>
          <p:nvPr/>
        </p:nvSpPr>
        <p:spPr>
          <a:xfrm>
            <a:off x="46139" y="440508"/>
            <a:ext cx="12099722" cy="523220"/>
          </a:xfrm>
          <a:prstGeom prst="rect">
            <a:avLst/>
          </a:prstGeom>
          <a:noFill/>
        </p:spPr>
        <p:txBody>
          <a:bodyPr wrap="square">
            <a:spAutoFit/>
          </a:bodyPr>
          <a:lstStyle/>
          <a:p>
            <a:pPr algn="ctr"/>
            <a:r>
              <a:rPr lang="tr-TR" sz="2800" noProof="0" dirty="0"/>
              <a:t>Metin Temizleme (</a:t>
            </a:r>
            <a:r>
              <a:rPr lang="tr-TR" sz="2800" noProof="0" dirty="0" err="1"/>
              <a:t>Preprocessing</a:t>
            </a:r>
            <a:r>
              <a:rPr lang="tr-TR" sz="2800" noProof="0" dirty="0"/>
              <a:t>) Adımları</a:t>
            </a:r>
          </a:p>
        </p:txBody>
      </p:sp>
      <p:sp>
        <p:nvSpPr>
          <p:cNvPr id="5" name="TextBox 4">
            <a:extLst>
              <a:ext uri="{FF2B5EF4-FFF2-40B4-BE49-F238E27FC236}">
                <a16:creationId xmlns:a16="http://schemas.microsoft.com/office/drawing/2014/main" id="{D7DDEDC4-9EB0-ABE0-A946-DD1A59FBA864}"/>
              </a:ext>
            </a:extLst>
          </p:cNvPr>
          <p:cNvSpPr txBox="1"/>
          <p:nvPr/>
        </p:nvSpPr>
        <p:spPr>
          <a:xfrm>
            <a:off x="1126259" y="1003742"/>
            <a:ext cx="10106169" cy="567912"/>
          </a:xfrm>
          <a:prstGeom prst="rect">
            <a:avLst/>
          </a:prstGeom>
          <a:noFill/>
        </p:spPr>
        <p:txBody>
          <a:bodyPr wrap="square">
            <a:spAutoFit/>
          </a:bodyPr>
          <a:lstStyle/>
          <a:p>
            <a:pPr>
              <a:lnSpc>
                <a:spcPct val="125000"/>
              </a:lnSpc>
            </a:pPr>
            <a:r>
              <a:rPr lang="tr-TR" sz="1300" noProof="0" dirty="0"/>
              <a:t>   Ön işleme, ham metni analiz için uygun hâle getirmek amacıyla yapılan temizlik ve dönüştürme adımlarından oluşur. Aşağıdaki süreç, bir metni model eğitimine hazır duruma getiren temel aşamaları göstermektedir.</a:t>
            </a:r>
          </a:p>
        </p:txBody>
      </p:sp>
      <p:sp>
        <p:nvSpPr>
          <p:cNvPr id="38" name="Speech Bubble: Rectangle with Corners Rounded 37">
            <a:extLst>
              <a:ext uri="{FF2B5EF4-FFF2-40B4-BE49-F238E27FC236}">
                <a16:creationId xmlns:a16="http://schemas.microsoft.com/office/drawing/2014/main" id="{A9B65D45-9B9E-86FD-DB8C-B1C6F7695585}"/>
              </a:ext>
            </a:extLst>
          </p:cNvPr>
          <p:cNvSpPr/>
          <p:nvPr/>
        </p:nvSpPr>
        <p:spPr>
          <a:xfrm>
            <a:off x="1317202" y="4909844"/>
            <a:ext cx="2106691" cy="1145726"/>
          </a:xfrm>
          <a:prstGeom prst="wedgeRoundRectCallout">
            <a:avLst>
              <a:gd name="adj1" fmla="val 46946"/>
              <a:gd name="adj2" fmla="val -75675"/>
              <a:gd name="adj3" fmla="val 16667"/>
            </a:avLst>
          </a:prstGeom>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25000"/>
              </a:lnSpc>
            </a:pPr>
            <a:endParaRPr lang="tr-TR" sz="1300" dirty="0"/>
          </a:p>
        </p:txBody>
      </p:sp>
      <p:sp>
        <p:nvSpPr>
          <p:cNvPr id="11" name="TextBox 10">
            <a:extLst>
              <a:ext uri="{FF2B5EF4-FFF2-40B4-BE49-F238E27FC236}">
                <a16:creationId xmlns:a16="http://schemas.microsoft.com/office/drawing/2014/main" id="{0A6C7BA0-1941-2CBB-CB58-3BB23AE96B3B}"/>
              </a:ext>
            </a:extLst>
          </p:cNvPr>
          <p:cNvSpPr txBox="1"/>
          <p:nvPr/>
        </p:nvSpPr>
        <p:spPr>
          <a:xfrm>
            <a:off x="1439839" y="4936603"/>
            <a:ext cx="1904428" cy="1068049"/>
          </a:xfrm>
          <a:prstGeom prst="rect">
            <a:avLst/>
          </a:prstGeom>
          <a:noFill/>
        </p:spPr>
        <p:txBody>
          <a:bodyPr wrap="square">
            <a:spAutoFit/>
          </a:bodyPr>
          <a:lstStyle/>
          <a:p>
            <a:pPr algn="ctr">
              <a:lnSpc>
                <a:spcPct val="125000"/>
              </a:lnSpc>
              <a:buNone/>
            </a:pPr>
            <a:r>
              <a:rPr lang="tr-TR" sz="1300" b="1" noProof="0" dirty="0"/>
              <a:t>Emoji / URL /</a:t>
            </a:r>
          </a:p>
          <a:p>
            <a:pPr algn="ctr">
              <a:lnSpc>
                <a:spcPct val="125000"/>
              </a:lnSpc>
              <a:buNone/>
            </a:pPr>
            <a:r>
              <a:rPr lang="tr-TR" sz="1300" b="1" noProof="0" dirty="0"/>
              <a:t> </a:t>
            </a:r>
            <a:r>
              <a:rPr lang="tr-TR" sz="1300" b="1" noProof="0" dirty="0" err="1"/>
              <a:t>Mention</a:t>
            </a:r>
            <a:r>
              <a:rPr lang="tr-TR" sz="1300" b="1" noProof="0" dirty="0"/>
              <a:t> Temizliği</a:t>
            </a:r>
          </a:p>
          <a:p>
            <a:pPr>
              <a:lnSpc>
                <a:spcPct val="125000"/>
              </a:lnSpc>
              <a:buNone/>
            </a:pPr>
            <a:r>
              <a:rPr lang="tr-TR" sz="1300" noProof="0" dirty="0"/>
              <a:t>Emoji, link ve kullanıcı etiketleri ayıklanır.</a:t>
            </a:r>
          </a:p>
        </p:txBody>
      </p:sp>
      <p:sp>
        <p:nvSpPr>
          <p:cNvPr id="39" name="Speech Bubble: Rectangle with Corners Rounded 38">
            <a:extLst>
              <a:ext uri="{FF2B5EF4-FFF2-40B4-BE49-F238E27FC236}">
                <a16:creationId xmlns:a16="http://schemas.microsoft.com/office/drawing/2014/main" id="{B4C92106-BF12-F06C-3978-61CF81319622}"/>
              </a:ext>
            </a:extLst>
          </p:cNvPr>
          <p:cNvSpPr/>
          <p:nvPr/>
        </p:nvSpPr>
        <p:spPr>
          <a:xfrm>
            <a:off x="703423" y="3147251"/>
            <a:ext cx="1730007" cy="1218062"/>
          </a:xfrm>
          <a:prstGeom prst="wedgeRoundRectCallout">
            <a:avLst>
              <a:gd name="adj1" fmla="val 75521"/>
              <a:gd name="adj2" fmla="val -22895"/>
              <a:gd name="adj3" fmla="val 16667"/>
            </a:avLst>
          </a:prstGeom>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25000"/>
              </a:lnSpc>
              <a:buNone/>
            </a:pPr>
            <a:r>
              <a:rPr lang="tr-TR" sz="1300" b="1" dirty="0"/>
              <a:t>Noktalama &amp; Karakter Temizliği</a:t>
            </a:r>
          </a:p>
          <a:p>
            <a:pPr>
              <a:lnSpc>
                <a:spcPct val="125000"/>
              </a:lnSpc>
              <a:buNone/>
            </a:pPr>
            <a:r>
              <a:rPr lang="tr-TR" sz="1300" dirty="0"/>
              <a:t>Gereksiz işaretler ve özel karakterler kaldırılır.</a:t>
            </a:r>
          </a:p>
        </p:txBody>
      </p:sp>
      <p:sp>
        <p:nvSpPr>
          <p:cNvPr id="42" name="Speech Bubble: Rectangle with Corners Rounded 41">
            <a:extLst>
              <a:ext uri="{FF2B5EF4-FFF2-40B4-BE49-F238E27FC236}">
                <a16:creationId xmlns:a16="http://schemas.microsoft.com/office/drawing/2014/main" id="{395F9896-7C56-2E9A-BA4F-2C7A88718A97}"/>
              </a:ext>
            </a:extLst>
          </p:cNvPr>
          <p:cNvSpPr/>
          <p:nvPr/>
        </p:nvSpPr>
        <p:spPr>
          <a:xfrm>
            <a:off x="955503" y="1902009"/>
            <a:ext cx="1782947" cy="1046752"/>
          </a:xfrm>
          <a:prstGeom prst="wedgeRoundRectCallout">
            <a:avLst>
              <a:gd name="adj1" fmla="val 79675"/>
              <a:gd name="adj2" fmla="val -2959"/>
              <a:gd name="adj3" fmla="val 16667"/>
            </a:avLst>
          </a:prstGeom>
          <a:ln>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25000"/>
              </a:lnSpc>
            </a:pPr>
            <a:endParaRPr lang="tr-TR" sz="1300" dirty="0"/>
          </a:p>
        </p:txBody>
      </p:sp>
      <p:sp>
        <p:nvSpPr>
          <p:cNvPr id="41" name="TextBox 40">
            <a:extLst>
              <a:ext uri="{FF2B5EF4-FFF2-40B4-BE49-F238E27FC236}">
                <a16:creationId xmlns:a16="http://schemas.microsoft.com/office/drawing/2014/main" id="{7E61C042-78DE-C9FB-BFE3-0CABB5081C43}"/>
              </a:ext>
            </a:extLst>
          </p:cNvPr>
          <p:cNvSpPr txBox="1"/>
          <p:nvPr/>
        </p:nvSpPr>
        <p:spPr>
          <a:xfrm>
            <a:off x="1056812" y="1911446"/>
            <a:ext cx="1612141" cy="1068049"/>
          </a:xfrm>
          <a:prstGeom prst="rect">
            <a:avLst/>
          </a:prstGeom>
          <a:noFill/>
        </p:spPr>
        <p:txBody>
          <a:bodyPr wrap="square">
            <a:spAutoFit/>
          </a:bodyPr>
          <a:lstStyle/>
          <a:p>
            <a:pPr algn="ctr">
              <a:lnSpc>
                <a:spcPct val="125000"/>
              </a:lnSpc>
              <a:buNone/>
            </a:pPr>
            <a:r>
              <a:rPr lang="tr-TR" sz="1300" b="1" noProof="0" dirty="0" err="1"/>
              <a:t>Lowercasing</a:t>
            </a:r>
            <a:endParaRPr lang="tr-TR" sz="1300" b="1" noProof="0" dirty="0"/>
          </a:p>
          <a:p>
            <a:pPr>
              <a:lnSpc>
                <a:spcPct val="125000"/>
              </a:lnSpc>
              <a:buNone/>
            </a:pPr>
            <a:r>
              <a:rPr lang="tr-TR" sz="1300" noProof="0" dirty="0"/>
              <a:t>Metindeki tüm harfler küçük harfe dönüştürülür.</a:t>
            </a:r>
          </a:p>
        </p:txBody>
      </p:sp>
      <p:sp>
        <p:nvSpPr>
          <p:cNvPr id="43" name="Speech Bubble: Rectangle with Corners Rounded 42">
            <a:extLst>
              <a:ext uri="{FF2B5EF4-FFF2-40B4-BE49-F238E27FC236}">
                <a16:creationId xmlns:a16="http://schemas.microsoft.com/office/drawing/2014/main" id="{26030C25-D6F4-6C1B-FBD7-255772ADC5CB}"/>
              </a:ext>
            </a:extLst>
          </p:cNvPr>
          <p:cNvSpPr/>
          <p:nvPr/>
        </p:nvSpPr>
        <p:spPr>
          <a:xfrm>
            <a:off x="4695395" y="4961977"/>
            <a:ext cx="2333203" cy="1145727"/>
          </a:xfrm>
          <a:prstGeom prst="wedgeRoundRectCallout">
            <a:avLst>
              <a:gd name="adj1" fmla="val -41377"/>
              <a:gd name="adj2" fmla="val -78372"/>
              <a:gd name="adj3" fmla="val 16667"/>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25000"/>
              </a:lnSpc>
            </a:pPr>
            <a:endParaRPr lang="tr-TR" sz="1300" dirty="0"/>
          </a:p>
        </p:txBody>
      </p:sp>
      <p:sp>
        <p:nvSpPr>
          <p:cNvPr id="45" name="Speech Bubble: Rectangle with Corners Rounded 44">
            <a:extLst>
              <a:ext uri="{FF2B5EF4-FFF2-40B4-BE49-F238E27FC236}">
                <a16:creationId xmlns:a16="http://schemas.microsoft.com/office/drawing/2014/main" id="{A2A5F0DA-4B95-2620-6B94-3E1241E8AC98}"/>
              </a:ext>
            </a:extLst>
          </p:cNvPr>
          <p:cNvSpPr/>
          <p:nvPr/>
        </p:nvSpPr>
        <p:spPr>
          <a:xfrm>
            <a:off x="5813318" y="3147251"/>
            <a:ext cx="1894600" cy="1145728"/>
          </a:xfrm>
          <a:prstGeom prst="wedgeRoundRectCallout">
            <a:avLst>
              <a:gd name="adj1" fmla="val -68199"/>
              <a:gd name="adj2" fmla="val -25259"/>
              <a:gd name="adj3" fmla="val 16667"/>
            </a:avLst>
          </a:prstGeom>
          <a:ln>
            <a:solidFill>
              <a:srgbClr val="FF6600"/>
            </a:solidFill>
          </a:ln>
        </p:spPr>
        <p:style>
          <a:lnRef idx="2">
            <a:schemeClr val="dk1"/>
          </a:lnRef>
          <a:fillRef idx="1">
            <a:schemeClr val="lt1"/>
          </a:fillRef>
          <a:effectRef idx="0">
            <a:schemeClr val="dk1"/>
          </a:effectRef>
          <a:fontRef idx="minor">
            <a:schemeClr val="dk1"/>
          </a:fontRef>
        </p:style>
        <p:txBody>
          <a:bodyPr rtlCol="0" anchor="ctr"/>
          <a:lstStyle/>
          <a:p>
            <a:pPr algn="ctr">
              <a:lnSpc>
                <a:spcPct val="125000"/>
              </a:lnSpc>
            </a:pPr>
            <a:endParaRPr lang="tr-TR" sz="1300" dirty="0"/>
          </a:p>
        </p:txBody>
      </p:sp>
      <p:sp>
        <p:nvSpPr>
          <p:cNvPr id="19" name="TextBox 18">
            <a:extLst>
              <a:ext uri="{FF2B5EF4-FFF2-40B4-BE49-F238E27FC236}">
                <a16:creationId xmlns:a16="http://schemas.microsoft.com/office/drawing/2014/main" id="{9FDA09EB-A00B-E3CC-6D50-B561BBBAB487}"/>
              </a:ext>
            </a:extLst>
          </p:cNvPr>
          <p:cNvSpPr txBox="1"/>
          <p:nvPr/>
        </p:nvSpPr>
        <p:spPr>
          <a:xfrm>
            <a:off x="4773052" y="4972286"/>
            <a:ext cx="2255546" cy="1068049"/>
          </a:xfrm>
          <a:prstGeom prst="rect">
            <a:avLst/>
          </a:prstGeom>
          <a:noFill/>
        </p:spPr>
        <p:txBody>
          <a:bodyPr wrap="square">
            <a:spAutoFit/>
          </a:bodyPr>
          <a:lstStyle/>
          <a:p>
            <a:pPr>
              <a:lnSpc>
                <a:spcPct val="125000"/>
              </a:lnSpc>
              <a:buNone/>
            </a:pPr>
            <a:r>
              <a:rPr lang="tr-TR" sz="1300" b="1" noProof="0" dirty="0" err="1"/>
              <a:t>Lemmatization</a:t>
            </a:r>
            <a:r>
              <a:rPr lang="tr-TR" sz="1300" b="1" noProof="0" dirty="0"/>
              <a:t> / </a:t>
            </a:r>
            <a:r>
              <a:rPr lang="tr-TR" sz="1300" b="1" noProof="0" dirty="0" err="1"/>
              <a:t>Stemming</a:t>
            </a:r>
            <a:endParaRPr lang="tr-TR" sz="1300" b="1" noProof="0" dirty="0"/>
          </a:p>
          <a:p>
            <a:pPr>
              <a:lnSpc>
                <a:spcPct val="125000"/>
              </a:lnSpc>
              <a:buNone/>
            </a:pPr>
            <a:r>
              <a:rPr lang="tr-TR" sz="1300" dirty="0"/>
              <a:t>Kelime kökleri veya temel biçimleri elde edilir.</a:t>
            </a:r>
            <a:endParaRPr lang="tr-TR" sz="1300" noProof="0" dirty="0"/>
          </a:p>
        </p:txBody>
      </p:sp>
      <p:sp>
        <p:nvSpPr>
          <p:cNvPr id="15" name="TextBox 14">
            <a:extLst>
              <a:ext uri="{FF2B5EF4-FFF2-40B4-BE49-F238E27FC236}">
                <a16:creationId xmlns:a16="http://schemas.microsoft.com/office/drawing/2014/main" id="{1E9F81FE-DF8D-F270-368E-D99601668C40}"/>
              </a:ext>
            </a:extLst>
          </p:cNvPr>
          <p:cNvSpPr txBox="1"/>
          <p:nvPr/>
        </p:nvSpPr>
        <p:spPr>
          <a:xfrm>
            <a:off x="5904440" y="3222257"/>
            <a:ext cx="1712355" cy="1068049"/>
          </a:xfrm>
          <a:prstGeom prst="rect">
            <a:avLst/>
          </a:prstGeom>
          <a:noFill/>
        </p:spPr>
        <p:txBody>
          <a:bodyPr wrap="square">
            <a:spAutoFit/>
          </a:bodyPr>
          <a:lstStyle/>
          <a:p>
            <a:pPr>
              <a:lnSpc>
                <a:spcPct val="125000"/>
              </a:lnSpc>
              <a:buNone/>
            </a:pPr>
            <a:r>
              <a:rPr lang="tr-TR" sz="1300" b="1" noProof="0" dirty="0" err="1"/>
              <a:t>Tokenizasyon</a:t>
            </a:r>
            <a:endParaRPr lang="tr-TR" sz="1300" b="1" noProof="0" dirty="0"/>
          </a:p>
          <a:p>
            <a:pPr>
              <a:lnSpc>
                <a:spcPct val="125000"/>
              </a:lnSpc>
              <a:buNone/>
            </a:pPr>
            <a:r>
              <a:rPr lang="tr-TR" sz="1300" dirty="0"/>
              <a:t>Metin kelime, cümle veya alt birimlere ayrılır.</a:t>
            </a:r>
            <a:endParaRPr lang="tr-TR" sz="1300" noProof="0" dirty="0"/>
          </a:p>
        </p:txBody>
      </p:sp>
      <p:sp>
        <p:nvSpPr>
          <p:cNvPr id="13" name="TextBox 12">
            <a:extLst>
              <a:ext uri="{FF2B5EF4-FFF2-40B4-BE49-F238E27FC236}">
                <a16:creationId xmlns:a16="http://schemas.microsoft.com/office/drawing/2014/main" id="{BA2F7968-9134-4B79-AB2A-21907EC20B60}"/>
              </a:ext>
            </a:extLst>
          </p:cNvPr>
          <p:cNvSpPr txBox="1"/>
          <p:nvPr/>
        </p:nvSpPr>
        <p:spPr>
          <a:xfrm>
            <a:off x="5644537" y="1818533"/>
            <a:ext cx="1929832" cy="1068049"/>
          </a:xfrm>
          <a:prstGeom prst="rect">
            <a:avLst/>
          </a:prstGeom>
          <a:noFill/>
        </p:spPr>
        <p:txBody>
          <a:bodyPr wrap="square">
            <a:spAutoFit/>
          </a:bodyPr>
          <a:lstStyle/>
          <a:p>
            <a:pPr algn="ctr">
              <a:lnSpc>
                <a:spcPct val="125000"/>
              </a:lnSpc>
              <a:buNone/>
            </a:pPr>
            <a:r>
              <a:rPr lang="tr-TR" sz="1300" b="1" noProof="0" dirty="0" err="1"/>
              <a:t>Stopword</a:t>
            </a:r>
            <a:r>
              <a:rPr lang="tr-TR" sz="1300" b="1" noProof="0" dirty="0"/>
              <a:t> Temizliği</a:t>
            </a:r>
          </a:p>
          <a:p>
            <a:pPr>
              <a:lnSpc>
                <a:spcPct val="125000"/>
              </a:lnSpc>
              <a:buNone/>
            </a:pPr>
            <a:r>
              <a:rPr lang="tr-TR" sz="1300" noProof="0" dirty="0"/>
              <a:t>Anlam taşımayan sık kullanılan kelimeler çıkarılır.</a:t>
            </a:r>
          </a:p>
        </p:txBody>
      </p:sp>
      <p:pic>
        <p:nvPicPr>
          <p:cNvPr id="50" name="Picture 49" descr="Cartoon of a robot holding a vacuum cleaner&#10;&#10;AI-generated content may be incorrect.">
            <a:extLst>
              <a:ext uri="{FF2B5EF4-FFF2-40B4-BE49-F238E27FC236}">
                <a16:creationId xmlns:a16="http://schemas.microsoft.com/office/drawing/2014/main" id="{6CFA5040-032F-7D71-FD19-574D3C977310}"/>
              </a:ext>
            </a:extLst>
          </p:cNvPr>
          <p:cNvPicPr>
            <a:picLocks noChangeAspect="1"/>
          </p:cNvPicPr>
          <p:nvPr/>
        </p:nvPicPr>
        <p:blipFill>
          <a:blip r:embed="rId3"/>
          <a:stretch>
            <a:fillRect/>
          </a:stretch>
        </p:blipFill>
        <p:spPr>
          <a:xfrm>
            <a:off x="3648283" y="3031059"/>
            <a:ext cx="1107109" cy="1049760"/>
          </a:xfrm>
          <a:prstGeom prst="rect">
            <a:avLst/>
          </a:prstGeom>
        </p:spPr>
      </p:pic>
      <p:graphicFrame>
        <p:nvGraphicFramePr>
          <p:cNvPr id="51" name="Table 50">
            <a:extLst>
              <a:ext uri="{FF2B5EF4-FFF2-40B4-BE49-F238E27FC236}">
                <a16:creationId xmlns:a16="http://schemas.microsoft.com/office/drawing/2014/main" id="{EDC2BAA9-7DDD-23AF-E298-2AD7FA9555B9}"/>
              </a:ext>
            </a:extLst>
          </p:cNvPr>
          <p:cNvGraphicFramePr>
            <a:graphicFrameLocks noGrp="1"/>
          </p:cNvGraphicFramePr>
          <p:nvPr>
            <p:extLst>
              <p:ext uri="{D42A27DB-BD31-4B8C-83A1-F6EECF244321}">
                <p14:modId xmlns:p14="http://schemas.microsoft.com/office/powerpoint/2010/main" val="3506367804"/>
              </p:ext>
            </p:extLst>
          </p:nvPr>
        </p:nvGraphicFramePr>
        <p:xfrm>
          <a:off x="8157426" y="2595814"/>
          <a:ext cx="3442257" cy="2970010"/>
        </p:xfrm>
        <a:graphic>
          <a:graphicData uri="http://schemas.openxmlformats.org/drawingml/2006/table">
            <a:tbl>
              <a:tblPr firstRow="1" bandRow="1">
                <a:tableStyleId>{5C22544A-7EE6-4342-B048-85BDC9FD1C3A}</a:tableStyleId>
              </a:tblPr>
              <a:tblGrid>
                <a:gridCol w="1651332">
                  <a:extLst>
                    <a:ext uri="{9D8B030D-6E8A-4147-A177-3AD203B41FA5}">
                      <a16:colId xmlns:a16="http://schemas.microsoft.com/office/drawing/2014/main" val="3418887661"/>
                    </a:ext>
                  </a:extLst>
                </a:gridCol>
                <a:gridCol w="1790925">
                  <a:extLst>
                    <a:ext uri="{9D8B030D-6E8A-4147-A177-3AD203B41FA5}">
                      <a16:colId xmlns:a16="http://schemas.microsoft.com/office/drawing/2014/main" val="383093297"/>
                    </a:ext>
                  </a:extLst>
                </a:gridCol>
              </a:tblGrid>
              <a:tr h="371673">
                <a:tc>
                  <a:txBody>
                    <a:bodyPr/>
                    <a:lstStyle/>
                    <a:p>
                      <a:pPr>
                        <a:buNone/>
                      </a:pPr>
                      <a:r>
                        <a:rPr lang="tr-TR" sz="1300" noProof="0" dirty="0"/>
                        <a:t>Türkçe Terim</a:t>
                      </a:r>
                    </a:p>
                  </a:txBody>
                  <a:tcPr anchor="ctr"/>
                </a:tc>
                <a:tc>
                  <a:txBody>
                    <a:bodyPr/>
                    <a:lstStyle/>
                    <a:p>
                      <a:pPr>
                        <a:buNone/>
                      </a:pPr>
                      <a:r>
                        <a:rPr lang="tr-TR" sz="1300" noProof="0" dirty="0"/>
                        <a:t>İngilizce Terim</a:t>
                      </a:r>
                    </a:p>
                  </a:txBody>
                  <a:tcPr anchor="ctr"/>
                </a:tc>
                <a:extLst>
                  <a:ext uri="{0D108BD9-81ED-4DB2-BD59-A6C34878D82A}">
                    <a16:rowId xmlns:a16="http://schemas.microsoft.com/office/drawing/2014/main" val="410034872"/>
                  </a:ext>
                </a:extLst>
              </a:tr>
              <a:tr h="371673">
                <a:tc>
                  <a:txBody>
                    <a:bodyPr/>
                    <a:lstStyle/>
                    <a:p>
                      <a:pPr>
                        <a:buNone/>
                      </a:pPr>
                      <a:r>
                        <a:rPr lang="tr-TR" sz="1300" noProof="0" dirty="0" err="1"/>
                        <a:t>Lowercasing</a:t>
                      </a:r>
                      <a:endParaRPr lang="tr-TR" sz="1300" noProof="0" dirty="0"/>
                    </a:p>
                  </a:txBody>
                  <a:tcPr anchor="ctr"/>
                </a:tc>
                <a:tc>
                  <a:txBody>
                    <a:bodyPr/>
                    <a:lstStyle/>
                    <a:p>
                      <a:pPr>
                        <a:buNone/>
                      </a:pPr>
                      <a:r>
                        <a:rPr lang="tr-TR" sz="1300" noProof="0" dirty="0" err="1"/>
                        <a:t>Lowercasing</a:t>
                      </a:r>
                      <a:endParaRPr lang="tr-TR" sz="1300" noProof="0" dirty="0"/>
                    </a:p>
                  </a:txBody>
                  <a:tcPr anchor="ctr"/>
                </a:tc>
                <a:extLst>
                  <a:ext uri="{0D108BD9-81ED-4DB2-BD59-A6C34878D82A}">
                    <a16:rowId xmlns:a16="http://schemas.microsoft.com/office/drawing/2014/main" val="3239308789"/>
                  </a:ext>
                </a:extLst>
              </a:tr>
              <a:tr h="497819">
                <a:tc>
                  <a:txBody>
                    <a:bodyPr/>
                    <a:lstStyle/>
                    <a:p>
                      <a:pPr>
                        <a:buNone/>
                      </a:pPr>
                      <a:r>
                        <a:rPr lang="tr-TR" sz="1300" noProof="0" dirty="0"/>
                        <a:t>Noktalama &amp; Karakter Temizliği</a:t>
                      </a:r>
                    </a:p>
                  </a:txBody>
                  <a:tcPr anchor="ctr"/>
                </a:tc>
                <a:tc>
                  <a:txBody>
                    <a:bodyPr/>
                    <a:lstStyle/>
                    <a:p>
                      <a:pPr>
                        <a:buNone/>
                      </a:pPr>
                      <a:r>
                        <a:rPr lang="tr-TR" sz="1300" noProof="0" dirty="0" err="1"/>
                        <a:t>Punctuation</a:t>
                      </a:r>
                      <a:r>
                        <a:rPr lang="tr-TR" sz="1300" noProof="0" dirty="0"/>
                        <a:t> &amp; </a:t>
                      </a:r>
                      <a:r>
                        <a:rPr lang="tr-TR" sz="1300" noProof="0" dirty="0" err="1"/>
                        <a:t>Character</a:t>
                      </a:r>
                      <a:r>
                        <a:rPr lang="tr-TR" sz="1300" noProof="0" dirty="0"/>
                        <a:t> </a:t>
                      </a:r>
                      <a:r>
                        <a:rPr lang="tr-TR" sz="1300" noProof="0" dirty="0" err="1"/>
                        <a:t>Cleaning</a:t>
                      </a:r>
                      <a:endParaRPr lang="tr-TR" sz="1300" noProof="0" dirty="0"/>
                    </a:p>
                  </a:txBody>
                  <a:tcPr anchor="ctr"/>
                </a:tc>
                <a:extLst>
                  <a:ext uri="{0D108BD9-81ED-4DB2-BD59-A6C34878D82A}">
                    <a16:rowId xmlns:a16="http://schemas.microsoft.com/office/drawing/2014/main" val="4099150750"/>
                  </a:ext>
                </a:extLst>
              </a:tr>
              <a:tr h="497819">
                <a:tc>
                  <a:txBody>
                    <a:bodyPr/>
                    <a:lstStyle/>
                    <a:p>
                      <a:pPr>
                        <a:buNone/>
                      </a:pPr>
                      <a:r>
                        <a:rPr lang="tr-TR" sz="1300" noProof="0" dirty="0"/>
                        <a:t>Emoji / URL / </a:t>
                      </a:r>
                      <a:r>
                        <a:rPr lang="tr-TR" sz="1300" noProof="0" dirty="0" err="1"/>
                        <a:t>Mention</a:t>
                      </a:r>
                      <a:r>
                        <a:rPr lang="tr-TR" sz="1300" noProof="0" dirty="0"/>
                        <a:t> Temizliği</a:t>
                      </a:r>
                    </a:p>
                  </a:txBody>
                  <a:tcPr anchor="ctr"/>
                </a:tc>
                <a:tc>
                  <a:txBody>
                    <a:bodyPr/>
                    <a:lstStyle/>
                    <a:p>
                      <a:pPr>
                        <a:buNone/>
                      </a:pPr>
                      <a:r>
                        <a:rPr lang="tr-TR" sz="1300" noProof="0" dirty="0"/>
                        <a:t>Emoji / URL / </a:t>
                      </a:r>
                      <a:r>
                        <a:rPr lang="tr-TR" sz="1300" noProof="0" dirty="0" err="1"/>
                        <a:t>Mention</a:t>
                      </a:r>
                      <a:r>
                        <a:rPr lang="tr-TR" sz="1300" noProof="0" dirty="0"/>
                        <a:t> </a:t>
                      </a:r>
                      <a:r>
                        <a:rPr lang="tr-TR" sz="1300" noProof="0" dirty="0" err="1"/>
                        <a:t>Cleaning</a:t>
                      </a:r>
                      <a:endParaRPr lang="tr-TR" sz="1300" noProof="0" dirty="0"/>
                    </a:p>
                  </a:txBody>
                  <a:tcPr anchor="ctr"/>
                </a:tc>
                <a:extLst>
                  <a:ext uri="{0D108BD9-81ED-4DB2-BD59-A6C34878D82A}">
                    <a16:rowId xmlns:a16="http://schemas.microsoft.com/office/drawing/2014/main" val="1244942668"/>
                  </a:ext>
                </a:extLst>
              </a:tr>
              <a:tr h="371673">
                <a:tc>
                  <a:txBody>
                    <a:bodyPr/>
                    <a:lstStyle/>
                    <a:p>
                      <a:pPr>
                        <a:buNone/>
                      </a:pPr>
                      <a:r>
                        <a:rPr lang="tr-TR" sz="1300" noProof="0" dirty="0" err="1"/>
                        <a:t>Stopword</a:t>
                      </a:r>
                      <a:r>
                        <a:rPr lang="tr-TR" sz="1300" noProof="0" dirty="0"/>
                        <a:t> Temizliği</a:t>
                      </a:r>
                    </a:p>
                  </a:txBody>
                  <a:tcPr anchor="ctr"/>
                </a:tc>
                <a:tc>
                  <a:txBody>
                    <a:bodyPr/>
                    <a:lstStyle/>
                    <a:p>
                      <a:pPr>
                        <a:buNone/>
                      </a:pPr>
                      <a:r>
                        <a:rPr lang="tr-TR" sz="1300" noProof="0" dirty="0" err="1"/>
                        <a:t>Stopword</a:t>
                      </a:r>
                      <a:r>
                        <a:rPr lang="tr-TR" sz="1300" noProof="0" dirty="0"/>
                        <a:t> </a:t>
                      </a:r>
                      <a:r>
                        <a:rPr lang="tr-TR" sz="1300" noProof="0" dirty="0" err="1"/>
                        <a:t>Removal</a:t>
                      </a:r>
                      <a:endParaRPr lang="tr-TR" sz="1300" noProof="0" dirty="0"/>
                    </a:p>
                  </a:txBody>
                  <a:tcPr anchor="ctr"/>
                </a:tc>
                <a:extLst>
                  <a:ext uri="{0D108BD9-81ED-4DB2-BD59-A6C34878D82A}">
                    <a16:rowId xmlns:a16="http://schemas.microsoft.com/office/drawing/2014/main" val="359104596"/>
                  </a:ext>
                </a:extLst>
              </a:tr>
              <a:tr h="371673">
                <a:tc>
                  <a:txBody>
                    <a:bodyPr/>
                    <a:lstStyle/>
                    <a:p>
                      <a:pPr>
                        <a:buNone/>
                      </a:pPr>
                      <a:r>
                        <a:rPr lang="tr-TR" sz="1300" noProof="0" dirty="0" err="1"/>
                        <a:t>Tokenizasyon</a:t>
                      </a:r>
                      <a:endParaRPr lang="tr-TR" sz="1300" noProof="0" dirty="0"/>
                    </a:p>
                  </a:txBody>
                  <a:tcPr anchor="ctr"/>
                </a:tc>
                <a:tc>
                  <a:txBody>
                    <a:bodyPr/>
                    <a:lstStyle/>
                    <a:p>
                      <a:pPr>
                        <a:buNone/>
                      </a:pPr>
                      <a:r>
                        <a:rPr lang="tr-TR" sz="1300" noProof="0" dirty="0" err="1"/>
                        <a:t>Tokenization</a:t>
                      </a:r>
                      <a:endParaRPr lang="tr-TR" sz="1300" noProof="0" dirty="0"/>
                    </a:p>
                  </a:txBody>
                  <a:tcPr anchor="ctr"/>
                </a:tc>
                <a:extLst>
                  <a:ext uri="{0D108BD9-81ED-4DB2-BD59-A6C34878D82A}">
                    <a16:rowId xmlns:a16="http://schemas.microsoft.com/office/drawing/2014/main" val="2126888867"/>
                  </a:ext>
                </a:extLst>
              </a:tr>
              <a:tr h="484708">
                <a:tc>
                  <a:txBody>
                    <a:bodyPr/>
                    <a:lstStyle/>
                    <a:p>
                      <a:pPr>
                        <a:buNone/>
                      </a:pPr>
                      <a:r>
                        <a:rPr lang="tr-TR" sz="1300" noProof="0" dirty="0" err="1"/>
                        <a:t>Lemmatisation</a:t>
                      </a:r>
                      <a:r>
                        <a:rPr lang="tr-TR" sz="1300" noProof="0" dirty="0"/>
                        <a:t> / </a:t>
                      </a:r>
                      <a:r>
                        <a:rPr lang="tr-TR" sz="1300" noProof="0" dirty="0" err="1"/>
                        <a:t>Stemming</a:t>
                      </a:r>
                      <a:endParaRPr lang="tr-TR" sz="1300" noProof="0" dirty="0"/>
                    </a:p>
                  </a:txBody>
                  <a:tcPr anchor="ctr"/>
                </a:tc>
                <a:tc>
                  <a:txBody>
                    <a:bodyPr/>
                    <a:lstStyle/>
                    <a:p>
                      <a:pPr>
                        <a:buNone/>
                      </a:pPr>
                      <a:r>
                        <a:rPr lang="tr-TR" sz="1300" noProof="0" dirty="0" err="1"/>
                        <a:t>Lemmatization</a:t>
                      </a:r>
                      <a:r>
                        <a:rPr lang="tr-TR" sz="1300" noProof="0" dirty="0"/>
                        <a:t> / </a:t>
                      </a:r>
                      <a:r>
                        <a:rPr lang="tr-TR" sz="1300" noProof="0" dirty="0" err="1"/>
                        <a:t>Stemming</a:t>
                      </a:r>
                      <a:endParaRPr lang="tr-TR" sz="1300" noProof="0" dirty="0"/>
                    </a:p>
                  </a:txBody>
                  <a:tcPr anchor="ctr"/>
                </a:tc>
                <a:extLst>
                  <a:ext uri="{0D108BD9-81ED-4DB2-BD59-A6C34878D82A}">
                    <a16:rowId xmlns:a16="http://schemas.microsoft.com/office/drawing/2014/main" val="2855513488"/>
                  </a:ext>
                </a:extLst>
              </a:tr>
            </a:tbl>
          </a:graphicData>
        </a:graphic>
      </p:graphicFrame>
      <p:sp>
        <p:nvSpPr>
          <p:cNvPr id="54" name="TextBox 53">
            <a:extLst>
              <a:ext uri="{FF2B5EF4-FFF2-40B4-BE49-F238E27FC236}">
                <a16:creationId xmlns:a16="http://schemas.microsoft.com/office/drawing/2014/main" id="{812281EE-924A-2D2B-5817-4E83F18C8F2D}"/>
              </a:ext>
            </a:extLst>
          </p:cNvPr>
          <p:cNvSpPr txBox="1"/>
          <p:nvPr/>
        </p:nvSpPr>
        <p:spPr>
          <a:xfrm>
            <a:off x="8184602" y="5538859"/>
            <a:ext cx="3368229" cy="283154"/>
          </a:xfrm>
          <a:prstGeom prst="rect">
            <a:avLst/>
          </a:prstGeom>
          <a:noFill/>
        </p:spPr>
        <p:txBody>
          <a:bodyPr wrap="square">
            <a:spAutoFit/>
          </a:bodyPr>
          <a:lstStyle/>
          <a:p>
            <a:pPr algn="ctr">
              <a:lnSpc>
                <a:spcPct val="125000"/>
              </a:lnSpc>
            </a:pPr>
            <a:r>
              <a:rPr lang="tr-TR" sz="1100" noProof="0" dirty="0"/>
              <a:t>Terimlerin Türkçe–İngilizce karşılıkları</a:t>
            </a:r>
            <a:endParaRPr lang="tr-TR" sz="1100" dirty="0"/>
          </a:p>
        </p:txBody>
      </p:sp>
      <p:sp>
        <p:nvSpPr>
          <p:cNvPr id="56" name="TextBox 55">
            <a:extLst>
              <a:ext uri="{FF2B5EF4-FFF2-40B4-BE49-F238E27FC236}">
                <a16:creationId xmlns:a16="http://schemas.microsoft.com/office/drawing/2014/main" id="{3F5DEDE5-BA03-9DB5-11CB-2D347C8AFFE5}"/>
              </a:ext>
            </a:extLst>
          </p:cNvPr>
          <p:cNvSpPr txBox="1"/>
          <p:nvPr/>
        </p:nvSpPr>
        <p:spPr>
          <a:xfrm>
            <a:off x="8184602" y="2026955"/>
            <a:ext cx="3415082" cy="553998"/>
          </a:xfrm>
          <a:prstGeom prst="rect">
            <a:avLst/>
          </a:prstGeom>
          <a:noFill/>
        </p:spPr>
        <p:txBody>
          <a:bodyPr wrap="square">
            <a:spAutoFit/>
          </a:bodyPr>
          <a:lstStyle/>
          <a:p>
            <a:pPr algn="ctr"/>
            <a:r>
              <a:rPr lang="tr-TR" sz="1500" noProof="0" dirty="0"/>
              <a:t>Metin Temizleme Adımlarına Ait İngilizce Terimler</a:t>
            </a:r>
          </a:p>
        </p:txBody>
      </p:sp>
    </p:spTree>
    <p:extLst>
      <p:ext uri="{BB962C8B-B14F-4D97-AF65-F5344CB8AC3E}">
        <p14:creationId xmlns:p14="http://schemas.microsoft.com/office/powerpoint/2010/main" val="863349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147EB-17E5-92EB-56A5-872ADFD33473}"/>
            </a:ext>
          </a:extLst>
        </p:cNvPr>
        <p:cNvGrpSpPr/>
        <p:nvPr/>
      </p:nvGrpSpPr>
      <p:grpSpPr>
        <a:xfrm>
          <a:off x="0" y="0"/>
          <a:ext cx="0" cy="0"/>
          <a:chOff x="0" y="0"/>
          <a:chExt cx="0" cy="0"/>
        </a:xfrm>
      </p:grpSpPr>
      <p:pic>
        <p:nvPicPr>
          <p:cNvPr id="33" name="Picture 32" descr="A diagram of a foreign language&#10;&#10;AI-generated content may be incorrect.">
            <a:extLst>
              <a:ext uri="{FF2B5EF4-FFF2-40B4-BE49-F238E27FC236}">
                <a16:creationId xmlns:a16="http://schemas.microsoft.com/office/drawing/2014/main" id="{8C559D66-C5E4-B579-6CFE-AAD786AF03CF}"/>
              </a:ext>
            </a:extLst>
          </p:cNvPr>
          <p:cNvPicPr>
            <a:picLocks noChangeAspect="1"/>
          </p:cNvPicPr>
          <p:nvPr/>
        </p:nvPicPr>
        <p:blipFill>
          <a:blip r:embed="rId3"/>
          <a:srcRect l="14831" t="6268" r="17737" b="9719"/>
          <a:stretch>
            <a:fillRect/>
          </a:stretch>
        </p:blipFill>
        <p:spPr>
          <a:xfrm>
            <a:off x="4203511" y="2538479"/>
            <a:ext cx="2954740" cy="2983670"/>
          </a:xfrm>
          <a:prstGeom prst="rect">
            <a:avLst/>
          </a:prstGeom>
        </p:spPr>
      </p:pic>
      <p:sp>
        <p:nvSpPr>
          <p:cNvPr id="19" name="TextBox 18">
            <a:extLst>
              <a:ext uri="{FF2B5EF4-FFF2-40B4-BE49-F238E27FC236}">
                <a16:creationId xmlns:a16="http://schemas.microsoft.com/office/drawing/2014/main" id="{234A4887-6A9C-64D1-83A3-97A21EE18611}"/>
              </a:ext>
            </a:extLst>
          </p:cNvPr>
          <p:cNvSpPr txBox="1"/>
          <p:nvPr/>
        </p:nvSpPr>
        <p:spPr>
          <a:xfrm>
            <a:off x="610003" y="1461487"/>
            <a:ext cx="5136456" cy="835293"/>
          </a:xfrm>
          <a:prstGeom prst="rect">
            <a:avLst/>
          </a:prstGeom>
          <a:noFill/>
        </p:spPr>
        <p:txBody>
          <a:bodyPr wrap="square">
            <a:spAutoFit/>
          </a:bodyPr>
          <a:lstStyle/>
          <a:p>
            <a:pPr>
              <a:lnSpc>
                <a:spcPct val="125000"/>
              </a:lnSpc>
            </a:pPr>
            <a:r>
              <a:rPr lang="tr-TR" sz="1300" b="1" noProof="0" dirty="0" err="1"/>
              <a:t>Tokenization</a:t>
            </a:r>
            <a:r>
              <a:rPr lang="tr-TR" sz="1300" b="1" noProof="0" dirty="0"/>
              <a:t> Nedir?</a:t>
            </a:r>
          </a:p>
          <a:p>
            <a:pPr>
              <a:lnSpc>
                <a:spcPct val="125000"/>
              </a:lnSpc>
            </a:pPr>
            <a:r>
              <a:rPr lang="tr-TR" sz="1300" noProof="0" dirty="0"/>
              <a:t>Metni küçük parçalara ayırma işlemidir.</a:t>
            </a:r>
            <a:br>
              <a:rPr lang="tr-TR" sz="1300" noProof="0" dirty="0"/>
            </a:br>
            <a:r>
              <a:rPr lang="tr-TR" sz="1300" noProof="0" dirty="0"/>
              <a:t>Bu parçalar kelime, cümle veya alt birimler (</a:t>
            </a:r>
            <a:r>
              <a:rPr lang="tr-TR" sz="1300" noProof="0" dirty="0" err="1"/>
              <a:t>subword</a:t>
            </a:r>
            <a:r>
              <a:rPr lang="tr-TR" sz="1300" noProof="0" dirty="0"/>
              <a:t>) olabilir</a:t>
            </a:r>
            <a:r>
              <a:rPr lang="en-US" sz="1400" dirty="0"/>
              <a:t>.</a:t>
            </a:r>
          </a:p>
        </p:txBody>
      </p:sp>
      <p:sp>
        <p:nvSpPr>
          <p:cNvPr id="21" name="TextBox 20">
            <a:extLst>
              <a:ext uri="{FF2B5EF4-FFF2-40B4-BE49-F238E27FC236}">
                <a16:creationId xmlns:a16="http://schemas.microsoft.com/office/drawing/2014/main" id="{DB435CED-E657-4B40-4808-6A7FF2DA3FC9}"/>
              </a:ext>
            </a:extLst>
          </p:cNvPr>
          <p:cNvSpPr txBox="1"/>
          <p:nvPr/>
        </p:nvSpPr>
        <p:spPr>
          <a:xfrm>
            <a:off x="610003" y="2234374"/>
            <a:ext cx="4977066" cy="1068049"/>
          </a:xfrm>
          <a:prstGeom prst="rect">
            <a:avLst/>
          </a:prstGeom>
          <a:noFill/>
        </p:spPr>
        <p:txBody>
          <a:bodyPr wrap="square">
            <a:spAutoFit/>
          </a:bodyPr>
          <a:lstStyle/>
          <a:p>
            <a:pPr>
              <a:lnSpc>
                <a:spcPct val="125000"/>
              </a:lnSpc>
              <a:buNone/>
            </a:pPr>
            <a:r>
              <a:rPr lang="tr-TR" sz="1300" b="1" noProof="0" dirty="0"/>
              <a:t>Neden Yapılır?</a:t>
            </a:r>
          </a:p>
          <a:p>
            <a:pPr>
              <a:lnSpc>
                <a:spcPct val="125000"/>
              </a:lnSpc>
              <a:buFont typeface="Arial" panose="020B0604020202020204" pitchFamily="34" charset="0"/>
              <a:buChar char="•"/>
            </a:pPr>
            <a:r>
              <a:rPr lang="tr-TR" sz="1300" noProof="0" dirty="0"/>
              <a:t>Metni modelin anlayabileceği birimlere böler.</a:t>
            </a:r>
          </a:p>
          <a:p>
            <a:pPr>
              <a:lnSpc>
                <a:spcPct val="125000"/>
              </a:lnSpc>
              <a:buFont typeface="Arial" panose="020B0604020202020204" pitchFamily="34" charset="0"/>
              <a:buChar char="•"/>
            </a:pPr>
            <a:r>
              <a:rPr lang="tr-TR" sz="1300" noProof="0" dirty="0"/>
              <a:t>Uzun metinlerin işlenmesini kolaylaştırır.</a:t>
            </a:r>
          </a:p>
          <a:p>
            <a:pPr>
              <a:lnSpc>
                <a:spcPct val="125000"/>
              </a:lnSpc>
              <a:buFont typeface="Arial" panose="020B0604020202020204" pitchFamily="34" charset="0"/>
              <a:buChar char="•"/>
            </a:pPr>
            <a:r>
              <a:rPr lang="tr-TR" sz="1300" noProof="0" dirty="0"/>
              <a:t>Analiz doğruluğunu artırır.</a:t>
            </a:r>
          </a:p>
        </p:txBody>
      </p:sp>
      <p:sp>
        <p:nvSpPr>
          <p:cNvPr id="23" name="TextBox 22">
            <a:extLst>
              <a:ext uri="{FF2B5EF4-FFF2-40B4-BE49-F238E27FC236}">
                <a16:creationId xmlns:a16="http://schemas.microsoft.com/office/drawing/2014/main" id="{9A921936-D377-D676-AE2A-358F25CF2AD3}"/>
              </a:ext>
            </a:extLst>
          </p:cNvPr>
          <p:cNvSpPr txBox="1"/>
          <p:nvPr/>
        </p:nvSpPr>
        <p:spPr>
          <a:xfrm>
            <a:off x="630240" y="3320825"/>
            <a:ext cx="3952827" cy="1218090"/>
          </a:xfrm>
          <a:prstGeom prst="rect">
            <a:avLst/>
          </a:prstGeom>
          <a:noFill/>
        </p:spPr>
        <p:txBody>
          <a:bodyPr wrap="square">
            <a:spAutoFit/>
          </a:bodyPr>
          <a:lstStyle/>
          <a:p>
            <a:pPr>
              <a:buNone/>
            </a:pPr>
            <a:r>
              <a:rPr lang="tr-TR" sz="1300" b="1" noProof="0" dirty="0" err="1"/>
              <a:t>Tokenization</a:t>
            </a:r>
            <a:r>
              <a:rPr lang="tr-TR" sz="1300" b="1" noProof="0" dirty="0"/>
              <a:t> Türleri</a:t>
            </a:r>
          </a:p>
          <a:p>
            <a:pPr>
              <a:buNone/>
            </a:pPr>
            <a:r>
              <a:rPr lang="tr-TR" sz="1300" b="1" noProof="0" dirty="0"/>
              <a:t>1) Kelime </a:t>
            </a:r>
            <a:r>
              <a:rPr lang="tr-TR" sz="1300" b="1" noProof="0" dirty="0" err="1"/>
              <a:t>Tokenizasyonu</a:t>
            </a:r>
            <a:r>
              <a:rPr lang="tr-TR" sz="1300" b="1" noProof="0" dirty="0"/>
              <a:t> (Word </a:t>
            </a:r>
            <a:r>
              <a:rPr lang="tr-TR" sz="1300" b="1" noProof="0" dirty="0" err="1"/>
              <a:t>Tokenization</a:t>
            </a:r>
            <a:r>
              <a:rPr lang="tr-TR" sz="1300" b="1" noProof="0" dirty="0"/>
              <a:t>)</a:t>
            </a:r>
          </a:p>
          <a:p>
            <a:pPr>
              <a:lnSpc>
                <a:spcPct val="125000"/>
              </a:lnSpc>
              <a:buNone/>
            </a:pPr>
            <a:r>
              <a:rPr lang="tr-TR" sz="1300" noProof="0" dirty="0"/>
              <a:t>Metni kelimelere ayırır.</a:t>
            </a:r>
            <a:br>
              <a:rPr lang="tr-TR" sz="1300" noProof="0" dirty="0"/>
            </a:br>
            <a:r>
              <a:rPr lang="tr-TR" sz="1300" noProof="0" dirty="0"/>
              <a:t>Örnek:</a:t>
            </a:r>
            <a:br>
              <a:rPr lang="tr-TR" sz="1300" noProof="0" dirty="0"/>
            </a:br>
            <a:r>
              <a:rPr lang="tr-TR" sz="1300" noProof="0" dirty="0"/>
              <a:t>"Bugün hava güzel. → ['bugün', 'hava', 'güzel']</a:t>
            </a:r>
          </a:p>
        </p:txBody>
      </p:sp>
      <p:sp>
        <p:nvSpPr>
          <p:cNvPr id="25" name="TextBox 24">
            <a:extLst>
              <a:ext uri="{FF2B5EF4-FFF2-40B4-BE49-F238E27FC236}">
                <a16:creationId xmlns:a16="http://schemas.microsoft.com/office/drawing/2014/main" id="{55B05877-F7B3-40BA-B1C2-EB33E0FB062D}"/>
              </a:ext>
            </a:extLst>
          </p:cNvPr>
          <p:cNvSpPr txBox="1"/>
          <p:nvPr/>
        </p:nvSpPr>
        <p:spPr>
          <a:xfrm>
            <a:off x="594291" y="4557317"/>
            <a:ext cx="3993302" cy="1568186"/>
          </a:xfrm>
          <a:prstGeom prst="rect">
            <a:avLst/>
          </a:prstGeom>
          <a:noFill/>
        </p:spPr>
        <p:txBody>
          <a:bodyPr wrap="square">
            <a:spAutoFit/>
          </a:bodyPr>
          <a:lstStyle/>
          <a:p>
            <a:pPr>
              <a:lnSpc>
                <a:spcPct val="125000"/>
              </a:lnSpc>
              <a:buNone/>
            </a:pPr>
            <a:r>
              <a:rPr lang="tr-TR" sz="1300" b="1" noProof="0" dirty="0"/>
              <a:t>2) Cümle </a:t>
            </a:r>
            <a:r>
              <a:rPr lang="tr-TR" sz="1300" b="1" noProof="0" dirty="0" err="1"/>
              <a:t>Tokenizasyonu</a:t>
            </a:r>
            <a:r>
              <a:rPr lang="tr-TR" sz="1300" b="1" noProof="0" dirty="0"/>
              <a:t> (</a:t>
            </a:r>
            <a:r>
              <a:rPr lang="tr-TR" sz="1300" b="1" noProof="0" dirty="0" err="1"/>
              <a:t>Sentence</a:t>
            </a:r>
            <a:r>
              <a:rPr lang="tr-TR" sz="1300" b="1" noProof="0" dirty="0"/>
              <a:t> </a:t>
            </a:r>
            <a:r>
              <a:rPr lang="tr-TR" sz="1300" b="1" noProof="0" dirty="0" err="1"/>
              <a:t>Tokenization</a:t>
            </a:r>
            <a:r>
              <a:rPr lang="tr-TR" sz="1300" noProof="0" dirty="0"/>
              <a:t>)</a:t>
            </a:r>
          </a:p>
          <a:p>
            <a:pPr>
              <a:lnSpc>
                <a:spcPct val="125000"/>
              </a:lnSpc>
              <a:buNone/>
            </a:pPr>
            <a:r>
              <a:rPr lang="tr-TR" sz="1300" noProof="0" dirty="0"/>
              <a:t>Metni cümlelere böler.</a:t>
            </a:r>
            <a:br>
              <a:rPr lang="tr-TR" sz="1300" noProof="0" dirty="0"/>
            </a:br>
            <a:r>
              <a:rPr lang="tr-TR" sz="1300" noProof="0" dirty="0"/>
              <a:t>Örnek:</a:t>
            </a:r>
            <a:br>
              <a:rPr lang="tr-TR" sz="1300" noProof="0" dirty="0"/>
            </a:br>
            <a:r>
              <a:rPr lang="tr-TR" sz="1300" noProof="0" dirty="0"/>
              <a:t>"Bugün hava güzel. Dışarı çıkacağım."</a:t>
            </a:r>
            <a:br>
              <a:rPr lang="tr-TR" sz="1300" noProof="0" dirty="0"/>
            </a:br>
            <a:r>
              <a:rPr lang="tr-TR" sz="1300" noProof="0" dirty="0"/>
              <a:t>→ ['Bugün hava güzel.', 'Dışarı çıkacağım.']</a:t>
            </a:r>
          </a:p>
        </p:txBody>
      </p:sp>
      <p:sp>
        <p:nvSpPr>
          <p:cNvPr id="27" name="TextBox 26">
            <a:extLst>
              <a:ext uri="{FF2B5EF4-FFF2-40B4-BE49-F238E27FC236}">
                <a16:creationId xmlns:a16="http://schemas.microsoft.com/office/drawing/2014/main" id="{DAFFF3C2-7685-C1DF-0859-309EB2746A7F}"/>
              </a:ext>
            </a:extLst>
          </p:cNvPr>
          <p:cNvSpPr txBox="1"/>
          <p:nvPr/>
        </p:nvSpPr>
        <p:spPr>
          <a:xfrm>
            <a:off x="6621712" y="735197"/>
            <a:ext cx="4795705" cy="1068049"/>
          </a:xfrm>
          <a:prstGeom prst="rect">
            <a:avLst/>
          </a:prstGeom>
          <a:noFill/>
        </p:spPr>
        <p:txBody>
          <a:bodyPr wrap="square">
            <a:spAutoFit/>
          </a:bodyPr>
          <a:lstStyle/>
          <a:p>
            <a:pPr>
              <a:lnSpc>
                <a:spcPct val="125000"/>
              </a:lnSpc>
              <a:buNone/>
            </a:pPr>
            <a:r>
              <a:rPr lang="tr-TR" sz="1300" b="1" noProof="0" dirty="0"/>
              <a:t>3) Alt Birim </a:t>
            </a:r>
            <a:r>
              <a:rPr lang="tr-TR" sz="1300" b="1" noProof="0" dirty="0" err="1"/>
              <a:t>Tokenizasyonu</a:t>
            </a:r>
            <a:r>
              <a:rPr lang="tr-TR" sz="1300" b="1" noProof="0" dirty="0"/>
              <a:t> (</a:t>
            </a:r>
            <a:r>
              <a:rPr lang="tr-TR" sz="1300" b="1" noProof="0" dirty="0" err="1"/>
              <a:t>Subword</a:t>
            </a:r>
            <a:r>
              <a:rPr lang="tr-TR" sz="1300" b="1" noProof="0" dirty="0"/>
              <a:t> </a:t>
            </a:r>
            <a:r>
              <a:rPr lang="tr-TR" sz="1300" b="1" noProof="0" dirty="0" err="1"/>
              <a:t>Tokenization</a:t>
            </a:r>
            <a:r>
              <a:rPr lang="tr-TR" sz="1300" b="1" noProof="0" dirty="0"/>
              <a:t>)</a:t>
            </a:r>
          </a:p>
          <a:p>
            <a:pPr>
              <a:lnSpc>
                <a:spcPct val="125000"/>
              </a:lnSpc>
              <a:buNone/>
            </a:pPr>
            <a:r>
              <a:rPr lang="tr-TR" sz="1300" noProof="0" dirty="0"/>
              <a:t>BPE, </a:t>
            </a:r>
            <a:r>
              <a:rPr lang="tr-TR" sz="1300" noProof="0" dirty="0" err="1"/>
              <a:t>WordPiece</a:t>
            </a:r>
            <a:r>
              <a:rPr lang="tr-TR" sz="1300" noProof="0" dirty="0"/>
              <a:t> gibi modellerin kullandığı yöntemdir.</a:t>
            </a:r>
            <a:br>
              <a:rPr lang="tr-TR" sz="1300" noProof="0" dirty="0"/>
            </a:br>
            <a:r>
              <a:rPr lang="tr-TR" sz="1300" noProof="0" dirty="0"/>
              <a:t>Örnek:</a:t>
            </a:r>
            <a:br>
              <a:rPr lang="tr-TR" sz="1300" noProof="0" dirty="0"/>
            </a:br>
            <a:r>
              <a:rPr lang="tr-TR" sz="1300" noProof="0" dirty="0"/>
              <a:t>"çalışıyorum" → "çalış" + "</a:t>
            </a:r>
            <a:r>
              <a:rPr lang="tr-TR" sz="1300" noProof="0" dirty="0" err="1"/>
              <a:t>ıyor</a:t>
            </a:r>
            <a:r>
              <a:rPr lang="tr-TR" sz="1300" noProof="0" dirty="0"/>
              <a:t>" + "um"</a:t>
            </a:r>
          </a:p>
        </p:txBody>
      </p:sp>
      <p:sp>
        <p:nvSpPr>
          <p:cNvPr id="29" name="TextBox 28">
            <a:extLst>
              <a:ext uri="{FF2B5EF4-FFF2-40B4-BE49-F238E27FC236}">
                <a16:creationId xmlns:a16="http://schemas.microsoft.com/office/drawing/2014/main" id="{5A3C0C0E-BF7B-12BE-1941-42F2EC61C0F5}"/>
              </a:ext>
            </a:extLst>
          </p:cNvPr>
          <p:cNvSpPr txBox="1"/>
          <p:nvPr/>
        </p:nvSpPr>
        <p:spPr>
          <a:xfrm>
            <a:off x="6604933" y="1885135"/>
            <a:ext cx="4617790" cy="567912"/>
          </a:xfrm>
          <a:prstGeom prst="rect">
            <a:avLst/>
          </a:prstGeom>
          <a:noFill/>
        </p:spPr>
        <p:txBody>
          <a:bodyPr wrap="square">
            <a:spAutoFit/>
          </a:bodyPr>
          <a:lstStyle/>
          <a:p>
            <a:pPr>
              <a:lnSpc>
                <a:spcPct val="125000"/>
              </a:lnSpc>
            </a:pPr>
            <a:r>
              <a:rPr lang="tr-TR" sz="1300" noProof="0" dirty="0" err="1"/>
              <a:t>Tokenization</a:t>
            </a:r>
            <a:r>
              <a:rPr lang="tr-TR" sz="1300" noProof="0" dirty="0"/>
              <a:t> = Metni böl → anlamlı parçalara ayır → modele hazır hâle getir.</a:t>
            </a:r>
          </a:p>
        </p:txBody>
      </p:sp>
      <p:graphicFrame>
        <p:nvGraphicFramePr>
          <p:cNvPr id="34" name="Table 33">
            <a:extLst>
              <a:ext uri="{FF2B5EF4-FFF2-40B4-BE49-F238E27FC236}">
                <a16:creationId xmlns:a16="http://schemas.microsoft.com/office/drawing/2014/main" id="{8304343D-9058-FF0D-4E84-603875E9C5FF}"/>
              </a:ext>
            </a:extLst>
          </p:cNvPr>
          <p:cNvGraphicFramePr>
            <a:graphicFrameLocks noGrp="1"/>
          </p:cNvGraphicFramePr>
          <p:nvPr>
            <p:extLst>
              <p:ext uri="{D42A27DB-BD31-4B8C-83A1-F6EECF244321}">
                <p14:modId xmlns:p14="http://schemas.microsoft.com/office/powerpoint/2010/main" val="4240821090"/>
              </p:ext>
            </p:extLst>
          </p:nvPr>
        </p:nvGraphicFramePr>
        <p:xfrm>
          <a:off x="7384228" y="3087620"/>
          <a:ext cx="4197770" cy="2727960"/>
        </p:xfrm>
        <a:graphic>
          <a:graphicData uri="http://schemas.openxmlformats.org/drawingml/2006/table">
            <a:tbl>
              <a:tblPr firstRow="1" bandRow="1">
                <a:tableStyleId>{5C22544A-7EE6-4342-B048-85BDC9FD1C3A}</a:tableStyleId>
              </a:tblPr>
              <a:tblGrid>
                <a:gridCol w="1936049">
                  <a:extLst>
                    <a:ext uri="{9D8B030D-6E8A-4147-A177-3AD203B41FA5}">
                      <a16:colId xmlns:a16="http://schemas.microsoft.com/office/drawing/2014/main" val="1629781233"/>
                    </a:ext>
                  </a:extLst>
                </a:gridCol>
                <a:gridCol w="2261721">
                  <a:extLst>
                    <a:ext uri="{9D8B030D-6E8A-4147-A177-3AD203B41FA5}">
                      <a16:colId xmlns:a16="http://schemas.microsoft.com/office/drawing/2014/main" val="3339620308"/>
                    </a:ext>
                  </a:extLst>
                </a:gridCol>
              </a:tblGrid>
              <a:tr h="370840">
                <a:tc>
                  <a:txBody>
                    <a:bodyPr/>
                    <a:lstStyle/>
                    <a:p>
                      <a:pPr>
                        <a:buNone/>
                      </a:pPr>
                      <a:r>
                        <a:rPr lang="tr-TR" sz="1300" b="0" noProof="0" dirty="0"/>
                        <a:t>Türkçe Terim</a:t>
                      </a:r>
                    </a:p>
                  </a:txBody>
                  <a:tcPr anchor="ctr"/>
                </a:tc>
                <a:tc>
                  <a:txBody>
                    <a:bodyPr/>
                    <a:lstStyle/>
                    <a:p>
                      <a:pPr>
                        <a:buNone/>
                      </a:pPr>
                      <a:r>
                        <a:rPr lang="tr-TR" sz="1300" b="0" noProof="0" dirty="0"/>
                        <a:t>İngilizce Terim</a:t>
                      </a:r>
                    </a:p>
                  </a:txBody>
                  <a:tcPr anchor="ctr"/>
                </a:tc>
                <a:extLst>
                  <a:ext uri="{0D108BD9-81ED-4DB2-BD59-A6C34878D82A}">
                    <a16:rowId xmlns:a16="http://schemas.microsoft.com/office/drawing/2014/main" val="1379043970"/>
                  </a:ext>
                </a:extLst>
              </a:tr>
              <a:tr h="370840">
                <a:tc>
                  <a:txBody>
                    <a:bodyPr/>
                    <a:lstStyle/>
                    <a:p>
                      <a:pPr>
                        <a:buNone/>
                      </a:pPr>
                      <a:r>
                        <a:rPr lang="tr-TR" sz="1300" b="0" noProof="0" dirty="0" err="1"/>
                        <a:t>Tokenizasyon</a:t>
                      </a:r>
                      <a:endParaRPr lang="tr-TR" sz="1300" b="0" noProof="0" dirty="0"/>
                    </a:p>
                  </a:txBody>
                  <a:tcPr anchor="ctr"/>
                </a:tc>
                <a:tc>
                  <a:txBody>
                    <a:bodyPr/>
                    <a:lstStyle/>
                    <a:p>
                      <a:pPr>
                        <a:buNone/>
                      </a:pPr>
                      <a:r>
                        <a:rPr lang="tr-TR" sz="1300" b="0" noProof="0" dirty="0" err="1"/>
                        <a:t>Tokenization</a:t>
                      </a:r>
                      <a:endParaRPr lang="tr-TR" sz="1300" b="0" noProof="0" dirty="0"/>
                    </a:p>
                  </a:txBody>
                  <a:tcPr anchor="ctr"/>
                </a:tc>
                <a:extLst>
                  <a:ext uri="{0D108BD9-81ED-4DB2-BD59-A6C34878D82A}">
                    <a16:rowId xmlns:a16="http://schemas.microsoft.com/office/drawing/2014/main" val="3394607016"/>
                  </a:ext>
                </a:extLst>
              </a:tr>
              <a:tr h="370840">
                <a:tc>
                  <a:txBody>
                    <a:bodyPr/>
                    <a:lstStyle/>
                    <a:p>
                      <a:pPr>
                        <a:buNone/>
                      </a:pPr>
                      <a:r>
                        <a:rPr lang="tr-TR" sz="1300" b="0" noProof="0" dirty="0"/>
                        <a:t>Kelime </a:t>
                      </a:r>
                      <a:r>
                        <a:rPr lang="tr-TR" sz="1300" b="0" noProof="0" dirty="0" err="1"/>
                        <a:t>Tokenizasyonu</a:t>
                      </a:r>
                      <a:endParaRPr lang="tr-TR" sz="1300" b="0" noProof="0" dirty="0"/>
                    </a:p>
                  </a:txBody>
                  <a:tcPr anchor="ctr"/>
                </a:tc>
                <a:tc>
                  <a:txBody>
                    <a:bodyPr/>
                    <a:lstStyle/>
                    <a:p>
                      <a:pPr>
                        <a:buNone/>
                      </a:pPr>
                      <a:r>
                        <a:rPr lang="tr-TR" sz="1300" b="0" noProof="0" dirty="0"/>
                        <a:t>Word </a:t>
                      </a:r>
                      <a:r>
                        <a:rPr lang="tr-TR" sz="1300" b="0" noProof="0" dirty="0" err="1"/>
                        <a:t>Tokenization</a:t>
                      </a:r>
                      <a:endParaRPr lang="tr-TR" sz="1300" b="0" noProof="0" dirty="0"/>
                    </a:p>
                  </a:txBody>
                  <a:tcPr anchor="ctr"/>
                </a:tc>
                <a:extLst>
                  <a:ext uri="{0D108BD9-81ED-4DB2-BD59-A6C34878D82A}">
                    <a16:rowId xmlns:a16="http://schemas.microsoft.com/office/drawing/2014/main" val="2635882780"/>
                  </a:ext>
                </a:extLst>
              </a:tr>
              <a:tr h="370840">
                <a:tc>
                  <a:txBody>
                    <a:bodyPr/>
                    <a:lstStyle/>
                    <a:p>
                      <a:pPr>
                        <a:buNone/>
                      </a:pPr>
                      <a:r>
                        <a:rPr lang="tr-TR" sz="1300" b="0" noProof="0" dirty="0"/>
                        <a:t>Cümle </a:t>
                      </a:r>
                      <a:r>
                        <a:rPr lang="tr-TR" sz="1300" b="0" noProof="0" dirty="0" err="1"/>
                        <a:t>Tokenizasyonu</a:t>
                      </a:r>
                      <a:endParaRPr lang="tr-TR" sz="1300" b="0" noProof="0" dirty="0"/>
                    </a:p>
                  </a:txBody>
                  <a:tcPr anchor="ctr"/>
                </a:tc>
                <a:tc>
                  <a:txBody>
                    <a:bodyPr/>
                    <a:lstStyle/>
                    <a:p>
                      <a:pPr>
                        <a:buNone/>
                      </a:pPr>
                      <a:r>
                        <a:rPr lang="tr-TR" sz="1300" b="0" noProof="0" dirty="0" err="1"/>
                        <a:t>Sentence</a:t>
                      </a:r>
                      <a:r>
                        <a:rPr lang="tr-TR" sz="1300" b="0" noProof="0" dirty="0"/>
                        <a:t> </a:t>
                      </a:r>
                      <a:r>
                        <a:rPr lang="tr-TR" sz="1300" b="0" noProof="0" dirty="0" err="1"/>
                        <a:t>Tokenization</a:t>
                      </a:r>
                      <a:endParaRPr lang="tr-TR" sz="1300" b="0" noProof="0" dirty="0"/>
                    </a:p>
                  </a:txBody>
                  <a:tcPr anchor="ctr"/>
                </a:tc>
                <a:extLst>
                  <a:ext uri="{0D108BD9-81ED-4DB2-BD59-A6C34878D82A}">
                    <a16:rowId xmlns:a16="http://schemas.microsoft.com/office/drawing/2014/main" val="2156207378"/>
                  </a:ext>
                </a:extLst>
              </a:tr>
              <a:tr h="370840">
                <a:tc>
                  <a:txBody>
                    <a:bodyPr/>
                    <a:lstStyle/>
                    <a:p>
                      <a:pPr>
                        <a:buNone/>
                      </a:pPr>
                      <a:r>
                        <a:rPr lang="tr-TR" sz="1300" b="0" noProof="0" dirty="0"/>
                        <a:t>Alt Birim </a:t>
                      </a:r>
                      <a:r>
                        <a:rPr lang="tr-TR" sz="1300" b="0" noProof="0" dirty="0" err="1"/>
                        <a:t>Tokenizasyonu</a:t>
                      </a:r>
                      <a:endParaRPr lang="tr-TR" sz="1300" b="0" noProof="0" dirty="0"/>
                    </a:p>
                  </a:txBody>
                  <a:tcPr anchor="ctr"/>
                </a:tc>
                <a:tc>
                  <a:txBody>
                    <a:bodyPr/>
                    <a:lstStyle/>
                    <a:p>
                      <a:pPr>
                        <a:buNone/>
                      </a:pPr>
                      <a:r>
                        <a:rPr lang="tr-TR" sz="1300" b="0" noProof="0" dirty="0" err="1"/>
                        <a:t>Subword</a:t>
                      </a:r>
                      <a:r>
                        <a:rPr lang="tr-TR" sz="1300" b="0" noProof="0" dirty="0"/>
                        <a:t> </a:t>
                      </a:r>
                      <a:r>
                        <a:rPr lang="tr-TR" sz="1300" b="0" noProof="0" dirty="0" err="1"/>
                        <a:t>Tokenization</a:t>
                      </a:r>
                      <a:endParaRPr lang="tr-TR" sz="1300" b="0" noProof="0" dirty="0"/>
                    </a:p>
                  </a:txBody>
                  <a:tcPr anchor="ctr"/>
                </a:tc>
                <a:extLst>
                  <a:ext uri="{0D108BD9-81ED-4DB2-BD59-A6C34878D82A}">
                    <a16:rowId xmlns:a16="http://schemas.microsoft.com/office/drawing/2014/main" val="719908185"/>
                  </a:ext>
                </a:extLst>
              </a:tr>
              <a:tr h="370840">
                <a:tc>
                  <a:txBody>
                    <a:bodyPr/>
                    <a:lstStyle/>
                    <a:p>
                      <a:pPr>
                        <a:buNone/>
                      </a:pPr>
                      <a:r>
                        <a:rPr lang="tr-TR" sz="1300" b="0" noProof="0" dirty="0"/>
                        <a:t>BPE</a:t>
                      </a:r>
                    </a:p>
                  </a:txBody>
                  <a:tcPr anchor="ctr"/>
                </a:tc>
                <a:tc>
                  <a:txBody>
                    <a:bodyPr/>
                    <a:lstStyle/>
                    <a:p>
                      <a:pPr>
                        <a:buNone/>
                      </a:pPr>
                      <a:r>
                        <a:rPr lang="tr-TR" sz="1300" b="0" noProof="0" dirty="0"/>
                        <a:t>Byte-</a:t>
                      </a:r>
                      <a:r>
                        <a:rPr lang="tr-TR" sz="1300" b="0" noProof="0" dirty="0" err="1"/>
                        <a:t>Pair</a:t>
                      </a:r>
                      <a:r>
                        <a:rPr lang="tr-TR" sz="1300" b="0" noProof="0" dirty="0"/>
                        <a:t> </a:t>
                      </a:r>
                      <a:r>
                        <a:rPr lang="tr-TR" sz="1300" b="0" noProof="0" dirty="0" err="1"/>
                        <a:t>Encoding</a:t>
                      </a:r>
                      <a:r>
                        <a:rPr lang="tr-TR" sz="1300" b="0" noProof="0" dirty="0"/>
                        <a:t> (BPE)</a:t>
                      </a:r>
                    </a:p>
                  </a:txBody>
                  <a:tcPr anchor="ctr"/>
                </a:tc>
                <a:extLst>
                  <a:ext uri="{0D108BD9-81ED-4DB2-BD59-A6C34878D82A}">
                    <a16:rowId xmlns:a16="http://schemas.microsoft.com/office/drawing/2014/main" val="621227850"/>
                  </a:ext>
                </a:extLst>
              </a:tr>
              <a:tr h="370840">
                <a:tc>
                  <a:txBody>
                    <a:bodyPr/>
                    <a:lstStyle/>
                    <a:p>
                      <a:pPr>
                        <a:buNone/>
                      </a:pPr>
                      <a:r>
                        <a:rPr lang="tr-TR" sz="1300" b="0" noProof="0" dirty="0" err="1"/>
                        <a:t>WordPiece</a:t>
                      </a:r>
                      <a:endParaRPr lang="tr-TR" sz="1300" b="0" noProof="0" dirty="0"/>
                    </a:p>
                  </a:txBody>
                  <a:tcPr anchor="ctr"/>
                </a:tc>
                <a:tc>
                  <a:txBody>
                    <a:bodyPr/>
                    <a:lstStyle/>
                    <a:p>
                      <a:pPr>
                        <a:buNone/>
                      </a:pPr>
                      <a:r>
                        <a:rPr lang="tr-TR" sz="1300" b="0" noProof="0" dirty="0" err="1"/>
                        <a:t>WordPiece</a:t>
                      </a:r>
                      <a:r>
                        <a:rPr lang="tr-TR" sz="1300" b="0" noProof="0" dirty="0"/>
                        <a:t> </a:t>
                      </a:r>
                      <a:r>
                        <a:rPr lang="tr-TR" sz="1300" b="0" noProof="0" dirty="0" err="1"/>
                        <a:t>Tokenizer</a:t>
                      </a:r>
                      <a:r>
                        <a:rPr lang="tr-TR" sz="1300" b="0" noProof="0" dirty="0"/>
                        <a:t> </a:t>
                      </a:r>
                      <a:r>
                        <a:rPr lang="en-US" sz="1400" dirty="0"/>
                        <a:t>(</a:t>
                      </a:r>
                      <a:r>
                        <a:rPr lang="en-US" sz="1400" dirty="0" err="1"/>
                        <a:t>Subword</a:t>
                      </a:r>
                      <a:r>
                        <a:rPr lang="en-US" sz="1400" dirty="0"/>
                        <a:t> Model)</a:t>
                      </a:r>
                      <a:r>
                        <a:rPr lang="tr-TR" sz="1400" dirty="0"/>
                        <a:t>  </a:t>
                      </a:r>
                      <a:endParaRPr lang="tr-TR" sz="1300" b="0" noProof="0" dirty="0"/>
                    </a:p>
                  </a:txBody>
                  <a:tcPr anchor="ctr"/>
                </a:tc>
                <a:extLst>
                  <a:ext uri="{0D108BD9-81ED-4DB2-BD59-A6C34878D82A}">
                    <a16:rowId xmlns:a16="http://schemas.microsoft.com/office/drawing/2014/main" val="3023249016"/>
                  </a:ext>
                </a:extLst>
              </a:tr>
            </a:tbl>
          </a:graphicData>
        </a:graphic>
      </p:graphicFrame>
      <p:sp>
        <p:nvSpPr>
          <p:cNvPr id="36" name="TextBox 35">
            <a:extLst>
              <a:ext uri="{FF2B5EF4-FFF2-40B4-BE49-F238E27FC236}">
                <a16:creationId xmlns:a16="http://schemas.microsoft.com/office/drawing/2014/main" id="{C9328492-CA31-71B8-E315-BC7BB9697CE1}"/>
              </a:ext>
            </a:extLst>
          </p:cNvPr>
          <p:cNvSpPr txBox="1"/>
          <p:nvPr/>
        </p:nvSpPr>
        <p:spPr>
          <a:xfrm>
            <a:off x="7384228" y="2764104"/>
            <a:ext cx="4197769" cy="323165"/>
          </a:xfrm>
          <a:prstGeom prst="rect">
            <a:avLst/>
          </a:prstGeom>
          <a:noFill/>
        </p:spPr>
        <p:txBody>
          <a:bodyPr wrap="square">
            <a:spAutoFit/>
          </a:bodyPr>
          <a:lstStyle/>
          <a:p>
            <a:pPr algn="ctr"/>
            <a:r>
              <a:rPr lang="tr-TR" sz="1500" noProof="0" dirty="0"/>
              <a:t>Metin Temizleme – </a:t>
            </a:r>
            <a:r>
              <a:rPr lang="tr-TR" sz="1500" noProof="0" dirty="0" err="1"/>
              <a:t>Tokenization</a:t>
            </a:r>
            <a:r>
              <a:rPr lang="tr-TR" sz="1500" noProof="0" dirty="0"/>
              <a:t>  Ait Terimleri</a:t>
            </a:r>
          </a:p>
        </p:txBody>
      </p:sp>
      <p:sp>
        <p:nvSpPr>
          <p:cNvPr id="38" name="TextBox 37">
            <a:extLst>
              <a:ext uri="{FF2B5EF4-FFF2-40B4-BE49-F238E27FC236}">
                <a16:creationId xmlns:a16="http://schemas.microsoft.com/office/drawing/2014/main" id="{62C318BA-B083-AFB2-5C6B-F6A7CD6A59E2}"/>
              </a:ext>
            </a:extLst>
          </p:cNvPr>
          <p:cNvSpPr txBox="1"/>
          <p:nvPr/>
        </p:nvSpPr>
        <p:spPr>
          <a:xfrm>
            <a:off x="7384228" y="5815580"/>
            <a:ext cx="4197770" cy="283154"/>
          </a:xfrm>
          <a:prstGeom prst="rect">
            <a:avLst/>
          </a:prstGeom>
          <a:noFill/>
        </p:spPr>
        <p:txBody>
          <a:bodyPr wrap="square">
            <a:spAutoFit/>
          </a:bodyPr>
          <a:lstStyle/>
          <a:p>
            <a:pPr algn="ctr">
              <a:lnSpc>
                <a:spcPct val="125000"/>
              </a:lnSpc>
            </a:pPr>
            <a:r>
              <a:rPr lang="tr-TR" sz="1100" noProof="0" dirty="0"/>
              <a:t>Terimlerin Türkçe–İngilizce karşılıkları</a:t>
            </a:r>
          </a:p>
        </p:txBody>
      </p:sp>
      <p:sp>
        <p:nvSpPr>
          <p:cNvPr id="42" name="Rectangle: Rounded Corners 41">
            <a:extLst>
              <a:ext uri="{FF2B5EF4-FFF2-40B4-BE49-F238E27FC236}">
                <a16:creationId xmlns:a16="http://schemas.microsoft.com/office/drawing/2014/main" id="{E11E6A64-A998-C5AD-E840-7DD2C541CF16}"/>
              </a:ext>
            </a:extLst>
          </p:cNvPr>
          <p:cNvSpPr/>
          <p:nvPr/>
        </p:nvSpPr>
        <p:spPr>
          <a:xfrm>
            <a:off x="633124" y="206594"/>
            <a:ext cx="5208499" cy="1254893"/>
          </a:xfrm>
          <a:prstGeom prst="roundRect">
            <a:avLst/>
          </a:prstGeom>
          <a:solidFill>
            <a:schemeClr val="tx2">
              <a:lumMod val="10000"/>
              <a:lumOff val="90000"/>
            </a:schemeClr>
          </a:solidFill>
          <a:ln>
            <a:solidFill>
              <a:schemeClr val="tx2">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nSpc>
                <a:spcPct val="125000"/>
              </a:lnSpc>
            </a:pPr>
            <a:r>
              <a:rPr lang="tr-TR" sz="2800" noProof="0" dirty="0"/>
              <a:t>Metin Temizleme – </a:t>
            </a:r>
            <a:r>
              <a:rPr lang="tr-TR" sz="2800" noProof="0" dirty="0" err="1"/>
              <a:t>Tokenizasyon</a:t>
            </a:r>
            <a:r>
              <a:rPr lang="tr-TR" sz="2800" noProof="0" dirty="0"/>
              <a:t> (</a:t>
            </a:r>
            <a:r>
              <a:rPr lang="tr-TR" sz="2800" noProof="0" dirty="0" err="1"/>
              <a:t>Tokenization</a:t>
            </a:r>
            <a:r>
              <a:rPr lang="tr-TR" sz="2800" noProof="0" dirty="0"/>
              <a:t>)</a:t>
            </a:r>
            <a:endParaRPr lang="tr-TR" sz="2800" b="1" noProof="0" dirty="0"/>
          </a:p>
        </p:txBody>
      </p:sp>
    </p:spTree>
    <p:extLst>
      <p:ext uri="{BB962C8B-B14F-4D97-AF65-F5344CB8AC3E}">
        <p14:creationId xmlns:p14="http://schemas.microsoft.com/office/powerpoint/2010/main" val="1789921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85BA8-9453-201A-504C-A82BBA55014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8F42A71-92A8-A70C-CF1F-BFD5441AE7D7}"/>
              </a:ext>
            </a:extLst>
          </p:cNvPr>
          <p:cNvSpPr/>
          <p:nvPr/>
        </p:nvSpPr>
        <p:spPr>
          <a:xfrm>
            <a:off x="752013" y="237805"/>
            <a:ext cx="5208499" cy="1254893"/>
          </a:xfrm>
          <a:prstGeom prst="roundRect">
            <a:avLst/>
          </a:prstGeom>
          <a:solidFill>
            <a:schemeClr val="tx2">
              <a:lumMod val="10000"/>
              <a:lumOff val="90000"/>
            </a:schemeClr>
          </a:solidFill>
          <a:ln>
            <a:solidFill>
              <a:schemeClr val="tx2">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25000"/>
              </a:lnSpc>
            </a:pPr>
            <a:r>
              <a:rPr lang="tr-TR" sz="2800" noProof="0" dirty="0"/>
              <a:t>Metin Temizleme – </a:t>
            </a:r>
            <a:r>
              <a:rPr lang="tr-TR" sz="2800" dirty="0" err="1"/>
              <a:t>Stopwords</a:t>
            </a:r>
            <a:r>
              <a:rPr lang="tr-TR" sz="2800" dirty="0"/>
              <a:t> (Anlam Taşımayan Kelimeler)</a:t>
            </a:r>
            <a:endParaRPr lang="tr-TR" sz="1300" noProof="0" dirty="0"/>
          </a:p>
        </p:txBody>
      </p:sp>
      <p:sp>
        <p:nvSpPr>
          <p:cNvPr id="7" name="TextBox 6">
            <a:extLst>
              <a:ext uri="{FF2B5EF4-FFF2-40B4-BE49-F238E27FC236}">
                <a16:creationId xmlns:a16="http://schemas.microsoft.com/office/drawing/2014/main" id="{CE491B5E-2908-44B3-D080-77BA0FAEFD36}"/>
              </a:ext>
            </a:extLst>
          </p:cNvPr>
          <p:cNvSpPr txBox="1"/>
          <p:nvPr/>
        </p:nvSpPr>
        <p:spPr>
          <a:xfrm>
            <a:off x="754747" y="1497600"/>
            <a:ext cx="4822044" cy="1568186"/>
          </a:xfrm>
          <a:prstGeom prst="rect">
            <a:avLst/>
          </a:prstGeom>
          <a:noFill/>
        </p:spPr>
        <p:txBody>
          <a:bodyPr wrap="square">
            <a:spAutoFit/>
          </a:bodyPr>
          <a:lstStyle/>
          <a:p>
            <a:pPr>
              <a:lnSpc>
                <a:spcPct val="125000"/>
              </a:lnSpc>
            </a:pPr>
            <a:r>
              <a:rPr lang="tr-TR" sz="1300" b="1" dirty="0" err="1"/>
              <a:t>Stopwords</a:t>
            </a:r>
            <a:r>
              <a:rPr lang="tr-TR" sz="1300" b="1" dirty="0"/>
              <a:t> Nedir?</a:t>
            </a:r>
          </a:p>
          <a:p>
            <a:pPr>
              <a:lnSpc>
                <a:spcPct val="125000"/>
              </a:lnSpc>
            </a:pPr>
            <a:r>
              <a:rPr lang="tr-TR" sz="1300" dirty="0"/>
              <a:t>  Metnin anlamına katkı sağlamayan, model için gereksiz gürültü oluşturan kelimelerdir.</a:t>
            </a:r>
            <a:br>
              <a:rPr lang="tr-TR" sz="1300" dirty="0"/>
            </a:br>
            <a:r>
              <a:rPr lang="tr-TR" sz="1300" dirty="0"/>
              <a:t>Bu kelimeler; ve, veya, ama, için, gibi, de/da, ki gibi bağlaçlar ve sık kullanılan işlevsel kelimelerdir.</a:t>
            </a:r>
          </a:p>
          <a:p>
            <a:pPr>
              <a:lnSpc>
                <a:spcPct val="125000"/>
              </a:lnSpc>
            </a:pPr>
            <a:endParaRPr lang="tr-TR" sz="1300" dirty="0"/>
          </a:p>
        </p:txBody>
      </p:sp>
      <p:sp>
        <p:nvSpPr>
          <p:cNvPr id="9" name="TextBox 8">
            <a:extLst>
              <a:ext uri="{FF2B5EF4-FFF2-40B4-BE49-F238E27FC236}">
                <a16:creationId xmlns:a16="http://schemas.microsoft.com/office/drawing/2014/main" id="{1DD578E3-79DD-6DB2-956C-A6B482071BCF}"/>
              </a:ext>
            </a:extLst>
          </p:cNvPr>
          <p:cNvSpPr txBox="1"/>
          <p:nvPr/>
        </p:nvSpPr>
        <p:spPr>
          <a:xfrm>
            <a:off x="732596" y="2742689"/>
            <a:ext cx="4691461" cy="1568186"/>
          </a:xfrm>
          <a:prstGeom prst="rect">
            <a:avLst/>
          </a:prstGeom>
          <a:noFill/>
        </p:spPr>
        <p:txBody>
          <a:bodyPr wrap="square">
            <a:spAutoFit/>
          </a:bodyPr>
          <a:lstStyle/>
          <a:p>
            <a:pPr>
              <a:lnSpc>
                <a:spcPct val="125000"/>
              </a:lnSpc>
            </a:pPr>
            <a:r>
              <a:rPr lang="tr-TR" sz="1300" b="1" dirty="0"/>
              <a:t>Neden Çıkarılır?</a:t>
            </a:r>
          </a:p>
          <a:p>
            <a:pPr>
              <a:lnSpc>
                <a:spcPct val="125000"/>
              </a:lnSpc>
            </a:pPr>
            <a:r>
              <a:rPr lang="tr-TR" sz="1300" dirty="0"/>
              <a:t>• Metni sadeleştirir ve modele gereksiz yük binmesini önler.</a:t>
            </a:r>
            <a:br>
              <a:rPr lang="tr-TR" sz="1300" dirty="0"/>
            </a:br>
            <a:r>
              <a:rPr lang="tr-TR" sz="1300" dirty="0"/>
              <a:t>• Önemli kelimelerin daha belirgin hâle gelmesini sağlar.</a:t>
            </a:r>
            <a:br>
              <a:rPr lang="tr-TR" sz="1300" dirty="0"/>
            </a:br>
            <a:r>
              <a:rPr lang="tr-TR" sz="1300" dirty="0"/>
              <a:t>• Analiz doğruluğunu artırır.</a:t>
            </a:r>
            <a:br>
              <a:rPr lang="tr-TR" sz="1300" dirty="0"/>
            </a:br>
            <a:r>
              <a:rPr lang="tr-TR" sz="1300" dirty="0"/>
              <a:t>• Veri boyutunu ve işlem maliyetini azaltır.</a:t>
            </a:r>
          </a:p>
          <a:p>
            <a:pPr>
              <a:lnSpc>
                <a:spcPct val="125000"/>
              </a:lnSpc>
              <a:buNone/>
            </a:pPr>
            <a:endParaRPr lang="tr-TR" sz="1300" dirty="0"/>
          </a:p>
        </p:txBody>
      </p:sp>
      <p:graphicFrame>
        <p:nvGraphicFramePr>
          <p:cNvPr id="10" name="Table 9">
            <a:extLst>
              <a:ext uri="{FF2B5EF4-FFF2-40B4-BE49-F238E27FC236}">
                <a16:creationId xmlns:a16="http://schemas.microsoft.com/office/drawing/2014/main" id="{22A6D908-668F-7ED2-BD18-E4145FF5DC27}"/>
              </a:ext>
            </a:extLst>
          </p:cNvPr>
          <p:cNvGraphicFramePr>
            <a:graphicFrameLocks noGrp="1"/>
          </p:cNvGraphicFramePr>
          <p:nvPr>
            <p:extLst>
              <p:ext uri="{D42A27DB-BD31-4B8C-83A1-F6EECF244321}">
                <p14:modId xmlns:p14="http://schemas.microsoft.com/office/powerpoint/2010/main" val="1629119314"/>
              </p:ext>
            </p:extLst>
          </p:nvPr>
        </p:nvGraphicFramePr>
        <p:xfrm>
          <a:off x="7961953" y="3849947"/>
          <a:ext cx="3413457" cy="1854200"/>
        </p:xfrm>
        <a:graphic>
          <a:graphicData uri="http://schemas.openxmlformats.org/drawingml/2006/table">
            <a:tbl>
              <a:tblPr firstRow="1" bandRow="1">
                <a:tableStyleId>{5C22544A-7EE6-4342-B048-85BDC9FD1C3A}</a:tableStyleId>
              </a:tblPr>
              <a:tblGrid>
                <a:gridCol w="1693839">
                  <a:extLst>
                    <a:ext uri="{9D8B030D-6E8A-4147-A177-3AD203B41FA5}">
                      <a16:colId xmlns:a16="http://schemas.microsoft.com/office/drawing/2014/main" val="2162103751"/>
                    </a:ext>
                  </a:extLst>
                </a:gridCol>
                <a:gridCol w="1719618">
                  <a:extLst>
                    <a:ext uri="{9D8B030D-6E8A-4147-A177-3AD203B41FA5}">
                      <a16:colId xmlns:a16="http://schemas.microsoft.com/office/drawing/2014/main" val="3456087359"/>
                    </a:ext>
                  </a:extLst>
                </a:gridCol>
              </a:tblGrid>
              <a:tr h="370840">
                <a:tc>
                  <a:txBody>
                    <a:bodyPr/>
                    <a:lstStyle/>
                    <a:p>
                      <a:pPr>
                        <a:buNone/>
                      </a:pPr>
                      <a:r>
                        <a:rPr lang="tr-TR" sz="1300" b="1" noProof="0" dirty="0"/>
                        <a:t>Türkçe</a:t>
                      </a:r>
                      <a:endParaRPr lang="tr-TR" sz="1300" noProof="0" dirty="0"/>
                    </a:p>
                  </a:txBody>
                  <a:tcPr anchor="ctr"/>
                </a:tc>
                <a:tc>
                  <a:txBody>
                    <a:bodyPr/>
                    <a:lstStyle/>
                    <a:p>
                      <a:pPr>
                        <a:buNone/>
                      </a:pPr>
                      <a:r>
                        <a:rPr lang="tr-TR" sz="1300" b="1" noProof="0" dirty="0"/>
                        <a:t>İngilizce</a:t>
                      </a:r>
                      <a:endParaRPr lang="tr-TR" sz="1300" noProof="0" dirty="0"/>
                    </a:p>
                  </a:txBody>
                  <a:tcPr anchor="ctr"/>
                </a:tc>
                <a:extLst>
                  <a:ext uri="{0D108BD9-81ED-4DB2-BD59-A6C34878D82A}">
                    <a16:rowId xmlns:a16="http://schemas.microsoft.com/office/drawing/2014/main" val="2562839921"/>
                  </a:ext>
                </a:extLst>
              </a:tr>
              <a:tr h="370840">
                <a:tc>
                  <a:txBody>
                    <a:bodyPr/>
                    <a:lstStyle/>
                    <a:p>
                      <a:pPr>
                        <a:buNone/>
                      </a:pPr>
                      <a:r>
                        <a:rPr lang="tr-TR" sz="1300" noProof="0" dirty="0"/>
                        <a:t>anlamsız kelimeler</a:t>
                      </a:r>
                    </a:p>
                  </a:txBody>
                  <a:tcPr anchor="ctr"/>
                </a:tc>
                <a:tc>
                  <a:txBody>
                    <a:bodyPr/>
                    <a:lstStyle/>
                    <a:p>
                      <a:pPr>
                        <a:buNone/>
                      </a:pPr>
                      <a:r>
                        <a:rPr lang="tr-TR" sz="1300" noProof="0" dirty="0" err="1"/>
                        <a:t>stopwords</a:t>
                      </a:r>
                      <a:endParaRPr lang="tr-TR" sz="1300" noProof="0" dirty="0"/>
                    </a:p>
                  </a:txBody>
                  <a:tcPr anchor="ctr"/>
                </a:tc>
                <a:extLst>
                  <a:ext uri="{0D108BD9-81ED-4DB2-BD59-A6C34878D82A}">
                    <a16:rowId xmlns:a16="http://schemas.microsoft.com/office/drawing/2014/main" val="1291938299"/>
                  </a:ext>
                </a:extLst>
              </a:tr>
              <a:tr h="370840">
                <a:tc>
                  <a:txBody>
                    <a:bodyPr/>
                    <a:lstStyle/>
                    <a:p>
                      <a:pPr>
                        <a:buNone/>
                      </a:pPr>
                      <a:r>
                        <a:rPr lang="tr-TR" sz="1300" noProof="0" dirty="0"/>
                        <a:t>gürültü kelimeleri</a:t>
                      </a:r>
                    </a:p>
                  </a:txBody>
                  <a:tcPr anchor="ctr"/>
                </a:tc>
                <a:tc>
                  <a:txBody>
                    <a:bodyPr/>
                    <a:lstStyle/>
                    <a:p>
                      <a:pPr>
                        <a:buNone/>
                      </a:pPr>
                      <a:r>
                        <a:rPr lang="tr-TR" sz="1300" noProof="0" dirty="0" err="1"/>
                        <a:t>noise</a:t>
                      </a:r>
                      <a:r>
                        <a:rPr lang="tr-TR" sz="1300" noProof="0" dirty="0"/>
                        <a:t> </a:t>
                      </a:r>
                      <a:r>
                        <a:rPr lang="tr-TR" sz="1300" noProof="0" dirty="0" err="1"/>
                        <a:t>words</a:t>
                      </a:r>
                      <a:endParaRPr lang="tr-TR" sz="1300" noProof="0" dirty="0"/>
                    </a:p>
                  </a:txBody>
                  <a:tcPr anchor="ctr"/>
                </a:tc>
                <a:extLst>
                  <a:ext uri="{0D108BD9-81ED-4DB2-BD59-A6C34878D82A}">
                    <a16:rowId xmlns:a16="http://schemas.microsoft.com/office/drawing/2014/main" val="3798095798"/>
                  </a:ext>
                </a:extLst>
              </a:tr>
              <a:tr h="370840">
                <a:tc>
                  <a:txBody>
                    <a:bodyPr/>
                    <a:lstStyle/>
                    <a:p>
                      <a:pPr>
                        <a:buNone/>
                      </a:pPr>
                      <a:r>
                        <a:rPr lang="tr-TR" sz="1300" noProof="0" dirty="0"/>
                        <a:t>bağlaçlar</a:t>
                      </a:r>
                    </a:p>
                  </a:txBody>
                  <a:tcPr anchor="ctr"/>
                </a:tc>
                <a:tc>
                  <a:txBody>
                    <a:bodyPr/>
                    <a:lstStyle/>
                    <a:p>
                      <a:pPr>
                        <a:buNone/>
                      </a:pPr>
                      <a:r>
                        <a:rPr lang="tr-TR" sz="1300" noProof="0" dirty="0" err="1"/>
                        <a:t>conjunctions</a:t>
                      </a:r>
                      <a:endParaRPr lang="tr-TR" sz="1300" noProof="0" dirty="0"/>
                    </a:p>
                  </a:txBody>
                  <a:tcPr anchor="ctr"/>
                </a:tc>
                <a:extLst>
                  <a:ext uri="{0D108BD9-81ED-4DB2-BD59-A6C34878D82A}">
                    <a16:rowId xmlns:a16="http://schemas.microsoft.com/office/drawing/2014/main" val="3359040836"/>
                  </a:ext>
                </a:extLst>
              </a:tr>
              <a:tr h="370840">
                <a:tc>
                  <a:txBody>
                    <a:bodyPr/>
                    <a:lstStyle/>
                    <a:p>
                      <a:pPr>
                        <a:buNone/>
                      </a:pPr>
                      <a:r>
                        <a:rPr lang="tr-TR" sz="1300" noProof="0" dirty="0"/>
                        <a:t>edatlar</a:t>
                      </a:r>
                    </a:p>
                  </a:txBody>
                  <a:tcPr anchor="ctr"/>
                </a:tc>
                <a:tc>
                  <a:txBody>
                    <a:bodyPr/>
                    <a:lstStyle/>
                    <a:p>
                      <a:pPr>
                        <a:buNone/>
                      </a:pPr>
                      <a:r>
                        <a:rPr lang="tr-TR" sz="1300" noProof="0" dirty="0" err="1"/>
                        <a:t>prepositions</a:t>
                      </a:r>
                      <a:endParaRPr lang="tr-TR" sz="1300" noProof="0" dirty="0"/>
                    </a:p>
                  </a:txBody>
                  <a:tcPr anchor="ctr"/>
                </a:tc>
                <a:extLst>
                  <a:ext uri="{0D108BD9-81ED-4DB2-BD59-A6C34878D82A}">
                    <a16:rowId xmlns:a16="http://schemas.microsoft.com/office/drawing/2014/main" val="927632804"/>
                  </a:ext>
                </a:extLst>
              </a:tr>
            </a:tbl>
          </a:graphicData>
        </a:graphic>
      </p:graphicFrame>
      <p:sp>
        <p:nvSpPr>
          <p:cNvPr id="12" name="TextBox 11">
            <a:extLst>
              <a:ext uri="{FF2B5EF4-FFF2-40B4-BE49-F238E27FC236}">
                <a16:creationId xmlns:a16="http://schemas.microsoft.com/office/drawing/2014/main" id="{00DFA6EA-38F5-1E9B-E510-B5EF99D64F90}"/>
              </a:ext>
            </a:extLst>
          </p:cNvPr>
          <p:cNvSpPr txBox="1"/>
          <p:nvPr/>
        </p:nvSpPr>
        <p:spPr>
          <a:xfrm>
            <a:off x="7961952" y="5704147"/>
            <a:ext cx="3413456" cy="317844"/>
          </a:xfrm>
          <a:prstGeom prst="rect">
            <a:avLst/>
          </a:prstGeom>
          <a:noFill/>
        </p:spPr>
        <p:txBody>
          <a:bodyPr wrap="square">
            <a:spAutoFit/>
          </a:bodyPr>
          <a:lstStyle/>
          <a:p>
            <a:pPr algn="ctr">
              <a:lnSpc>
                <a:spcPct val="125000"/>
              </a:lnSpc>
            </a:pPr>
            <a:r>
              <a:rPr lang="tr-TR" sz="1300" noProof="0" dirty="0"/>
              <a:t>Terimlerin Türkçe–İngilizce karşılıkları</a:t>
            </a:r>
          </a:p>
        </p:txBody>
      </p:sp>
      <p:sp>
        <p:nvSpPr>
          <p:cNvPr id="14" name="TextBox 13">
            <a:extLst>
              <a:ext uri="{FF2B5EF4-FFF2-40B4-BE49-F238E27FC236}">
                <a16:creationId xmlns:a16="http://schemas.microsoft.com/office/drawing/2014/main" id="{BD952662-043F-0110-8DFC-1C5632D8A07A}"/>
              </a:ext>
            </a:extLst>
          </p:cNvPr>
          <p:cNvSpPr txBox="1"/>
          <p:nvPr/>
        </p:nvSpPr>
        <p:spPr>
          <a:xfrm>
            <a:off x="7961951" y="3535346"/>
            <a:ext cx="3413457" cy="307777"/>
          </a:xfrm>
          <a:prstGeom prst="rect">
            <a:avLst/>
          </a:prstGeom>
          <a:noFill/>
        </p:spPr>
        <p:txBody>
          <a:bodyPr wrap="square">
            <a:spAutoFit/>
          </a:bodyPr>
          <a:lstStyle/>
          <a:p>
            <a:pPr algn="ctr"/>
            <a:r>
              <a:rPr lang="tr-TR" sz="1400" noProof="0" dirty="0" err="1"/>
              <a:t>Stopwords’e</a:t>
            </a:r>
            <a:r>
              <a:rPr lang="tr-TR" sz="1400" noProof="0" dirty="0"/>
              <a:t> Ait Terimler</a:t>
            </a:r>
          </a:p>
        </p:txBody>
      </p:sp>
      <p:sp>
        <p:nvSpPr>
          <p:cNvPr id="20" name="TextBox 19">
            <a:extLst>
              <a:ext uri="{FF2B5EF4-FFF2-40B4-BE49-F238E27FC236}">
                <a16:creationId xmlns:a16="http://schemas.microsoft.com/office/drawing/2014/main" id="{FEB6077A-7D8A-C480-3716-3D587A3455C0}"/>
              </a:ext>
            </a:extLst>
          </p:cNvPr>
          <p:cNvSpPr txBox="1"/>
          <p:nvPr/>
        </p:nvSpPr>
        <p:spPr>
          <a:xfrm>
            <a:off x="752013" y="3964785"/>
            <a:ext cx="4822044" cy="2068323"/>
          </a:xfrm>
          <a:prstGeom prst="rect">
            <a:avLst/>
          </a:prstGeom>
          <a:noFill/>
        </p:spPr>
        <p:txBody>
          <a:bodyPr wrap="square">
            <a:spAutoFit/>
          </a:bodyPr>
          <a:lstStyle/>
          <a:p>
            <a:pPr>
              <a:lnSpc>
                <a:spcPct val="125000"/>
              </a:lnSpc>
              <a:buNone/>
            </a:pPr>
            <a:r>
              <a:rPr lang="tr-TR" sz="1300" b="1" noProof="0" dirty="0" err="1"/>
              <a:t>Stopwords</a:t>
            </a:r>
            <a:r>
              <a:rPr lang="tr-TR" sz="1300" b="1" noProof="0" dirty="0"/>
              <a:t> çıkarılmazsa ne olur?</a:t>
            </a:r>
          </a:p>
          <a:p>
            <a:pPr>
              <a:lnSpc>
                <a:spcPct val="125000"/>
              </a:lnSpc>
              <a:buNone/>
            </a:pPr>
            <a:r>
              <a:rPr lang="tr-TR" sz="1300" noProof="0" dirty="0"/>
              <a:t>  </a:t>
            </a:r>
            <a:r>
              <a:rPr lang="tr-TR" sz="1300" dirty="0" err="1"/>
              <a:t>Stopwords</a:t>
            </a:r>
            <a:r>
              <a:rPr lang="tr-TR" sz="1300" dirty="0"/>
              <a:t> çıkarılmazsa model; “ve”, “ama”, “çünkü” gibi anlamsız kelimelere gereksiz ağırlık verir ve analiz sonuçları yanıltıcı hâle gelebilir. Her kelime </a:t>
            </a:r>
            <a:r>
              <a:rPr lang="tr-TR" sz="1300" dirty="0" err="1"/>
              <a:t>stopword</a:t>
            </a:r>
            <a:r>
              <a:rPr lang="tr-TR" sz="1300" dirty="0"/>
              <a:t> değildir; her zaman sabit bir liste yoktur.</a:t>
            </a:r>
            <a:r>
              <a:rPr lang="tr-TR" sz="1300" noProof="0" dirty="0"/>
              <a:t> </a:t>
            </a:r>
            <a:r>
              <a:rPr lang="tr-TR" sz="1300" noProof="0" dirty="0" err="1"/>
              <a:t>Stopwords</a:t>
            </a:r>
            <a:r>
              <a:rPr lang="tr-TR" sz="1300" noProof="0" dirty="0"/>
              <a:t> listesi her problem için özelleştirilebilir</a:t>
            </a:r>
            <a:r>
              <a:rPr lang="tr-TR" sz="1300" dirty="0"/>
              <a:t>. Ö</a:t>
            </a:r>
            <a:r>
              <a:rPr lang="tr-TR" sz="1300" noProof="0" dirty="0" err="1"/>
              <a:t>rneğin</a:t>
            </a:r>
            <a:r>
              <a:rPr lang="tr-TR" sz="1300" dirty="0"/>
              <a:t>; Duygu analizinde </a:t>
            </a:r>
            <a:endParaRPr lang="tr-TR" sz="1300" noProof="0" dirty="0"/>
          </a:p>
          <a:p>
            <a:pPr algn="just">
              <a:lnSpc>
                <a:spcPct val="125000"/>
              </a:lnSpc>
              <a:buNone/>
            </a:pPr>
            <a:r>
              <a:rPr lang="tr-TR" sz="1300" dirty="0"/>
              <a:t>“değil” → duygu yönünü tersine çevirebilen, </a:t>
            </a:r>
          </a:p>
          <a:p>
            <a:pPr>
              <a:lnSpc>
                <a:spcPct val="125000"/>
              </a:lnSpc>
              <a:buNone/>
            </a:pPr>
            <a:r>
              <a:rPr lang="tr-TR" sz="1300" dirty="0"/>
              <a:t>“çok”→ </a:t>
            </a:r>
            <a:r>
              <a:rPr lang="tr-TR" sz="1300" noProof="0" dirty="0"/>
              <a:t>kelimeleri önemli olduğundan listeden çıkarılmamalıdır.</a:t>
            </a:r>
            <a:r>
              <a:rPr lang="tr-TR" sz="1300" dirty="0"/>
              <a:t> </a:t>
            </a:r>
          </a:p>
        </p:txBody>
      </p:sp>
      <p:pic>
        <p:nvPicPr>
          <p:cNvPr id="23" name="Picture 22" descr="A magnifying glass with words&#10;&#10;AI-generated content may be incorrect.">
            <a:extLst>
              <a:ext uri="{FF2B5EF4-FFF2-40B4-BE49-F238E27FC236}">
                <a16:creationId xmlns:a16="http://schemas.microsoft.com/office/drawing/2014/main" id="{2A99798B-A6E7-BF1E-2B26-FA458F860290}"/>
              </a:ext>
            </a:extLst>
          </p:cNvPr>
          <p:cNvPicPr>
            <a:picLocks noChangeAspect="1"/>
          </p:cNvPicPr>
          <p:nvPr/>
        </p:nvPicPr>
        <p:blipFill>
          <a:blip r:embed="rId2"/>
          <a:stretch>
            <a:fillRect/>
          </a:stretch>
        </p:blipFill>
        <p:spPr>
          <a:xfrm>
            <a:off x="5513696" y="2537895"/>
            <a:ext cx="2317673" cy="3166253"/>
          </a:xfrm>
          <a:prstGeom prst="rect">
            <a:avLst/>
          </a:prstGeom>
        </p:spPr>
      </p:pic>
      <p:sp>
        <p:nvSpPr>
          <p:cNvPr id="27" name="TextBox 26">
            <a:extLst>
              <a:ext uri="{FF2B5EF4-FFF2-40B4-BE49-F238E27FC236}">
                <a16:creationId xmlns:a16="http://schemas.microsoft.com/office/drawing/2014/main" id="{D249D2E1-597D-7074-2077-6415B6EC51FD}"/>
              </a:ext>
            </a:extLst>
          </p:cNvPr>
          <p:cNvSpPr txBox="1"/>
          <p:nvPr/>
        </p:nvSpPr>
        <p:spPr>
          <a:xfrm>
            <a:off x="6353264" y="737227"/>
            <a:ext cx="4742365" cy="1318118"/>
          </a:xfrm>
          <a:prstGeom prst="rect">
            <a:avLst/>
          </a:prstGeom>
          <a:noFill/>
        </p:spPr>
        <p:txBody>
          <a:bodyPr wrap="square">
            <a:spAutoFit/>
          </a:bodyPr>
          <a:lstStyle/>
          <a:p>
            <a:pPr>
              <a:lnSpc>
                <a:spcPct val="125000"/>
              </a:lnSpc>
              <a:buNone/>
            </a:pPr>
            <a:r>
              <a:rPr lang="tr-TR" sz="1300" b="1" noProof="0" dirty="0" err="1"/>
              <a:t>Stopwords</a:t>
            </a:r>
            <a:r>
              <a:rPr lang="tr-TR" sz="1300" b="1" noProof="0" dirty="0"/>
              <a:t> Örnekleri (Türkçe–İngilizce Gruplar</a:t>
            </a:r>
            <a:r>
              <a:rPr lang="tr-TR" sz="1300" noProof="0" dirty="0"/>
              <a:t>)</a:t>
            </a:r>
          </a:p>
          <a:p>
            <a:pPr marL="285750" indent="-285750">
              <a:lnSpc>
                <a:spcPct val="125000"/>
              </a:lnSpc>
              <a:buFont typeface="Arial" panose="020B0604020202020204" pitchFamily="34" charset="0"/>
              <a:buChar char="•"/>
            </a:pPr>
            <a:r>
              <a:rPr lang="tr-TR" sz="1300" b="1" noProof="0" dirty="0"/>
              <a:t>Türkçe </a:t>
            </a:r>
            <a:r>
              <a:rPr lang="tr-TR" sz="1300" b="1" noProof="0" dirty="0" err="1"/>
              <a:t>Stopwords</a:t>
            </a:r>
            <a:r>
              <a:rPr lang="tr-TR" sz="1300" noProof="0" dirty="0"/>
              <a:t>:</a:t>
            </a:r>
          </a:p>
          <a:p>
            <a:pPr marL="285750" indent="-285750">
              <a:lnSpc>
                <a:spcPct val="125000"/>
              </a:lnSpc>
              <a:buFont typeface="Arial" panose="020B0604020202020204" pitchFamily="34" charset="0"/>
              <a:buChar char="•"/>
            </a:pPr>
            <a:r>
              <a:rPr lang="tr-TR" sz="1300" noProof="0" dirty="0"/>
              <a:t>ve, ama, fakat, çünkü, ile, gibi, ya da, için, de/da, ki</a:t>
            </a:r>
          </a:p>
          <a:p>
            <a:pPr marL="285750" indent="-285750">
              <a:lnSpc>
                <a:spcPct val="125000"/>
              </a:lnSpc>
              <a:buFont typeface="Arial" panose="020B0604020202020204" pitchFamily="34" charset="0"/>
              <a:buChar char="•"/>
            </a:pPr>
            <a:r>
              <a:rPr lang="tr-TR" sz="1300" b="1" noProof="0" dirty="0" err="1"/>
              <a:t>Functional</a:t>
            </a:r>
            <a:r>
              <a:rPr lang="tr-TR" sz="1300" b="1" noProof="0" dirty="0"/>
              <a:t> </a:t>
            </a:r>
            <a:r>
              <a:rPr lang="tr-TR" sz="1300" b="1" noProof="0" dirty="0" err="1"/>
              <a:t>Words</a:t>
            </a:r>
            <a:r>
              <a:rPr lang="tr-TR" sz="1300" b="1" noProof="0" dirty="0"/>
              <a:t> (İşlevsel Kelimeler):</a:t>
            </a:r>
          </a:p>
          <a:p>
            <a:pPr marL="285750" indent="-285750">
              <a:lnSpc>
                <a:spcPct val="125000"/>
              </a:lnSpc>
              <a:buFont typeface="Arial" panose="020B0604020202020204" pitchFamily="34" charset="0"/>
              <a:buChar char="•"/>
            </a:pPr>
            <a:r>
              <a:rPr lang="tr-TR" sz="1300" noProof="0" dirty="0" err="1"/>
              <a:t>and</a:t>
            </a:r>
            <a:r>
              <a:rPr lang="tr-TR" sz="1300" noProof="0" dirty="0"/>
              <a:t>, but, </a:t>
            </a:r>
            <a:r>
              <a:rPr lang="tr-TR" sz="1300" noProof="0" dirty="0" err="1"/>
              <a:t>or</a:t>
            </a:r>
            <a:r>
              <a:rPr lang="tr-TR" sz="1300" noProof="0" dirty="0"/>
              <a:t>, </a:t>
            </a:r>
            <a:r>
              <a:rPr lang="tr-TR" sz="1300" noProof="0" dirty="0" err="1"/>
              <a:t>if</a:t>
            </a:r>
            <a:r>
              <a:rPr lang="tr-TR" sz="1300" noProof="0" dirty="0"/>
              <a:t>…</a:t>
            </a:r>
          </a:p>
        </p:txBody>
      </p:sp>
      <p:sp>
        <p:nvSpPr>
          <p:cNvPr id="31" name="TextBox 30">
            <a:extLst>
              <a:ext uri="{FF2B5EF4-FFF2-40B4-BE49-F238E27FC236}">
                <a16:creationId xmlns:a16="http://schemas.microsoft.com/office/drawing/2014/main" id="{B26C330E-355B-3CF6-33D5-91309CD1E66B}"/>
              </a:ext>
            </a:extLst>
          </p:cNvPr>
          <p:cNvSpPr txBox="1"/>
          <p:nvPr/>
        </p:nvSpPr>
        <p:spPr>
          <a:xfrm>
            <a:off x="7961951" y="1965349"/>
            <a:ext cx="2884702" cy="1568186"/>
          </a:xfrm>
          <a:prstGeom prst="rect">
            <a:avLst/>
          </a:prstGeom>
          <a:noFill/>
        </p:spPr>
        <p:txBody>
          <a:bodyPr wrap="square">
            <a:spAutoFit/>
          </a:bodyPr>
          <a:lstStyle/>
          <a:p>
            <a:pPr marL="285750" indent="-285750">
              <a:lnSpc>
                <a:spcPct val="125000"/>
              </a:lnSpc>
              <a:buFont typeface="Arial" panose="020B0604020202020204" pitchFamily="34" charset="0"/>
              <a:buChar char="•"/>
            </a:pPr>
            <a:r>
              <a:rPr lang="en-US" sz="1300" b="1" dirty="0"/>
              <a:t>Degree Markers</a:t>
            </a:r>
            <a:r>
              <a:rPr lang="tr-TR" sz="1300" b="1" noProof="0" dirty="0"/>
              <a:t> (Vurgu/Yoğunluk Belirten Kelimeler):</a:t>
            </a:r>
          </a:p>
          <a:p>
            <a:pPr marL="285750" indent="-285750">
              <a:lnSpc>
                <a:spcPct val="125000"/>
              </a:lnSpc>
              <a:buFont typeface="Arial" panose="020B0604020202020204" pitchFamily="34" charset="0"/>
              <a:buChar char="•"/>
            </a:pPr>
            <a:r>
              <a:rPr lang="tr-TR" sz="1300" noProof="0" dirty="0" err="1"/>
              <a:t>very</a:t>
            </a:r>
            <a:r>
              <a:rPr lang="tr-TR" sz="1300" noProof="0" dirty="0"/>
              <a:t>, </a:t>
            </a:r>
            <a:r>
              <a:rPr lang="tr-TR" sz="1300" noProof="0" dirty="0" err="1"/>
              <a:t>really</a:t>
            </a:r>
            <a:r>
              <a:rPr lang="tr-TR" sz="1300" noProof="0" dirty="0"/>
              <a:t>, </a:t>
            </a:r>
            <a:r>
              <a:rPr lang="tr-TR" sz="1300" noProof="0" dirty="0" err="1"/>
              <a:t>just</a:t>
            </a:r>
            <a:r>
              <a:rPr lang="tr-TR" sz="1300" noProof="0" dirty="0"/>
              <a:t>…</a:t>
            </a:r>
          </a:p>
          <a:p>
            <a:pPr marL="285750" indent="-285750">
              <a:lnSpc>
                <a:spcPct val="125000"/>
              </a:lnSpc>
              <a:buFont typeface="Arial" panose="020B0604020202020204" pitchFamily="34" charset="0"/>
              <a:buChar char="•"/>
            </a:pPr>
            <a:r>
              <a:rPr lang="tr-TR" sz="1300" b="1" noProof="0" dirty="0" err="1"/>
              <a:t>Pronouns</a:t>
            </a:r>
            <a:r>
              <a:rPr lang="tr-TR" sz="1300" b="1" noProof="0" dirty="0"/>
              <a:t> (Zamirler):</a:t>
            </a:r>
          </a:p>
          <a:p>
            <a:pPr marL="285750" indent="-285750">
              <a:lnSpc>
                <a:spcPct val="125000"/>
              </a:lnSpc>
              <a:buFont typeface="Arial" panose="020B0604020202020204" pitchFamily="34" charset="0"/>
              <a:buChar char="•"/>
            </a:pPr>
            <a:r>
              <a:rPr lang="tr-TR" sz="1300" noProof="0" dirty="0"/>
              <a:t>he, </a:t>
            </a:r>
            <a:r>
              <a:rPr lang="tr-TR" sz="1300" noProof="0" dirty="0" err="1"/>
              <a:t>she</a:t>
            </a:r>
            <a:r>
              <a:rPr lang="tr-TR" sz="1300" noProof="0" dirty="0"/>
              <a:t>, they…</a:t>
            </a:r>
          </a:p>
        </p:txBody>
      </p:sp>
    </p:spTree>
    <p:extLst>
      <p:ext uri="{BB962C8B-B14F-4D97-AF65-F5344CB8AC3E}">
        <p14:creationId xmlns:p14="http://schemas.microsoft.com/office/powerpoint/2010/main" val="1388777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21A5B-D1FE-887C-0A99-768D5B5E68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D1B7F02-078E-0BB4-350E-5D8016341B5B}"/>
              </a:ext>
            </a:extLst>
          </p:cNvPr>
          <p:cNvSpPr txBox="1"/>
          <p:nvPr/>
        </p:nvSpPr>
        <p:spPr>
          <a:xfrm>
            <a:off x="7638537" y="5732396"/>
            <a:ext cx="3968433" cy="317844"/>
          </a:xfrm>
          <a:prstGeom prst="rect">
            <a:avLst/>
          </a:prstGeom>
          <a:noFill/>
        </p:spPr>
        <p:txBody>
          <a:bodyPr wrap="square">
            <a:spAutoFit/>
          </a:bodyPr>
          <a:lstStyle/>
          <a:p>
            <a:pPr algn="ctr">
              <a:lnSpc>
                <a:spcPct val="125000"/>
              </a:lnSpc>
            </a:pPr>
            <a:r>
              <a:rPr lang="tr-TR" sz="1300" noProof="0" dirty="0"/>
              <a:t>Terimlerin Türkçe–İngilizce karşılıkları</a:t>
            </a:r>
          </a:p>
        </p:txBody>
      </p:sp>
      <p:sp>
        <p:nvSpPr>
          <p:cNvPr id="4" name="Rectangle: Rounded Corners 3">
            <a:extLst>
              <a:ext uri="{FF2B5EF4-FFF2-40B4-BE49-F238E27FC236}">
                <a16:creationId xmlns:a16="http://schemas.microsoft.com/office/drawing/2014/main" id="{EF240A41-8371-1302-BA99-72988B32C45E}"/>
              </a:ext>
            </a:extLst>
          </p:cNvPr>
          <p:cNvSpPr/>
          <p:nvPr/>
        </p:nvSpPr>
        <p:spPr>
          <a:xfrm>
            <a:off x="630239" y="206593"/>
            <a:ext cx="5084762" cy="1254893"/>
          </a:xfrm>
          <a:prstGeom prst="roundRect">
            <a:avLst/>
          </a:prstGeom>
          <a:solidFill>
            <a:schemeClr val="tx2">
              <a:lumMod val="10000"/>
              <a:lumOff val="90000"/>
            </a:schemeClr>
          </a:solidFill>
          <a:ln>
            <a:solidFill>
              <a:schemeClr val="tx2">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nSpc>
                <a:spcPct val="125000"/>
              </a:lnSpc>
            </a:pPr>
            <a:r>
              <a:rPr lang="tr-TR" sz="2800" noProof="0" dirty="0"/>
              <a:t>Metin Temizleme – </a:t>
            </a:r>
          </a:p>
          <a:p>
            <a:pPr>
              <a:lnSpc>
                <a:spcPct val="125000"/>
              </a:lnSpc>
            </a:pPr>
            <a:r>
              <a:rPr lang="tr-TR" sz="2800" dirty="0" err="1"/>
              <a:t>Stemming</a:t>
            </a:r>
            <a:r>
              <a:rPr lang="tr-TR" sz="2800" dirty="0"/>
              <a:t> / </a:t>
            </a:r>
            <a:r>
              <a:rPr lang="tr-TR" sz="2800" dirty="0" err="1"/>
              <a:t>Lemmatization</a:t>
            </a:r>
            <a:endParaRPr lang="tr-TR" sz="2800" b="1" noProof="0" dirty="0"/>
          </a:p>
        </p:txBody>
      </p:sp>
      <p:sp>
        <p:nvSpPr>
          <p:cNvPr id="6" name="TextBox 5">
            <a:extLst>
              <a:ext uri="{FF2B5EF4-FFF2-40B4-BE49-F238E27FC236}">
                <a16:creationId xmlns:a16="http://schemas.microsoft.com/office/drawing/2014/main" id="{5F6DBD98-46E3-053E-ED4E-174BAA3EA3C0}"/>
              </a:ext>
            </a:extLst>
          </p:cNvPr>
          <p:cNvSpPr txBox="1"/>
          <p:nvPr/>
        </p:nvSpPr>
        <p:spPr>
          <a:xfrm>
            <a:off x="630239" y="1461486"/>
            <a:ext cx="4941002" cy="1068049"/>
          </a:xfrm>
          <a:prstGeom prst="rect">
            <a:avLst/>
          </a:prstGeom>
          <a:noFill/>
        </p:spPr>
        <p:txBody>
          <a:bodyPr wrap="square">
            <a:spAutoFit/>
          </a:bodyPr>
          <a:lstStyle/>
          <a:p>
            <a:pPr>
              <a:lnSpc>
                <a:spcPct val="125000"/>
              </a:lnSpc>
              <a:buNone/>
            </a:pPr>
            <a:r>
              <a:rPr lang="tr-TR" sz="1300" b="1" noProof="0" dirty="0" err="1"/>
              <a:t>Stemming</a:t>
            </a:r>
            <a:r>
              <a:rPr lang="tr-TR" sz="1300" b="1" noProof="0" dirty="0"/>
              <a:t> / </a:t>
            </a:r>
            <a:r>
              <a:rPr lang="tr-TR" sz="1300" b="1" noProof="0" dirty="0" err="1"/>
              <a:t>Lemmatization</a:t>
            </a:r>
            <a:r>
              <a:rPr lang="tr-TR" sz="1300" b="1" noProof="0" dirty="0"/>
              <a:t> Nedir?</a:t>
            </a:r>
          </a:p>
          <a:p>
            <a:pPr>
              <a:lnSpc>
                <a:spcPct val="125000"/>
              </a:lnSpc>
              <a:buNone/>
            </a:pPr>
            <a:r>
              <a:rPr lang="tr-TR" sz="1300" noProof="0" dirty="0"/>
              <a:t>  Kelime kökünü bulmak için kullanılan metin temizleme adımlarıdır. Amaç; Kelimeleri daha basit, standart bir forma indirerek analizi kolaylaştırmak.</a:t>
            </a:r>
          </a:p>
        </p:txBody>
      </p:sp>
      <p:sp>
        <p:nvSpPr>
          <p:cNvPr id="14" name="TextBox 13">
            <a:extLst>
              <a:ext uri="{FF2B5EF4-FFF2-40B4-BE49-F238E27FC236}">
                <a16:creationId xmlns:a16="http://schemas.microsoft.com/office/drawing/2014/main" id="{D8D6963C-5E7C-C37C-78FC-DA651DDC1A3E}"/>
              </a:ext>
            </a:extLst>
          </p:cNvPr>
          <p:cNvSpPr txBox="1"/>
          <p:nvPr/>
        </p:nvSpPr>
        <p:spPr>
          <a:xfrm>
            <a:off x="7260997" y="995739"/>
            <a:ext cx="4300764" cy="1318118"/>
          </a:xfrm>
          <a:prstGeom prst="rect">
            <a:avLst/>
          </a:prstGeom>
          <a:noFill/>
        </p:spPr>
        <p:txBody>
          <a:bodyPr wrap="square">
            <a:spAutoFit/>
          </a:bodyPr>
          <a:lstStyle/>
          <a:p>
            <a:pPr>
              <a:lnSpc>
                <a:spcPct val="125000"/>
              </a:lnSpc>
              <a:buNone/>
            </a:pPr>
            <a:r>
              <a:rPr lang="tr-TR" sz="1300" b="1" noProof="0" dirty="0" err="1"/>
              <a:t>Stemming</a:t>
            </a:r>
            <a:r>
              <a:rPr lang="tr-TR" sz="1300" b="1" noProof="0" dirty="0"/>
              <a:t> </a:t>
            </a:r>
            <a:r>
              <a:rPr lang="tr-TR" sz="1300" b="1" noProof="0" dirty="0" err="1"/>
              <a:t>vs</a:t>
            </a:r>
            <a:r>
              <a:rPr lang="tr-TR" sz="1300" b="1" noProof="0" dirty="0"/>
              <a:t> </a:t>
            </a:r>
            <a:r>
              <a:rPr lang="tr-TR" sz="1300" b="1" noProof="0" dirty="0" err="1"/>
              <a:t>Lemmatization</a:t>
            </a:r>
            <a:r>
              <a:rPr lang="tr-TR" sz="1300" b="1" noProof="0" dirty="0"/>
              <a:t> </a:t>
            </a:r>
          </a:p>
          <a:p>
            <a:pPr>
              <a:lnSpc>
                <a:spcPct val="125000"/>
              </a:lnSpc>
              <a:buNone/>
            </a:pPr>
            <a:r>
              <a:rPr lang="tr-TR" sz="1300" noProof="0" dirty="0"/>
              <a:t>• </a:t>
            </a:r>
            <a:r>
              <a:rPr lang="tr-TR" sz="1300" noProof="0" dirty="0" err="1"/>
              <a:t>Stemming</a:t>
            </a:r>
            <a:r>
              <a:rPr lang="tr-TR" sz="1300" noProof="0" dirty="0"/>
              <a:t> → hızlı, yüzeysel</a:t>
            </a:r>
            <a:br>
              <a:rPr lang="tr-TR" sz="1300" noProof="0" dirty="0"/>
            </a:br>
            <a:r>
              <a:rPr lang="tr-TR" sz="1300" noProof="0" dirty="0"/>
              <a:t>• </a:t>
            </a:r>
            <a:r>
              <a:rPr lang="tr-TR" sz="1300" noProof="0" dirty="0" err="1"/>
              <a:t>Lemmatization</a:t>
            </a:r>
            <a:r>
              <a:rPr lang="tr-TR" sz="1300" noProof="0" dirty="0"/>
              <a:t> → daha doğru, dil kurallı</a:t>
            </a:r>
            <a:br>
              <a:rPr lang="tr-TR" sz="1300" noProof="0" dirty="0"/>
            </a:br>
            <a:r>
              <a:rPr lang="tr-TR" sz="1300" noProof="0" dirty="0"/>
              <a:t>• Analizde genelde </a:t>
            </a:r>
            <a:r>
              <a:rPr lang="tr-TR" sz="1300" b="1" noProof="0" dirty="0" err="1"/>
              <a:t>lemmatization</a:t>
            </a:r>
            <a:r>
              <a:rPr lang="tr-TR" sz="1300" noProof="0" dirty="0"/>
              <a:t> daha güçlü sonuçlar verir.</a:t>
            </a:r>
          </a:p>
        </p:txBody>
      </p:sp>
      <p:graphicFrame>
        <p:nvGraphicFramePr>
          <p:cNvPr id="15" name="Table 14">
            <a:extLst>
              <a:ext uri="{FF2B5EF4-FFF2-40B4-BE49-F238E27FC236}">
                <a16:creationId xmlns:a16="http://schemas.microsoft.com/office/drawing/2014/main" id="{BF40FEEC-4C62-0CF5-88E3-F634532E0DDC}"/>
              </a:ext>
            </a:extLst>
          </p:cNvPr>
          <p:cNvGraphicFramePr>
            <a:graphicFrameLocks noGrp="1"/>
          </p:cNvGraphicFramePr>
          <p:nvPr>
            <p:extLst>
              <p:ext uri="{D42A27DB-BD31-4B8C-83A1-F6EECF244321}">
                <p14:modId xmlns:p14="http://schemas.microsoft.com/office/powerpoint/2010/main" val="780606038"/>
              </p:ext>
            </p:extLst>
          </p:nvPr>
        </p:nvGraphicFramePr>
        <p:xfrm>
          <a:off x="7260997" y="3878197"/>
          <a:ext cx="4345974" cy="1854200"/>
        </p:xfrm>
        <a:graphic>
          <a:graphicData uri="http://schemas.openxmlformats.org/drawingml/2006/table">
            <a:tbl>
              <a:tblPr firstRow="1" bandRow="1">
                <a:tableStyleId>{5C22544A-7EE6-4342-B048-85BDC9FD1C3A}</a:tableStyleId>
              </a:tblPr>
              <a:tblGrid>
                <a:gridCol w="2136718">
                  <a:extLst>
                    <a:ext uri="{9D8B030D-6E8A-4147-A177-3AD203B41FA5}">
                      <a16:colId xmlns:a16="http://schemas.microsoft.com/office/drawing/2014/main" val="1692728859"/>
                    </a:ext>
                  </a:extLst>
                </a:gridCol>
                <a:gridCol w="2209256">
                  <a:extLst>
                    <a:ext uri="{9D8B030D-6E8A-4147-A177-3AD203B41FA5}">
                      <a16:colId xmlns:a16="http://schemas.microsoft.com/office/drawing/2014/main" val="891294696"/>
                    </a:ext>
                  </a:extLst>
                </a:gridCol>
              </a:tblGrid>
              <a:tr h="370840">
                <a:tc>
                  <a:txBody>
                    <a:bodyPr/>
                    <a:lstStyle/>
                    <a:p>
                      <a:pPr>
                        <a:buNone/>
                      </a:pPr>
                      <a:r>
                        <a:rPr lang="tr-TR" sz="1300" b="1" noProof="0" dirty="0"/>
                        <a:t>Türkçe Terim</a:t>
                      </a:r>
                      <a:endParaRPr lang="tr-TR" sz="1300" noProof="0" dirty="0"/>
                    </a:p>
                  </a:txBody>
                  <a:tcPr anchor="ctr"/>
                </a:tc>
                <a:tc>
                  <a:txBody>
                    <a:bodyPr/>
                    <a:lstStyle/>
                    <a:p>
                      <a:pPr>
                        <a:buNone/>
                      </a:pPr>
                      <a:r>
                        <a:rPr lang="tr-TR" sz="1300" b="1" noProof="0" dirty="0"/>
                        <a:t>İngilizce Terim</a:t>
                      </a:r>
                      <a:endParaRPr lang="tr-TR" sz="1300" noProof="0" dirty="0"/>
                    </a:p>
                  </a:txBody>
                  <a:tcPr anchor="ctr"/>
                </a:tc>
                <a:extLst>
                  <a:ext uri="{0D108BD9-81ED-4DB2-BD59-A6C34878D82A}">
                    <a16:rowId xmlns:a16="http://schemas.microsoft.com/office/drawing/2014/main" val="633750296"/>
                  </a:ext>
                </a:extLst>
              </a:tr>
              <a:tr h="370840">
                <a:tc>
                  <a:txBody>
                    <a:bodyPr/>
                    <a:lstStyle/>
                    <a:p>
                      <a:pPr>
                        <a:buNone/>
                      </a:pPr>
                      <a:r>
                        <a:rPr lang="tr-TR" sz="1300" noProof="0" dirty="0"/>
                        <a:t>Kök Bulma</a:t>
                      </a:r>
                    </a:p>
                  </a:txBody>
                  <a:tcPr anchor="ctr"/>
                </a:tc>
                <a:tc>
                  <a:txBody>
                    <a:bodyPr/>
                    <a:lstStyle/>
                    <a:p>
                      <a:pPr>
                        <a:buNone/>
                      </a:pPr>
                      <a:r>
                        <a:rPr lang="tr-TR" sz="1300" noProof="0" dirty="0" err="1"/>
                        <a:t>Stemming</a:t>
                      </a:r>
                      <a:endParaRPr lang="tr-TR" sz="1300" noProof="0" dirty="0"/>
                    </a:p>
                  </a:txBody>
                  <a:tcPr anchor="ctr"/>
                </a:tc>
                <a:extLst>
                  <a:ext uri="{0D108BD9-81ED-4DB2-BD59-A6C34878D82A}">
                    <a16:rowId xmlns:a16="http://schemas.microsoft.com/office/drawing/2014/main" val="3230612467"/>
                  </a:ext>
                </a:extLst>
              </a:tr>
              <a:tr h="370840">
                <a:tc>
                  <a:txBody>
                    <a:bodyPr/>
                    <a:lstStyle/>
                    <a:p>
                      <a:pPr>
                        <a:buNone/>
                      </a:pPr>
                      <a:r>
                        <a:rPr lang="tr-TR" sz="1300" noProof="0" dirty="0" err="1"/>
                        <a:t>Gövdeleme</a:t>
                      </a:r>
                      <a:endParaRPr lang="tr-TR" sz="1300" noProof="0" dirty="0"/>
                    </a:p>
                  </a:txBody>
                  <a:tcPr anchor="ctr"/>
                </a:tc>
                <a:tc>
                  <a:txBody>
                    <a:bodyPr/>
                    <a:lstStyle/>
                    <a:p>
                      <a:pPr>
                        <a:buNone/>
                      </a:pPr>
                      <a:r>
                        <a:rPr lang="tr-TR" sz="1300" noProof="0" dirty="0" err="1"/>
                        <a:t>Stemming</a:t>
                      </a:r>
                      <a:endParaRPr lang="tr-TR" sz="1300" noProof="0" dirty="0"/>
                    </a:p>
                  </a:txBody>
                  <a:tcPr anchor="ctr"/>
                </a:tc>
                <a:extLst>
                  <a:ext uri="{0D108BD9-81ED-4DB2-BD59-A6C34878D82A}">
                    <a16:rowId xmlns:a16="http://schemas.microsoft.com/office/drawing/2014/main" val="1941703597"/>
                  </a:ext>
                </a:extLst>
              </a:tr>
              <a:tr h="370840">
                <a:tc>
                  <a:txBody>
                    <a:bodyPr/>
                    <a:lstStyle/>
                    <a:p>
                      <a:pPr>
                        <a:buNone/>
                      </a:pPr>
                      <a:r>
                        <a:rPr lang="tr-TR" sz="1300" noProof="0" dirty="0" err="1"/>
                        <a:t>Köklem</a:t>
                      </a:r>
                      <a:endParaRPr lang="tr-TR" sz="1300" noProof="0" dirty="0"/>
                    </a:p>
                  </a:txBody>
                  <a:tcPr anchor="ctr"/>
                </a:tc>
                <a:tc>
                  <a:txBody>
                    <a:bodyPr/>
                    <a:lstStyle/>
                    <a:p>
                      <a:pPr>
                        <a:buNone/>
                      </a:pPr>
                      <a:r>
                        <a:rPr lang="tr-TR" sz="1300" noProof="0" dirty="0" err="1"/>
                        <a:t>Lemmatization</a:t>
                      </a:r>
                      <a:endParaRPr lang="tr-TR" sz="1300" noProof="0" dirty="0"/>
                    </a:p>
                  </a:txBody>
                  <a:tcPr anchor="ctr"/>
                </a:tc>
                <a:extLst>
                  <a:ext uri="{0D108BD9-81ED-4DB2-BD59-A6C34878D82A}">
                    <a16:rowId xmlns:a16="http://schemas.microsoft.com/office/drawing/2014/main" val="4058332663"/>
                  </a:ext>
                </a:extLst>
              </a:tr>
              <a:tr h="370840">
                <a:tc>
                  <a:txBody>
                    <a:bodyPr/>
                    <a:lstStyle/>
                    <a:p>
                      <a:pPr>
                        <a:buNone/>
                      </a:pPr>
                      <a:r>
                        <a:rPr lang="tr-TR" sz="1300" noProof="0" dirty="0"/>
                        <a:t>Anlamlı Kök Alma</a:t>
                      </a:r>
                    </a:p>
                  </a:txBody>
                  <a:tcPr anchor="ctr"/>
                </a:tc>
                <a:tc>
                  <a:txBody>
                    <a:bodyPr/>
                    <a:lstStyle/>
                    <a:p>
                      <a:pPr>
                        <a:buNone/>
                      </a:pPr>
                      <a:r>
                        <a:rPr lang="tr-TR" sz="1300" noProof="0" dirty="0" err="1"/>
                        <a:t>Lemmatization</a:t>
                      </a:r>
                      <a:endParaRPr lang="tr-TR" sz="1300" noProof="0" dirty="0"/>
                    </a:p>
                  </a:txBody>
                  <a:tcPr anchor="ctr"/>
                </a:tc>
                <a:extLst>
                  <a:ext uri="{0D108BD9-81ED-4DB2-BD59-A6C34878D82A}">
                    <a16:rowId xmlns:a16="http://schemas.microsoft.com/office/drawing/2014/main" val="3741407767"/>
                  </a:ext>
                </a:extLst>
              </a:tr>
            </a:tbl>
          </a:graphicData>
        </a:graphic>
      </p:graphicFrame>
      <p:sp>
        <p:nvSpPr>
          <p:cNvPr id="18" name="TextBox 17">
            <a:extLst>
              <a:ext uri="{FF2B5EF4-FFF2-40B4-BE49-F238E27FC236}">
                <a16:creationId xmlns:a16="http://schemas.microsoft.com/office/drawing/2014/main" id="{ECB4769A-2AF4-F30E-3268-4661C8C9F9D0}"/>
              </a:ext>
            </a:extLst>
          </p:cNvPr>
          <p:cNvSpPr txBox="1"/>
          <p:nvPr/>
        </p:nvSpPr>
        <p:spPr>
          <a:xfrm>
            <a:off x="7260996" y="3554130"/>
            <a:ext cx="4300765" cy="323165"/>
          </a:xfrm>
          <a:prstGeom prst="rect">
            <a:avLst/>
          </a:prstGeom>
          <a:noFill/>
        </p:spPr>
        <p:txBody>
          <a:bodyPr wrap="square">
            <a:spAutoFit/>
          </a:bodyPr>
          <a:lstStyle/>
          <a:p>
            <a:pPr algn="ctr"/>
            <a:r>
              <a:rPr lang="tr-TR" sz="1500" noProof="0" dirty="0" err="1"/>
              <a:t>Stemming</a:t>
            </a:r>
            <a:r>
              <a:rPr lang="tr-TR" sz="1500" noProof="0" dirty="0"/>
              <a:t> / </a:t>
            </a:r>
            <a:r>
              <a:rPr lang="tr-TR" sz="1500" noProof="0" dirty="0" err="1"/>
              <a:t>Lemmatization</a:t>
            </a:r>
            <a:r>
              <a:rPr lang="tr-TR" sz="1500" noProof="0" dirty="0"/>
              <a:t>  Ait Terimleri</a:t>
            </a:r>
          </a:p>
        </p:txBody>
      </p:sp>
      <p:sp>
        <p:nvSpPr>
          <p:cNvPr id="20" name="TextBox 19">
            <a:extLst>
              <a:ext uri="{FF2B5EF4-FFF2-40B4-BE49-F238E27FC236}">
                <a16:creationId xmlns:a16="http://schemas.microsoft.com/office/drawing/2014/main" id="{C11CA9AB-3F13-806C-FE83-6C50131942B9}"/>
              </a:ext>
            </a:extLst>
          </p:cNvPr>
          <p:cNvSpPr txBox="1"/>
          <p:nvPr/>
        </p:nvSpPr>
        <p:spPr>
          <a:xfrm>
            <a:off x="7260996" y="2313858"/>
            <a:ext cx="4451977" cy="1068049"/>
          </a:xfrm>
          <a:prstGeom prst="rect">
            <a:avLst/>
          </a:prstGeom>
          <a:noFill/>
        </p:spPr>
        <p:txBody>
          <a:bodyPr wrap="square">
            <a:spAutoFit/>
          </a:bodyPr>
          <a:lstStyle/>
          <a:p>
            <a:pPr>
              <a:lnSpc>
                <a:spcPct val="125000"/>
              </a:lnSpc>
              <a:buNone/>
            </a:pPr>
            <a:r>
              <a:rPr lang="tr-TR" sz="1300" b="1" noProof="0" dirty="0"/>
              <a:t>Nerede Kullanılır?</a:t>
            </a:r>
          </a:p>
          <a:p>
            <a:pPr>
              <a:lnSpc>
                <a:spcPct val="125000"/>
              </a:lnSpc>
              <a:buNone/>
            </a:pPr>
            <a:r>
              <a:rPr lang="tr-TR" sz="1300" noProof="0" dirty="0"/>
              <a:t>• Metin sınıflandırma (duygu analizi, konu sınıflandırma)</a:t>
            </a:r>
            <a:br>
              <a:rPr lang="tr-TR" sz="1300" noProof="0" dirty="0"/>
            </a:br>
            <a:r>
              <a:rPr lang="tr-TR" sz="1300" noProof="0" dirty="0"/>
              <a:t>• Arama motorları için indeksleme</a:t>
            </a:r>
            <a:br>
              <a:rPr lang="tr-TR" sz="1300" noProof="0" dirty="0"/>
            </a:br>
            <a:r>
              <a:rPr lang="tr-TR" sz="1300" noProof="0" dirty="0"/>
              <a:t>• Makine öğrenmesi modellerinde girdi hazırlama</a:t>
            </a:r>
          </a:p>
        </p:txBody>
      </p:sp>
      <p:pic>
        <p:nvPicPr>
          <p:cNvPr id="21" name="Picture 20" descr="A magnifying glass with arrows and words&#10;&#10;AI-generated content may be incorrect.">
            <a:extLst>
              <a:ext uri="{FF2B5EF4-FFF2-40B4-BE49-F238E27FC236}">
                <a16:creationId xmlns:a16="http://schemas.microsoft.com/office/drawing/2014/main" id="{FF4E2ADE-6BB9-F247-DC3C-6A60DA9D6573}"/>
              </a:ext>
            </a:extLst>
          </p:cNvPr>
          <p:cNvPicPr>
            <a:picLocks noChangeAspect="1"/>
          </p:cNvPicPr>
          <p:nvPr/>
        </p:nvPicPr>
        <p:blipFill>
          <a:blip r:embed="rId2"/>
          <a:srcRect l="11015" r="12135"/>
          <a:stretch>
            <a:fillRect/>
          </a:stretch>
        </p:blipFill>
        <p:spPr>
          <a:xfrm>
            <a:off x="4523492" y="2346657"/>
            <a:ext cx="2737504" cy="3063079"/>
          </a:xfrm>
          <a:prstGeom prst="rect">
            <a:avLst/>
          </a:prstGeom>
        </p:spPr>
      </p:pic>
      <p:sp>
        <p:nvSpPr>
          <p:cNvPr id="10" name="TextBox 9">
            <a:extLst>
              <a:ext uri="{FF2B5EF4-FFF2-40B4-BE49-F238E27FC236}">
                <a16:creationId xmlns:a16="http://schemas.microsoft.com/office/drawing/2014/main" id="{6CFA225E-DC02-36E8-8859-4B698F259C76}"/>
              </a:ext>
            </a:extLst>
          </p:cNvPr>
          <p:cNvSpPr txBox="1"/>
          <p:nvPr/>
        </p:nvSpPr>
        <p:spPr>
          <a:xfrm>
            <a:off x="592035" y="2492671"/>
            <a:ext cx="3800856" cy="2068323"/>
          </a:xfrm>
          <a:prstGeom prst="rect">
            <a:avLst/>
          </a:prstGeom>
          <a:noFill/>
        </p:spPr>
        <p:txBody>
          <a:bodyPr wrap="square">
            <a:spAutoFit/>
          </a:bodyPr>
          <a:lstStyle/>
          <a:p>
            <a:pPr marL="285750" indent="-285750">
              <a:lnSpc>
                <a:spcPct val="125000"/>
              </a:lnSpc>
              <a:buFont typeface="Arial" panose="020B0604020202020204" pitchFamily="34" charset="0"/>
              <a:buChar char="•"/>
            </a:pPr>
            <a:r>
              <a:rPr lang="tr-TR" sz="1300" b="1" noProof="0" dirty="0" err="1"/>
              <a:t>Stemming</a:t>
            </a:r>
            <a:endParaRPr lang="tr-TR" sz="1300" b="1" noProof="0" dirty="0"/>
          </a:p>
          <a:p>
            <a:pPr>
              <a:lnSpc>
                <a:spcPct val="125000"/>
              </a:lnSpc>
              <a:buNone/>
            </a:pPr>
            <a:r>
              <a:rPr lang="tr-TR" sz="1300" noProof="0" dirty="0"/>
              <a:t>  Kelimeleri </a:t>
            </a:r>
            <a:r>
              <a:rPr lang="tr-TR" sz="1300" i="1" noProof="0" dirty="0"/>
              <a:t>kaba bir kesme işlemiyle</a:t>
            </a:r>
            <a:r>
              <a:rPr lang="tr-TR" sz="1300" noProof="0" dirty="0"/>
              <a:t> kök hâline indirger. Dil bilgisi kurallarını dikkate almaz; hızlıdır ama bazen hatalı kök üretebilir.</a:t>
            </a:r>
          </a:p>
          <a:p>
            <a:pPr>
              <a:lnSpc>
                <a:spcPct val="125000"/>
              </a:lnSpc>
              <a:buNone/>
            </a:pPr>
            <a:r>
              <a:rPr lang="tr-TR" sz="1300" b="1" noProof="0" dirty="0"/>
              <a:t>Örnek:</a:t>
            </a:r>
            <a:br>
              <a:rPr lang="tr-TR" sz="1300" noProof="0" dirty="0"/>
            </a:br>
            <a:r>
              <a:rPr lang="tr-TR" sz="1300" noProof="0" dirty="0"/>
              <a:t>• </a:t>
            </a:r>
            <a:r>
              <a:rPr lang="tr-TR" sz="1300" i="1" noProof="0" dirty="0"/>
              <a:t>koşuyor</a:t>
            </a:r>
            <a:r>
              <a:rPr lang="tr-TR" sz="1300" noProof="0" dirty="0"/>
              <a:t> → </a:t>
            </a:r>
            <a:r>
              <a:rPr lang="tr-TR" sz="1300" b="1" noProof="0" dirty="0"/>
              <a:t>koş</a:t>
            </a:r>
            <a:br>
              <a:rPr lang="tr-TR" sz="1300" noProof="0" dirty="0"/>
            </a:br>
            <a:r>
              <a:rPr lang="tr-TR" sz="1300" noProof="0" dirty="0"/>
              <a:t>• </a:t>
            </a:r>
            <a:r>
              <a:rPr lang="tr-TR" sz="1300" i="1" noProof="0" dirty="0"/>
              <a:t>yazdım</a:t>
            </a:r>
            <a:r>
              <a:rPr lang="tr-TR" sz="1300" noProof="0" dirty="0"/>
              <a:t> → </a:t>
            </a:r>
            <a:r>
              <a:rPr lang="tr-TR" sz="1300" b="1" noProof="0" dirty="0"/>
              <a:t>yaz</a:t>
            </a:r>
            <a:br>
              <a:rPr lang="tr-TR" sz="1300" noProof="0" dirty="0"/>
            </a:br>
            <a:r>
              <a:rPr lang="tr-TR" sz="1300" noProof="0" dirty="0"/>
              <a:t>• </a:t>
            </a:r>
            <a:r>
              <a:rPr lang="tr-TR" sz="1300" i="1" noProof="0" dirty="0"/>
              <a:t>güzellik</a:t>
            </a:r>
            <a:r>
              <a:rPr lang="tr-TR" sz="1300" noProof="0" dirty="0"/>
              <a:t> → </a:t>
            </a:r>
            <a:r>
              <a:rPr lang="tr-TR" sz="1300" b="1" noProof="0" dirty="0"/>
              <a:t>güzel</a:t>
            </a:r>
            <a:endParaRPr lang="tr-TR" sz="1300" noProof="0" dirty="0"/>
          </a:p>
        </p:txBody>
      </p:sp>
      <p:sp>
        <p:nvSpPr>
          <p:cNvPr id="23" name="TextBox 22">
            <a:extLst>
              <a:ext uri="{FF2B5EF4-FFF2-40B4-BE49-F238E27FC236}">
                <a16:creationId xmlns:a16="http://schemas.microsoft.com/office/drawing/2014/main" id="{C94EA5FF-3B42-FACC-1E17-3E9E4BBA4E4D}"/>
              </a:ext>
            </a:extLst>
          </p:cNvPr>
          <p:cNvSpPr txBox="1"/>
          <p:nvPr/>
        </p:nvSpPr>
        <p:spPr>
          <a:xfrm>
            <a:off x="7336411" y="426351"/>
            <a:ext cx="2737504" cy="569387"/>
          </a:xfrm>
          <a:prstGeom prst="rect">
            <a:avLst/>
          </a:prstGeom>
          <a:noFill/>
        </p:spPr>
        <p:txBody>
          <a:bodyPr wrap="square">
            <a:spAutoFit/>
          </a:bodyPr>
          <a:lstStyle/>
          <a:p>
            <a:r>
              <a:rPr lang="tr-TR" sz="1800" noProof="0" dirty="0"/>
              <a:t>• </a:t>
            </a:r>
            <a:r>
              <a:rPr lang="tr-TR" sz="1300" i="1" noProof="0" dirty="0"/>
              <a:t>koşuyordu</a:t>
            </a:r>
            <a:r>
              <a:rPr lang="tr-TR" sz="1300" noProof="0" dirty="0"/>
              <a:t> → </a:t>
            </a:r>
            <a:r>
              <a:rPr lang="tr-TR" sz="1300" b="1" noProof="0" dirty="0"/>
              <a:t>koşmak</a:t>
            </a:r>
            <a:br>
              <a:rPr lang="tr-TR" sz="1300" noProof="0" dirty="0"/>
            </a:br>
            <a:r>
              <a:rPr lang="tr-TR" sz="1300" noProof="0" dirty="0"/>
              <a:t>• </a:t>
            </a:r>
            <a:r>
              <a:rPr lang="tr-TR" sz="1300" i="1" noProof="0" dirty="0"/>
              <a:t>en iyisi</a:t>
            </a:r>
            <a:r>
              <a:rPr lang="tr-TR" sz="1300" noProof="0" dirty="0"/>
              <a:t> → </a:t>
            </a:r>
            <a:r>
              <a:rPr lang="tr-TR" sz="1300" b="1" noProof="0" dirty="0"/>
              <a:t>iyi</a:t>
            </a:r>
            <a:endParaRPr lang="tr-TR" sz="1300" dirty="0"/>
          </a:p>
        </p:txBody>
      </p:sp>
      <p:sp>
        <p:nvSpPr>
          <p:cNvPr id="12" name="TextBox 11">
            <a:extLst>
              <a:ext uri="{FF2B5EF4-FFF2-40B4-BE49-F238E27FC236}">
                <a16:creationId xmlns:a16="http://schemas.microsoft.com/office/drawing/2014/main" id="{22307F59-42A3-147A-C3C2-E25C253E8F64}"/>
              </a:ext>
            </a:extLst>
          </p:cNvPr>
          <p:cNvSpPr txBox="1"/>
          <p:nvPr/>
        </p:nvSpPr>
        <p:spPr>
          <a:xfrm>
            <a:off x="592035" y="4683051"/>
            <a:ext cx="3800856" cy="1818255"/>
          </a:xfrm>
          <a:prstGeom prst="rect">
            <a:avLst/>
          </a:prstGeom>
          <a:noFill/>
        </p:spPr>
        <p:txBody>
          <a:bodyPr wrap="square">
            <a:spAutoFit/>
          </a:bodyPr>
          <a:lstStyle/>
          <a:p>
            <a:pPr marL="285750" indent="-285750">
              <a:lnSpc>
                <a:spcPct val="125000"/>
              </a:lnSpc>
              <a:buFont typeface="Arial" panose="020B0604020202020204" pitchFamily="34" charset="0"/>
              <a:buChar char="•"/>
            </a:pPr>
            <a:r>
              <a:rPr lang="tr-TR" sz="1300" b="1" noProof="0" dirty="0" err="1"/>
              <a:t>Lemmatization</a:t>
            </a:r>
            <a:endParaRPr lang="tr-TR" sz="1300" b="1" noProof="0" dirty="0"/>
          </a:p>
          <a:p>
            <a:pPr>
              <a:lnSpc>
                <a:spcPct val="125000"/>
              </a:lnSpc>
              <a:buNone/>
            </a:pPr>
            <a:r>
              <a:rPr lang="tr-TR" sz="1300" noProof="0" dirty="0"/>
              <a:t>  Kelimeleri </a:t>
            </a:r>
            <a:r>
              <a:rPr lang="tr-TR" sz="1300" i="1" noProof="0" dirty="0"/>
              <a:t>sözlükteki gerçek kök</a:t>
            </a:r>
            <a:r>
              <a:rPr lang="tr-TR" sz="1300" noProof="0" dirty="0"/>
              <a:t> anlamına göre düzeltir. Dil bilgisi kurallarını dikkate aldığı için daha doğrudur fakat daha yavaştır.</a:t>
            </a:r>
          </a:p>
          <a:p>
            <a:pPr>
              <a:lnSpc>
                <a:spcPct val="125000"/>
              </a:lnSpc>
              <a:buNone/>
            </a:pPr>
            <a:r>
              <a:rPr lang="tr-TR" sz="1300" b="1" noProof="0" dirty="0"/>
              <a:t>Örnek:</a:t>
            </a:r>
            <a:br>
              <a:rPr lang="tr-TR" sz="1300" noProof="0" dirty="0"/>
            </a:br>
            <a:r>
              <a:rPr lang="tr-TR" sz="1300" noProof="0" dirty="0"/>
              <a:t>• </a:t>
            </a:r>
            <a:r>
              <a:rPr lang="tr-TR" sz="1300" i="1" noProof="0" dirty="0"/>
              <a:t>gidiyorum</a:t>
            </a:r>
            <a:r>
              <a:rPr lang="tr-TR" sz="1300" noProof="0" dirty="0"/>
              <a:t> → </a:t>
            </a:r>
            <a:r>
              <a:rPr lang="tr-TR" sz="1300" b="1" noProof="0" dirty="0"/>
              <a:t>gitmek</a:t>
            </a:r>
            <a:br>
              <a:rPr lang="tr-TR" sz="1300" noProof="0" dirty="0"/>
            </a:br>
            <a:endParaRPr lang="tr-TR" sz="1300" noProof="0" dirty="0"/>
          </a:p>
        </p:txBody>
      </p:sp>
    </p:spTree>
    <p:extLst>
      <p:ext uri="{BB962C8B-B14F-4D97-AF65-F5344CB8AC3E}">
        <p14:creationId xmlns:p14="http://schemas.microsoft.com/office/powerpoint/2010/main" val="3957469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B6C46-701E-6102-F7B7-9B542DF488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8F7619-B3B1-C13E-C80B-E34397FFC58B}"/>
              </a:ext>
            </a:extLst>
          </p:cNvPr>
          <p:cNvSpPr txBox="1"/>
          <p:nvPr/>
        </p:nvSpPr>
        <p:spPr>
          <a:xfrm>
            <a:off x="7649088" y="4275837"/>
            <a:ext cx="3740899" cy="317844"/>
          </a:xfrm>
          <a:prstGeom prst="rect">
            <a:avLst/>
          </a:prstGeom>
          <a:noFill/>
        </p:spPr>
        <p:txBody>
          <a:bodyPr wrap="square">
            <a:spAutoFit/>
          </a:bodyPr>
          <a:lstStyle/>
          <a:p>
            <a:pPr algn="ctr">
              <a:lnSpc>
                <a:spcPct val="125000"/>
              </a:lnSpc>
            </a:pPr>
            <a:r>
              <a:rPr lang="tr-TR" sz="1300" noProof="0" dirty="0"/>
              <a:t>Terimlerin Türkçe–İngilizce karşılıkları</a:t>
            </a:r>
          </a:p>
        </p:txBody>
      </p:sp>
      <p:pic>
        <p:nvPicPr>
          <p:cNvPr id="2" name="Picture 1">
            <a:extLst>
              <a:ext uri="{FF2B5EF4-FFF2-40B4-BE49-F238E27FC236}">
                <a16:creationId xmlns:a16="http://schemas.microsoft.com/office/drawing/2014/main" id="{90CFC2B8-BC7A-84E8-EE29-145985230F05}"/>
              </a:ext>
            </a:extLst>
          </p:cNvPr>
          <p:cNvPicPr>
            <a:picLocks noChangeAspect="1"/>
          </p:cNvPicPr>
          <p:nvPr/>
        </p:nvPicPr>
        <p:blipFill>
          <a:blip r:embed="rId2"/>
          <a:stretch>
            <a:fillRect/>
          </a:stretch>
        </p:blipFill>
        <p:spPr>
          <a:xfrm>
            <a:off x="4710760" y="2621607"/>
            <a:ext cx="2670122" cy="2170054"/>
          </a:xfrm>
          <a:prstGeom prst="rect">
            <a:avLst/>
          </a:prstGeom>
        </p:spPr>
      </p:pic>
      <p:sp>
        <p:nvSpPr>
          <p:cNvPr id="6" name="TextBox 5">
            <a:extLst>
              <a:ext uri="{FF2B5EF4-FFF2-40B4-BE49-F238E27FC236}">
                <a16:creationId xmlns:a16="http://schemas.microsoft.com/office/drawing/2014/main" id="{06C5892A-BEE4-23B9-1BCE-B4091A84BDEA}"/>
              </a:ext>
            </a:extLst>
          </p:cNvPr>
          <p:cNvSpPr txBox="1"/>
          <p:nvPr/>
        </p:nvSpPr>
        <p:spPr>
          <a:xfrm>
            <a:off x="-1" y="638816"/>
            <a:ext cx="12192001" cy="523220"/>
          </a:xfrm>
          <a:prstGeom prst="rect">
            <a:avLst/>
          </a:prstGeom>
          <a:noFill/>
        </p:spPr>
        <p:txBody>
          <a:bodyPr wrap="square">
            <a:spAutoFit/>
          </a:bodyPr>
          <a:lstStyle/>
          <a:p>
            <a:pPr algn="ctr"/>
            <a:r>
              <a:rPr lang="tr-TR" sz="2800" noProof="0" dirty="0"/>
              <a:t>Metni Sayısal Formata Dönüştürme (</a:t>
            </a:r>
            <a:r>
              <a:rPr lang="tr-TR" sz="2800" noProof="0" dirty="0" err="1"/>
              <a:t>Vectorization</a:t>
            </a:r>
            <a:r>
              <a:rPr lang="tr-TR" sz="2800" noProof="0" dirty="0"/>
              <a:t>)</a:t>
            </a:r>
          </a:p>
        </p:txBody>
      </p:sp>
      <p:sp>
        <p:nvSpPr>
          <p:cNvPr id="8" name="TextBox 7">
            <a:extLst>
              <a:ext uri="{FF2B5EF4-FFF2-40B4-BE49-F238E27FC236}">
                <a16:creationId xmlns:a16="http://schemas.microsoft.com/office/drawing/2014/main" id="{335B2345-BB0A-FFEE-A9D3-695992393DAD}"/>
              </a:ext>
            </a:extLst>
          </p:cNvPr>
          <p:cNvSpPr txBox="1"/>
          <p:nvPr/>
        </p:nvSpPr>
        <p:spPr>
          <a:xfrm>
            <a:off x="919233" y="1360466"/>
            <a:ext cx="3782136" cy="1318118"/>
          </a:xfrm>
          <a:prstGeom prst="rect">
            <a:avLst/>
          </a:prstGeom>
          <a:noFill/>
        </p:spPr>
        <p:txBody>
          <a:bodyPr wrap="square">
            <a:spAutoFit/>
          </a:bodyPr>
          <a:lstStyle/>
          <a:p>
            <a:pPr>
              <a:lnSpc>
                <a:spcPct val="125000"/>
              </a:lnSpc>
              <a:buNone/>
            </a:pPr>
            <a:r>
              <a:rPr lang="tr-TR" sz="1300" noProof="0" dirty="0"/>
              <a:t>  Metnin, makine öğrenmesi modelleri tarafından işlenebilmesi için </a:t>
            </a:r>
            <a:r>
              <a:rPr lang="tr-TR" sz="1300" b="1" noProof="0" dirty="0"/>
              <a:t>sayı dizilerine (vektörlere)</a:t>
            </a:r>
            <a:r>
              <a:rPr lang="tr-TR" sz="1300" noProof="0" dirty="0"/>
              <a:t> dönüştürülmesi işlemidir.</a:t>
            </a:r>
            <a:br>
              <a:rPr lang="tr-TR" sz="1300" noProof="0" dirty="0"/>
            </a:br>
            <a:r>
              <a:rPr lang="tr-TR" sz="1300" noProof="0" dirty="0"/>
              <a:t>Bu adım, ham metni hesaplanabilir bir forma getirir.</a:t>
            </a:r>
          </a:p>
        </p:txBody>
      </p:sp>
      <p:sp>
        <p:nvSpPr>
          <p:cNvPr id="10" name="TextBox 9">
            <a:extLst>
              <a:ext uri="{FF2B5EF4-FFF2-40B4-BE49-F238E27FC236}">
                <a16:creationId xmlns:a16="http://schemas.microsoft.com/office/drawing/2014/main" id="{3F670E4D-BEB8-A75F-8915-B4E52168A204}"/>
              </a:ext>
            </a:extLst>
          </p:cNvPr>
          <p:cNvSpPr txBox="1"/>
          <p:nvPr/>
        </p:nvSpPr>
        <p:spPr>
          <a:xfrm>
            <a:off x="919233" y="2672472"/>
            <a:ext cx="3870846" cy="2068323"/>
          </a:xfrm>
          <a:prstGeom prst="rect">
            <a:avLst/>
          </a:prstGeom>
          <a:noFill/>
        </p:spPr>
        <p:txBody>
          <a:bodyPr wrap="square">
            <a:spAutoFit/>
          </a:bodyPr>
          <a:lstStyle/>
          <a:p>
            <a:pPr>
              <a:lnSpc>
                <a:spcPct val="125000"/>
              </a:lnSpc>
              <a:buNone/>
            </a:pPr>
            <a:r>
              <a:rPr lang="tr-TR" sz="1300" b="1" noProof="0" dirty="0"/>
              <a:t>Neden Yapılır?</a:t>
            </a:r>
          </a:p>
          <a:p>
            <a:pPr>
              <a:lnSpc>
                <a:spcPct val="125000"/>
              </a:lnSpc>
              <a:buNone/>
            </a:pPr>
            <a:r>
              <a:rPr lang="tr-TR" sz="1300" noProof="0" dirty="0"/>
              <a:t>• Algoritmaların metni matematiksel olarak anlayabilmesi için zorunludur.</a:t>
            </a:r>
            <a:br>
              <a:rPr lang="tr-TR" sz="1300" noProof="0" dirty="0"/>
            </a:br>
            <a:r>
              <a:rPr lang="tr-TR" sz="1300" noProof="0" dirty="0"/>
              <a:t>• Belgeler arasında benzerlik ölçümü yapılabilir hâle gelir.</a:t>
            </a:r>
            <a:br>
              <a:rPr lang="tr-TR" sz="1300" noProof="0" dirty="0"/>
            </a:br>
            <a:r>
              <a:rPr lang="tr-TR" sz="1300" noProof="0" dirty="0"/>
              <a:t>• Sınıflandırma, kümeleme ve duygu analizi gibi tüm modellerin temel girişini oluşturur.</a:t>
            </a:r>
            <a:br>
              <a:rPr lang="tr-TR" sz="1300" noProof="0" dirty="0"/>
            </a:br>
            <a:r>
              <a:rPr lang="tr-TR" sz="1300" noProof="0" dirty="0"/>
              <a:t>• Metinsel bilgiyi “özellik” (</a:t>
            </a:r>
            <a:r>
              <a:rPr lang="tr-TR" sz="1300" noProof="0" dirty="0" err="1"/>
              <a:t>feature</a:t>
            </a:r>
            <a:r>
              <a:rPr lang="tr-TR" sz="1300" noProof="0" dirty="0"/>
              <a:t>) hâline getirir.</a:t>
            </a:r>
          </a:p>
        </p:txBody>
      </p:sp>
      <p:sp>
        <p:nvSpPr>
          <p:cNvPr id="12" name="TextBox 11">
            <a:extLst>
              <a:ext uri="{FF2B5EF4-FFF2-40B4-BE49-F238E27FC236}">
                <a16:creationId xmlns:a16="http://schemas.microsoft.com/office/drawing/2014/main" id="{D8CA8E37-FD11-A1DE-E4E0-90920A1B48E2}"/>
              </a:ext>
            </a:extLst>
          </p:cNvPr>
          <p:cNvSpPr txBox="1"/>
          <p:nvPr/>
        </p:nvSpPr>
        <p:spPr>
          <a:xfrm>
            <a:off x="4710760" y="1394963"/>
            <a:ext cx="2943933" cy="1068049"/>
          </a:xfrm>
          <a:prstGeom prst="rect">
            <a:avLst/>
          </a:prstGeom>
          <a:noFill/>
        </p:spPr>
        <p:txBody>
          <a:bodyPr wrap="square">
            <a:spAutoFit/>
          </a:bodyPr>
          <a:lstStyle/>
          <a:p>
            <a:pPr>
              <a:lnSpc>
                <a:spcPct val="125000"/>
              </a:lnSpc>
              <a:buNone/>
            </a:pPr>
            <a:r>
              <a:rPr lang="tr-TR" sz="1300" b="1" noProof="0" dirty="0"/>
              <a:t>Örnek Vektör Gösterimi</a:t>
            </a:r>
          </a:p>
          <a:p>
            <a:pPr>
              <a:lnSpc>
                <a:spcPct val="125000"/>
              </a:lnSpc>
              <a:buNone/>
            </a:pPr>
            <a:r>
              <a:rPr lang="tr-TR" sz="1300" noProof="0" dirty="0"/>
              <a:t>Metin: </a:t>
            </a:r>
            <a:r>
              <a:rPr lang="tr-TR" sz="1300" i="1" noProof="0" dirty="0"/>
              <a:t>“Hava güzel”</a:t>
            </a:r>
            <a:br>
              <a:rPr lang="tr-TR" sz="1300" noProof="0" dirty="0"/>
            </a:br>
            <a:r>
              <a:rPr lang="tr-TR" sz="1300" noProof="0" dirty="0"/>
              <a:t>Kelime Dağarcığı: [hava, güzel, kötü]</a:t>
            </a:r>
            <a:br>
              <a:rPr lang="tr-TR" sz="1300" noProof="0" dirty="0"/>
            </a:br>
            <a:r>
              <a:rPr lang="tr-TR" sz="1300" noProof="0" dirty="0" err="1"/>
              <a:t>Count</a:t>
            </a:r>
            <a:r>
              <a:rPr lang="tr-TR" sz="1300" noProof="0" dirty="0"/>
              <a:t> Vektörü: [1, 1, 0]</a:t>
            </a:r>
          </a:p>
        </p:txBody>
      </p:sp>
      <p:graphicFrame>
        <p:nvGraphicFramePr>
          <p:cNvPr id="15" name="Table 14">
            <a:extLst>
              <a:ext uri="{FF2B5EF4-FFF2-40B4-BE49-F238E27FC236}">
                <a16:creationId xmlns:a16="http://schemas.microsoft.com/office/drawing/2014/main" id="{4D26C5C9-80D5-DE23-E04E-F7BE29733C90}"/>
              </a:ext>
            </a:extLst>
          </p:cNvPr>
          <p:cNvGraphicFramePr>
            <a:graphicFrameLocks noGrp="1"/>
          </p:cNvGraphicFramePr>
          <p:nvPr>
            <p:extLst>
              <p:ext uri="{D42A27DB-BD31-4B8C-83A1-F6EECF244321}">
                <p14:modId xmlns:p14="http://schemas.microsoft.com/office/powerpoint/2010/main" val="2325741403"/>
              </p:ext>
            </p:extLst>
          </p:nvPr>
        </p:nvGraphicFramePr>
        <p:xfrm>
          <a:off x="7654694" y="1855087"/>
          <a:ext cx="3749227" cy="2408581"/>
        </p:xfrm>
        <a:graphic>
          <a:graphicData uri="http://schemas.openxmlformats.org/drawingml/2006/table">
            <a:tbl>
              <a:tblPr firstRow="1" bandRow="1">
                <a:tableStyleId>{5C22544A-7EE6-4342-B048-85BDC9FD1C3A}</a:tableStyleId>
              </a:tblPr>
              <a:tblGrid>
                <a:gridCol w="1780827">
                  <a:extLst>
                    <a:ext uri="{9D8B030D-6E8A-4147-A177-3AD203B41FA5}">
                      <a16:colId xmlns:a16="http://schemas.microsoft.com/office/drawing/2014/main" val="734425604"/>
                    </a:ext>
                  </a:extLst>
                </a:gridCol>
                <a:gridCol w="1968400">
                  <a:extLst>
                    <a:ext uri="{9D8B030D-6E8A-4147-A177-3AD203B41FA5}">
                      <a16:colId xmlns:a16="http://schemas.microsoft.com/office/drawing/2014/main" val="991974372"/>
                    </a:ext>
                  </a:extLst>
                </a:gridCol>
              </a:tblGrid>
              <a:tr h="442573">
                <a:tc>
                  <a:txBody>
                    <a:bodyPr/>
                    <a:lstStyle/>
                    <a:p>
                      <a:pPr algn="ctr">
                        <a:buNone/>
                      </a:pPr>
                      <a:r>
                        <a:rPr lang="tr-TR" sz="1300" noProof="0" dirty="0" err="1"/>
                        <a:t>TürkçeTerim</a:t>
                      </a:r>
                      <a:r>
                        <a:rPr lang="tr-TR" sz="1300" noProof="0" dirty="0"/>
                        <a:t> </a:t>
                      </a:r>
                    </a:p>
                  </a:txBody>
                  <a:tcPr anchor="ctr"/>
                </a:tc>
                <a:tc>
                  <a:txBody>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lang="tr-TR" sz="1300" b="1" noProof="0" dirty="0"/>
                        <a:t>İngilizce Terim</a:t>
                      </a:r>
                      <a:endParaRPr lang="tr-TR" sz="1300" noProof="0" dirty="0"/>
                    </a:p>
                  </a:txBody>
                  <a:tcPr anchor="ctr"/>
                </a:tc>
                <a:extLst>
                  <a:ext uri="{0D108BD9-81ED-4DB2-BD59-A6C34878D82A}">
                    <a16:rowId xmlns:a16="http://schemas.microsoft.com/office/drawing/2014/main" val="3809213303"/>
                  </a:ext>
                </a:extLst>
              </a:tr>
              <a:tr h="441237">
                <a:tc>
                  <a:txBody>
                    <a:bodyPr/>
                    <a:lstStyle/>
                    <a:p>
                      <a:pPr algn="ctr">
                        <a:buNone/>
                      </a:pPr>
                      <a:r>
                        <a:rPr lang="tr-TR" sz="1300" noProof="0" dirty="0"/>
                        <a:t>Sayısal Temsil</a:t>
                      </a:r>
                    </a:p>
                  </a:txBody>
                  <a:tcPr anchor="ctr"/>
                </a:tc>
                <a:tc>
                  <a:txBody>
                    <a:bodyPr/>
                    <a:lstStyle/>
                    <a:p>
                      <a:pPr algn="ctr">
                        <a:buNone/>
                      </a:pPr>
                      <a:r>
                        <a:rPr lang="tr-TR" sz="1300" noProof="0" dirty="0" err="1"/>
                        <a:t>Numerical</a:t>
                      </a:r>
                      <a:r>
                        <a:rPr lang="tr-TR" sz="1300" noProof="0" dirty="0"/>
                        <a:t> </a:t>
                      </a:r>
                      <a:r>
                        <a:rPr lang="tr-TR" sz="1300" noProof="0" dirty="0" err="1"/>
                        <a:t>Representation</a:t>
                      </a:r>
                      <a:endParaRPr lang="tr-TR" sz="1300" noProof="0" dirty="0"/>
                    </a:p>
                  </a:txBody>
                  <a:tcPr anchor="ctr"/>
                </a:tc>
                <a:extLst>
                  <a:ext uri="{0D108BD9-81ED-4DB2-BD59-A6C34878D82A}">
                    <a16:rowId xmlns:a16="http://schemas.microsoft.com/office/drawing/2014/main" val="2767651401"/>
                  </a:ext>
                </a:extLst>
              </a:tr>
              <a:tr h="330216">
                <a:tc>
                  <a:txBody>
                    <a:bodyPr/>
                    <a:lstStyle/>
                    <a:p>
                      <a:pPr algn="ctr">
                        <a:buNone/>
                      </a:pPr>
                      <a:r>
                        <a:rPr lang="tr-TR" sz="1300" noProof="0" dirty="0" err="1"/>
                        <a:t>Vektörleştirme</a:t>
                      </a:r>
                      <a:endParaRPr lang="tr-TR" sz="1300" noProof="0" dirty="0"/>
                    </a:p>
                  </a:txBody>
                  <a:tcPr anchor="ctr"/>
                </a:tc>
                <a:tc>
                  <a:txBody>
                    <a:bodyPr/>
                    <a:lstStyle/>
                    <a:p>
                      <a:pPr algn="ctr">
                        <a:buNone/>
                      </a:pPr>
                      <a:r>
                        <a:rPr lang="tr-TR" sz="1300" noProof="0" dirty="0" err="1"/>
                        <a:t>Vectorization</a:t>
                      </a:r>
                      <a:endParaRPr lang="tr-TR" sz="1300" noProof="0" dirty="0"/>
                    </a:p>
                  </a:txBody>
                  <a:tcPr anchor="ctr"/>
                </a:tc>
                <a:extLst>
                  <a:ext uri="{0D108BD9-81ED-4DB2-BD59-A6C34878D82A}">
                    <a16:rowId xmlns:a16="http://schemas.microsoft.com/office/drawing/2014/main" val="174879893"/>
                  </a:ext>
                </a:extLst>
              </a:tr>
              <a:tr h="330216">
                <a:tc>
                  <a:txBody>
                    <a:bodyPr/>
                    <a:lstStyle/>
                    <a:p>
                      <a:pPr algn="ctr">
                        <a:buNone/>
                      </a:pPr>
                      <a:r>
                        <a:rPr lang="tr-TR" sz="1300" noProof="0" dirty="0"/>
                        <a:t>Kelime Sıklığı</a:t>
                      </a:r>
                    </a:p>
                  </a:txBody>
                  <a:tcPr anchor="ctr"/>
                </a:tc>
                <a:tc>
                  <a:txBody>
                    <a:bodyPr/>
                    <a:lstStyle/>
                    <a:p>
                      <a:pPr algn="ctr">
                        <a:buNone/>
                      </a:pPr>
                      <a:r>
                        <a:rPr lang="tr-TR" sz="1300" noProof="0" dirty="0" err="1"/>
                        <a:t>Term</a:t>
                      </a:r>
                      <a:r>
                        <a:rPr lang="tr-TR" sz="1300" noProof="0" dirty="0"/>
                        <a:t> </a:t>
                      </a:r>
                      <a:r>
                        <a:rPr lang="tr-TR" sz="1300" noProof="0" dirty="0" err="1"/>
                        <a:t>Frequency</a:t>
                      </a:r>
                      <a:endParaRPr lang="tr-TR" sz="1300" noProof="0" dirty="0"/>
                    </a:p>
                  </a:txBody>
                  <a:tcPr anchor="ctr"/>
                </a:tc>
                <a:extLst>
                  <a:ext uri="{0D108BD9-81ED-4DB2-BD59-A6C34878D82A}">
                    <a16:rowId xmlns:a16="http://schemas.microsoft.com/office/drawing/2014/main" val="3108640000"/>
                  </a:ext>
                </a:extLst>
              </a:tr>
              <a:tr h="442573">
                <a:tc>
                  <a:txBody>
                    <a:bodyPr/>
                    <a:lstStyle/>
                    <a:p>
                      <a:pPr algn="ctr">
                        <a:buNone/>
                      </a:pPr>
                      <a:r>
                        <a:rPr lang="tr-TR" sz="1300" noProof="0" dirty="0"/>
                        <a:t>Ters Belge Frekansı</a:t>
                      </a:r>
                    </a:p>
                  </a:txBody>
                  <a:tcPr anchor="ctr"/>
                </a:tc>
                <a:tc>
                  <a:txBody>
                    <a:bodyPr/>
                    <a:lstStyle/>
                    <a:p>
                      <a:pPr algn="ctr">
                        <a:buNone/>
                      </a:pPr>
                      <a:r>
                        <a:rPr lang="tr-TR" sz="1300" noProof="0" dirty="0" err="1"/>
                        <a:t>Inverse</a:t>
                      </a:r>
                      <a:r>
                        <a:rPr lang="tr-TR" sz="1300" noProof="0" dirty="0"/>
                        <a:t> </a:t>
                      </a:r>
                      <a:r>
                        <a:rPr lang="tr-TR" sz="1300" noProof="0" dirty="0" err="1"/>
                        <a:t>Document</a:t>
                      </a:r>
                      <a:r>
                        <a:rPr lang="tr-TR" sz="1300" noProof="0" dirty="0"/>
                        <a:t> </a:t>
                      </a:r>
                      <a:r>
                        <a:rPr lang="tr-TR" sz="1300" noProof="0" dirty="0" err="1"/>
                        <a:t>Frequency</a:t>
                      </a:r>
                      <a:endParaRPr lang="tr-TR" sz="1300" noProof="0" dirty="0"/>
                    </a:p>
                  </a:txBody>
                  <a:tcPr anchor="ctr"/>
                </a:tc>
                <a:extLst>
                  <a:ext uri="{0D108BD9-81ED-4DB2-BD59-A6C34878D82A}">
                    <a16:rowId xmlns:a16="http://schemas.microsoft.com/office/drawing/2014/main" val="3889031380"/>
                  </a:ext>
                </a:extLst>
              </a:tr>
              <a:tr h="330216">
                <a:tc>
                  <a:txBody>
                    <a:bodyPr/>
                    <a:lstStyle/>
                    <a:p>
                      <a:pPr algn="ctr">
                        <a:buNone/>
                      </a:pPr>
                      <a:r>
                        <a:rPr lang="tr-TR" sz="1300" noProof="0" dirty="0"/>
                        <a:t>Özellik Uzayı</a:t>
                      </a:r>
                    </a:p>
                  </a:txBody>
                  <a:tcPr anchor="ctr"/>
                </a:tc>
                <a:tc>
                  <a:txBody>
                    <a:bodyPr/>
                    <a:lstStyle/>
                    <a:p>
                      <a:pPr algn="ctr">
                        <a:buNone/>
                      </a:pPr>
                      <a:r>
                        <a:rPr lang="tr-TR" sz="1300" noProof="0" dirty="0" err="1"/>
                        <a:t>Feature</a:t>
                      </a:r>
                      <a:r>
                        <a:rPr lang="tr-TR" sz="1300" noProof="0" dirty="0"/>
                        <a:t> Space</a:t>
                      </a:r>
                    </a:p>
                  </a:txBody>
                  <a:tcPr anchor="ctr"/>
                </a:tc>
                <a:extLst>
                  <a:ext uri="{0D108BD9-81ED-4DB2-BD59-A6C34878D82A}">
                    <a16:rowId xmlns:a16="http://schemas.microsoft.com/office/drawing/2014/main" val="1868319249"/>
                  </a:ext>
                </a:extLst>
              </a:tr>
            </a:tbl>
          </a:graphicData>
        </a:graphic>
      </p:graphicFrame>
      <p:sp>
        <p:nvSpPr>
          <p:cNvPr id="17" name="TextBox 16">
            <a:extLst>
              <a:ext uri="{FF2B5EF4-FFF2-40B4-BE49-F238E27FC236}">
                <a16:creationId xmlns:a16="http://schemas.microsoft.com/office/drawing/2014/main" id="{B83B171C-5C99-662C-0ED9-4AB73BE87A9D}"/>
              </a:ext>
            </a:extLst>
          </p:cNvPr>
          <p:cNvSpPr txBox="1"/>
          <p:nvPr/>
        </p:nvSpPr>
        <p:spPr>
          <a:xfrm>
            <a:off x="7654695" y="1534820"/>
            <a:ext cx="3740898" cy="320268"/>
          </a:xfrm>
          <a:prstGeom prst="rect">
            <a:avLst/>
          </a:prstGeom>
          <a:noFill/>
        </p:spPr>
        <p:txBody>
          <a:bodyPr wrap="square">
            <a:spAutoFit/>
          </a:bodyPr>
          <a:lstStyle/>
          <a:p>
            <a:pPr algn="ctr"/>
            <a:r>
              <a:rPr lang="en-US" sz="1500" dirty="0"/>
              <a:t>Text Vectorization</a:t>
            </a:r>
            <a:r>
              <a:rPr lang="tr-TR" sz="1500" dirty="0"/>
              <a:t> Ait Terimler</a:t>
            </a:r>
          </a:p>
        </p:txBody>
      </p:sp>
      <p:sp>
        <p:nvSpPr>
          <p:cNvPr id="19" name="TextBox 18">
            <a:extLst>
              <a:ext uri="{FF2B5EF4-FFF2-40B4-BE49-F238E27FC236}">
                <a16:creationId xmlns:a16="http://schemas.microsoft.com/office/drawing/2014/main" id="{92168749-9FFB-614F-0698-7F3B36DD2AE1}"/>
              </a:ext>
            </a:extLst>
          </p:cNvPr>
          <p:cNvSpPr txBox="1"/>
          <p:nvPr/>
        </p:nvSpPr>
        <p:spPr>
          <a:xfrm>
            <a:off x="919232" y="5126137"/>
            <a:ext cx="10353533" cy="757515"/>
          </a:xfrm>
          <a:prstGeom prst="rect">
            <a:avLst/>
          </a:prstGeom>
          <a:noFill/>
        </p:spPr>
        <p:txBody>
          <a:bodyPr wrap="square">
            <a:spAutoFit/>
          </a:bodyPr>
          <a:lstStyle/>
          <a:p>
            <a:pPr>
              <a:lnSpc>
                <a:spcPct val="114000"/>
              </a:lnSpc>
              <a:buNone/>
            </a:pPr>
            <a:r>
              <a:rPr lang="tr-TR" sz="1300" noProof="0" dirty="0"/>
              <a:t>  </a:t>
            </a:r>
            <a:r>
              <a:rPr lang="tr-TR" sz="1300" noProof="0" dirty="0" err="1"/>
              <a:t>One</a:t>
            </a:r>
            <a:r>
              <a:rPr lang="tr-TR" sz="1300" noProof="0" dirty="0"/>
              <a:t>-hot, </a:t>
            </a:r>
            <a:r>
              <a:rPr lang="tr-TR" sz="1300" noProof="0" dirty="0" err="1"/>
              <a:t>Count</a:t>
            </a:r>
            <a:r>
              <a:rPr lang="tr-TR" sz="1300" noProof="0" dirty="0"/>
              <a:t> ve TF-IDF yöntemlerinin çalışma prensipleri, birbirlerinden ayrıldıkları yönler ve aralarındaki karşılaştırmalar ise bir sonraki bölümde ayrıntılı biçimde ele alınacaktır. Bu açıklamalar, ilgili tekniklerin daha kapsamlı inceleneceği sonraki slaytlara geçiş için hazırlayıcı bir çerçeve sunmaktadır.</a:t>
            </a:r>
          </a:p>
        </p:txBody>
      </p:sp>
      <p:sp>
        <p:nvSpPr>
          <p:cNvPr id="21" name="TextBox 20">
            <a:extLst>
              <a:ext uri="{FF2B5EF4-FFF2-40B4-BE49-F238E27FC236}">
                <a16:creationId xmlns:a16="http://schemas.microsoft.com/office/drawing/2014/main" id="{E9DAF76C-A9EB-B33E-2C35-253929643F14}"/>
              </a:ext>
            </a:extLst>
          </p:cNvPr>
          <p:cNvSpPr txBox="1"/>
          <p:nvPr/>
        </p:nvSpPr>
        <p:spPr>
          <a:xfrm>
            <a:off x="919233" y="4826608"/>
            <a:ext cx="9978504" cy="292388"/>
          </a:xfrm>
          <a:prstGeom prst="rect">
            <a:avLst/>
          </a:prstGeom>
          <a:noFill/>
        </p:spPr>
        <p:txBody>
          <a:bodyPr wrap="square">
            <a:spAutoFit/>
          </a:bodyPr>
          <a:lstStyle/>
          <a:p>
            <a:r>
              <a:rPr lang="tr-TR" sz="1300" noProof="0" dirty="0"/>
              <a:t> Bu slaytta, metni sayısal forma dönüştürme süreci ile </a:t>
            </a:r>
            <a:r>
              <a:rPr lang="tr-TR" sz="1300" noProof="0" dirty="0" err="1"/>
              <a:t>vectorization</a:t>
            </a:r>
            <a:r>
              <a:rPr lang="tr-TR" sz="1300" noProof="0" dirty="0"/>
              <a:t> yaklaşımının temel bileşenleri özetlenmektedir. </a:t>
            </a:r>
          </a:p>
        </p:txBody>
      </p:sp>
    </p:spTree>
    <p:extLst>
      <p:ext uri="{BB962C8B-B14F-4D97-AF65-F5344CB8AC3E}">
        <p14:creationId xmlns:p14="http://schemas.microsoft.com/office/powerpoint/2010/main" val="1349450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C68C7-BD43-351F-5180-A6709C0157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14F14E9-9384-269C-574B-1AC96F9436A3}"/>
              </a:ext>
            </a:extLst>
          </p:cNvPr>
          <p:cNvSpPr txBox="1"/>
          <p:nvPr/>
        </p:nvSpPr>
        <p:spPr>
          <a:xfrm>
            <a:off x="0" y="892438"/>
            <a:ext cx="12192000" cy="523220"/>
          </a:xfrm>
          <a:prstGeom prst="rect">
            <a:avLst/>
          </a:prstGeom>
          <a:noFill/>
        </p:spPr>
        <p:txBody>
          <a:bodyPr wrap="square">
            <a:spAutoFit/>
          </a:bodyPr>
          <a:lstStyle/>
          <a:p>
            <a:pPr algn="ctr"/>
            <a:r>
              <a:rPr lang="en-US" sz="2800" dirty="0"/>
              <a:t>Bag-of-Words (</a:t>
            </a:r>
            <a:r>
              <a:rPr lang="en-US" sz="2800" dirty="0" err="1"/>
              <a:t>BoW</a:t>
            </a:r>
            <a:r>
              <a:rPr lang="en-US" sz="2800" dirty="0"/>
              <a:t>) Nedir?</a:t>
            </a:r>
            <a:endParaRPr lang="tr-TR" sz="2800" dirty="0"/>
          </a:p>
        </p:txBody>
      </p:sp>
      <p:pic>
        <p:nvPicPr>
          <p:cNvPr id="4" name="Picture 3">
            <a:extLst>
              <a:ext uri="{FF2B5EF4-FFF2-40B4-BE49-F238E27FC236}">
                <a16:creationId xmlns:a16="http://schemas.microsoft.com/office/drawing/2014/main" id="{57536DA5-87F4-4554-EBBC-9EA72D3995AA}"/>
              </a:ext>
            </a:extLst>
          </p:cNvPr>
          <p:cNvPicPr>
            <a:picLocks noChangeAspect="1"/>
          </p:cNvPicPr>
          <p:nvPr/>
        </p:nvPicPr>
        <p:blipFill>
          <a:blip r:embed="rId2"/>
          <a:stretch>
            <a:fillRect/>
          </a:stretch>
        </p:blipFill>
        <p:spPr>
          <a:xfrm>
            <a:off x="85301" y="116006"/>
            <a:ext cx="3196986" cy="2076085"/>
          </a:xfrm>
          <a:prstGeom prst="rect">
            <a:avLst/>
          </a:prstGeom>
        </p:spPr>
      </p:pic>
      <p:sp>
        <p:nvSpPr>
          <p:cNvPr id="6" name="TextBox 5">
            <a:extLst>
              <a:ext uri="{FF2B5EF4-FFF2-40B4-BE49-F238E27FC236}">
                <a16:creationId xmlns:a16="http://schemas.microsoft.com/office/drawing/2014/main" id="{8256FAA2-815A-0EF5-BCD8-E1CC7DDE457E}"/>
              </a:ext>
            </a:extLst>
          </p:cNvPr>
          <p:cNvSpPr txBox="1"/>
          <p:nvPr/>
        </p:nvSpPr>
        <p:spPr>
          <a:xfrm>
            <a:off x="590617" y="1987756"/>
            <a:ext cx="4336225" cy="1568186"/>
          </a:xfrm>
          <a:prstGeom prst="rect">
            <a:avLst/>
          </a:prstGeom>
          <a:noFill/>
        </p:spPr>
        <p:txBody>
          <a:bodyPr wrap="square">
            <a:spAutoFit/>
          </a:bodyPr>
          <a:lstStyle/>
          <a:p>
            <a:pPr>
              <a:lnSpc>
                <a:spcPct val="125000"/>
              </a:lnSpc>
            </a:pPr>
            <a:r>
              <a:rPr lang="tr-TR" sz="1300" noProof="0" dirty="0"/>
              <a:t>  </a:t>
            </a:r>
            <a:r>
              <a:rPr lang="tr-TR" sz="1300" noProof="0" dirty="0" err="1"/>
              <a:t>Bag</a:t>
            </a:r>
            <a:r>
              <a:rPr lang="tr-TR" sz="1300" noProof="0" dirty="0"/>
              <a:t>-of-</a:t>
            </a:r>
            <a:r>
              <a:rPr lang="tr-TR" sz="1300" noProof="0" dirty="0" err="1"/>
              <a:t>Words</a:t>
            </a:r>
            <a:r>
              <a:rPr lang="tr-TR" sz="1300" noProof="0" dirty="0"/>
              <a:t>, </a:t>
            </a:r>
          </a:p>
          <a:p>
            <a:pPr>
              <a:lnSpc>
                <a:spcPct val="125000"/>
              </a:lnSpc>
            </a:pPr>
            <a:r>
              <a:rPr lang="tr-TR" sz="1300" noProof="0" dirty="0"/>
              <a:t>bir metindeki kelimeleri kaç kez geçtiğine göre sayan ve her belgeyi bu sıklık değerleriyle temsil eden temel bir özellik çıkarım yöntemidir.</a:t>
            </a:r>
            <a:br>
              <a:rPr lang="tr-TR" sz="1300" noProof="0" dirty="0"/>
            </a:br>
            <a:r>
              <a:rPr lang="tr-TR" sz="1300" noProof="0" dirty="0"/>
              <a:t>Bu yöntemde kelime sırası, bağlam veya anlam ilişkileri dikkate alınmaz; sadece kelime frekansları önemlidir.</a:t>
            </a:r>
          </a:p>
        </p:txBody>
      </p:sp>
      <p:sp>
        <p:nvSpPr>
          <p:cNvPr id="8" name="TextBox 7">
            <a:extLst>
              <a:ext uri="{FF2B5EF4-FFF2-40B4-BE49-F238E27FC236}">
                <a16:creationId xmlns:a16="http://schemas.microsoft.com/office/drawing/2014/main" id="{B8495005-9E04-1EEC-EB38-43424B757309}"/>
              </a:ext>
            </a:extLst>
          </p:cNvPr>
          <p:cNvSpPr txBox="1"/>
          <p:nvPr/>
        </p:nvSpPr>
        <p:spPr>
          <a:xfrm>
            <a:off x="590616" y="3508211"/>
            <a:ext cx="4138332" cy="2568460"/>
          </a:xfrm>
          <a:prstGeom prst="rect">
            <a:avLst/>
          </a:prstGeom>
          <a:noFill/>
        </p:spPr>
        <p:txBody>
          <a:bodyPr wrap="square">
            <a:spAutoFit/>
          </a:bodyPr>
          <a:lstStyle/>
          <a:p>
            <a:pPr>
              <a:lnSpc>
                <a:spcPct val="125000"/>
              </a:lnSpc>
              <a:buNone/>
            </a:pPr>
            <a:r>
              <a:rPr lang="tr-TR" sz="1300" b="1" noProof="0" dirty="0"/>
              <a:t>Neden Kullanılır?</a:t>
            </a:r>
          </a:p>
          <a:p>
            <a:pPr>
              <a:lnSpc>
                <a:spcPct val="125000"/>
              </a:lnSpc>
              <a:buNone/>
            </a:pPr>
            <a:r>
              <a:rPr lang="tr-TR" sz="1300" noProof="0" dirty="0"/>
              <a:t>• Basit ve hızlıdır; büyük veri setlerinde kolay uygulanır.</a:t>
            </a:r>
            <a:br>
              <a:rPr lang="tr-TR" sz="1300" noProof="0" dirty="0"/>
            </a:br>
            <a:r>
              <a:rPr lang="tr-TR" sz="1300" noProof="0" dirty="0"/>
              <a:t>• Metinleri sayısal forma dönüştürmek için kullanılan en temel yöntemdir.</a:t>
            </a:r>
            <a:br>
              <a:rPr lang="tr-TR" sz="1300" noProof="0" dirty="0"/>
            </a:br>
            <a:r>
              <a:rPr lang="tr-TR" sz="1300" noProof="0" dirty="0"/>
              <a:t>• Sınıflandırma, duygu analizi ve kümeleme gibi makine öğrenmesi görevlerine başlangıç seviyesi özellik seti sağlar.</a:t>
            </a:r>
            <a:br>
              <a:rPr lang="tr-TR" sz="1300" noProof="0" dirty="0"/>
            </a:br>
            <a:r>
              <a:rPr lang="tr-TR" sz="1300" noProof="0" dirty="0"/>
              <a:t>• TF-IDF ve n-gram gibi gelişmiş yöntemlerin alt yapısını oluşturur.</a:t>
            </a:r>
          </a:p>
        </p:txBody>
      </p:sp>
      <p:graphicFrame>
        <p:nvGraphicFramePr>
          <p:cNvPr id="9" name="Table 8">
            <a:extLst>
              <a:ext uri="{FF2B5EF4-FFF2-40B4-BE49-F238E27FC236}">
                <a16:creationId xmlns:a16="http://schemas.microsoft.com/office/drawing/2014/main" id="{D065968E-3CEC-0074-81CD-A2F92E74EBFA}"/>
              </a:ext>
            </a:extLst>
          </p:cNvPr>
          <p:cNvGraphicFramePr>
            <a:graphicFrameLocks noGrp="1"/>
          </p:cNvGraphicFramePr>
          <p:nvPr>
            <p:extLst>
              <p:ext uri="{D42A27DB-BD31-4B8C-83A1-F6EECF244321}">
                <p14:modId xmlns:p14="http://schemas.microsoft.com/office/powerpoint/2010/main" val="1415826871"/>
              </p:ext>
            </p:extLst>
          </p:nvPr>
        </p:nvGraphicFramePr>
        <p:xfrm>
          <a:off x="8094828" y="2373208"/>
          <a:ext cx="3369292" cy="2142366"/>
        </p:xfrm>
        <a:graphic>
          <a:graphicData uri="http://schemas.openxmlformats.org/drawingml/2006/table">
            <a:tbl>
              <a:tblPr firstRow="1" bandRow="1">
                <a:tableStyleId>{5C22544A-7EE6-4342-B048-85BDC9FD1C3A}</a:tableStyleId>
              </a:tblPr>
              <a:tblGrid>
                <a:gridCol w="1684646">
                  <a:extLst>
                    <a:ext uri="{9D8B030D-6E8A-4147-A177-3AD203B41FA5}">
                      <a16:colId xmlns:a16="http://schemas.microsoft.com/office/drawing/2014/main" val="768222218"/>
                    </a:ext>
                  </a:extLst>
                </a:gridCol>
                <a:gridCol w="1684646">
                  <a:extLst>
                    <a:ext uri="{9D8B030D-6E8A-4147-A177-3AD203B41FA5}">
                      <a16:colId xmlns:a16="http://schemas.microsoft.com/office/drawing/2014/main" val="61413222"/>
                    </a:ext>
                  </a:extLst>
                </a:gridCol>
              </a:tblGrid>
              <a:tr h="389002">
                <a:tc>
                  <a:txBody>
                    <a:bodyPr/>
                    <a:lstStyle/>
                    <a:p>
                      <a:pPr algn="ctr">
                        <a:buNone/>
                      </a:pPr>
                      <a:r>
                        <a:rPr lang="tr-TR" sz="1300" noProof="0" dirty="0"/>
                        <a:t>Türkçe Terim</a:t>
                      </a:r>
                    </a:p>
                  </a:txBody>
                  <a:tcPr anchor="ctr"/>
                </a:tc>
                <a:tc>
                  <a:txBody>
                    <a:bodyPr/>
                    <a:lstStyle/>
                    <a:p>
                      <a:pPr algn="ctr">
                        <a:buNone/>
                      </a:pPr>
                      <a:r>
                        <a:rPr lang="tr-TR" sz="1300" noProof="0" dirty="0"/>
                        <a:t>İngilizce Terim</a:t>
                      </a:r>
                    </a:p>
                  </a:txBody>
                  <a:tcPr anchor="ctr"/>
                </a:tc>
                <a:extLst>
                  <a:ext uri="{0D108BD9-81ED-4DB2-BD59-A6C34878D82A}">
                    <a16:rowId xmlns:a16="http://schemas.microsoft.com/office/drawing/2014/main" val="1933311853"/>
                  </a:ext>
                </a:extLst>
              </a:tr>
              <a:tr h="389002">
                <a:tc>
                  <a:txBody>
                    <a:bodyPr/>
                    <a:lstStyle/>
                    <a:p>
                      <a:pPr algn="ctr">
                        <a:buNone/>
                      </a:pPr>
                      <a:r>
                        <a:rPr lang="tr-TR" sz="1300" noProof="0" dirty="0"/>
                        <a:t>Kelime Torbası Modeli</a:t>
                      </a:r>
                    </a:p>
                  </a:txBody>
                  <a:tcPr anchor="ctr"/>
                </a:tc>
                <a:tc>
                  <a:txBody>
                    <a:bodyPr/>
                    <a:lstStyle/>
                    <a:p>
                      <a:pPr algn="ctr">
                        <a:buNone/>
                      </a:pPr>
                      <a:r>
                        <a:rPr lang="tr-TR" sz="1300" noProof="0" dirty="0" err="1"/>
                        <a:t>Bag</a:t>
                      </a:r>
                      <a:r>
                        <a:rPr lang="tr-TR" sz="1300" noProof="0" dirty="0"/>
                        <a:t>-of-</a:t>
                      </a:r>
                      <a:r>
                        <a:rPr lang="tr-TR" sz="1300" noProof="0" dirty="0" err="1"/>
                        <a:t>Words</a:t>
                      </a:r>
                      <a:r>
                        <a:rPr lang="tr-TR" sz="1300" noProof="0" dirty="0"/>
                        <a:t> Model</a:t>
                      </a:r>
                    </a:p>
                  </a:txBody>
                  <a:tcPr anchor="ctr"/>
                </a:tc>
                <a:extLst>
                  <a:ext uri="{0D108BD9-81ED-4DB2-BD59-A6C34878D82A}">
                    <a16:rowId xmlns:a16="http://schemas.microsoft.com/office/drawing/2014/main" val="1379045239"/>
                  </a:ext>
                </a:extLst>
              </a:tr>
              <a:tr h="389002">
                <a:tc>
                  <a:txBody>
                    <a:bodyPr/>
                    <a:lstStyle/>
                    <a:p>
                      <a:pPr algn="ctr">
                        <a:buNone/>
                      </a:pPr>
                      <a:r>
                        <a:rPr lang="tr-TR" sz="1300" noProof="0" dirty="0"/>
                        <a:t>Kelime Sıklığı</a:t>
                      </a:r>
                    </a:p>
                  </a:txBody>
                  <a:tcPr anchor="ctr"/>
                </a:tc>
                <a:tc>
                  <a:txBody>
                    <a:bodyPr/>
                    <a:lstStyle/>
                    <a:p>
                      <a:pPr algn="ctr">
                        <a:buNone/>
                      </a:pPr>
                      <a:r>
                        <a:rPr lang="tr-TR" sz="1300" noProof="0" dirty="0" err="1"/>
                        <a:t>Term</a:t>
                      </a:r>
                      <a:r>
                        <a:rPr lang="tr-TR" sz="1300" noProof="0" dirty="0"/>
                        <a:t> </a:t>
                      </a:r>
                      <a:r>
                        <a:rPr lang="tr-TR" sz="1300" noProof="0" dirty="0" err="1"/>
                        <a:t>Frequency</a:t>
                      </a:r>
                      <a:endParaRPr lang="tr-TR" sz="1300" noProof="0" dirty="0"/>
                    </a:p>
                  </a:txBody>
                  <a:tcPr anchor="ctr"/>
                </a:tc>
                <a:extLst>
                  <a:ext uri="{0D108BD9-81ED-4DB2-BD59-A6C34878D82A}">
                    <a16:rowId xmlns:a16="http://schemas.microsoft.com/office/drawing/2014/main" val="1298393941"/>
                  </a:ext>
                </a:extLst>
              </a:tr>
              <a:tr h="389002">
                <a:tc>
                  <a:txBody>
                    <a:bodyPr/>
                    <a:lstStyle/>
                    <a:p>
                      <a:pPr algn="ctr">
                        <a:buNone/>
                      </a:pPr>
                      <a:r>
                        <a:rPr lang="tr-TR" sz="1300" noProof="0" dirty="0"/>
                        <a:t>Özellik Vektörü</a:t>
                      </a:r>
                    </a:p>
                  </a:txBody>
                  <a:tcPr anchor="ctr"/>
                </a:tc>
                <a:tc>
                  <a:txBody>
                    <a:bodyPr/>
                    <a:lstStyle/>
                    <a:p>
                      <a:pPr algn="ctr">
                        <a:buNone/>
                      </a:pPr>
                      <a:r>
                        <a:rPr lang="tr-TR" sz="1300" noProof="0" dirty="0" err="1"/>
                        <a:t>Feature</a:t>
                      </a:r>
                      <a:r>
                        <a:rPr lang="tr-TR" sz="1300" noProof="0" dirty="0"/>
                        <a:t> </a:t>
                      </a:r>
                      <a:r>
                        <a:rPr lang="tr-TR" sz="1300" noProof="0" dirty="0" err="1"/>
                        <a:t>Vector</a:t>
                      </a:r>
                      <a:endParaRPr lang="tr-TR" sz="1300" noProof="0" dirty="0"/>
                    </a:p>
                  </a:txBody>
                  <a:tcPr anchor="ctr"/>
                </a:tc>
                <a:extLst>
                  <a:ext uri="{0D108BD9-81ED-4DB2-BD59-A6C34878D82A}">
                    <a16:rowId xmlns:a16="http://schemas.microsoft.com/office/drawing/2014/main" val="4015294367"/>
                  </a:ext>
                </a:extLst>
              </a:tr>
              <a:tr h="389002">
                <a:tc>
                  <a:txBody>
                    <a:bodyPr/>
                    <a:lstStyle/>
                    <a:p>
                      <a:pPr algn="ctr">
                        <a:buNone/>
                      </a:pPr>
                      <a:r>
                        <a:rPr lang="tr-TR" sz="1300" noProof="0" dirty="0"/>
                        <a:t>Sözlük / Kelime Dağarcığı</a:t>
                      </a:r>
                    </a:p>
                  </a:txBody>
                  <a:tcPr anchor="ctr"/>
                </a:tc>
                <a:tc>
                  <a:txBody>
                    <a:bodyPr/>
                    <a:lstStyle/>
                    <a:p>
                      <a:pPr algn="ctr">
                        <a:buNone/>
                      </a:pPr>
                      <a:r>
                        <a:rPr lang="tr-TR" sz="1300" noProof="0" dirty="0" err="1"/>
                        <a:t>Vocabulary</a:t>
                      </a:r>
                      <a:endParaRPr lang="tr-TR" sz="1300" noProof="0" dirty="0"/>
                    </a:p>
                  </a:txBody>
                  <a:tcPr anchor="ctr"/>
                </a:tc>
                <a:extLst>
                  <a:ext uri="{0D108BD9-81ED-4DB2-BD59-A6C34878D82A}">
                    <a16:rowId xmlns:a16="http://schemas.microsoft.com/office/drawing/2014/main" val="1063884996"/>
                  </a:ext>
                </a:extLst>
              </a:tr>
            </a:tbl>
          </a:graphicData>
        </a:graphic>
      </p:graphicFrame>
      <p:sp>
        <p:nvSpPr>
          <p:cNvPr id="11" name="TextBox 10">
            <a:extLst>
              <a:ext uri="{FF2B5EF4-FFF2-40B4-BE49-F238E27FC236}">
                <a16:creationId xmlns:a16="http://schemas.microsoft.com/office/drawing/2014/main" id="{FA6450A4-FD2D-67F3-4F84-E0416184B152}"/>
              </a:ext>
            </a:extLst>
          </p:cNvPr>
          <p:cNvSpPr txBox="1"/>
          <p:nvPr/>
        </p:nvSpPr>
        <p:spPr>
          <a:xfrm>
            <a:off x="8094828" y="4509287"/>
            <a:ext cx="3369291" cy="283154"/>
          </a:xfrm>
          <a:prstGeom prst="rect">
            <a:avLst/>
          </a:prstGeom>
          <a:noFill/>
        </p:spPr>
        <p:txBody>
          <a:bodyPr wrap="square">
            <a:spAutoFit/>
          </a:bodyPr>
          <a:lstStyle/>
          <a:p>
            <a:pPr algn="ctr">
              <a:lnSpc>
                <a:spcPct val="125000"/>
              </a:lnSpc>
            </a:pPr>
            <a:r>
              <a:rPr lang="tr-TR" sz="1100" noProof="0" dirty="0"/>
              <a:t>Terimlerin Türkçe–İngilizce karşılıkları</a:t>
            </a:r>
          </a:p>
        </p:txBody>
      </p:sp>
      <p:sp>
        <p:nvSpPr>
          <p:cNvPr id="13" name="TextBox 12">
            <a:extLst>
              <a:ext uri="{FF2B5EF4-FFF2-40B4-BE49-F238E27FC236}">
                <a16:creationId xmlns:a16="http://schemas.microsoft.com/office/drawing/2014/main" id="{4A2FBC90-5272-4BC9-C1B7-F6642FA87FE7}"/>
              </a:ext>
            </a:extLst>
          </p:cNvPr>
          <p:cNvSpPr txBox="1"/>
          <p:nvPr/>
        </p:nvSpPr>
        <p:spPr>
          <a:xfrm>
            <a:off x="4926842" y="5579961"/>
            <a:ext cx="6721523" cy="567912"/>
          </a:xfrm>
          <a:prstGeom prst="rect">
            <a:avLst/>
          </a:prstGeom>
          <a:noFill/>
        </p:spPr>
        <p:txBody>
          <a:bodyPr wrap="square">
            <a:spAutoFit/>
          </a:bodyPr>
          <a:lstStyle/>
          <a:p>
            <a:pPr>
              <a:lnSpc>
                <a:spcPct val="125000"/>
              </a:lnSpc>
            </a:pPr>
            <a:r>
              <a:rPr lang="tr-TR" sz="1300" noProof="0" dirty="0"/>
              <a:t>Bu sınırlamaların nasıl giderildiği, TF-IDF ve n-gram yöntemlerinde ayrıntılı olarak açıklanacaktır.</a:t>
            </a:r>
          </a:p>
        </p:txBody>
      </p:sp>
      <p:sp>
        <p:nvSpPr>
          <p:cNvPr id="15" name="TextBox 14">
            <a:extLst>
              <a:ext uri="{FF2B5EF4-FFF2-40B4-BE49-F238E27FC236}">
                <a16:creationId xmlns:a16="http://schemas.microsoft.com/office/drawing/2014/main" id="{62A97952-3844-69BD-7C3D-2AA2C8BF2E92}"/>
              </a:ext>
            </a:extLst>
          </p:cNvPr>
          <p:cNvSpPr txBox="1"/>
          <p:nvPr/>
        </p:nvSpPr>
        <p:spPr>
          <a:xfrm>
            <a:off x="5124735" y="1987756"/>
            <a:ext cx="2772201" cy="3318665"/>
          </a:xfrm>
          <a:prstGeom prst="rect">
            <a:avLst/>
          </a:prstGeom>
          <a:noFill/>
        </p:spPr>
        <p:txBody>
          <a:bodyPr wrap="square">
            <a:spAutoFit/>
          </a:bodyPr>
          <a:lstStyle/>
          <a:p>
            <a:pPr>
              <a:lnSpc>
                <a:spcPct val="125000"/>
              </a:lnSpc>
              <a:buNone/>
            </a:pPr>
            <a:r>
              <a:rPr lang="tr-TR" sz="1300" noProof="0" dirty="0" err="1"/>
              <a:t>BoW</a:t>
            </a:r>
            <a:r>
              <a:rPr lang="tr-TR" sz="1300" noProof="0" dirty="0"/>
              <a:t> Mantığının Kısa Örneği</a:t>
            </a:r>
          </a:p>
          <a:p>
            <a:pPr>
              <a:lnSpc>
                <a:spcPct val="125000"/>
              </a:lnSpc>
              <a:buNone/>
            </a:pPr>
            <a:r>
              <a:rPr lang="tr-TR" sz="1300" noProof="0" dirty="0"/>
              <a:t>Metin A: “Hava güzel bugün”</a:t>
            </a:r>
            <a:br>
              <a:rPr lang="tr-TR" sz="1300" noProof="0" dirty="0"/>
            </a:br>
            <a:r>
              <a:rPr lang="tr-TR" sz="1300" noProof="0" dirty="0"/>
              <a:t>Metin B: “Bugün hava kötü”</a:t>
            </a:r>
          </a:p>
          <a:p>
            <a:pPr>
              <a:lnSpc>
                <a:spcPct val="125000"/>
              </a:lnSpc>
              <a:buNone/>
            </a:pPr>
            <a:r>
              <a:rPr lang="tr-TR" sz="1300" noProof="0" dirty="0"/>
              <a:t>Kelime Dağarcığı (</a:t>
            </a:r>
            <a:r>
              <a:rPr lang="tr-TR" sz="1300" noProof="0" dirty="0" err="1"/>
              <a:t>Vocabulary</a:t>
            </a:r>
            <a:r>
              <a:rPr lang="tr-TR" sz="1300" noProof="0" dirty="0"/>
              <a:t>):</a:t>
            </a:r>
            <a:br>
              <a:rPr lang="tr-TR" sz="1300" noProof="0" dirty="0"/>
            </a:br>
            <a:r>
              <a:rPr lang="tr-TR" sz="1300" noProof="0" dirty="0"/>
              <a:t>[hava, güzel, bugün, kötü]</a:t>
            </a:r>
          </a:p>
          <a:p>
            <a:pPr>
              <a:lnSpc>
                <a:spcPct val="125000"/>
              </a:lnSpc>
              <a:buNone/>
            </a:pPr>
            <a:r>
              <a:rPr lang="tr-TR" sz="1300" noProof="0" dirty="0" err="1"/>
              <a:t>BoW</a:t>
            </a:r>
            <a:r>
              <a:rPr lang="tr-TR" sz="1300" noProof="0" dirty="0"/>
              <a:t> vektörleri:</a:t>
            </a:r>
            <a:br>
              <a:rPr lang="tr-TR" sz="1300" noProof="0" dirty="0"/>
            </a:br>
            <a:r>
              <a:rPr lang="tr-TR" sz="1300" noProof="0" dirty="0"/>
              <a:t>• A → [1, 1, 1, 0]</a:t>
            </a:r>
            <a:br>
              <a:rPr lang="tr-TR" sz="1300" noProof="0" dirty="0"/>
            </a:br>
            <a:r>
              <a:rPr lang="tr-TR" sz="1300" noProof="0" dirty="0"/>
              <a:t>• B → [1, 0, 1, 1]</a:t>
            </a:r>
          </a:p>
          <a:p>
            <a:pPr>
              <a:lnSpc>
                <a:spcPct val="125000"/>
              </a:lnSpc>
              <a:buNone/>
            </a:pPr>
            <a:r>
              <a:rPr lang="tr-TR" sz="1300" noProof="0" dirty="0"/>
              <a:t>Burada:</a:t>
            </a:r>
            <a:br>
              <a:rPr lang="tr-TR" sz="1300" noProof="0" dirty="0"/>
            </a:br>
            <a:r>
              <a:rPr lang="tr-TR" sz="1300" noProof="0" dirty="0"/>
              <a:t>1 = Kelimenin geçtiğini</a:t>
            </a:r>
            <a:br>
              <a:rPr lang="tr-TR" sz="1300" noProof="0" dirty="0"/>
            </a:br>
            <a:r>
              <a:rPr lang="tr-TR" sz="1300" noProof="0" dirty="0"/>
              <a:t>0 = Geçmediğini</a:t>
            </a:r>
            <a:br>
              <a:rPr lang="tr-TR" sz="1300" noProof="0" dirty="0"/>
            </a:br>
            <a:r>
              <a:rPr lang="tr-TR" sz="1300" noProof="0" dirty="0"/>
              <a:t>Sayı ise kelimenin metinde kaç kez geçtiğini gösterir</a:t>
            </a:r>
            <a:r>
              <a:rPr lang="en-US" sz="1300" dirty="0"/>
              <a:t>.</a:t>
            </a:r>
          </a:p>
        </p:txBody>
      </p:sp>
      <p:sp>
        <p:nvSpPr>
          <p:cNvPr id="17" name="TextBox 16">
            <a:extLst>
              <a:ext uri="{FF2B5EF4-FFF2-40B4-BE49-F238E27FC236}">
                <a16:creationId xmlns:a16="http://schemas.microsoft.com/office/drawing/2014/main" id="{D46071B0-ED46-8FCD-036E-92B27D9CDA11}"/>
              </a:ext>
            </a:extLst>
          </p:cNvPr>
          <p:cNvSpPr txBox="1"/>
          <p:nvPr/>
        </p:nvSpPr>
        <p:spPr>
          <a:xfrm>
            <a:off x="4926842" y="5258348"/>
            <a:ext cx="6581376" cy="369332"/>
          </a:xfrm>
          <a:prstGeom prst="rect">
            <a:avLst/>
          </a:prstGeom>
          <a:noFill/>
        </p:spPr>
        <p:txBody>
          <a:bodyPr wrap="square">
            <a:spAutoFit/>
          </a:bodyPr>
          <a:lstStyle/>
          <a:p>
            <a:r>
              <a:rPr lang="tr-TR" sz="1300" noProof="0" dirty="0" err="1"/>
              <a:t>BoW</a:t>
            </a:r>
            <a:r>
              <a:rPr lang="tr-TR" sz="1300" noProof="0" dirty="0"/>
              <a:t> yöntemi yapısı gereği kelime sırasını ve bağlamsal ilişkileri dikkate almaz</a:t>
            </a:r>
            <a:r>
              <a:rPr lang="tr-TR" sz="1800" noProof="0" dirty="0"/>
              <a:t>.</a:t>
            </a:r>
            <a:endParaRPr lang="tr-TR" dirty="0"/>
          </a:p>
        </p:txBody>
      </p:sp>
      <p:sp>
        <p:nvSpPr>
          <p:cNvPr id="19" name="TextBox 18">
            <a:extLst>
              <a:ext uri="{FF2B5EF4-FFF2-40B4-BE49-F238E27FC236}">
                <a16:creationId xmlns:a16="http://schemas.microsoft.com/office/drawing/2014/main" id="{FDF193A3-8434-419B-1ABF-F2B0AFC9078B}"/>
              </a:ext>
            </a:extLst>
          </p:cNvPr>
          <p:cNvSpPr txBox="1"/>
          <p:nvPr/>
        </p:nvSpPr>
        <p:spPr>
          <a:xfrm>
            <a:off x="8094828" y="2040764"/>
            <a:ext cx="3369291" cy="323165"/>
          </a:xfrm>
          <a:prstGeom prst="rect">
            <a:avLst/>
          </a:prstGeom>
          <a:noFill/>
        </p:spPr>
        <p:txBody>
          <a:bodyPr wrap="square">
            <a:spAutoFit/>
          </a:bodyPr>
          <a:lstStyle/>
          <a:p>
            <a:pPr algn="ctr"/>
            <a:r>
              <a:rPr lang="en-US" sz="1500" dirty="0" err="1"/>
              <a:t>BoW</a:t>
            </a:r>
            <a:r>
              <a:rPr lang="tr-TR" sz="1500" dirty="0"/>
              <a:t> Ait Terimler</a:t>
            </a:r>
          </a:p>
        </p:txBody>
      </p:sp>
    </p:spTree>
    <p:extLst>
      <p:ext uri="{BB962C8B-B14F-4D97-AF65-F5344CB8AC3E}">
        <p14:creationId xmlns:p14="http://schemas.microsoft.com/office/powerpoint/2010/main" val="3187720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D055D-DD6A-3FF9-4BAE-E20E7FC3E4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64BD538-14C8-25D0-6F02-5524743ACEF3}"/>
              </a:ext>
            </a:extLst>
          </p:cNvPr>
          <p:cNvSpPr txBox="1"/>
          <p:nvPr/>
        </p:nvSpPr>
        <p:spPr>
          <a:xfrm>
            <a:off x="0" y="513185"/>
            <a:ext cx="12192000" cy="523220"/>
          </a:xfrm>
          <a:prstGeom prst="rect">
            <a:avLst/>
          </a:prstGeom>
          <a:noFill/>
        </p:spPr>
        <p:txBody>
          <a:bodyPr wrap="square">
            <a:spAutoFit/>
          </a:bodyPr>
          <a:lstStyle/>
          <a:p>
            <a:pPr algn="ctr"/>
            <a:r>
              <a:rPr lang="en-US" sz="2800" dirty="0"/>
              <a:t>Count Vectorizer Nedir?</a:t>
            </a:r>
            <a:endParaRPr lang="tr-TR" sz="2800" dirty="0"/>
          </a:p>
        </p:txBody>
      </p:sp>
      <p:sp>
        <p:nvSpPr>
          <p:cNvPr id="7" name="TextBox 6">
            <a:extLst>
              <a:ext uri="{FF2B5EF4-FFF2-40B4-BE49-F238E27FC236}">
                <a16:creationId xmlns:a16="http://schemas.microsoft.com/office/drawing/2014/main" id="{C191AFD4-1C50-9478-676D-5C088A1CD842}"/>
              </a:ext>
            </a:extLst>
          </p:cNvPr>
          <p:cNvSpPr txBox="1"/>
          <p:nvPr/>
        </p:nvSpPr>
        <p:spPr>
          <a:xfrm>
            <a:off x="780303" y="3261646"/>
            <a:ext cx="3285416" cy="2568460"/>
          </a:xfrm>
          <a:prstGeom prst="rect">
            <a:avLst/>
          </a:prstGeom>
          <a:noFill/>
        </p:spPr>
        <p:txBody>
          <a:bodyPr wrap="square">
            <a:spAutoFit/>
          </a:bodyPr>
          <a:lstStyle/>
          <a:p>
            <a:pPr>
              <a:lnSpc>
                <a:spcPct val="125000"/>
              </a:lnSpc>
              <a:buNone/>
            </a:pPr>
            <a:r>
              <a:rPr lang="tr-TR" sz="1300" b="1" noProof="0" dirty="0"/>
              <a:t>Neden Kullanılır?</a:t>
            </a:r>
          </a:p>
          <a:p>
            <a:pPr>
              <a:lnSpc>
                <a:spcPct val="125000"/>
              </a:lnSpc>
              <a:buNone/>
            </a:pPr>
            <a:r>
              <a:rPr lang="tr-TR" sz="1300" noProof="0" dirty="0"/>
              <a:t>• Basittir ve yüksek hacimli veri setlerine kolayca uygulanabilir.</a:t>
            </a:r>
            <a:br>
              <a:rPr lang="tr-TR" sz="1300" noProof="0" dirty="0"/>
            </a:br>
            <a:r>
              <a:rPr lang="tr-TR" sz="1300" noProof="0" dirty="0"/>
              <a:t>• Metinleri makine öğrenmesi modellerine uygun hâle getiren temel giriş yöntemidir.</a:t>
            </a:r>
            <a:br>
              <a:rPr lang="tr-TR" sz="1300" noProof="0" dirty="0"/>
            </a:br>
            <a:r>
              <a:rPr lang="tr-TR" sz="1300" noProof="0" dirty="0"/>
              <a:t>• Sınıflandırma, kümeleme ve duygu analizi gibi görevlerde başlangıç seviyesi özellik çıkarımı sağlar.</a:t>
            </a:r>
            <a:br>
              <a:rPr lang="tr-TR" sz="1300" noProof="0" dirty="0"/>
            </a:br>
            <a:r>
              <a:rPr lang="tr-TR" sz="1300" noProof="0" dirty="0"/>
              <a:t>• TF-IDF gibi gelişmiş yöntemlerin temel yapı taşlarından biridir.</a:t>
            </a:r>
          </a:p>
        </p:txBody>
      </p:sp>
      <p:sp>
        <p:nvSpPr>
          <p:cNvPr id="9" name="TextBox 8">
            <a:extLst>
              <a:ext uri="{FF2B5EF4-FFF2-40B4-BE49-F238E27FC236}">
                <a16:creationId xmlns:a16="http://schemas.microsoft.com/office/drawing/2014/main" id="{8423EC37-3984-3158-205F-7C8C55EAF3C2}"/>
              </a:ext>
            </a:extLst>
          </p:cNvPr>
          <p:cNvSpPr txBox="1"/>
          <p:nvPr/>
        </p:nvSpPr>
        <p:spPr>
          <a:xfrm>
            <a:off x="4193666" y="1443391"/>
            <a:ext cx="2711126" cy="2818528"/>
          </a:xfrm>
          <a:prstGeom prst="rect">
            <a:avLst/>
          </a:prstGeom>
          <a:noFill/>
        </p:spPr>
        <p:txBody>
          <a:bodyPr wrap="square">
            <a:spAutoFit/>
          </a:bodyPr>
          <a:lstStyle/>
          <a:p>
            <a:pPr>
              <a:lnSpc>
                <a:spcPct val="125000"/>
              </a:lnSpc>
              <a:buNone/>
            </a:pPr>
            <a:r>
              <a:rPr lang="tr-TR" sz="1300" b="1" noProof="0" dirty="0"/>
              <a:t>Örnek </a:t>
            </a:r>
            <a:r>
              <a:rPr lang="tr-TR" sz="1300" b="1" noProof="0" dirty="0" err="1"/>
              <a:t>Count</a:t>
            </a:r>
            <a:r>
              <a:rPr lang="tr-TR" sz="1300" b="1" noProof="0" dirty="0"/>
              <a:t> Vektörü Gösterimi</a:t>
            </a:r>
          </a:p>
          <a:p>
            <a:pPr>
              <a:lnSpc>
                <a:spcPct val="125000"/>
              </a:lnSpc>
              <a:buNone/>
            </a:pPr>
            <a:r>
              <a:rPr lang="tr-TR" sz="1300" noProof="0" dirty="0"/>
              <a:t>Metin A: “Bugün hava güzel”</a:t>
            </a:r>
            <a:br>
              <a:rPr lang="tr-TR" sz="1300" noProof="0" dirty="0"/>
            </a:br>
            <a:r>
              <a:rPr lang="tr-TR" sz="1300" noProof="0" dirty="0"/>
              <a:t>Metin B: “Hava bugün kötü”</a:t>
            </a:r>
          </a:p>
          <a:p>
            <a:pPr>
              <a:lnSpc>
                <a:spcPct val="125000"/>
              </a:lnSpc>
              <a:buNone/>
            </a:pPr>
            <a:r>
              <a:rPr lang="tr-TR" sz="1300" noProof="0" dirty="0"/>
              <a:t>Kelime Dağarcığı (</a:t>
            </a:r>
            <a:r>
              <a:rPr lang="tr-TR" sz="1300" noProof="0" dirty="0" err="1"/>
              <a:t>Vocabulary</a:t>
            </a:r>
            <a:r>
              <a:rPr lang="tr-TR" sz="1300" noProof="0" dirty="0"/>
              <a:t>):</a:t>
            </a:r>
            <a:br>
              <a:rPr lang="tr-TR" sz="1300" noProof="0" dirty="0"/>
            </a:br>
            <a:r>
              <a:rPr lang="tr-TR" sz="1300" noProof="0" dirty="0"/>
              <a:t>[hava, bugün, güzel, kötü]</a:t>
            </a:r>
          </a:p>
          <a:p>
            <a:pPr>
              <a:lnSpc>
                <a:spcPct val="125000"/>
              </a:lnSpc>
              <a:buNone/>
            </a:pPr>
            <a:r>
              <a:rPr lang="tr-TR" sz="1300" noProof="0" dirty="0" err="1"/>
              <a:t>Count</a:t>
            </a:r>
            <a:r>
              <a:rPr lang="tr-TR" sz="1300" noProof="0" dirty="0"/>
              <a:t> vektörleri:</a:t>
            </a:r>
            <a:br>
              <a:rPr lang="tr-TR" sz="1300" noProof="0" dirty="0"/>
            </a:br>
            <a:r>
              <a:rPr lang="tr-TR" sz="1300" noProof="0" dirty="0"/>
              <a:t>• A → [1, 1, 1, 0]</a:t>
            </a:r>
            <a:br>
              <a:rPr lang="tr-TR" sz="1300" noProof="0" dirty="0"/>
            </a:br>
            <a:r>
              <a:rPr lang="tr-TR" sz="1300" noProof="0" dirty="0"/>
              <a:t>• B → [1, 1, 0, 1]</a:t>
            </a:r>
          </a:p>
          <a:p>
            <a:pPr>
              <a:lnSpc>
                <a:spcPct val="125000"/>
              </a:lnSpc>
              <a:buNone/>
            </a:pPr>
            <a:r>
              <a:rPr lang="tr-TR" sz="1300" noProof="0" dirty="0"/>
              <a:t>1 = kelime metinde geçiyor</a:t>
            </a:r>
            <a:br>
              <a:rPr lang="tr-TR" sz="1300" noProof="0" dirty="0"/>
            </a:br>
            <a:r>
              <a:rPr lang="tr-TR" sz="1300" noProof="0" dirty="0"/>
              <a:t>0 = kelime geçmiyor</a:t>
            </a:r>
            <a:br>
              <a:rPr lang="tr-TR" sz="1300" noProof="0" dirty="0"/>
            </a:br>
            <a:r>
              <a:rPr lang="tr-TR" sz="1300" noProof="0" dirty="0"/>
              <a:t>Sayı = kaç kez geçtiğini gösterir.</a:t>
            </a:r>
          </a:p>
        </p:txBody>
      </p:sp>
      <p:graphicFrame>
        <p:nvGraphicFramePr>
          <p:cNvPr id="10" name="Table 9">
            <a:extLst>
              <a:ext uri="{FF2B5EF4-FFF2-40B4-BE49-F238E27FC236}">
                <a16:creationId xmlns:a16="http://schemas.microsoft.com/office/drawing/2014/main" id="{6C2162E8-1E22-B5E5-C41E-2EEBFCDF88C9}"/>
              </a:ext>
            </a:extLst>
          </p:cNvPr>
          <p:cNvGraphicFramePr>
            <a:graphicFrameLocks noGrp="1"/>
          </p:cNvGraphicFramePr>
          <p:nvPr>
            <p:extLst>
              <p:ext uri="{D42A27DB-BD31-4B8C-83A1-F6EECF244321}">
                <p14:modId xmlns:p14="http://schemas.microsoft.com/office/powerpoint/2010/main" val="3161178011"/>
              </p:ext>
            </p:extLst>
          </p:nvPr>
        </p:nvGraphicFramePr>
        <p:xfrm>
          <a:off x="7372060" y="3112322"/>
          <a:ext cx="3783390" cy="2183791"/>
        </p:xfrm>
        <a:graphic>
          <a:graphicData uri="http://schemas.openxmlformats.org/drawingml/2006/table">
            <a:tbl>
              <a:tblPr firstRow="1" bandRow="1">
                <a:tableStyleId>{5C22544A-7EE6-4342-B048-85BDC9FD1C3A}</a:tableStyleId>
              </a:tblPr>
              <a:tblGrid>
                <a:gridCol w="1750246">
                  <a:extLst>
                    <a:ext uri="{9D8B030D-6E8A-4147-A177-3AD203B41FA5}">
                      <a16:colId xmlns:a16="http://schemas.microsoft.com/office/drawing/2014/main" val="2208341359"/>
                    </a:ext>
                  </a:extLst>
                </a:gridCol>
                <a:gridCol w="2033144">
                  <a:extLst>
                    <a:ext uri="{9D8B030D-6E8A-4147-A177-3AD203B41FA5}">
                      <a16:colId xmlns:a16="http://schemas.microsoft.com/office/drawing/2014/main" val="2179976533"/>
                    </a:ext>
                  </a:extLst>
                </a:gridCol>
              </a:tblGrid>
              <a:tr h="363348">
                <a:tc>
                  <a:txBody>
                    <a:bodyPr/>
                    <a:lstStyle/>
                    <a:p>
                      <a:pPr>
                        <a:buNone/>
                      </a:pPr>
                      <a:r>
                        <a:rPr lang="en-US" dirty="0" err="1"/>
                        <a:t>Türkçe</a:t>
                      </a:r>
                      <a:r>
                        <a:rPr lang="en-US" dirty="0"/>
                        <a:t> Terim</a:t>
                      </a:r>
                    </a:p>
                  </a:txBody>
                  <a:tcPr anchor="ctr"/>
                </a:tc>
                <a:tc>
                  <a:txBody>
                    <a:bodyPr/>
                    <a:lstStyle/>
                    <a:p>
                      <a:pPr>
                        <a:buNone/>
                      </a:pPr>
                      <a:r>
                        <a:rPr lang="en-US" dirty="0" err="1"/>
                        <a:t>İngilizce</a:t>
                      </a:r>
                      <a:r>
                        <a:rPr lang="en-US" dirty="0"/>
                        <a:t> Terim</a:t>
                      </a:r>
                    </a:p>
                  </a:txBody>
                  <a:tcPr anchor="ctr"/>
                </a:tc>
                <a:extLst>
                  <a:ext uri="{0D108BD9-81ED-4DB2-BD59-A6C34878D82A}">
                    <a16:rowId xmlns:a16="http://schemas.microsoft.com/office/drawing/2014/main" val="427331448"/>
                  </a:ext>
                </a:extLst>
              </a:tr>
              <a:tr h="585065">
                <a:tc>
                  <a:txBody>
                    <a:bodyPr/>
                    <a:lstStyle/>
                    <a:p>
                      <a:pPr>
                        <a:buNone/>
                      </a:pPr>
                      <a:r>
                        <a:rPr lang="en-US" sz="1300"/>
                        <a:t>Kelime Frekans Temsili</a:t>
                      </a:r>
                    </a:p>
                  </a:txBody>
                  <a:tcPr anchor="ctr"/>
                </a:tc>
                <a:tc>
                  <a:txBody>
                    <a:bodyPr/>
                    <a:lstStyle/>
                    <a:p>
                      <a:pPr>
                        <a:buNone/>
                      </a:pPr>
                      <a:r>
                        <a:rPr lang="en-US" sz="1300" dirty="0"/>
                        <a:t>Count-Based Representation</a:t>
                      </a:r>
                    </a:p>
                  </a:txBody>
                  <a:tcPr anchor="ctr"/>
                </a:tc>
                <a:extLst>
                  <a:ext uri="{0D108BD9-81ED-4DB2-BD59-A6C34878D82A}">
                    <a16:rowId xmlns:a16="http://schemas.microsoft.com/office/drawing/2014/main" val="633295503"/>
                  </a:ext>
                </a:extLst>
              </a:tr>
              <a:tr h="506270">
                <a:tc>
                  <a:txBody>
                    <a:bodyPr/>
                    <a:lstStyle/>
                    <a:p>
                      <a:pPr>
                        <a:buNone/>
                      </a:pPr>
                      <a:r>
                        <a:rPr lang="en-US" sz="1300"/>
                        <a:t>Kelime Sıklığı</a:t>
                      </a:r>
                    </a:p>
                  </a:txBody>
                  <a:tcPr anchor="ctr"/>
                </a:tc>
                <a:tc>
                  <a:txBody>
                    <a:bodyPr/>
                    <a:lstStyle/>
                    <a:p>
                      <a:pPr>
                        <a:buNone/>
                      </a:pPr>
                      <a:r>
                        <a:rPr lang="en-US" sz="1300"/>
                        <a:t>Term Frequency (Count)</a:t>
                      </a:r>
                    </a:p>
                  </a:txBody>
                  <a:tcPr anchor="ctr"/>
                </a:tc>
                <a:extLst>
                  <a:ext uri="{0D108BD9-81ED-4DB2-BD59-A6C34878D82A}">
                    <a16:rowId xmlns:a16="http://schemas.microsoft.com/office/drawing/2014/main" val="106261133"/>
                  </a:ext>
                </a:extLst>
              </a:tr>
              <a:tr h="363348">
                <a:tc>
                  <a:txBody>
                    <a:bodyPr/>
                    <a:lstStyle/>
                    <a:p>
                      <a:pPr>
                        <a:buNone/>
                      </a:pPr>
                      <a:r>
                        <a:rPr lang="en-US" sz="1300"/>
                        <a:t>Özellik Vektörü</a:t>
                      </a:r>
                    </a:p>
                  </a:txBody>
                  <a:tcPr anchor="ctr"/>
                </a:tc>
                <a:tc>
                  <a:txBody>
                    <a:bodyPr/>
                    <a:lstStyle/>
                    <a:p>
                      <a:pPr>
                        <a:buNone/>
                      </a:pPr>
                      <a:r>
                        <a:rPr lang="en-US" sz="1300"/>
                        <a:t>Feature Vector</a:t>
                      </a:r>
                    </a:p>
                  </a:txBody>
                  <a:tcPr anchor="ctr"/>
                </a:tc>
                <a:extLst>
                  <a:ext uri="{0D108BD9-81ED-4DB2-BD59-A6C34878D82A}">
                    <a16:rowId xmlns:a16="http://schemas.microsoft.com/office/drawing/2014/main" val="1864329196"/>
                  </a:ext>
                </a:extLst>
              </a:tr>
              <a:tr h="363348">
                <a:tc>
                  <a:txBody>
                    <a:bodyPr/>
                    <a:lstStyle/>
                    <a:p>
                      <a:pPr>
                        <a:buNone/>
                      </a:pPr>
                      <a:r>
                        <a:rPr lang="en-US" sz="1300"/>
                        <a:t>Kelime Dağarcığı</a:t>
                      </a:r>
                    </a:p>
                  </a:txBody>
                  <a:tcPr anchor="ctr"/>
                </a:tc>
                <a:tc>
                  <a:txBody>
                    <a:bodyPr/>
                    <a:lstStyle/>
                    <a:p>
                      <a:pPr>
                        <a:buNone/>
                      </a:pPr>
                      <a:r>
                        <a:rPr lang="en-US" sz="1300" dirty="0"/>
                        <a:t>Vocabulary</a:t>
                      </a:r>
                    </a:p>
                  </a:txBody>
                  <a:tcPr anchor="ctr"/>
                </a:tc>
                <a:extLst>
                  <a:ext uri="{0D108BD9-81ED-4DB2-BD59-A6C34878D82A}">
                    <a16:rowId xmlns:a16="http://schemas.microsoft.com/office/drawing/2014/main" val="510244489"/>
                  </a:ext>
                </a:extLst>
              </a:tr>
            </a:tbl>
          </a:graphicData>
        </a:graphic>
      </p:graphicFrame>
      <p:sp>
        <p:nvSpPr>
          <p:cNvPr id="15" name="TextBox 14">
            <a:extLst>
              <a:ext uri="{FF2B5EF4-FFF2-40B4-BE49-F238E27FC236}">
                <a16:creationId xmlns:a16="http://schemas.microsoft.com/office/drawing/2014/main" id="{C3DC0760-6D2E-CC9D-DB4C-F507B8310D19}"/>
              </a:ext>
            </a:extLst>
          </p:cNvPr>
          <p:cNvSpPr txBox="1"/>
          <p:nvPr/>
        </p:nvSpPr>
        <p:spPr>
          <a:xfrm>
            <a:off x="7400481" y="5305284"/>
            <a:ext cx="3754969" cy="283482"/>
          </a:xfrm>
          <a:prstGeom prst="rect">
            <a:avLst/>
          </a:prstGeom>
          <a:noFill/>
        </p:spPr>
        <p:txBody>
          <a:bodyPr wrap="square">
            <a:spAutoFit/>
          </a:bodyPr>
          <a:lstStyle/>
          <a:p>
            <a:pPr algn="ctr">
              <a:lnSpc>
                <a:spcPct val="125000"/>
              </a:lnSpc>
            </a:pPr>
            <a:r>
              <a:rPr lang="tr-TR" sz="1100" noProof="0" dirty="0"/>
              <a:t>Terimlerin Türkçe–İngilizce karşılıkları</a:t>
            </a:r>
          </a:p>
        </p:txBody>
      </p:sp>
      <p:sp>
        <p:nvSpPr>
          <p:cNvPr id="17" name="TextBox 16">
            <a:extLst>
              <a:ext uri="{FF2B5EF4-FFF2-40B4-BE49-F238E27FC236}">
                <a16:creationId xmlns:a16="http://schemas.microsoft.com/office/drawing/2014/main" id="{E308A67B-2975-B510-6886-A85AABDC5BE5}"/>
              </a:ext>
            </a:extLst>
          </p:cNvPr>
          <p:cNvSpPr txBox="1"/>
          <p:nvPr/>
        </p:nvSpPr>
        <p:spPr>
          <a:xfrm>
            <a:off x="7393657" y="2789257"/>
            <a:ext cx="3727771" cy="327542"/>
          </a:xfrm>
          <a:prstGeom prst="rect">
            <a:avLst/>
          </a:prstGeom>
          <a:noFill/>
        </p:spPr>
        <p:txBody>
          <a:bodyPr wrap="square">
            <a:spAutoFit/>
          </a:bodyPr>
          <a:lstStyle/>
          <a:p>
            <a:pPr algn="ctr"/>
            <a:r>
              <a:rPr lang="en-US" sz="1500" dirty="0"/>
              <a:t>Count Vectorizer </a:t>
            </a:r>
            <a:r>
              <a:rPr lang="en-US" sz="1500" dirty="0" err="1"/>
              <a:t>Ait</a:t>
            </a:r>
            <a:r>
              <a:rPr lang="en-US" sz="1500" dirty="0"/>
              <a:t> </a:t>
            </a:r>
            <a:r>
              <a:rPr lang="en-US" sz="1500" dirty="0" err="1"/>
              <a:t>Terimler</a:t>
            </a:r>
            <a:endParaRPr lang="tr-TR" sz="1500" dirty="0"/>
          </a:p>
        </p:txBody>
      </p:sp>
      <p:sp>
        <p:nvSpPr>
          <p:cNvPr id="19" name="TextBox 18">
            <a:extLst>
              <a:ext uri="{FF2B5EF4-FFF2-40B4-BE49-F238E27FC236}">
                <a16:creationId xmlns:a16="http://schemas.microsoft.com/office/drawing/2014/main" id="{C4E522BC-8029-E338-6F5E-2A1550177329}"/>
              </a:ext>
            </a:extLst>
          </p:cNvPr>
          <p:cNvSpPr txBox="1"/>
          <p:nvPr/>
        </p:nvSpPr>
        <p:spPr>
          <a:xfrm>
            <a:off x="7400481" y="1791847"/>
            <a:ext cx="4041932" cy="317844"/>
          </a:xfrm>
          <a:prstGeom prst="rect">
            <a:avLst/>
          </a:prstGeom>
          <a:noFill/>
        </p:spPr>
        <p:txBody>
          <a:bodyPr wrap="square">
            <a:spAutoFit/>
          </a:bodyPr>
          <a:lstStyle/>
          <a:p>
            <a:pPr>
              <a:lnSpc>
                <a:spcPct val="125000"/>
              </a:lnSpc>
            </a:pPr>
            <a:r>
              <a:rPr lang="tr-TR" sz="1300" noProof="0" dirty="0"/>
              <a:t>   </a:t>
            </a:r>
          </a:p>
        </p:txBody>
      </p:sp>
      <p:sp>
        <p:nvSpPr>
          <p:cNvPr id="25" name="TextBox 24">
            <a:extLst>
              <a:ext uri="{FF2B5EF4-FFF2-40B4-BE49-F238E27FC236}">
                <a16:creationId xmlns:a16="http://schemas.microsoft.com/office/drawing/2014/main" id="{495E883C-C4D0-B52A-5158-B8AEACEC88C5}"/>
              </a:ext>
            </a:extLst>
          </p:cNvPr>
          <p:cNvSpPr txBox="1"/>
          <p:nvPr/>
        </p:nvSpPr>
        <p:spPr>
          <a:xfrm>
            <a:off x="7232284" y="1613008"/>
            <a:ext cx="3859393" cy="1068049"/>
          </a:xfrm>
          <a:prstGeom prst="rect">
            <a:avLst/>
          </a:prstGeom>
          <a:noFill/>
        </p:spPr>
        <p:txBody>
          <a:bodyPr wrap="square">
            <a:spAutoFit/>
          </a:bodyPr>
          <a:lstStyle/>
          <a:p>
            <a:pPr>
              <a:lnSpc>
                <a:spcPct val="125000"/>
              </a:lnSpc>
            </a:pPr>
            <a:r>
              <a:rPr lang="tr-TR" sz="1300" noProof="0" dirty="0"/>
              <a:t>Ancak bu yöntem yalnızca kelime sıklığını dikkate aldığı için kelimenin önemini ölçmede sınırlıdır. Bu sınırlılıkların nasıl giderildiği, bir sonraki slaytta ele alınacak TF-IDF yöntemi ile açıklanacaktır.</a:t>
            </a:r>
          </a:p>
        </p:txBody>
      </p:sp>
      <p:sp>
        <p:nvSpPr>
          <p:cNvPr id="27" name="TextBox 26">
            <a:extLst>
              <a:ext uri="{FF2B5EF4-FFF2-40B4-BE49-F238E27FC236}">
                <a16:creationId xmlns:a16="http://schemas.microsoft.com/office/drawing/2014/main" id="{121D18BF-1A33-F3C2-8AAC-D2538F16D3F1}"/>
              </a:ext>
            </a:extLst>
          </p:cNvPr>
          <p:cNvSpPr txBox="1"/>
          <p:nvPr/>
        </p:nvSpPr>
        <p:spPr>
          <a:xfrm>
            <a:off x="4177075" y="4141507"/>
            <a:ext cx="3055209" cy="1568186"/>
          </a:xfrm>
          <a:prstGeom prst="rect">
            <a:avLst/>
          </a:prstGeom>
          <a:noFill/>
        </p:spPr>
        <p:txBody>
          <a:bodyPr wrap="square">
            <a:spAutoFit/>
          </a:bodyPr>
          <a:lstStyle/>
          <a:p>
            <a:pPr>
              <a:lnSpc>
                <a:spcPct val="125000"/>
              </a:lnSpc>
            </a:pPr>
            <a:r>
              <a:rPr lang="tr-TR" sz="1300" noProof="0" dirty="0" err="1"/>
              <a:t>Count</a:t>
            </a:r>
            <a:r>
              <a:rPr lang="tr-TR" sz="1300" noProof="0" dirty="0"/>
              <a:t> </a:t>
            </a:r>
            <a:r>
              <a:rPr lang="tr-TR" sz="1300" noProof="0" dirty="0" err="1"/>
              <a:t>Vectorizer</a:t>
            </a:r>
            <a:r>
              <a:rPr lang="tr-TR" sz="1300" noProof="0" dirty="0"/>
              <a:t>, </a:t>
            </a:r>
            <a:r>
              <a:rPr lang="tr-TR" sz="1300" noProof="0" dirty="0" err="1"/>
              <a:t>Bag</a:t>
            </a:r>
            <a:r>
              <a:rPr lang="tr-TR" sz="1300" noProof="0" dirty="0"/>
              <a:t>-of-</a:t>
            </a:r>
            <a:r>
              <a:rPr lang="tr-TR" sz="1300" noProof="0" dirty="0" err="1"/>
              <a:t>Words</a:t>
            </a:r>
            <a:r>
              <a:rPr lang="tr-TR" sz="1300" noProof="0" dirty="0"/>
              <a:t> (</a:t>
            </a:r>
            <a:r>
              <a:rPr lang="tr-TR" sz="1300" noProof="0" dirty="0" err="1"/>
              <a:t>BoW</a:t>
            </a:r>
            <a:r>
              <a:rPr lang="tr-TR" sz="1300" noProof="0" dirty="0"/>
              <a:t>) yaklaşımının sayısal olarak kullanılan uyarlamasıdır. Kelimeleri frekanslarına göre vektöre dönüştürerek metni makine öğrenmesi modelleri tarafından işlenebilir hâle getirir. </a:t>
            </a:r>
            <a:endParaRPr lang="tr-TR" sz="1300" dirty="0"/>
          </a:p>
        </p:txBody>
      </p:sp>
      <p:pic>
        <p:nvPicPr>
          <p:cNvPr id="28" name="Picture 27">
            <a:extLst>
              <a:ext uri="{FF2B5EF4-FFF2-40B4-BE49-F238E27FC236}">
                <a16:creationId xmlns:a16="http://schemas.microsoft.com/office/drawing/2014/main" id="{03903417-E0F6-68E3-1A59-5D6166EED0C9}"/>
              </a:ext>
            </a:extLst>
          </p:cNvPr>
          <p:cNvPicPr>
            <a:picLocks noChangeAspect="1"/>
          </p:cNvPicPr>
          <p:nvPr/>
        </p:nvPicPr>
        <p:blipFill>
          <a:blip r:embed="rId2"/>
          <a:stretch>
            <a:fillRect/>
          </a:stretch>
        </p:blipFill>
        <p:spPr>
          <a:xfrm>
            <a:off x="184245" y="2"/>
            <a:ext cx="2483891" cy="1613006"/>
          </a:xfrm>
          <a:prstGeom prst="rect">
            <a:avLst/>
          </a:prstGeom>
        </p:spPr>
      </p:pic>
      <p:sp>
        <p:nvSpPr>
          <p:cNvPr id="5" name="TextBox 4">
            <a:extLst>
              <a:ext uri="{FF2B5EF4-FFF2-40B4-BE49-F238E27FC236}">
                <a16:creationId xmlns:a16="http://schemas.microsoft.com/office/drawing/2014/main" id="{3502800B-1281-C774-474D-51E07A2819C8}"/>
              </a:ext>
            </a:extLst>
          </p:cNvPr>
          <p:cNvSpPr txBox="1"/>
          <p:nvPr/>
        </p:nvSpPr>
        <p:spPr>
          <a:xfrm>
            <a:off x="716329" y="1443391"/>
            <a:ext cx="3413363" cy="1818255"/>
          </a:xfrm>
          <a:prstGeom prst="rect">
            <a:avLst/>
          </a:prstGeom>
          <a:noFill/>
        </p:spPr>
        <p:txBody>
          <a:bodyPr wrap="square">
            <a:spAutoFit/>
          </a:bodyPr>
          <a:lstStyle/>
          <a:p>
            <a:pPr>
              <a:lnSpc>
                <a:spcPct val="125000"/>
              </a:lnSpc>
            </a:pPr>
            <a:r>
              <a:rPr lang="tr-TR" sz="1300" noProof="0" dirty="0"/>
              <a:t>   </a:t>
            </a:r>
            <a:r>
              <a:rPr lang="tr-TR" sz="1300" noProof="0" dirty="0" err="1"/>
              <a:t>Count</a:t>
            </a:r>
            <a:r>
              <a:rPr lang="tr-TR" sz="1300" noProof="0" dirty="0"/>
              <a:t> </a:t>
            </a:r>
            <a:r>
              <a:rPr lang="tr-TR" sz="1300" noProof="0" dirty="0" err="1"/>
              <a:t>Vectorizer</a:t>
            </a:r>
            <a:r>
              <a:rPr lang="tr-TR" sz="1300" noProof="0" dirty="0"/>
              <a:t>, bir metindeki her kelimenin kaç kez geçtiğini sayarak metni sayısal bir vektöre dönüştüren temel özellik çıkarım yöntemidir.</a:t>
            </a:r>
            <a:br>
              <a:rPr lang="tr-TR" sz="1300" noProof="0" dirty="0"/>
            </a:br>
            <a:r>
              <a:rPr lang="tr-TR" sz="1300" noProof="0" dirty="0"/>
              <a:t>Bu yöntemde kelime sırası dikkate alınmaz; her belge, kelime frekanslarından oluşan bir özellik vektörü ile temsil edilir.</a:t>
            </a:r>
          </a:p>
        </p:txBody>
      </p:sp>
    </p:spTree>
    <p:extLst>
      <p:ext uri="{BB962C8B-B14F-4D97-AF65-F5344CB8AC3E}">
        <p14:creationId xmlns:p14="http://schemas.microsoft.com/office/powerpoint/2010/main" val="3865855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B2D17-D6DF-9033-CBA8-64374453C08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56D683E-5E5A-A8DF-33EA-312771ACDFA4}"/>
              </a:ext>
            </a:extLst>
          </p:cNvPr>
          <p:cNvSpPr txBox="1"/>
          <p:nvPr/>
        </p:nvSpPr>
        <p:spPr>
          <a:xfrm>
            <a:off x="6437696" y="1835003"/>
            <a:ext cx="5376683" cy="1068049"/>
          </a:xfrm>
          <a:prstGeom prst="rect">
            <a:avLst/>
          </a:prstGeom>
          <a:noFill/>
        </p:spPr>
        <p:txBody>
          <a:bodyPr wrap="square">
            <a:spAutoFit/>
          </a:bodyPr>
          <a:lstStyle/>
          <a:p>
            <a:pPr>
              <a:lnSpc>
                <a:spcPct val="125000"/>
              </a:lnSpc>
            </a:pPr>
            <a:r>
              <a:rPr lang="tr-TR" sz="1300" b="1" noProof="0" dirty="0"/>
              <a:t> Görsel Mantık:</a:t>
            </a:r>
          </a:p>
          <a:p>
            <a:pPr>
              <a:lnSpc>
                <a:spcPct val="125000"/>
              </a:lnSpc>
            </a:pPr>
            <a:r>
              <a:rPr lang="tr-TR" sz="1300" noProof="0" dirty="0"/>
              <a:t>TF = “Kelime cümlede kaç kere yazılmış?”</a:t>
            </a:r>
          </a:p>
          <a:p>
            <a:pPr>
              <a:lnSpc>
                <a:spcPct val="125000"/>
              </a:lnSpc>
            </a:pPr>
            <a:r>
              <a:rPr lang="tr-TR" sz="1300" noProof="0" dirty="0"/>
              <a:t>IDF = “Bu kelime başka yerlerde de çok geçiyor mu?”</a:t>
            </a:r>
          </a:p>
          <a:p>
            <a:pPr>
              <a:lnSpc>
                <a:spcPct val="125000"/>
              </a:lnSpc>
            </a:pPr>
            <a:r>
              <a:rPr lang="tr-TR" sz="1300" noProof="0" dirty="0"/>
              <a:t>TF-IDF = “Gerçekten işe yarayan, bilgi veren kelimeyi BÜYÜT.”</a:t>
            </a:r>
          </a:p>
        </p:txBody>
      </p:sp>
      <p:pic>
        <p:nvPicPr>
          <p:cNvPr id="22" name="Picture 21">
            <a:extLst>
              <a:ext uri="{FF2B5EF4-FFF2-40B4-BE49-F238E27FC236}">
                <a16:creationId xmlns:a16="http://schemas.microsoft.com/office/drawing/2014/main" id="{7B6A4FF8-F4F7-0C0F-A9BB-0FD43BC96EB2}"/>
              </a:ext>
            </a:extLst>
          </p:cNvPr>
          <p:cNvPicPr>
            <a:picLocks noChangeAspect="1"/>
          </p:cNvPicPr>
          <p:nvPr/>
        </p:nvPicPr>
        <p:blipFill>
          <a:blip r:embed="rId2"/>
          <a:stretch>
            <a:fillRect/>
          </a:stretch>
        </p:blipFill>
        <p:spPr>
          <a:xfrm>
            <a:off x="184246" y="2"/>
            <a:ext cx="2900148" cy="1883318"/>
          </a:xfrm>
          <a:prstGeom prst="rect">
            <a:avLst/>
          </a:prstGeom>
        </p:spPr>
      </p:pic>
      <p:sp>
        <p:nvSpPr>
          <p:cNvPr id="24" name="TextBox 23">
            <a:extLst>
              <a:ext uri="{FF2B5EF4-FFF2-40B4-BE49-F238E27FC236}">
                <a16:creationId xmlns:a16="http://schemas.microsoft.com/office/drawing/2014/main" id="{91A5D9F7-7712-EDD8-C9BC-A3D19B96B579}"/>
              </a:ext>
            </a:extLst>
          </p:cNvPr>
          <p:cNvSpPr txBox="1"/>
          <p:nvPr/>
        </p:nvSpPr>
        <p:spPr>
          <a:xfrm>
            <a:off x="550005" y="1669030"/>
            <a:ext cx="5628668" cy="817981"/>
          </a:xfrm>
          <a:prstGeom prst="rect">
            <a:avLst/>
          </a:prstGeom>
          <a:noFill/>
        </p:spPr>
        <p:txBody>
          <a:bodyPr wrap="square">
            <a:spAutoFit/>
          </a:bodyPr>
          <a:lstStyle/>
          <a:p>
            <a:pPr>
              <a:lnSpc>
                <a:spcPct val="125000"/>
              </a:lnSpc>
            </a:pPr>
            <a:r>
              <a:rPr lang="tr-TR" sz="1300" noProof="0" dirty="0"/>
              <a:t>  TF-IDF, bir kelimenin metindeki önem düzeyini hem kullanım sıklığına (TF) hem de ayırt ediciliğine (IDF) göre hesaplayan geliştirilmiş bir temsil yöntemidir.</a:t>
            </a:r>
          </a:p>
        </p:txBody>
      </p:sp>
      <p:sp>
        <p:nvSpPr>
          <p:cNvPr id="26" name="TextBox 25">
            <a:extLst>
              <a:ext uri="{FF2B5EF4-FFF2-40B4-BE49-F238E27FC236}">
                <a16:creationId xmlns:a16="http://schemas.microsoft.com/office/drawing/2014/main" id="{DE276D57-71C1-0113-0B54-31D3E8513E09}"/>
              </a:ext>
            </a:extLst>
          </p:cNvPr>
          <p:cNvSpPr txBox="1"/>
          <p:nvPr/>
        </p:nvSpPr>
        <p:spPr>
          <a:xfrm>
            <a:off x="541609" y="2475287"/>
            <a:ext cx="5549842" cy="1568186"/>
          </a:xfrm>
          <a:prstGeom prst="rect">
            <a:avLst/>
          </a:prstGeom>
          <a:noFill/>
        </p:spPr>
        <p:txBody>
          <a:bodyPr wrap="square">
            <a:spAutoFit/>
          </a:bodyPr>
          <a:lstStyle/>
          <a:p>
            <a:pPr>
              <a:lnSpc>
                <a:spcPct val="125000"/>
              </a:lnSpc>
              <a:buNone/>
            </a:pPr>
            <a:r>
              <a:rPr lang="tr-TR" sz="1300" b="1" noProof="0" dirty="0"/>
              <a:t>TF (</a:t>
            </a:r>
            <a:r>
              <a:rPr lang="tr-TR" sz="1300" b="1" noProof="0" dirty="0" err="1"/>
              <a:t>Term</a:t>
            </a:r>
            <a:r>
              <a:rPr lang="tr-TR" sz="1300" b="1" noProof="0" dirty="0"/>
              <a:t> </a:t>
            </a:r>
            <a:r>
              <a:rPr lang="tr-TR" sz="1300" b="1" noProof="0" dirty="0" err="1"/>
              <a:t>Frequency</a:t>
            </a:r>
            <a:r>
              <a:rPr lang="tr-TR" sz="1300" b="1" noProof="0" dirty="0"/>
              <a:t>)</a:t>
            </a:r>
          </a:p>
          <a:p>
            <a:pPr>
              <a:lnSpc>
                <a:spcPct val="125000"/>
              </a:lnSpc>
              <a:buNone/>
            </a:pPr>
            <a:r>
              <a:rPr lang="tr-TR" sz="1300" noProof="0" dirty="0"/>
              <a:t>  Bir kelimenin belgede kaç kez geçtiğini ölçer. Sık geçen kelimeler daha yüksek TF değerine sahiptir.</a:t>
            </a:r>
          </a:p>
          <a:p>
            <a:pPr>
              <a:lnSpc>
                <a:spcPct val="125000"/>
              </a:lnSpc>
              <a:buNone/>
            </a:pPr>
            <a:r>
              <a:rPr lang="tr-TR" sz="1300" b="1" noProof="0" dirty="0"/>
              <a:t>IDF (</a:t>
            </a:r>
            <a:r>
              <a:rPr lang="tr-TR" sz="1300" b="1" noProof="0" dirty="0" err="1"/>
              <a:t>Inverse</a:t>
            </a:r>
            <a:r>
              <a:rPr lang="tr-TR" sz="1300" b="1" noProof="0" dirty="0"/>
              <a:t> </a:t>
            </a:r>
            <a:r>
              <a:rPr lang="tr-TR" sz="1300" b="1" noProof="0" dirty="0" err="1"/>
              <a:t>Document</a:t>
            </a:r>
            <a:r>
              <a:rPr lang="tr-TR" sz="1300" b="1" noProof="0" dirty="0"/>
              <a:t> </a:t>
            </a:r>
            <a:r>
              <a:rPr lang="tr-TR" sz="1300" b="1" noProof="0" dirty="0" err="1"/>
              <a:t>Frequency</a:t>
            </a:r>
            <a:r>
              <a:rPr lang="tr-TR" sz="1300" b="1" noProof="0" dirty="0"/>
              <a:t>)</a:t>
            </a:r>
          </a:p>
          <a:p>
            <a:pPr>
              <a:lnSpc>
                <a:spcPct val="125000"/>
              </a:lnSpc>
              <a:buNone/>
            </a:pPr>
            <a:r>
              <a:rPr lang="tr-TR" sz="1300" noProof="0" dirty="0"/>
              <a:t> Kelimenin kaç farklı belgede geçtiğini </a:t>
            </a:r>
            <a:r>
              <a:rPr lang="tr-TR" sz="1300" noProof="0" dirty="0" err="1"/>
              <a:t>inceler.Birçok</a:t>
            </a:r>
            <a:r>
              <a:rPr lang="tr-TR" sz="1300" noProof="0" dirty="0"/>
              <a:t> belgede görünen kelimelerin ağırlığını azaltır, nadir kelimeleri öne çıkarır.</a:t>
            </a:r>
          </a:p>
        </p:txBody>
      </p:sp>
      <p:sp>
        <p:nvSpPr>
          <p:cNvPr id="30" name="TextBox 29">
            <a:extLst>
              <a:ext uri="{FF2B5EF4-FFF2-40B4-BE49-F238E27FC236}">
                <a16:creationId xmlns:a16="http://schemas.microsoft.com/office/drawing/2014/main" id="{263B6D17-FD54-CDFE-4F1D-1B238BB46432}"/>
              </a:ext>
            </a:extLst>
          </p:cNvPr>
          <p:cNvSpPr txBox="1"/>
          <p:nvPr/>
        </p:nvSpPr>
        <p:spPr>
          <a:xfrm>
            <a:off x="575727" y="4043473"/>
            <a:ext cx="5628667" cy="817981"/>
          </a:xfrm>
          <a:prstGeom prst="rect">
            <a:avLst/>
          </a:prstGeom>
          <a:noFill/>
        </p:spPr>
        <p:txBody>
          <a:bodyPr wrap="square">
            <a:spAutoFit/>
          </a:bodyPr>
          <a:lstStyle/>
          <a:p>
            <a:pPr>
              <a:lnSpc>
                <a:spcPct val="125000"/>
              </a:lnSpc>
              <a:buNone/>
            </a:pPr>
            <a:r>
              <a:rPr lang="tr-TR" sz="1300" b="1" noProof="0" dirty="0"/>
              <a:t>Neden </a:t>
            </a:r>
            <a:r>
              <a:rPr lang="tr-TR" sz="1300" b="1" noProof="0" dirty="0" err="1"/>
              <a:t>BoW’dan</a:t>
            </a:r>
            <a:r>
              <a:rPr lang="tr-TR" sz="1300" b="1" noProof="0" dirty="0"/>
              <a:t> Daha İyidir? </a:t>
            </a:r>
            <a:endParaRPr lang="tr-TR" sz="1300" noProof="0" dirty="0"/>
          </a:p>
          <a:p>
            <a:pPr>
              <a:lnSpc>
                <a:spcPct val="125000"/>
              </a:lnSpc>
              <a:buNone/>
            </a:pPr>
            <a:r>
              <a:rPr lang="tr-TR" sz="1300" noProof="0" dirty="0"/>
              <a:t>  </a:t>
            </a:r>
            <a:r>
              <a:rPr lang="tr-TR" sz="1300" noProof="0" dirty="0" err="1"/>
              <a:t>BoW</a:t>
            </a:r>
            <a:r>
              <a:rPr lang="tr-TR" sz="1300" noProof="0" dirty="0"/>
              <a:t> sadece sayar; TF-IDF ise gerçekten bilgi taşıyan kelimeleri ön plana çıkarır.</a:t>
            </a:r>
          </a:p>
        </p:txBody>
      </p:sp>
      <p:sp>
        <p:nvSpPr>
          <p:cNvPr id="32" name="TextBox 31">
            <a:extLst>
              <a:ext uri="{FF2B5EF4-FFF2-40B4-BE49-F238E27FC236}">
                <a16:creationId xmlns:a16="http://schemas.microsoft.com/office/drawing/2014/main" id="{F15CEA07-DF95-460C-6231-B604B52FEDA4}"/>
              </a:ext>
            </a:extLst>
          </p:cNvPr>
          <p:cNvSpPr txBox="1"/>
          <p:nvPr/>
        </p:nvSpPr>
        <p:spPr>
          <a:xfrm>
            <a:off x="595498" y="4750080"/>
            <a:ext cx="5608982" cy="1068049"/>
          </a:xfrm>
          <a:prstGeom prst="rect">
            <a:avLst/>
          </a:prstGeom>
          <a:noFill/>
        </p:spPr>
        <p:txBody>
          <a:bodyPr wrap="square">
            <a:spAutoFit/>
          </a:bodyPr>
          <a:lstStyle/>
          <a:p>
            <a:pPr>
              <a:lnSpc>
                <a:spcPct val="125000"/>
              </a:lnSpc>
              <a:buNone/>
            </a:pPr>
            <a:r>
              <a:rPr lang="tr-TR" sz="1300" b="1" noProof="0" dirty="0"/>
              <a:t>Avantajlar (Kısa ve Güçlü)</a:t>
            </a:r>
          </a:p>
          <a:p>
            <a:pPr>
              <a:lnSpc>
                <a:spcPct val="125000"/>
              </a:lnSpc>
              <a:buNone/>
            </a:pPr>
            <a:r>
              <a:rPr lang="tr-TR" sz="1300" noProof="0" dirty="0"/>
              <a:t>• Yaygın kelimeleri baskılar, özgün kelimeleri değerli hale getirir.</a:t>
            </a:r>
            <a:br>
              <a:rPr lang="tr-TR" sz="1300" noProof="0" dirty="0"/>
            </a:br>
            <a:r>
              <a:rPr lang="tr-TR" sz="1300" noProof="0" dirty="0"/>
              <a:t>• Sınıflandırma modellerinde (LR, NB, SVM) yüksek başarı sağlar.</a:t>
            </a:r>
            <a:br>
              <a:rPr lang="tr-TR" sz="1300" noProof="0" dirty="0"/>
            </a:br>
            <a:r>
              <a:rPr lang="tr-TR" sz="1300" noProof="0" dirty="0"/>
              <a:t>• Gürültülü metinlerde öne çıkan kavramları belirlemek için idealdir.</a:t>
            </a:r>
          </a:p>
        </p:txBody>
      </p:sp>
      <p:sp>
        <p:nvSpPr>
          <p:cNvPr id="34" name="TextBox 33">
            <a:extLst>
              <a:ext uri="{FF2B5EF4-FFF2-40B4-BE49-F238E27FC236}">
                <a16:creationId xmlns:a16="http://schemas.microsoft.com/office/drawing/2014/main" id="{72D9BA8F-BAF5-38FF-BB9D-C471E7A751AD}"/>
              </a:ext>
            </a:extLst>
          </p:cNvPr>
          <p:cNvSpPr txBox="1"/>
          <p:nvPr/>
        </p:nvSpPr>
        <p:spPr>
          <a:xfrm>
            <a:off x="595498" y="5738083"/>
            <a:ext cx="4776715" cy="817981"/>
          </a:xfrm>
          <a:prstGeom prst="rect">
            <a:avLst/>
          </a:prstGeom>
          <a:noFill/>
        </p:spPr>
        <p:txBody>
          <a:bodyPr wrap="square">
            <a:spAutoFit/>
          </a:bodyPr>
          <a:lstStyle/>
          <a:p>
            <a:pPr>
              <a:lnSpc>
                <a:spcPct val="125000"/>
              </a:lnSpc>
              <a:buNone/>
            </a:pPr>
            <a:r>
              <a:rPr lang="tr-TR" sz="1300" b="1" noProof="0" dirty="0"/>
              <a:t>Sınırlılık:</a:t>
            </a:r>
          </a:p>
          <a:p>
            <a:pPr>
              <a:lnSpc>
                <a:spcPct val="125000"/>
              </a:lnSpc>
              <a:buNone/>
            </a:pPr>
            <a:r>
              <a:rPr lang="tr-TR" sz="1300" noProof="0" dirty="0"/>
              <a:t>• Kelimenin bağlamını anlamaz; yalnızca istatistiksel önem hesaplar.</a:t>
            </a:r>
          </a:p>
        </p:txBody>
      </p:sp>
      <p:graphicFrame>
        <p:nvGraphicFramePr>
          <p:cNvPr id="35" name="Table 34">
            <a:extLst>
              <a:ext uri="{FF2B5EF4-FFF2-40B4-BE49-F238E27FC236}">
                <a16:creationId xmlns:a16="http://schemas.microsoft.com/office/drawing/2014/main" id="{5CC42776-BD80-6FAA-4AAE-77AC3AAD6DB7}"/>
              </a:ext>
            </a:extLst>
          </p:cNvPr>
          <p:cNvGraphicFramePr>
            <a:graphicFrameLocks noGrp="1"/>
          </p:cNvGraphicFramePr>
          <p:nvPr>
            <p:extLst>
              <p:ext uri="{D42A27DB-BD31-4B8C-83A1-F6EECF244321}">
                <p14:modId xmlns:p14="http://schemas.microsoft.com/office/powerpoint/2010/main" val="2967164799"/>
              </p:ext>
            </p:extLst>
          </p:nvPr>
        </p:nvGraphicFramePr>
        <p:xfrm>
          <a:off x="6522989" y="3273024"/>
          <a:ext cx="4613584" cy="2954113"/>
        </p:xfrm>
        <a:graphic>
          <a:graphicData uri="http://schemas.openxmlformats.org/drawingml/2006/table">
            <a:tbl>
              <a:tblPr firstRow="1" bandRow="1">
                <a:tableStyleId>{5C22544A-7EE6-4342-B048-85BDC9FD1C3A}</a:tableStyleId>
              </a:tblPr>
              <a:tblGrid>
                <a:gridCol w="2147220">
                  <a:extLst>
                    <a:ext uri="{9D8B030D-6E8A-4147-A177-3AD203B41FA5}">
                      <a16:colId xmlns:a16="http://schemas.microsoft.com/office/drawing/2014/main" val="2614137204"/>
                    </a:ext>
                  </a:extLst>
                </a:gridCol>
                <a:gridCol w="2466364">
                  <a:extLst>
                    <a:ext uri="{9D8B030D-6E8A-4147-A177-3AD203B41FA5}">
                      <a16:colId xmlns:a16="http://schemas.microsoft.com/office/drawing/2014/main" val="2345076979"/>
                    </a:ext>
                  </a:extLst>
                </a:gridCol>
              </a:tblGrid>
              <a:tr h="258977">
                <a:tc>
                  <a:txBody>
                    <a:bodyPr/>
                    <a:lstStyle/>
                    <a:p>
                      <a:pPr>
                        <a:buNone/>
                      </a:pPr>
                      <a:r>
                        <a:rPr lang="en-US" sz="1300" dirty="0" err="1"/>
                        <a:t>Türkçe</a:t>
                      </a:r>
                      <a:r>
                        <a:rPr lang="en-US" sz="1300" dirty="0"/>
                        <a:t> Terim</a:t>
                      </a:r>
                    </a:p>
                  </a:txBody>
                  <a:tcPr anchor="ctr"/>
                </a:tc>
                <a:tc>
                  <a:txBody>
                    <a:bodyPr/>
                    <a:lstStyle/>
                    <a:p>
                      <a:pPr>
                        <a:buNone/>
                      </a:pPr>
                      <a:r>
                        <a:rPr lang="en-US" sz="1300" dirty="0" err="1"/>
                        <a:t>İngilizce</a:t>
                      </a:r>
                      <a:r>
                        <a:rPr lang="en-US" sz="1300" dirty="0"/>
                        <a:t> Terim</a:t>
                      </a:r>
                    </a:p>
                  </a:txBody>
                  <a:tcPr anchor="ctr"/>
                </a:tc>
                <a:extLst>
                  <a:ext uri="{0D108BD9-81ED-4DB2-BD59-A6C34878D82A}">
                    <a16:rowId xmlns:a16="http://schemas.microsoft.com/office/drawing/2014/main" val="4249370218"/>
                  </a:ext>
                </a:extLst>
              </a:tr>
              <a:tr h="351627">
                <a:tc>
                  <a:txBody>
                    <a:bodyPr/>
                    <a:lstStyle/>
                    <a:p>
                      <a:pPr>
                        <a:buNone/>
                      </a:pPr>
                      <a:r>
                        <a:rPr lang="en-US" sz="1300"/>
                        <a:t>Terim Frekansı (TF)</a:t>
                      </a:r>
                    </a:p>
                  </a:txBody>
                  <a:tcPr anchor="ctr"/>
                </a:tc>
                <a:tc>
                  <a:txBody>
                    <a:bodyPr/>
                    <a:lstStyle/>
                    <a:p>
                      <a:pPr>
                        <a:buNone/>
                      </a:pPr>
                      <a:r>
                        <a:rPr lang="en-US" sz="1300" dirty="0"/>
                        <a:t>Term Frequency</a:t>
                      </a:r>
                    </a:p>
                  </a:txBody>
                  <a:tcPr anchor="ctr"/>
                </a:tc>
                <a:extLst>
                  <a:ext uri="{0D108BD9-81ED-4DB2-BD59-A6C34878D82A}">
                    <a16:rowId xmlns:a16="http://schemas.microsoft.com/office/drawing/2014/main" val="4171118039"/>
                  </a:ext>
                </a:extLst>
              </a:tr>
              <a:tr h="453209">
                <a:tc>
                  <a:txBody>
                    <a:bodyPr/>
                    <a:lstStyle/>
                    <a:p>
                      <a:pPr>
                        <a:buNone/>
                      </a:pPr>
                      <a:r>
                        <a:rPr lang="en-US" sz="1300" dirty="0" err="1"/>
                        <a:t>Ters</a:t>
                      </a:r>
                      <a:r>
                        <a:rPr lang="en-US" sz="1300" dirty="0"/>
                        <a:t> Belge </a:t>
                      </a:r>
                      <a:r>
                        <a:rPr lang="en-US" sz="1300" dirty="0" err="1"/>
                        <a:t>Frekansı</a:t>
                      </a:r>
                      <a:r>
                        <a:rPr lang="en-US" sz="1300" dirty="0"/>
                        <a:t> (IDF)</a:t>
                      </a:r>
                    </a:p>
                  </a:txBody>
                  <a:tcPr anchor="ctr"/>
                </a:tc>
                <a:tc>
                  <a:txBody>
                    <a:bodyPr/>
                    <a:lstStyle/>
                    <a:p>
                      <a:pPr>
                        <a:buNone/>
                      </a:pPr>
                      <a:r>
                        <a:rPr lang="en-US" sz="1300" dirty="0"/>
                        <a:t>Inverse Document Frequency</a:t>
                      </a:r>
                    </a:p>
                  </a:txBody>
                  <a:tcPr anchor="ctr"/>
                </a:tc>
                <a:extLst>
                  <a:ext uri="{0D108BD9-81ED-4DB2-BD59-A6C34878D82A}">
                    <a16:rowId xmlns:a16="http://schemas.microsoft.com/office/drawing/2014/main" val="229767093"/>
                  </a:ext>
                </a:extLst>
              </a:tr>
              <a:tr h="351627">
                <a:tc>
                  <a:txBody>
                    <a:bodyPr/>
                    <a:lstStyle/>
                    <a:p>
                      <a:pPr>
                        <a:buNone/>
                      </a:pPr>
                      <a:r>
                        <a:rPr lang="en-US" sz="1300" dirty="0"/>
                        <a:t>TF-IDF </a:t>
                      </a:r>
                      <a:r>
                        <a:rPr lang="en-US" sz="1300" dirty="0" err="1"/>
                        <a:t>Ağırlıklandırma</a:t>
                      </a:r>
                      <a:endParaRPr lang="en-US" sz="1300" dirty="0"/>
                    </a:p>
                  </a:txBody>
                  <a:tcPr anchor="ctr"/>
                </a:tc>
                <a:tc>
                  <a:txBody>
                    <a:bodyPr/>
                    <a:lstStyle/>
                    <a:p>
                      <a:pPr>
                        <a:buNone/>
                      </a:pPr>
                      <a:r>
                        <a:rPr lang="en-US" sz="1300" dirty="0"/>
                        <a:t>TF-IDF Weighting</a:t>
                      </a:r>
                    </a:p>
                  </a:txBody>
                  <a:tcPr anchor="ctr"/>
                </a:tc>
                <a:extLst>
                  <a:ext uri="{0D108BD9-81ED-4DB2-BD59-A6C34878D82A}">
                    <a16:rowId xmlns:a16="http://schemas.microsoft.com/office/drawing/2014/main" val="710472372"/>
                  </a:ext>
                </a:extLst>
              </a:tr>
              <a:tr h="351627">
                <a:tc>
                  <a:txBody>
                    <a:bodyPr/>
                    <a:lstStyle/>
                    <a:p>
                      <a:pPr>
                        <a:buNone/>
                      </a:pPr>
                      <a:r>
                        <a:rPr lang="en-US" sz="1300"/>
                        <a:t>Kelime Önem Skoru</a:t>
                      </a:r>
                    </a:p>
                  </a:txBody>
                  <a:tcPr anchor="ctr"/>
                </a:tc>
                <a:tc>
                  <a:txBody>
                    <a:bodyPr/>
                    <a:lstStyle/>
                    <a:p>
                      <a:pPr>
                        <a:buNone/>
                      </a:pPr>
                      <a:r>
                        <a:rPr lang="en-US" sz="1300" dirty="0"/>
                        <a:t>Word Importance Score</a:t>
                      </a:r>
                    </a:p>
                  </a:txBody>
                  <a:tcPr anchor="ctr"/>
                </a:tc>
                <a:extLst>
                  <a:ext uri="{0D108BD9-81ED-4DB2-BD59-A6C34878D82A}">
                    <a16:rowId xmlns:a16="http://schemas.microsoft.com/office/drawing/2014/main" val="987887397"/>
                  </a:ext>
                </a:extLst>
              </a:tr>
              <a:tr h="351627">
                <a:tc>
                  <a:txBody>
                    <a:bodyPr/>
                    <a:lstStyle/>
                    <a:p>
                      <a:pPr>
                        <a:buNone/>
                      </a:pPr>
                      <a:r>
                        <a:rPr lang="en-US" sz="1300"/>
                        <a:t>Belge Frekansı</a:t>
                      </a:r>
                    </a:p>
                  </a:txBody>
                  <a:tcPr anchor="ctr"/>
                </a:tc>
                <a:tc>
                  <a:txBody>
                    <a:bodyPr/>
                    <a:lstStyle/>
                    <a:p>
                      <a:pPr>
                        <a:buNone/>
                      </a:pPr>
                      <a:r>
                        <a:rPr lang="en-US" sz="1300" dirty="0"/>
                        <a:t>Document Frequency</a:t>
                      </a:r>
                    </a:p>
                  </a:txBody>
                  <a:tcPr anchor="ctr"/>
                </a:tc>
                <a:extLst>
                  <a:ext uri="{0D108BD9-81ED-4DB2-BD59-A6C34878D82A}">
                    <a16:rowId xmlns:a16="http://schemas.microsoft.com/office/drawing/2014/main" val="193569656"/>
                  </a:ext>
                </a:extLst>
              </a:tr>
              <a:tr h="351627">
                <a:tc>
                  <a:txBody>
                    <a:bodyPr/>
                    <a:lstStyle/>
                    <a:p>
                      <a:pPr>
                        <a:buNone/>
                      </a:pPr>
                      <a:r>
                        <a:rPr lang="en-US" sz="1300"/>
                        <a:t>Nadir Kelime Ağırlığı</a:t>
                      </a:r>
                    </a:p>
                  </a:txBody>
                  <a:tcPr anchor="ctr"/>
                </a:tc>
                <a:tc>
                  <a:txBody>
                    <a:bodyPr/>
                    <a:lstStyle/>
                    <a:p>
                      <a:pPr>
                        <a:buNone/>
                      </a:pPr>
                      <a:r>
                        <a:rPr lang="en-US" sz="1300" dirty="0"/>
                        <a:t>Rare Term Weighting</a:t>
                      </a:r>
                    </a:p>
                  </a:txBody>
                  <a:tcPr anchor="ctr"/>
                </a:tc>
                <a:extLst>
                  <a:ext uri="{0D108BD9-81ED-4DB2-BD59-A6C34878D82A}">
                    <a16:rowId xmlns:a16="http://schemas.microsoft.com/office/drawing/2014/main" val="2122666662"/>
                  </a:ext>
                </a:extLst>
              </a:tr>
              <a:tr h="453209">
                <a:tc>
                  <a:txBody>
                    <a:bodyPr/>
                    <a:lstStyle/>
                    <a:p>
                      <a:pPr>
                        <a:buNone/>
                      </a:pPr>
                      <a:r>
                        <a:rPr lang="en-US" sz="1300"/>
                        <a:t>Sık Kelime Baskılama</a:t>
                      </a:r>
                    </a:p>
                  </a:txBody>
                  <a:tcPr anchor="ctr"/>
                </a:tc>
                <a:tc>
                  <a:txBody>
                    <a:bodyPr/>
                    <a:lstStyle/>
                    <a:p>
                      <a:pPr>
                        <a:buNone/>
                      </a:pPr>
                      <a:r>
                        <a:rPr lang="en-US" sz="1300" dirty="0"/>
                        <a:t>Frequent Term </a:t>
                      </a:r>
                      <a:r>
                        <a:rPr lang="en-US" sz="1300" dirty="0" err="1"/>
                        <a:t>Downweighting</a:t>
                      </a:r>
                      <a:endParaRPr lang="en-US" sz="1300" dirty="0"/>
                    </a:p>
                  </a:txBody>
                  <a:tcPr anchor="ctr"/>
                </a:tc>
                <a:extLst>
                  <a:ext uri="{0D108BD9-81ED-4DB2-BD59-A6C34878D82A}">
                    <a16:rowId xmlns:a16="http://schemas.microsoft.com/office/drawing/2014/main" val="859988313"/>
                  </a:ext>
                </a:extLst>
              </a:tr>
            </a:tbl>
          </a:graphicData>
        </a:graphic>
      </p:graphicFrame>
      <p:sp>
        <p:nvSpPr>
          <p:cNvPr id="36" name="TextBox 35">
            <a:extLst>
              <a:ext uri="{FF2B5EF4-FFF2-40B4-BE49-F238E27FC236}">
                <a16:creationId xmlns:a16="http://schemas.microsoft.com/office/drawing/2014/main" id="{0FA5FD6F-37E9-E802-73D0-5057139C4A1D}"/>
              </a:ext>
            </a:extLst>
          </p:cNvPr>
          <p:cNvSpPr txBox="1"/>
          <p:nvPr/>
        </p:nvSpPr>
        <p:spPr>
          <a:xfrm>
            <a:off x="6522989" y="6236441"/>
            <a:ext cx="4613583" cy="283482"/>
          </a:xfrm>
          <a:prstGeom prst="rect">
            <a:avLst/>
          </a:prstGeom>
          <a:noFill/>
        </p:spPr>
        <p:txBody>
          <a:bodyPr wrap="square">
            <a:spAutoFit/>
          </a:bodyPr>
          <a:lstStyle/>
          <a:p>
            <a:pPr algn="ctr">
              <a:lnSpc>
                <a:spcPct val="125000"/>
              </a:lnSpc>
            </a:pPr>
            <a:r>
              <a:rPr lang="tr-TR" sz="1100" noProof="0" dirty="0"/>
              <a:t>Terimlerin Türkçe–İngilizce karşılıkları</a:t>
            </a:r>
          </a:p>
        </p:txBody>
      </p:sp>
      <p:sp>
        <p:nvSpPr>
          <p:cNvPr id="3" name="TextBox 2">
            <a:extLst>
              <a:ext uri="{FF2B5EF4-FFF2-40B4-BE49-F238E27FC236}">
                <a16:creationId xmlns:a16="http://schemas.microsoft.com/office/drawing/2014/main" id="{444C07A0-657D-1FB8-6C02-0B9926BCF24A}"/>
              </a:ext>
            </a:extLst>
          </p:cNvPr>
          <p:cNvSpPr txBox="1"/>
          <p:nvPr/>
        </p:nvSpPr>
        <p:spPr>
          <a:xfrm>
            <a:off x="0" y="710926"/>
            <a:ext cx="12192000" cy="523220"/>
          </a:xfrm>
          <a:prstGeom prst="rect">
            <a:avLst/>
          </a:prstGeom>
          <a:noFill/>
        </p:spPr>
        <p:txBody>
          <a:bodyPr wrap="square">
            <a:spAutoFit/>
          </a:bodyPr>
          <a:lstStyle/>
          <a:p>
            <a:pPr algn="ctr"/>
            <a:r>
              <a:rPr lang="tr-TR" sz="2800" noProof="0" dirty="0"/>
              <a:t>TF-IDF Nedir?</a:t>
            </a:r>
            <a:endParaRPr lang="tr-TR" sz="2800" dirty="0"/>
          </a:p>
        </p:txBody>
      </p:sp>
      <p:sp>
        <p:nvSpPr>
          <p:cNvPr id="6" name="TextBox 5">
            <a:extLst>
              <a:ext uri="{FF2B5EF4-FFF2-40B4-BE49-F238E27FC236}">
                <a16:creationId xmlns:a16="http://schemas.microsoft.com/office/drawing/2014/main" id="{1C334C66-A275-115D-E184-27B0DE35D5EA}"/>
              </a:ext>
            </a:extLst>
          </p:cNvPr>
          <p:cNvSpPr txBox="1"/>
          <p:nvPr/>
        </p:nvSpPr>
        <p:spPr>
          <a:xfrm>
            <a:off x="6522989" y="2949859"/>
            <a:ext cx="4613582" cy="323165"/>
          </a:xfrm>
          <a:prstGeom prst="rect">
            <a:avLst/>
          </a:prstGeom>
          <a:noFill/>
        </p:spPr>
        <p:txBody>
          <a:bodyPr wrap="square">
            <a:spAutoFit/>
          </a:bodyPr>
          <a:lstStyle/>
          <a:p>
            <a:pPr algn="ctr"/>
            <a:r>
              <a:rPr lang="tr-TR" sz="1500" noProof="0" dirty="0"/>
              <a:t>TF-IDF Ait Terimler</a:t>
            </a:r>
            <a:endParaRPr lang="tr-TR" sz="1500" dirty="0"/>
          </a:p>
        </p:txBody>
      </p:sp>
    </p:spTree>
    <p:extLst>
      <p:ext uri="{BB962C8B-B14F-4D97-AF65-F5344CB8AC3E}">
        <p14:creationId xmlns:p14="http://schemas.microsoft.com/office/powerpoint/2010/main" val="2248394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300640-15CE-E6AF-CC22-1B55FF391E4E}"/>
              </a:ext>
            </a:extLst>
          </p:cNvPr>
          <p:cNvSpPr txBox="1"/>
          <p:nvPr/>
        </p:nvSpPr>
        <p:spPr>
          <a:xfrm>
            <a:off x="1" y="446543"/>
            <a:ext cx="12191999" cy="523220"/>
          </a:xfrm>
          <a:prstGeom prst="rect">
            <a:avLst/>
          </a:prstGeom>
          <a:noFill/>
        </p:spPr>
        <p:txBody>
          <a:bodyPr wrap="square">
            <a:spAutoFit/>
          </a:bodyPr>
          <a:lstStyle/>
          <a:p>
            <a:pPr algn="ctr"/>
            <a:r>
              <a:rPr lang="en-US" sz="2800" dirty="0"/>
              <a:t>N-Grams Nedir?</a:t>
            </a:r>
            <a:endParaRPr lang="tr-TR" sz="2800" dirty="0"/>
          </a:p>
        </p:txBody>
      </p:sp>
      <p:sp>
        <p:nvSpPr>
          <p:cNvPr id="5" name="TextBox 4">
            <a:extLst>
              <a:ext uri="{FF2B5EF4-FFF2-40B4-BE49-F238E27FC236}">
                <a16:creationId xmlns:a16="http://schemas.microsoft.com/office/drawing/2014/main" id="{ADD2B974-A446-7CCB-B0D0-6911332D0294}"/>
              </a:ext>
            </a:extLst>
          </p:cNvPr>
          <p:cNvSpPr txBox="1"/>
          <p:nvPr/>
        </p:nvSpPr>
        <p:spPr>
          <a:xfrm>
            <a:off x="695608" y="1476412"/>
            <a:ext cx="3828626" cy="1818255"/>
          </a:xfrm>
          <a:prstGeom prst="rect">
            <a:avLst/>
          </a:prstGeom>
          <a:noFill/>
        </p:spPr>
        <p:txBody>
          <a:bodyPr wrap="square">
            <a:spAutoFit/>
          </a:bodyPr>
          <a:lstStyle/>
          <a:p>
            <a:pPr>
              <a:lnSpc>
                <a:spcPct val="125000"/>
              </a:lnSpc>
              <a:buFont typeface="Arial" panose="020B0604020202020204" pitchFamily="34" charset="0"/>
              <a:buChar char="•"/>
            </a:pPr>
            <a:r>
              <a:rPr lang="tr-TR" sz="1300" noProof="0" dirty="0"/>
              <a:t>N-gram, metindeki kelimelerin </a:t>
            </a:r>
            <a:r>
              <a:rPr lang="tr-TR" sz="1300" b="1" noProof="0" dirty="0"/>
              <a:t>ikili (</a:t>
            </a:r>
            <a:r>
              <a:rPr lang="tr-TR" sz="1300" b="1" noProof="0" dirty="0" err="1"/>
              <a:t>bi</a:t>
            </a:r>
            <a:r>
              <a:rPr lang="tr-TR" sz="1300" b="1" noProof="0" dirty="0"/>
              <a:t>-gram), üçlü (</a:t>
            </a:r>
            <a:r>
              <a:rPr lang="tr-TR" sz="1300" b="1" noProof="0" dirty="0" err="1"/>
              <a:t>tri</a:t>
            </a:r>
            <a:r>
              <a:rPr lang="tr-TR" sz="1300" b="1" noProof="0" dirty="0"/>
              <a:t>-gram)</a:t>
            </a:r>
            <a:r>
              <a:rPr lang="tr-TR" sz="1300" noProof="0" dirty="0"/>
              <a:t> gibi ardışık gruplar hâlinde temsil edilmesidir.</a:t>
            </a:r>
          </a:p>
          <a:p>
            <a:pPr>
              <a:lnSpc>
                <a:spcPct val="125000"/>
              </a:lnSpc>
              <a:buFont typeface="Arial" panose="020B0604020202020204" pitchFamily="34" charset="0"/>
              <a:buChar char="•"/>
            </a:pPr>
            <a:r>
              <a:rPr lang="tr-TR" sz="1300" noProof="0" dirty="0"/>
              <a:t>Tek tek kelimeler yerine </a:t>
            </a:r>
            <a:r>
              <a:rPr lang="tr-TR" sz="1300" b="1" noProof="0" dirty="0"/>
              <a:t>birlikte kullanılan kelime örüntülerini</a:t>
            </a:r>
            <a:r>
              <a:rPr lang="tr-TR" sz="1300" noProof="0" dirty="0"/>
              <a:t> yakalamayı amaçlar.</a:t>
            </a:r>
          </a:p>
          <a:p>
            <a:pPr>
              <a:lnSpc>
                <a:spcPct val="125000"/>
              </a:lnSpc>
              <a:buFont typeface="Arial" panose="020B0604020202020204" pitchFamily="34" charset="0"/>
              <a:buChar char="•"/>
            </a:pPr>
            <a:r>
              <a:rPr lang="tr-TR" sz="1300" noProof="0" dirty="0"/>
              <a:t>Böylece kelime sırasından kaynaklanan </a:t>
            </a:r>
            <a:r>
              <a:rPr lang="tr-TR" sz="1300" b="1" noProof="0" dirty="0"/>
              <a:t>basit bağlam bilgisi</a:t>
            </a:r>
            <a:r>
              <a:rPr lang="tr-TR" sz="1300" noProof="0" dirty="0"/>
              <a:t> korunur.</a:t>
            </a:r>
          </a:p>
        </p:txBody>
      </p:sp>
      <p:sp>
        <p:nvSpPr>
          <p:cNvPr id="7" name="TextBox 6">
            <a:extLst>
              <a:ext uri="{FF2B5EF4-FFF2-40B4-BE49-F238E27FC236}">
                <a16:creationId xmlns:a16="http://schemas.microsoft.com/office/drawing/2014/main" id="{0E4A3364-2A1C-F71B-8318-E9C95A1355C0}"/>
              </a:ext>
            </a:extLst>
          </p:cNvPr>
          <p:cNvSpPr txBox="1"/>
          <p:nvPr/>
        </p:nvSpPr>
        <p:spPr>
          <a:xfrm>
            <a:off x="642725" y="3225025"/>
            <a:ext cx="4413772" cy="1818255"/>
          </a:xfrm>
          <a:prstGeom prst="rect">
            <a:avLst/>
          </a:prstGeom>
          <a:noFill/>
        </p:spPr>
        <p:txBody>
          <a:bodyPr wrap="square">
            <a:spAutoFit/>
          </a:bodyPr>
          <a:lstStyle/>
          <a:p>
            <a:pPr>
              <a:lnSpc>
                <a:spcPct val="125000"/>
              </a:lnSpc>
              <a:buNone/>
            </a:pPr>
            <a:r>
              <a:rPr lang="tr-TR" sz="1300" b="1" noProof="0" dirty="0"/>
              <a:t>Neden Kullanılır?</a:t>
            </a:r>
          </a:p>
          <a:p>
            <a:pPr>
              <a:lnSpc>
                <a:spcPct val="125000"/>
              </a:lnSpc>
              <a:buFont typeface="Arial" panose="020B0604020202020204" pitchFamily="34" charset="0"/>
              <a:buChar char="•"/>
            </a:pPr>
            <a:r>
              <a:rPr lang="tr-TR" sz="1300" noProof="0" dirty="0"/>
              <a:t>Tek kelimeli temsilin (</a:t>
            </a:r>
            <a:r>
              <a:rPr lang="tr-TR" sz="1300" noProof="0" dirty="0" err="1"/>
              <a:t>BoW</a:t>
            </a:r>
            <a:r>
              <a:rPr lang="tr-TR" sz="1300" noProof="0" dirty="0"/>
              <a:t>, TF-IDF) kaçırdığı anlam ilişkilerini yakalar</a:t>
            </a:r>
          </a:p>
          <a:p>
            <a:pPr>
              <a:lnSpc>
                <a:spcPct val="125000"/>
              </a:lnSpc>
              <a:buFont typeface="Arial" panose="020B0604020202020204" pitchFamily="34" charset="0"/>
              <a:buChar char="•"/>
            </a:pPr>
            <a:r>
              <a:rPr lang="tr-TR" sz="1300" noProof="0" dirty="0"/>
              <a:t>Özellikle duygu analizi gibi görevlerde:</a:t>
            </a:r>
          </a:p>
          <a:p>
            <a:pPr marL="742950" lvl="1" indent="-285750">
              <a:lnSpc>
                <a:spcPct val="125000"/>
              </a:lnSpc>
              <a:buFont typeface="Arial" panose="020B0604020202020204" pitchFamily="34" charset="0"/>
              <a:buChar char="•"/>
            </a:pPr>
            <a:r>
              <a:rPr lang="tr-TR" sz="1300" noProof="0" dirty="0"/>
              <a:t>“çok iyi”</a:t>
            </a:r>
          </a:p>
          <a:p>
            <a:pPr marL="742950" lvl="1" indent="-285750">
              <a:lnSpc>
                <a:spcPct val="125000"/>
              </a:lnSpc>
              <a:buFont typeface="Arial" panose="020B0604020202020204" pitchFamily="34" charset="0"/>
              <a:buChar char="•"/>
            </a:pPr>
            <a:r>
              <a:rPr lang="tr-TR" sz="1300" noProof="0" dirty="0"/>
              <a:t>“hiç beğenmedim” </a:t>
            </a:r>
            <a:br>
              <a:rPr lang="tr-TR" sz="1300" noProof="0" dirty="0"/>
            </a:br>
            <a:r>
              <a:rPr lang="tr-TR" sz="1300" noProof="0" dirty="0"/>
              <a:t>gibi ifadelerin birlikte değerlendirilmesini sağlar</a:t>
            </a:r>
          </a:p>
        </p:txBody>
      </p:sp>
      <p:sp>
        <p:nvSpPr>
          <p:cNvPr id="9" name="TextBox 8">
            <a:extLst>
              <a:ext uri="{FF2B5EF4-FFF2-40B4-BE49-F238E27FC236}">
                <a16:creationId xmlns:a16="http://schemas.microsoft.com/office/drawing/2014/main" id="{B59CCAE6-36FB-9974-AE81-AE215A5C000A}"/>
              </a:ext>
            </a:extLst>
          </p:cNvPr>
          <p:cNvSpPr txBox="1"/>
          <p:nvPr/>
        </p:nvSpPr>
        <p:spPr>
          <a:xfrm>
            <a:off x="4722124" y="1370014"/>
            <a:ext cx="2751726" cy="1318118"/>
          </a:xfrm>
          <a:prstGeom prst="rect">
            <a:avLst/>
          </a:prstGeom>
          <a:noFill/>
        </p:spPr>
        <p:txBody>
          <a:bodyPr wrap="square">
            <a:spAutoFit/>
          </a:bodyPr>
          <a:lstStyle/>
          <a:p>
            <a:pPr>
              <a:lnSpc>
                <a:spcPct val="125000"/>
              </a:lnSpc>
              <a:buNone/>
            </a:pPr>
            <a:r>
              <a:rPr lang="tr-TR" sz="1300" b="1" noProof="0" dirty="0"/>
              <a:t>Kısa Örnek</a:t>
            </a:r>
          </a:p>
          <a:p>
            <a:pPr>
              <a:lnSpc>
                <a:spcPct val="125000"/>
              </a:lnSpc>
              <a:buNone/>
            </a:pPr>
            <a:r>
              <a:rPr lang="tr-TR" sz="1300" noProof="0" dirty="0"/>
              <a:t>Metin:</a:t>
            </a:r>
          </a:p>
          <a:p>
            <a:pPr>
              <a:lnSpc>
                <a:spcPct val="125000"/>
              </a:lnSpc>
              <a:buNone/>
            </a:pPr>
            <a:r>
              <a:rPr lang="tr-TR" sz="1300" noProof="0" dirty="0"/>
              <a:t>“Bu ürün çok iyi”</a:t>
            </a:r>
          </a:p>
          <a:p>
            <a:pPr>
              <a:lnSpc>
                <a:spcPct val="125000"/>
              </a:lnSpc>
              <a:buFont typeface="Arial" panose="020B0604020202020204" pitchFamily="34" charset="0"/>
              <a:buChar char="•"/>
            </a:pPr>
            <a:r>
              <a:rPr lang="tr-TR" sz="1300" noProof="0" dirty="0"/>
              <a:t>1-gram: bu, ürün, çok, iyi</a:t>
            </a:r>
          </a:p>
          <a:p>
            <a:pPr>
              <a:lnSpc>
                <a:spcPct val="125000"/>
              </a:lnSpc>
              <a:buFont typeface="Arial" panose="020B0604020202020204" pitchFamily="34" charset="0"/>
              <a:buChar char="•"/>
            </a:pPr>
            <a:r>
              <a:rPr lang="tr-TR" sz="1300" noProof="0" dirty="0"/>
              <a:t>2-gram: bu ürün, ürün çok, çok iyi</a:t>
            </a:r>
          </a:p>
        </p:txBody>
      </p:sp>
      <p:sp>
        <p:nvSpPr>
          <p:cNvPr id="11" name="TextBox 10">
            <a:extLst>
              <a:ext uri="{FF2B5EF4-FFF2-40B4-BE49-F238E27FC236}">
                <a16:creationId xmlns:a16="http://schemas.microsoft.com/office/drawing/2014/main" id="{E4AB1CA1-C081-DFBB-921C-195E82B19F8E}"/>
              </a:ext>
            </a:extLst>
          </p:cNvPr>
          <p:cNvSpPr txBox="1"/>
          <p:nvPr/>
        </p:nvSpPr>
        <p:spPr>
          <a:xfrm>
            <a:off x="7806842" y="1110843"/>
            <a:ext cx="3742434" cy="2068323"/>
          </a:xfrm>
          <a:prstGeom prst="rect">
            <a:avLst/>
          </a:prstGeom>
          <a:noFill/>
        </p:spPr>
        <p:txBody>
          <a:bodyPr wrap="square">
            <a:spAutoFit/>
          </a:bodyPr>
          <a:lstStyle/>
          <a:p>
            <a:pPr>
              <a:lnSpc>
                <a:spcPct val="125000"/>
              </a:lnSpc>
              <a:buNone/>
            </a:pPr>
            <a:r>
              <a:rPr lang="tr-TR" sz="1300" b="1" noProof="0" dirty="0"/>
              <a:t>Not (çok önemli – senin savunman için):</a:t>
            </a:r>
          </a:p>
          <a:p>
            <a:pPr>
              <a:lnSpc>
                <a:spcPct val="125000"/>
              </a:lnSpc>
              <a:buFont typeface="Arial" panose="020B0604020202020204" pitchFamily="34" charset="0"/>
              <a:buChar char="•"/>
            </a:pPr>
            <a:r>
              <a:rPr lang="tr-TR" sz="1300" noProof="0" dirty="0"/>
              <a:t>N-gramlar genellikle </a:t>
            </a:r>
            <a:r>
              <a:rPr lang="tr-TR" sz="1300" b="1" noProof="0" dirty="0"/>
              <a:t>TF-IDF ile birlikte</a:t>
            </a:r>
            <a:r>
              <a:rPr lang="tr-TR" sz="1300" noProof="0" dirty="0"/>
              <a:t> kullanılır</a:t>
            </a:r>
          </a:p>
          <a:p>
            <a:pPr>
              <a:lnSpc>
                <a:spcPct val="125000"/>
              </a:lnSpc>
              <a:buFont typeface="Arial" panose="020B0604020202020204" pitchFamily="34" charset="0"/>
              <a:buChar char="•"/>
            </a:pPr>
            <a:r>
              <a:rPr lang="tr-TR" sz="1300" noProof="0" dirty="0"/>
              <a:t>Ancak n değeri arttıkça:</a:t>
            </a:r>
          </a:p>
          <a:p>
            <a:pPr marL="742950" lvl="1" indent="-285750">
              <a:lnSpc>
                <a:spcPct val="125000"/>
              </a:lnSpc>
              <a:buFont typeface="Arial" panose="020B0604020202020204" pitchFamily="34" charset="0"/>
              <a:buChar char="•"/>
            </a:pPr>
            <a:r>
              <a:rPr lang="tr-TR" sz="1300" noProof="0" dirty="0"/>
              <a:t>Veri boyutu büyür</a:t>
            </a:r>
          </a:p>
          <a:p>
            <a:pPr marL="742950" lvl="1" indent="-285750">
              <a:lnSpc>
                <a:spcPct val="125000"/>
              </a:lnSpc>
              <a:buFont typeface="Arial" panose="020B0604020202020204" pitchFamily="34" charset="0"/>
              <a:buChar char="•"/>
            </a:pPr>
            <a:r>
              <a:rPr lang="tr-TR" sz="1300" noProof="0" dirty="0"/>
              <a:t>Hesaplama maliyeti artar</a:t>
            </a:r>
          </a:p>
          <a:p>
            <a:pPr>
              <a:lnSpc>
                <a:spcPct val="125000"/>
              </a:lnSpc>
              <a:buNone/>
            </a:pPr>
            <a:r>
              <a:rPr lang="tr-TR" sz="1300" noProof="0" dirty="0"/>
              <a:t>Bu nedenle çalışmalarda </a:t>
            </a:r>
            <a:r>
              <a:rPr lang="tr-TR" sz="1300" b="1" noProof="0" dirty="0"/>
              <a:t>sınırlı ve kontrollü</a:t>
            </a:r>
            <a:r>
              <a:rPr lang="tr-TR" sz="1300" noProof="0" dirty="0"/>
              <a:t> kullanılır.</a:t>
            </a:r>
          </a:p>
        </p:txBody>
      </p:sp>
      <p:graphicFrame>
        <p:nvGraphicFramePr>
          <p:cNvPr id="15" name="Table 14">
            <a:extLst>
              <a:ext uri="{FF2B5EF4-FFF2-40B4-BE49-F238E27FC236}">
                <a16:creationId xmlns:a16="http://schemas.microsoft.com/office/drawing/2014/main" id="{8213E348-86C7-139C-485D-4311B49C2CBB}"/>
              </a:ext>
            </a:extLst>
          </p:cNvPr>
          <p:cNvGraphicFramePr>
            <a:graphicFrameLocks noGrp="1"/>
          </p:cNvGraphicFramePr>
          <p:nvPr>
            <p:extLst>
              <p:ext uri="{D42A27DB-BD31-4B8C-83A1-F6EECF244321}">
                <p14:modId xmlns:p14="http://schemas.microsoft.com/office/powerpoint/2010/main" val="52290960"/>
              </p:ext>
            </p:extLst>
          </p:nvPr>
        </p:nvGraphicFramePr>
        <p:xfrm>
          <a:off x="7649287" y="3429000"/>
          <a:ext cx="3845074" cy="2584968"/>
        </p:xfrm>
        <a:graphic>
          <a:graphicData uri="http://schemas.openxmlformats.org/drawingml/2006/table">
            <a:tbl>
              <a:tblPr firstRow="1" bandRow="1">
                <a:tableStyleId>{5C22544A-7EE6-4342-B048-85BDC9FD1C3A}</a:tableStyleId>
              </a:tblPr>
              <a:tblGrid>
                <a:gridCol w="1922537">
                  <a:extLst>
                    <a:ext uri="{9D8B030D-6E8A-4147-A177-3AD203B41FA5}">
                      <a16:colId xmlns:a16="http://schemas.microsoft.com/office/drawing/2014/main" val="2177377237"/>
                    </a:ext>
                  </a:extLst>
                </a:gridCol>
                <a:gridCol w="1922537">
                  <a:extLst>
                    <a:ext uri="{9D8B030D-6E8A-4147-A177-3AD203B41FA5}">
                      <a16:colId xmlns:a16="http://schemas.microsoft.com/office/drawing/2014/main" val="1706996385"/>
                    </a:ext>
                  </a:extLst>
                </a:gridCol>
              </a:tblGrid>
              <a:tr h="292736">
                <a:tc>
                  <a:txBody>
                    <a:bodyPr/>
                    <a:lstStyle/>
                    <a:p>
                      <a:pPr algn="ctr">
                        <a:buNone/>
                      </a:pPr>
                      <a:r>
                        <a:rPr lang="tr-TR" sz="1300" noProof="0" dirty="0"/>
                        <a:t>Türkçe Terim</a:t>
                      </a:r>
                    </a:p>
                  </a:txBody>
                  <a:tcPr anchor="ctr"/>
                </a:tc>
                <a:tc>
                  <a:txBody>
                    <a:bodyPr/>
                    <a:lstStyle/>
                    <a:p>
                      <a:pPr algn="ctr">
                        <a:buNone/>
                      </a:pPr>
                      <a:r>
                        <a:rPr lang="tr-TR" sz="1300" noProof="0" dirty="0"/>
                        <a:t>İngilizce Terim</a:t>
                      </a:r>
                    </a:p>
                  </a:txBody>
                  <a:tcPr anchor="ctr"/>
                </a:tc>
                <a:extLst>
                  <a:ext uri="{0D108BD9-81ED-4DB2-BD59-A6C34878D82A}">
                    <a16:rowId xmlns:a16="http://schemas.microsoft.com/office/drawing/2014/main" val="2059557462"/>
                  </a:ext>
                </a:extLst>
              </a:tr>
              <a:tr h="292736">
                <a:tc>
                  <a:txBody>
                    <a:bodyPr/>
                    <a:lstStyle/>
                    <a:p>
                      <a:pPr algn="ctr">
                        <a:buNone/>
                      </a:pPr>
                      <a:r>
                        <a:rPr lang="tr-TR" sz="1300" noProof="0" dirty="0"/>
                        <a:t>Kelime Dizileri</a:t>
                      </a:r>
                    </a:p>
                  </a:txBody>
                  <a:tcPr anchor="ctr"/>
                </a:tc>
                <a:tc>
                  <a:txBody>
                    <a:bodyPr/>
                    <a:lstStyle/>
                    <a:p>
                      <a:pPr algn="ctr">
                        <a:buNone/>
                      </a:pPr>
                      <a:r>
                        <a:rPr lang="tr-TR" sz="1300" noProof="0" dirty="0"/>
                        <a:t>N-</a:t>
                      </a:r>
                      <a:r>
                        <a:rPr lang="tr-TR" sz="1300" noProof="0" dirty="0" err="1"/>
                        <a:t>Grams</a:t>
                      </a:r>
                      <a:endParaRPr lang="tr-TR" sz="1300" noProof="0" dirty="0"/>
                    </a:p>
                  </a:txBody>
                  <a:tcPr anchor="ctr"/>
                </a:tc>
                <a:extLst>
                  <a:ext uri="{0D108BD9-81ED-4DB2-BD59-A6C34878D82A}">
                    <a16:rowId xmlns:a16="http://schemas.microsoft.com/office/drawing/2014/main" val="251096354"/>
                  </a:ext>
                </a:extLst>
              </a:tr>
              <a:tr h="292736">
                <a:tc>
                  <a:txBody>
                    <a:bodyPr/>
                    <a:lstStyle/>
                    <a:p>
                      <a:pPr algn="ctr">
                        <a:buNone/>
                      </a:pPr>
                      <a:r>
                        <a:rPr lang="tr-TR" sz="1300" noProof="0" dirty="0"/>
                        <a:t>Tekli Kelime</a:t>
                      </a:r>
                    </a:p>
                  </a:txBody>
                  <a:tcPr anchor="ctr"/>
                </a:tc>
                <a:tc>
                  <a:txBody>
                    <a:bodyPr/>
                    <a:lstStyle/>
                    <a:p>
                      <a:pPr algn="ctr">
                        <a:buNone/>
                      </a:pPr>
                      <a:r>
                        <a:rPr lang="tr-TR" sz="1300" noProof="0" dirty="0" err="1"/>
                        <a:t>Unigram</a:t>
                      </a:r>
                      <a:endParaRPr lang="tr-TR" sz="1300" noProof="0" dirty="0"/>
                    </a:p>
                  </a:txBody>
                  <a:tcPr anchor="ctr"/>
                </a:tc>
                <a:extLst>
                  <a:ext uri="{0D108BD9-81ED-4DB2-BD59-A6C34878D82A}">
                    <a16:rowId xmlns:a16="http://schemas.microsoft.com/office/drawing/2014/main" val="96066014"/>
                  </a:ext>
                </a:extLst>
              </a:tr>
              <a:tr h="292736">
                <a:tc>
                  <a:txBody>
                    <a:bodyPr/>
                    <a:lstStyle/>
                    <a:p>
                      <a:pPr algn="ctr">
                        <a:buNone/>
                      </a:pPr>
                      <a:r>
                        <a:rPr lang="tr-TR" sz="1300" noProof="0" dirty="0"/>
                        <a:t>İkili Kelime Dizisi</a:t>
                      </a:r>
                    </a:p>
                  </a:txBody>
                  <a:tcPr anchor="ctr"/>
                </a:tc>
                <a:tc>
                  <a:txBody>
                    <a:bodyPr/>
                    <a:lstStyle/>
                    <a:p>
                      <a:pPr algn="ctr">
                        <a:buNone/>
                      </a:pPr>
                      <a:r>
                        <a:rPr lang="tr-TR" sz="1300" noProof="0" dirty="0" err="1"/>
                        <a:t>Bigram</a:t>
                      </a:r>
                      <a:endParaRPr lang="tr-TR" sz="1300" noProof="0" dirty="0"/>
                    </a:p>
                  </a:txBody>
                  <a:tcPr anchor="ctr"/>
                </a:tc>
                <a:extLst>
                  <a:ext uri="{0D108BD9-81ED-4DB2-BD59-A6C34878D82A}">
                    <a16:rowId xmlns:a16="http://schemas.microsoft.com/office/drawing/2014/main" val="1989941800"/>
                  </a:ext>
                </a:extLst>
              </a:tr>
              <a:tr h="292736">
                <a:tc>
                  <a:txBody>
                    <a:bodyPr/>
                    <a:lstStyle/>
                    <a:p>
                      <a:pPr algn="ctr">
                        <a:buNone/>
                      </a:pPr>
                      <a:r>
                        <a:rPr lang="tr-TR" sz="1300" noProof="0" dirty="0"/>
                        <a:t>Üçlü Kelime Dizisi</a:t>
                      </a:r>
                    </a:p>
                  </a:txBody>
                  <a:tcPr anchor="ctr"/>
                </a:tc>
                <a:tc>
                  <a:txBody>
                    <a:bodyPr/>
                    <a:lstStyle/>
                    <a:p>
                      <a:pPr algn="ctr">
                        <a:buNone/>
                      </a:pPr>
                      <a:r>
                        <a:rPr lang="tr-TR" sz="1300" noProof="0" dirty="0" err="1"/>
                        <a:t>Trigram</a:t>
                      </a:r>
                      <a:endParaRPr lang="tr-TR" sz="1300" noProof="0" dirty="0"/>
                    </a:p>
                  </a:txBody>
                  <a:tcPr anchor="ctr"/>
                </a:tc>
                <a:extLst>
                  <a:ext uri="{0D108BD9-81ED-4DB2-BD59-A6C34878D82A}">
                    <a16:rowId xmlns:a16="http://schemas.microsoft.com/office/drawing/2014/main" val="4206103700"/>
                  </a:ext>
                </a:extLst>
              </a:tr>
              <a:tr h="292736">
                <a:tc>
                  <a:txBody>
                    <a:bodyPr/>
                    <a:lstStyle/>
                    <a:p>
                      <a:pPr algn="ctr">
                        <a:buNone/>
                      </a:pPr>
                      <a:r>
                        <a:rPr lang="tr-TR" sz="1300" noProof="0" dirty="0"/>
                        <a:t>Kelime Örüntüsü</a:t>
                      </a:r>
                    </a:p>
                  </a:txBody>
                  <a:tcPr anchor="ctr"/>
                </a:tc>
                <a:tc>
                  <a:txBody>
                    <a:bodyPr/>
                    <a:lstStyle/>
                    <a:p>
                      <a:pPr algn="ctr">
                        <a:buNone/>
                      </a:pPr>
                      <a:r>
                        <a:rPr lang="tr-TR" sz="1300" noProof="0" dirty="0"/>
                        <a:t>Word </a:t>
                      </a:r>
                      <a:r>
                        <a:rPr lang="tr-TR" sz="1300" noProof="0" dirty="0" err="1"/>
                        <a:t>Pattern</a:t>
                      </a:r>
                      <a:endParaRPr lang="tr-TR" sz="1300" noProof="0" dirty="0"/>
                    </a:p>
                  </a:txBody>
                  <a:tcPr anchor="ctr"/>
                </a:tc>
                <a:extLst>
                  <a:ext uri="{0D108BD9-81ED-4DB2-BD59-A6C34878D82A}">
                    <a16:rowId xmlns:a16="http://schemas.microsoft.com/office/drawing/2014/main" val="1523646871"/>
                  </a:ext>
                </a:extLst>
              </a:tr>
              <a:tr h="535816">
                <a:tc>
                  <a:txBody>
                    <a:bodyPr/>
                    <a:lstStyle/>
                    <a:p>
                      <a:pPr algn="ctr">
                        <a:buNone/>
                      </a:pPr>
                      <a:r>
                        <a:rPr lang="tr-TR" sz="1300" noProof="0" dirty="0"/>
                        <a:t>Özellik Uzayı</a:t>
                      </a:r>
                    </a:p>
                  </a:txBody>
                  <a:tcPr anchor="ctr"/>
                </a:tc>
                <a:tc>
                  <a:txBody>
                    <a:bodyPr/>
                    <a:lstStyle/>
                    <a:p>
                      <a:pPr algn="ctr">
                        <a:buNone/>
                      </a:pPr>
                      <a:r>
                        <a:rPr lang="tr-TR" sz="1300" noProof="0" dirty="0" err="1"/>
                        <a:t>Feature</a:t>
                      </a:r>
                      <a:r>
                        <a:rPr lang="tr-TR" sz="1300" noProof="0" dirty="0"/>
                        <a:t> Space</a:t>
                      </a:r>
                    </a:p>
                  </a:txBody>
                  <a:tcPr anchor="ctr"/>
                </a:tc>
                <a:extLst>
                  <a:ext uri="{0D108BD9-81ED-4DB2-BD59-A6C34878D82A}">
                    <a16:rowId xmlns:a16="http://schemas.microsoft.com/office/drawing/2014/main" val="2213191688"/>
                  </a:ext>
                </a:extLst>
              </a:tr>
              <a:tr h="292736">
                <a:tc>
                  <a:txBody>
                    <a:bodyPr/>
                    <a:lstStyle/>
                    <a:p>
                      <a:pPr algn="ctr">
                        <a:buNone/>
                      </a:pPr>
                      <a:r>
                        <a:rPr lang="tr-TR" sz="1300" noProof="0" dirty="0"/>
                        <a:t>Bağlam</a:t>
                      </a:r>
                    </a:p>
                  </a:txBody>
                  <a:tcPr anchor="ctr"/>
                </a:tc>
                <a:tc>
                  <a:txBody>
                    <a:bodyPr/>
                    <a:lstStyle/>
                    <a:p>
                      <a:pPr algn="ctr">
                        <a:buNone/>
                      </a:pPr>
                      <a:r>
                        <a:rPr lang="tr-TR" sz="1300" noProof="0" dirty="0" err="1"/>
                        <a:t>Context</a:t>
                      </a:r>
                      <a:endParaRPr lang="tr-TR" sz="1300" noProof="0" dirty="0"/>
                    </a:p>
                  </a:txBody>
                  <a:tcPr anchor="ctr"/>
                </a:tc>
                <a:extLst>
                  <a:ext uri="{0D108BD9-81ED-4DB2-BD59-A6C34878D82A}">
                    <a16:rowId xmlns:a16="http://schemas.microsoft.com/office/drawing/2014/main" val="2269779851"/>
                  </a:ext>
                </a:extLst>
              </a:tr>
            </a:tbl>
          </a:graphicData>
        </a:graphic>
      </p:graphicFrame>
      <p:sp>
        <p:nvSpPr>
          <p:cNvPr id="17" name="TextBox 16">
            <a:extLst>
              <a:ext uri="{FF2B5EF4-FFF2-40B4-BE49-F238E27FC236}">
                <a16:creationId xmlns:a16="http://schemas.microsoft.com/office/drawing/2014/main" id="{86F76845-54EC-BA19-EB0D-D9C96307D688}"/>
              </a:ext>
            </a:extLst>
          </p:cNvPr>
          <p:cNvSpPr txBox="1"/>
          <p:nvPr/>
        </p:nvSpPr>
        <p:spPr>
          <a:xfrm>
            <a:off x="695608" y="5008341"/>
            <a:ext cx="3331759" cy="1068049"/>
          </a:xfrm>
          <a:prstGeom prst="rect">
            <a:avLst/>
          </a:prstGeom>
          <a:noFill/>
        </p:spPr>
        <p:txBody>
          <a:bodyPr wrap="square">
            <a:spAutoFit/>
          </a:bodyPr>
          <a:lstStyle/>
          <a:p>
            <a:pPr>
              <a:lnSpc>
                <a:spcPct val="125000"/>
              </a:lnSpc>
              <a:buNone/>
            </a:pPr>
            <a:r>
              <a:rPr lang="tr-TR" sz="1300" b="1" noProof="0" dirty="0"/>
              <a:t>N-</a:t>
            </a:r>
            <a:r>
              <a:rPr lang="tr-TR" sz="1300" b="1" noProof="0" dirty="0" err="1"/>
              <a:t>Grams</a:t>
            </a:r>
            <a:r>
              <a:rPr lang="tr-TR" sz="1300" b="1" noProof="0" dirty="0"/>
              <a:t> Türleri (</a:t>
            </a:r>
            <a:r>
              <a:rPr lang="tr-TR" sz="1300" b="1" noProof="0" dirty="0" err="1"/>
              <a:t>Types</a:t>
            </a:r>
            <a:r>
              <a:rPr lang="tr-TR" sz="1300" b="1" noProof="0" dirty="0"/>
              <a:t> of N-</a:t>
            </a:r>
            <a:r>
              <a:rPr lang="tr-TR" sz="1300" b="1" noProof="0" dirty="0" err="1"/>
              <a:t>Grams</a:t>
            </a:r>
            <a:r>
              <a:rPr lang="tr-TR" sz="1300" b="1" noProof="0" dirty="0"/>
              <a:t>)</a:t>
            </a:r>
          </a:p>
          <a:p>
            <a:pPr>
              <a:lnSpc>
                <a:spcPct val="125000"/>
              </a:lnSpc>
              <a:buFont typeface="Arial" panose="020B0604020202020204" pitchFamily="34" charset="0"/>
              <a:buChar char="•"/>
            </a:pPr>
            <a:r>
              <a:rPr lang="tr-TR" sz="1300" noProof="0" dirty="0" err="1"/>
              <a:t>Unigram</a:t>
            </a:r>
            <a:r>
              <a:rPr lang="tr-TR" sz="1300" noProof="0" dirty="0"/>
              <a:t> (1-gram): Tek kelimeler</a:t>
            </a:r>
          </a:p>
          <a:p>
            <a:pPr>
              <a:lnSpc>
                <a:spcPct val="125000"/>
              </a:lnSpc>
              <a:buFont typeface="Arial" panose="020B0604020202020204" pitchFamily="34" charset="0"/>
              <a:buChar char="•"/>
            </a:pPr>
            <a:r>
              <a:rPr lang="tr-TR" sz="1300" noProof="0" dirty="0" err="1"/>
              <a:t>Bigram</a:t>
            </a:r>
            <a:r>
              <a:rPr lang="tr-TR" sz="1300" noProof="0" dirty="0"/>
              <a:t> (2-gram): İkili kelime grupları</a:t>
            </a:r>
          </a:p>
          <a:p>
            <a:pPr>
              <a:lnSpc>
                <a:spcPct val="125000"/>
              </a:lnSpc>
              <a:buFont typeface="Arial" panose="020B0604020202020204" pitchFamily="34" charset="0"/>
              <a:buChar char="•"/>
            </a:pPr>
            <a:r>
              <a:rPr lang="tr-TR" sz="1300" noProof="0" dirty="0" err="1"/>
              <a:t>Trigram</a:t>
            </a:r>
            <a:r>
              <a:rPr lang="tr-TR" sz="1300" noProof="0" dirty="0"/>
              <a:t> (3-gram): Üçlü kelime grupları</a:t>
            </a:r>
          </a:p>
        </p:txBody>
      </p:sp>
      <p:pic>
        <p:nvPicPr>
          <p:cNvPr id="18" name="Picture 17">
            <a:extLst>
              <a:ext uri="{FF2B5EF4-FFF2-40B4-BE49-F238E27FC236}">
                <a16:creationId xmlns:a16="http://schemas.microsoft.com/office/drawing/2014/main" id="{C3EAA11E-FBB7-FB8A-CB8A-885DA4D1CB18}"/>
              </a:ext>
            </a:extLst>
          </p:cNvPr>
          <p:cNvPicPr>
            <a:picLocks noChangeAspect="1"/>
          </p:cNvPicPr>
          <p:nvPr/>
        </p:nvPicPr>
        <p:blipFill>
          <a:blip r:embed="rId2"/>
          <a:stretch>
            <a:fillRect/>
          </a:stretch>
        </p:blipFill>
        <p:spPr>
          <a:xfrm>
            <a:off x="184246" y="2"/>
            <a:ext cx="2320118" cy="1506654"/>
          </a:xfrm>
          <a:prstGeom prst="rect">
            <a:avLst/>
          </a:prstGeom>
        </p:spPr>
      </p:pic>
      <p:sp>
        <p:nvSpPr>
          <p:cNvPr id="19" name="TextBox 18">
            <a:extLst>
              <a:ext uri="{FF2B5EF4-FFF2-40B4-BE49-F238E27FC236}">
                <a16:creationId xmlns:a16="http://schemas.microsoft.com/office/drawing/2014/main" id="{EB92B504-1217-12F4-6475-5EAA70E84BCA}"/>
              </a:ext>
            </a:extLst>
          </p:cNvPr>
          <p:cNvSpPr txBox="1"/>
          <p:nvPr/>
        </p:nvSpPr>
        <p:spPr>
          <a:xfrm>
            <a:off x="7625888" y="5996992"/>
            <a:ext cx="3923388" cy="283407"/>
          </a:xfrm>
          <a:prstGeom prst="rect">
            <a:avLst/>
          </a:prstGeom>
          <a:noFill/>
        </p:spPr>
        <p:txBody>
          <a:bodyPr wrap="square">
            <a:spAutoFit/>
          </a:bodyPr>
          <a:lstStyle/>
          <a:p>
            <a:pPr algn="ctr">
              <a:lnSpc>
                <a:spcPct val="125000"/>
              </a:lnSpc>
            </a:pPr>
            <a:r>
              <a:rPr lang="tr-TR" sz="1100" noProof="0" dirty="0"/>
              <a:t>Terimlerin Türkçe–İngilizce karşılıkları</a:t>
            </a:r>
          </a:p>
        </p:txBody>
      </p:sp>
      <p:sp>
        <p:nvSpPr>
          <p:cNvPr id="21" name="TextBox 20">
            <a:extLst>
              <a:ext uri="{FF2B5EF4-FFF2-40B4-BE49-F238E27FC236}">
                <a16:creationId xmlns:a16="http://schemas.microsoft.com/office/drawing/2014/main" id="{6E12016D-7BF3-C5C6-8914-6847A97643F4}"/>
              </a:ext>
            </a:extLst>
          </p:cNvPr>
          <p:cNvSpPr txBox="1"/>
          <p:nvPr/>
        </p:nvSpPr>
        <p:spPr>
          <a:xfrm>
            <a:off x="4762217" y="2774376"/>
            <a:ext cx="2751726" cy="1568186"/>
          </a:xfrm>
          <a:prstGeom prst="rect">
            <a:avLst/>
          </a:prstGeom>
          <a:noFill/>
        </p:spPr>
        <p:txBody>
          <a:bodyPr wrap="square">
            <a:spAutoFit/>
          </a:bodyPr>
          <a:lstStyle/>
          <a:p>
            <a:pPr>
              <a:lnSpc>
                <a:spcPct val="125000"/>
              </a:lnSpc>
              <a:buNone/>
            </a:pPr>
            <a:r>
              <a:rPr lang="tr-TR" sz="1300" b="1" noProof="0" dirty="0"/>
              <a:t>Sınırlılıklar (</a:t>
            </a:r>
            <a:r>
              <a:rPr lang="tr-TR" sz="1300" b="1" noProof="0" dirty="0" err="1"/>
              <a:t>Limitations</a:t>
            </a:r>
            <a:r>
              <a:rPr lang="tr-TR" sz="1300" b="1" noProof="0" dirty="0"/>
              <a:t>)</a:t>
            </a:r>
          </a:p>
          <a:p>
            <a:pPr>
              <a:lnSpc>
                <a:spcPct val="125000"/>
              </a:lnSpc>
              <a:buFont typeface="Arial" panose="020B0604020202020204" pitchFamily="34" charset="0"/>
              <a:buChar char="•"/>
            </a:pPr>
            <a:r>
              <a:rPr lang="tr-TR" sz="1300" noProof="0" dirty="0"/>
              <a:t>N arttıkça özellik sayısı (</a:t>
            </a:r>
            <a:r>
              <a:rPr lang="tr-TR" sz="1300" noProof="0" dirty="0" err="1"/>
              <a:t>feature</a:t>
            </a:r>
            <a:r>
              <a:rPr lang="tr-TR" sz="1300" noProof="0" dirty="0"/>
              <a:t> </a:t>
            </a:r>
            <a:r>
              <a:rPr lang="tr-TR" sz="1300" noProof="0" dirty="0" err="1"/>
              <a:t>space</a:t>
            </a:r>
            <a:r>
              <a:rPr lang="tr-TR" sz="1300" noProof="0" dirty="0"/>
              <a:t>) büyür</a:t>
            </a:r>
          </a:p>
          <a:p>
            <a:pPr>
              <a:lnSpc>
                <a:spcPct val="125000"/>
              </a:lnSpc>
              <a:buFont typeface="Arial" panose="020B0604020202020204" pitchFamily="34" charset="0"/>
              <a:buChar char="•"/>
            </a:pPr>
            <a:r>
              <a:rPr lang="tr-TR" sz="1300" noProof="0" dirty="0"/>
              <a:t>Hesaplama maliyeti artar</a:t>
            </a:r>
          </a:p>
          <a:p>
            <a:pPr>
              <a:lnSpc>
                <a:spcPct val="125000"/>
              </a:lnSpc>
              <a:buFont typeface="Arial" panose="020B0604020202020204" pitchFamily="34" charset="0"/>
              <a:buChar char="•"/>
            </a:pPr>
            <a:r>
              <a:rPr lang="tr-TR" sz="1300" noProof="0" dirty="0"/>
              <a:t>Bu nedenle genellikle TF-IDF ile birlikte ve sınırlı düzeyde kullanılır</a:t>
            </a:r>
          </a:p>
        </p:txBody>
      </p:sp>
      <p:sp>
        <p:nvSpPr>
          <p:cNvPr id="4" name="TextBox 3">
            <a:extLst>
              <a:ext uri="{FF2B5EF4-FFF2-40B4-BE49-F238E27FC236}">
                <a16:creationId xmlns:a16="http://schemas.microsoft.com/office/drawing/2014/main" id="{9A9C20BF-0C2F-DC09-3CB4-C335F7301B89}"/>
              </a:ext>
            </a:extLst>
          </p:cNvPr>
          <p:cNvSpPr txBox="1"/>
          <p:nvPr/>
        </p:nvSpPr>
        <p:spPr>
          <a:xfrm>
            <a:off x="7625888" y="3105835"/>
            <a:ext cx="3868473" cy="323165"/>
          </a:xfrm>
          <a:prstGeom prst="rect">
            <a:avLst/>
          </a:prstGeom>
          <a:noFill/>
        </p:spPr>
        <p:txBody>
          <a:bodyPr wrap="square">
            <a:spAutoFit/>
          </a:bodyPr>
          <a:lstStyle/>
          <a:p>
            <a:pPr algn="ctr"/>
            <a:r>
              <a:rPr lang="en-US" sz="1500" dirty="0"/>
              <a:t>N-Grams</a:t>
            </a:r>
            <a:r>
              <a:rPr lang="tr-TR" sz="1500" dirty="0"/>
              <a:t> Ait Terimler</a:t>
            </a:r>
          </a:p>
        </p:txBody>
      </p:sp>
    </p:spTree>
    <p:extLst>
      <p:ext uri="{BB962C8B-B14F-4D97-AF65-F5344CB8AC3E}">
        <p14:creationId xmlns:p14="http://schemas.microsoft.com/office/powerpoint/2010/main" val="38046664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04668-90D3-6D2D-0D98-2A212748C31D}"/>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7BAE2FA-E467-A60E-BFC8-04B16E668EBA}"/>
              </a:ext>
            </a:extLst>
          </p:cNvPr>
          <p:cNvGraphicFramePr>
            <a:graphicFrameLocks noGrp="1"/>
          </p:cNvGraphicFramePr>
          <p:nvPr>
            <p:extLst>
              <p:ext uri="{D42A27DB-BD31-4B8C-83A1-F6EECF244321}">
                <p14:modId xmlns:p14="http://schemas.microsoft.com/office/powerpoint/2010/main" val="3596610683"/>
              </p:ext>
            </p:extLst>
          </p:nvPr>
        </p:nvGraphicFramePr>
        <p:xfrm>
          <a:off x="6822364" y="3222369"/>
          <a:ext cx="4382448" cy="3014658"/>
        </p:xfrm>
        <a:graphic>
          <a:graphicData uri="http://schemas.openxmlformats.org/drawingml/2006/table">
            <a:tbl>
              <a:tblPr firstRow="1" bandRow="1">
                <a:tableStyleId>{5C22544A-7EE6-4342-B048-85BDC9FD1C3A}</a:tableStyleId>
              </a:tblPr>
              <a:tblGrid>
                <a:gridCol w="2191224">
                  <a:extLst>
                    <a:ext uri="{9D8B030D-6E8A-4147-A177-3AD203B41FA5}">
                      <a16:colId xmlns:a16="http://schemas.microsoft.com/office/drawing/2014/main" val="3172803753"/>
                    </a:ext>
                  </a:extLst>
                </a:gridCol>
                <a:gridCol w="2191224">
                  <a:extLst>
                    <a:ext uri="{9D8B030D-6E8A-4147-A177-3AD203B41FA5}">
                      <a16:colId xmlns:a16="http://schemas.microsoft.com/office/drawing/2014/main" val="4256252604"/>
                    </a:ext>
                  </a:extLst>
                </a:gridCol>
              </a:tblGrid>
              <a:tr h="371423">
                <a:tc>
                  <a:txBody>
                    <a:bodyPr/>
                    <a:lstStyle/>
                    <a:p>
                      <a:pPr>
                        <a:buNone/>
                      </a:pPr>
                      <a:r>
                        <a:rPr lang="en-US" dirty="0" err="1"/>
                        <a:t>Türkçe</a:t>
                      </a:r>
                      <a:r>
                        <a:rPr lang="en-US" dirty="0"/>
                        <a:t> Terim</a:t>
                      </a:r>
                    </a:p>
                  </a:txBody>
                  <a:tcPr anchor="ctr"/>
                </a:tc>
                <a:tc>
                  <a:txBody>
                    <a:bodyPr/>
                    <a:lstStyle/>
                    <a:p>
                      <a:pPr>
                        <a:buNone/>
                      </a:pPr>
                      <a:r>
                        <a:rPr lang="en-US"/>
                        <a:t>English Term</a:t>
                      </a:r>
                    </a:p>
                  </a:txBody>
                  <a:tcPr anchor="ctr"/>
                </a:tc>
                <a:extLst>
                  <a:ext uri="{0D108BD9-81ED-4DB2-BD59-A6C34878D82A}">
                    <a16:rowId xmlns:a16="http://schemas.microsoft.com/office/drawing/2014/main" val="3911592296"/>
                  </a:ext>
                </a:extLst>
              </a:tr>
              <a:tr h="628611">
                <a:tc>
                  <a:txBody>
                    <a:bodyPr/>
                    <a:lstStyle/>
                    <a:p>
                      <a:pPr>
                        <a:buNone/>
                      </a:pPr>
                      <a:r>
                        <a:rPr lang="en-US"/>
                        <a:t>Kelime Gömme</a:t>
                      </a:r>
                    </a:p>
                  </a:txBody>
                  <a:tcPr anchor="ctr"/>
                </a:tc>
                <a:tc>
                  <a:txBody>
                    <a:bodyPr/>
                    <a:lstStyle/>
                    <a:p>
                      <a:pPr>
                        <a:buNone/>
                      </a:pPr>
                      <a:r>
                        <a:rPr lang="en-US"/>
                        <a:t>Word Embedding</a:t>
                      </a:r>
                    </a:p>
                  </a:txBody>
                  <a:tcPr anchor="ctr"/>
                </a:tc>
                <a:extLst>
                  <a:ext uri="{0D108BD9-81ED-4DB2-BD59-A6C34878D82A}">
                    <a16:rowId xmlns:a16="http://schemas.microsoft.com/office/drawing/2014/main" val="2673224775"/>
                  </a:ext>
                </a:extLst>
              </a:tr>
              <a:tr h="643167">
                <a:tc>
                  <a:txBody>
                    <a:bodyPr/>
                    <a:lstStyle/>
                    <a:p>
                      <a:pPr>
                        <a:buNone/>
                      </a:pPr>
                      <a:r>
                        <a:rPr lang="en-US"/>
                        <a:t>Vektör Temsili</a:t>
                      </a:r>
                    </a:p>
                  </a:txBody>
                  <a:tcPr anchor="ctr"/>
                </a:tc>
                <a:tc>
                  <a:txBody>
                    <a:bodyPr/>
                    <a:lstStyle/>
                    <a:p>
                      <a:pPr>
                        <a:buNone/>
                      </a:pPr>
                      <a:r>
                        <a:rPr lang="en-US"/>
                        <a:t>Vector Representation</a:t>
                      </a:r>
                    </a:p>
                  </a:txBody>
                  <a:tcPr anchor="ctr"/>
                </a:tc>
                <a:extLst>
                  <a:ext uri="{0D108BD9-81ED-4DB2-BD59-A6C34878D82A}">
                    <a16:rowId xmlns:a16="http://schemas.microsoft.com/office/drawing/2014/main" val="870808550"/>
                  </a:ext>
                </a:extLst>
              </a:tr>
              <a:tr h="628611">
                <a:tc>
                  <a:txBody>
                    <a:bodyPr/>
                    <a:lstStyle/>
                    <a:p>
                      <a:pPr>
                        <a:buNone/>
                      </a:pPr>
                      <a:r>
                        <a:rPr lang="en-US"/>
                        <a:t>Anlamsal Benzerlik</a:t>
                      </a:r>
                    </a:p>
                  </a:txBody>
                  <a:tcPr anchor="ctr"/>
                </a:tc>
                <a:tc>
                  <a:txBody>
                    <a:bodyPr/>
                    <a:lstStyle/>
                    <a:p>
                      <a:pPr>
                        <a:buNone/>
                      </a:pPr>
                      <a:r>
                        <a:rPr lang="en-US" dirty="0"/>
                        <a:t>Semantic Similarity</a:t>
                      </a:r>
                    </a:p>
                  </a:txBody>
                  <a:tcPr anchor="ctr"/>
                </a:tc>
                <a:extLst>
                  <a:ext uri="{0D108BD9-81ED-4DB2-BD59-A6C34878D82A}">
                    <a16:rowId xmlns:a16="http://schemas.microsoft.com/office/drawing/2014/main" val="2135931486"/>
                  </a:ext>
                </a:extLst>
              </a:tr>
              <a:tr h="371423">
                <a:tc>
                  <a:txBody>
                    <a:bodyPr/>
                    <a:lstStyle/>
                    <a:p>
                      <a:pPr>
                        <a:buNone/>
                      </a:pPr>
                      <a:r>
                        <a:rPr lang="en-US"/>
                        <a:t>Yoğun Vektör</a:t>
                      </a:r>
                    </a:p>
                  </a:txBody>
                  <a:tcPr anchor="ctr"/>
                </a:tc>
                <a:tc>
                  <a:txBody>
                    <a:bodyPr/>
                    <a:lstStyle/>
                    <a:p>
                      <a:pPr>
                        <a:buNone/>
                      </a:pPr>
                      <a:r>
                        <a:rPr lang="en-US"/>
                        <a:t>Dense Vector</a:t>
                      </a:r>
                    </a:p>
                  </a:txBody>
                  <a:tcPr anchor="ctr"/>
                </a:tc>
                <a:extLst>
                  <a:ext uri="{0D108BD9-81ED-4DB2-BD59-A6C34878D82A}">
                    <a16:rowId xmlns:a16="http://schemas.microsoft.com/office/drawing/2014/main" val="326134811"/>
                  </a:ext>
                </a:extLst>
              </a:tr>
              <a:tr h="371423">
                <a:tc>
                  <a:txBody>
                    <a:bodyPr/>
                    <a:lstStyle/>
                    <a:p>
                      <a:pPr>
                        <a:buNone/>
                      </a:pPr>
                      <a:r>
                        <a:rPr lang="en-US"/>
                        <a:t>Vektör Uzayı</a:t>
                      </a:r>
                    </a:p>
                  </a:txBody>
                  <a:tcPr anchor="ctr"/>
                </a:tc>
                <a:tc>
                  <a:txBody>
                    <a:bodyPr/>
                    <a:lstStyle/>
                    <a:p>
                      <a:pPr>
                        <a:buNone/>
                      </a:pPr>
                      <a:r>
                        <a:rPr lang="en-US" dirty="0"/>
                        <a:t>Vector Space</a:t>
                      </a:r>
                    </a:p>
                  </a:txBody>
                  <a:tcPr anchor="ctr"/>
                </a:tc>
                <a:extLst>
                  <a:ext uri="{0D108BD9-81ED-4DB2-BD59-A6C34878D82A}">
                    <a16:rowId xmlns:a16="http://schemas.microsoft.com/office/drawing/2014/main" val="1507122585"/>
                  </a:ext>
                </a:extLst>
              </a:tr>
            </a:tbl>
          </a:graphicData>
        </a:graphic>
      </p:graphicFrame>
      <p:sp>
        <p:nvSpPr>
          <p:cNvPr id="4" name="TextBox 3">
            <a:extLst>
              <a:ext uri="{FF2B5EF4-FFF2-40B4-BE49-F238E27FC236}">
                <a16:creationId xmlns:a16="http://schemas.microsoft.com/office/drawing/2014/main" id="{3CA6000A-C161-2589-55C1-E8C9F5F98D8B}"/>
              </a:ext>
            </a:extLst>
          </p:cNvPr>
          <p:cNvSpPr txBox="1"/>
          <p:nvPr/>
        </p:nvSpPr>
        <p:spPr>
          <a:xfrm>
            <a:off x="6822362" y="6222217"/>
            <a:ext cx="4382447" cy="283154"/>
          </a:xfrm>
          <a:prstGeom prst="rect">
            <a:avLst/>
          </a:prstGeom>
          <a:noFill/>
        </p:spPr>
        <p:txBody>
          <a:bodyPr wrap="square">
            <a:spAutoFit/>
          </a:bodyPr>
          <a:lstStyle/>
          <a:p>
            <a:pPr algn="ctr">
              <a:lnSpc>
                <a:spcPct val="125000"/>
              </a:lnSpc>
            </a:pPr>
            <a:r>
              <a:rPr lang="tr-TR" sz="1100" noProof="0" dirty="0"/>
              <a:t>Terimlerin Türkçe–İngilizce karşılıkları</a:t>
            </a:r>
          </a:p>
        </p:txBody>
      </p:sp>
      <p:sp>
        <p:nvSpPr>
          <p:cNvPr id="6" name="TextBox 5">
            <a:extLst>
              <a:ext uri="{FF2B5EF4-FFF2-40B4-BE49-F238E27FC236}">
                <a16:creationId xmlns:a16="http://schemas.microsoft.com/office/drawing/2014/main" id="{CC86EF4E-F413-6512-F533-F3070BAD95B1}"/>
              </a:ext>
            </a:extLst>
          </p:cNvPr>
          <p:cNvSpPr txBox="1"/>
          <p:nvPr/>
        </p:nvSpPr>
        <p:spPr>
          <a:xfrm>
            <a:off x="0" y="554939"/>
            <a:ext cx="12192000" cy="523220"/>
          </a:xfrm>
          <a:prstGeom prst="rect">
            <a:avLst/>
          </a:prstGeom>
          <a:noFill/>
        </p:spPr>
        <p:txBody>
          <a:bodyPr wrap="square">
            <a:spAutoFit/>
          </a:bodyPr>
          <a:lstStyle/>
          <a:p>
            <a:pPr algn="ctr"/>
            <a:r>
              <a:rPr lang="en-US" sz="2800" dirty="0"/>
              <a:t>Word Embeddings (</a:t>
            </a:r>
            <a:r>
              <a:rPr lang="en-US" sz="2800" dirty="0" err="1"/>
              <a:t>Kelime</a:t>
            </a:r>
            <a:r>
              <a:rPr lang="en-US" sz="2800" dirty="0"/>
              <a:t> </a:t>
            </a:r>
            <a:r>
              <a:rPr lang="en-US" sz="2800" dirty="0" err="1"/>
              <a:t>Gömme</a:t>
            </a:r>
            <a:r>
              <a:rPr lang="en-US" sz="2800" dirty="0"/>
              <a:t> </a:t>
            </a:r>
            <a:r>
              <a:rPr lang="en-US" sz="2800" dirty="0" err="1"/>
              <a:t>Yöntemleri</a:t>
            </a:r>
            <a:r>
              <a:rPr lang="en-US" sz="2800" dirty="0"/>
              <a:t>)</a:t>
            </a:r>
            <a:r>
              <a:rPr lang="tr-TR" sz="2800" dirty="0"/>
              <a:t> Nedir?</a:t>
            </a:r>
          </a:p>
        </p:txBody>
      </p:sp>
      <p:sp>
        <p:nvSpPr>
          <p:cNvPr id="7" name="Rectangle 2">
            <a:extLst>
              <a:ext uri="{FF2B5EF4-FFF2-40B4-BE49-F238E27FC236}">
                <a16:creationId xmlns:a16="http://schemas.microsoft.com/office/drawing/2014/main" id="{68D978D5-8865-EFB6-7110-B9879EF11015}"/>
              </a:ext>
            </a:extLst>
          </p:cNvPr>
          <p:cNvSpPr>
            <a:spLocks noChangeArrowheads="1"/>
          </p:cNvSpPr>
          <p:nvPr/>
        </p:nvSpPr>
        <p:spPr bwMode="auto">
          <a:xfrm>
            <a:off x="4087506" y="1275077"/>
            <a:ext cx="7117306" cy="1568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i="0" u="none" strike="noStrike" cap="none" normalizeH="0" baseline="0" noProof="0" dirty="0">
                <a:ln>
                  <a:noFill/>
                </a:ln>
                <a:solidFill>
                  <a:schemeClr val="tx1"/>
                </a:solidFill>
                <a:effectLst/>
                <a:latin typeface="Arial" panose="020B0604020202020204" pitchFamily="34" charset="0"/>
              </a:rPr>
              <a:t>Word </a:t>
            </a:r>
            <a:r>
              <a:rPr kumimoji="0" lang="tr-TR" sz="1300" i="0" u="none" strike="noStrike" cap="none" normalizeH="0" baseline="0" noProof="0" dirty="0" err="1">
                <a:ln>
                  <a:noFill/>
                </a:ln>
                <a:solidFill>
                  <a:schemeClr val="tx1"/>
                </a:solidFill>
                <a:effectLst/>
                <a:latin typeface="Arial" panose="020B0604020202020204" pitchFamily="34" charset="0"/>
              </a:rPr>
              <a:t>Embeddings</a:t>
            </a:r>
            <a:r>
              <a:rPr kumimoji="0" lang="tr-TR" sz="1300" i="0" u="none" strike="noStrike" cap="none" normalizeH="0" baseline="0" noProof="0" dirty="0">
                <a:ln>
                  <a:noFill/>
                </a:ln>
                <a:solidFill>
                  <a:schemeClr val="tx1"/>
                </a:solidFill>
                <a:effectLst/>
                <a:latin typeface="Arial" panose="020B0604020202020204" pitchFamily="34" charset="0"/>
              </a:rPr>
              <a:t>, kelimeleri anlamsal ilişkilerine göre yoğun (dense) sayısal vektörler ile temsil eden gelişmiş metin gösterim yöntemleridir.</a:t>
            </a:r>
          </a:p>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i="0" u="none" strike="noStrike" cap="none" normalizeH="0" baseline="0" noProof="0" dirty="0">
                <a:ln>
                  <a:noFill/>
                </a:ln>
                <a:solidFill>
                  <a:schemeClr val="tx1"/>
                </a:solidFill>
                <a:effectLst/>
                <a:latin typeface="Arial" panose="020B0604020202020204" pitchFamily="34" charset="0"/>
              </a:rPr>
              <a:t>Bu yaklaşımda, benzer anlamlı kelimeler vektör uzayında birbirine yakın, anlamsal olarak farklı kelimeler ise daha uzak konumlanır.</a:t>
            </a:r>
          </a:p>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i="0" u="none" strike="noStrike" cap="none" normalizeH="0" baseline="0" noProof="0" dirty="0" err="1">
                <a:ln>
                  <a:noFill/>
                </a:ln>
                <a:solidFill>
                  <a:schemeClr val="tx1"/>
                </a:solidFill>
                <a:effectLst/>
                <a:latin typeface="Arial" panose="020B0604020202020204" pitchFamily="34" charset="0"/>
              </a:rPr>
              <a:t>Bag</a:t>
            </a:r>
            <a:r>
              <a:rPr kumimoji="0" lang="tr-TR" sz="1300" i="0" u="none" strike="noStrike" cap="none" normalizeH="0" baseline="0" noProof="0" dirty="0">
                <a:ln>
                  <a:noFill/>
                </a:ln>
                <a:solidFill>
                  <a:schemeClr val="tx1"/>
                </a:solidFill>
                <a:effectLst/>
                <a:latin typeface="Arial" panose="020B0604020202020204" pitchFamily="34" charset="0"/>
              </a:rPr>
              <a:t>-of-</a:t>
            </a:r>
            <a:r>
              <a:rPr kumimoji="0" lang="tr-TR" sz="1300" i="0" u="none" strike="noStrike" cap="none" normalizeH="0" baseline="0" noProof="0" dirty="0" err="1">
                <a:ln>
                  <a:noFill/>
                </a:ln>
                <a:solidFill>
                  <a:schemeClr val="tx1"/>
                </a:solidFill>
                <a:effectLst/>
                <a:latin typeface="Arial" panose="020B0604020202020204" pitchFamily="34" charset="0"/>
              </a:rPr>
              <a:t>Words</a:t>
            </a:r>
            <a:r>
              <a:rPr kumimoji="0" lang="tr-TR" sz="1300" i="0" u="none" strike="noStrike" cap="none" normalizeH="0" baseline="0" noProof="0" dirty="0">
                <a:ln>
                  <a:noFill/>
                </a:ln>
                <a:solidFill>
                  <a:schemeClr val="tx1"/>
                </a:solidFill>
                <a:effectLst/>
                <a:latin typeface="Arial" panose="020B0604020202020204" pitchFamily="34" charset="0"/>
              </a:rPr>
              <a:t> ve TF-IDF gibi sıklık tabanlı yöntemlerden farklı olarak, kelimeler arasındaki anlamsal bağlamı ve ilişkileri öğrenebilir.</a:t>
            </a:r>
          </a:p>
        </p:txBody>
      </p:sp>
      <p:pic>
        <p:nvPicPr>
          <p:cNvPr id="2" name="Picture 1">
            <a:extLst>
              <a:ext uri="{FF2B5EF4-FFF2-40B4-BE49-F238E27FC236}">
                <a16:creationId xmlns:a16="http://schemas.microsoft.com/office/drawing/2014/main" id="{91122E36-937C-DFF7-A947-7D9AF325CD48}"/>
              </a:ext>
            </a:extLst>
          </p:cNvPr>
          <p:cNvPicPr>
            <a:picLocks noChangeAspect="1"/>
          </p:cNvPicPr>
          <p:nvPr/>
        </p:nvPicPr>
        <p:blipFill>
          <a:blip r:embed="rId2"/>
          <a:stretch>
            <a:fillRect/>
          </a:stretch>
        </p:blipFill>
        <p:spPr>
          <a:xfrm>
            <a:off x="987188" y="1275077"/>
            <a:ext cx="3025255" cy="2637299"/>
          </a:xfrm>
          <a:prstGeom prst="rect">
            <a:avLst/>
          </a:prstGeom>
        </p:spPr>
      </p:pic>
      <p:sp>
        <p:nvSpPr>
          <p:cNvPr id="8" name="TextBox 7">
            <a:extLst>
              <a:ext uri="{FF2B5EF4-FFF2-40B4-BE49-F238E27FC236}">
                <a16:creationId xmlns:a16="http://schemas.microsoft.com/office/drawing/2014/main" id="{C3B54495-858C-B304-119E-F4C49127ED20}"/>
              </a:ext>
            </a:extLst>
          </p:cNvPr>
          <p:cNvSpPr txBox="1"/>
          <p:nvPr/>
        </p:nvSpPr>
        <p:spPr>
          <a:xfrm>
            <a:off x="987188" y="4046582"/>
            <a:ext cx="5363570" cy="1258806"/>
          </a:xfrm>
          <a:prstGeom prst="rect">
            <a:avLst/>
          </a:prstGeom>
          <a:noFill/>
        </p:spPr>
        <p:txBody>
          <a:bodyPr wrap="square">
            <a:spAutoFit/>
          </a:bodyPr>
          <a:lstStyle/>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i="0" u="none" strike="noStrike" cap="none" normalizeH="0" baseline="0" noProof="0" dirty="0">
                <a:ln>
                  <a:noFill/>
                </a:ln>
                <a:solidFill>
                  <a:schemeClr val="tx1"/>
                </a:solidFill>
                <a:effectLst/>
                <a:latin typeface="Arial" panose="020B0604020202020204" pitchFamily="34" charset="0"/>
              </a:rPr>
              <a:t>Bu sayede eş anlamlılık, benzerlik bağlamsal kullanım gibi dilsel özellikler daha doğru temsil edilir.</a:t>
            </a:r>
          </a:p>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i="0" u="none" strike="noStrike" cap="none" normalizeH="0" baseline="0" noProof="0" dirty="0">
                <a:ln>
                  <a:noFill/>
                </a:ln>
                <a:solidFill>
                  <a:schemeClr val="tx1"/>
                </a:solidFill>
                <a:effectLst/>
                <a:latin typeface="Arial" panose="020B0604020202020204" pitchFamily="34" charset="0"/>
              </a:rPr>
              <a:t>Word </a:t>
            </a:r>
            <a:r>
              <a:rPr kumimoji="0" lang="tr-TR" sz="1300" i="0" u="none" strike="noStrike" cap="none" normalizeH="0" baseline="0" noProof="0" dirty="0" err="1">
                <a:ln>
                  <a:noFill/>
                </a:ln>
                <a:solidFill>
                  <a:schemeClr val="tx1"/>
                </a:solidFill>
                <a:effectLst/>
                <a:latin typeface="Arial" panose="020B0604020202020204" pitchFamily="34" charset="0"/>
              </a:rPr>
              <a:t>Embedding</a:t>
            </a:r>
            <a:r>
              <a:rPr kumimoji="0" lang="tr-TR" sz="1300" i="0" u="none" strike="noStrike" cap="none" normalizeH="0" baseline="0" noProof="0" dirty="0">
                <a:ln>
                  <a:noFill/>
                </a:ln>
                <a:solidFill>
                  <a:schemeClr val="tx1"/>
                </a:solidFill>
                <a:effectLst/>
                <a:latin typeface="Arial" panose="020B0604020202020204" pitchFamily="34" charset="0"/>
              </a:rPr>
              <a:t> yöntemleri, günümüzde modern NLP modellerinin ve derin öğrenme tabanlı metin analizlerinin temelini oluşturmaktadır</a:t>
            </a:r>
            <a:r>
              <a:rPr kumimoji="0" lang="tr-TR" sz="2400" i="0" u="none" strike="noStrike" cap="none" normalizeH="0" baseline="0" noProof="0" dirty="0">
                <a:ln>
                  <a:noFill/>
                </a:ln>
                <a:solidFill>
                  <a:schemeClr val="tx1"/>
                </a:solidFill>
                <a:effectLst/>
                <a:latin typeface="Arial" panose="020B0604020202020204" pitchFamily="34" charset="0"/>
              </a:rPr>
              <a:t>.</a:t>
            </a:r>
          </a:p>
        </p:txBody>
      </p:sp>
      <p:sp>
        <p:nvSpPr>
          <p:cNvPr id="10" name="TextBox 9">
            <a:extLst>
              <a:ext uri="{FF2B5EF4-FFF2-40B4-BE49-F238E27FC236}">
                <a16:creationId xmlns:a16="http://schemas.microsoft.com/office/drawing/2014/main" id="{4C730E26-E68F-81EC-F2A2-F1CF9631DFA1}"/>
              </a:ext>
            </a:extLst>
          </p:cNvPr>
          <p:cNvSpPr txBox="1"/>
          <p:nvPr/>
        </p:nvSpPr>
        <p:spPr>
          <a:xfrm>
            <a:off x="6822363" y="2890924"/>
            <a:ext cx="4382447" cy="323165"/>
          </a:xfrm>
          <a:prstGeom prst="rect">
            <a:avLst/>
          </a:prstGeom>
          <a:noFill/>
        </p:spPr>
        <p:txBody>
          <a:bodyPr wrap="square">
            <a:spAutoFit/>
          </a:bodyPr>
          <a:lstStyle/>
          <a:p>
            <a:pPr algn="ctr"/>
            <a:r>
              <a:rPr lang="en-US" sz="1500" dirty="0"/>
              <a:t>Word Embeddings </a:t>
            </a:r>
            <a:r>
              <a:rPr lang="tr-TR" sz="1500" dirty="0"/>
              <a:t>Ait Terimler</a:t>
            </a:r>
          </a:p>
        </p:txBody>
      </p:sp>
    </p:spTree>
    <p:extLst>
      <p:ext uri="{BB962C8B-B14F-4D97-AF65-F5344CB8AC3E}">
        <p14:creationId xmlns:p14="http://schemas.microsoft.com/office/powerpoint/2010/main" val="1181912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4BA26-A796-6F91-36FB-92ACB2E26A6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8ED8441-549D-2873-B92F-41A7A81439BB}"/>
              </a:ext>
            </a:extLst>
          </p:cNvPr>
          <p:cNvSpPr txBox="1"/>
          <p:nvPr/>
        </p:nvSpPr>
        <p:spPr>
          <a:xfrm>
            <a:off x="1013422" y="2096768"/>
            <a:ext cx="4930178" cy="2318392"/>
          </a:xfrm>
          <a:prstGeom prst="rect">
            <a:avLst/>
          </a:prstGeom>
          <a:noFill/>
        </p:spPr>
        <p:txBody>
          <a:bodyPr wrap="square">
            <a:spAutoFit/>
          </a:bodyPr>
          <a:lstStyle/>
          <a:p>
            <a:pPr>
              <a:lnSpc>
                <a:spcPct val="125000"/>
              </a:lnSpc>
              <a:buFont typeface="Arial" panose="020B0604020202020204" pitchFamily="34" charset="0"/>
              <a:buChar char="•"/>
            </a:pPr>
            <a:r>
              <a:rPr lang="tr-TR" sz="1300" noProof="0" dirty="0" err="1"/>
              <a:t>Transformer</a:t>
            </a:r>
            <a:r>
              <a:rPr lang="tr-TR" sz="1300" noProof="0" dirty="0"/>
              <a:t> modelleri, metni yalnızca kelime sırasına göre değil, bağlamı bütüncül olarak analiz eden modern NLP yaklaşımlarıdır.</a:t>
            </a:r>
          </a:p>
          <a:p>
            <a:pPr>
              <a:lnSpc>
                <a:spcPct val="125000"/>
              </a:lnSpc>
              <a:buFont typeface="Arial" panose="020B0604020202020204" pitchFamily="34" charset="0"/>
              <a:buChar char="•"/>
            </a:pPr>
            <a:r>
              <a:rPr lang="tr-TR" sz="1300" noProof="0" dirty="0"/>
              <a:t>Bu modeller, kelimelerin anlamını cümle içindeki kullanımına göre öğrenir.</a:t>
            </a:r>
          </a:p>
          <a:p>
            <a:pPr>
              <a:lnSpc>
                <a:spcPct val="125000"/>
              </a:lnSpc>
              <a:buFont typeface="Arial" panose="020B0604020202020204" pitchFamily="34" charset="0"/>
              <a:buChar char="•"/>
            </a:pPr>
            <a:r>
              <a:rPr lang="tr-TR" sz="1300" noProof="0" dirty="0"/>
              <a:t>Önceki yöntemlerden (</a:t>
            </a:r>
            <a:r>
              <a:rPr lang="tr-TR" sz="1300" noProof="0" dirty="0" err="1"/>
              <a:t>BoW</a:t>
            </a:r>
            <a:r>
              <a:rPr lang="tr-TR" sz="1300" noProof="0" dirty="0"/>
              <a:t>, TF-IDF, klasik </a:t>
            </a:r>
            <a:r>
              <a:rPr lang="tr-TR" sz="1300" noProof="0" dirty="0" err="1"/>
              <a:t>embeddings</a:t>
            </a:r>
            <a:r>
              <a:rPr lang="tr-TR" sz="1300" noProof="0" dirty="0"/>
              <a:t>) farklı olarak, iki yönlü bağlam bilgisini dikkate alır.</a:t>
            </a:r>
          </a:p>
          <a:p>
            <a:pPr>
              <a:lnSpc>
                <a:spcPct val="125000"/>
              </a:lnSpc>
              <a:buFont typeface="Arial" panose="020B0604020202020204" pitchFamily="34" charset="0"/>
              <a:buChar char="•"/>
            </a:pPr>
            <a:r>
              <a:rPr lang="tr-TR" sz="1300" noProof="0" dirty="0"/>
              <a:t>Günümüzde birçok ileri seviye NLP uygulamasının temelini oluşturur.</a:t>
            </a:r>
          </a:p>
        </p:txBody>
      </p:sp>
      <p:graphicFrame>
        <p:nvGraphicFramePr>
          <p:cNvPr id="6" name="Table 5">
            <a:extLst>
              <a:ext uri="{FF2B5EF4-FFF2-40B4-BE49-F238E27FC236}">
                <a16:creationId xmlns:a16="http://schemas.microsoft.com/office/drawing/2014/main" id="{CBD013AB-9573-5C82-CAEF-599894A04637}"/>
              </a:ext>
            </a:extLst>
          </p:cNvPr>
          <p:cNvGraphicFramePr>
            <a:graphicFrameLocks noGrp="1"/>
          </p:cNvGraphicFramePr>
          <p:nvPr>
            <p:extLst>
              <p:ext uri="{D42A27DB-BD31-4B8C-83A1-F6EECF244321}">
                <p14:modId xmlns:p14="http://schemas.microsoft.com/office/powerpoint/2010/main" val="2675541852"/>
              </p:ext>
            </p:extLst>
          </p:nvPr>
        </p:nvGraphicFramePr>
        <p:xfrm>
          <a:off x="6248402" y="3298828"/>
          <a:ext cx="4988717" cy="2530832"/>
        </p:xfrm>
        <a:graphic>
          <a:graphicData uri="http://schemas.openxmlformats.org/drawingml/2006/table">
            <a:tbl>
              <a:tblPr firstRow="1" bandRow="1">
                <a:tableStyleId>{5C22544A-7EE6-4342-B048-85BDC9FD1C3A}</a:tableStyleId>
              </a:tblPr>
              <a:tblGrid>
                <a:gridCol w="2582655">
                  <a:extLst>
                    <a:ext uri="{9D8B030D-6E8A-4147-A177-3AD203B41FA5}">
                      <a16:colId xmlns:a16="http://schemas.microsoft.com/office/drawing/2014/main" val="791464525"/>
                    </a:ext>
                  </a:extLst>
                </a:gridCol>
                <a:gridCol w="2406062">
                  <a:extLst>
                    <a:ext uri="{9D8B030D-6E8A-4147-A177-3AD203B41FA5}">
                      <a16:colId xmlns:a16="http://schemas.microsoft.com/office/drawing/2014/main" val="3959154521"/>
                    </a:ext>
                  </a:extLst>
                </a:gridCol>
              </a:tblGrid>
              <a:tr h="329435">
                <a:tc>
                  <a:txBody>
                    <a:bodyPr/>
                    <a:lstStyle/>
                    <a:p>
                      <a:pPr>
                        <a:buNone/>
                      </a:pPr>
                      <a:r>
                        <a:rPr lang="en-US" sz="1700" dirty="0" err="1"/>
                        <a:t>Türkçe</a:t>
                      </a:r>
                      <a:r>
                        <a:rPr lang="en-US" sz="1700" dirty="0"/>
                        <a:t> Terim</a:t>
                      </a:r>
                    </a:p>
                  </a:txBody>
                  <a:tcPr marL="84819" marR="84819" marT="42409" marB="42409" anchor="ctr"/>
                </a:tc>
                <a:tc>
                  <a:txBody>
                    <a:bodyPr/>
                    <a:lstStyle/>
                    <a:p>
                      <a:pPr>
                        <a:buNone/>
                      </a:pPr>
                      <a:r>
                        <a:rPr lang="en-US" sz="1700"/>
                        <a:t>English Term</a:t>
                      </a:r>
                    </a:p>
                  </a:txBody>
                  <a:tcPr marL="84819" marR="84819" marT="42409" marB="42409" anchor="ctr"/>
                </a:tc>
                <a:extLst>
                  <a:ext uri="{0D108BD9-81ED-4DB2-BD59-A6C34878D82A}">
                    <a16:rowId xmlns:a16="http://schemas.microsoft.com/office/drawing/2014/main" val="3086672767"/>
                  </a:ext>
                </a:extLst>
              </a:tr>
              <a:tr h="329435">
                <a:tc>
                  <a:txBody>
                    <a:bodyPr/>
                    <a:lstStyle/>
                    <a:p>
                      <a:pPr>
                        <a:buNone/>
                      </a:pPr>
                      <a:r>
                        <a:rPr lang="en-US" sz="1700"/>
                        <a:t>Dönüştürücü Model</a:t>
                      </a:r>
                    </a:p>
                  </a:txBody>
                  <a:tcPr marL="84819" marR="84819" marT="42409" marB="42409" anchor="ctr"/>
                </a:tc>
                <a:tc>
                  <a:txBody>
                    <a:bodyPr/>
                    <a:lstStyle/>
                    <a:p>
                      <a:pPr>
                        <a:buNone/>
                      </a:pPr>
                      <a:r>
                        <a:rPr lang="en-US" sz="1700"/>
                        <a:t>Transformer</a:t>
                      </a:r>
                    </a:p>
                  </a:txBody>
                  <a:tcPr marL="84819" marR="84819" marT="42409" marB="42409" anchor="ctr"/>
                </a:tc>
                <a:extLst>
                  <a:ext uri="{0D108BD9-81ED-4DB2-BD59-A6C34878D82A}">
                    <a16:rowId xmlns:a16="http://schemas.microsoft.com/office/drawing/2014/main" val="903527434"/>
                  </a:ext>
                </a:extLst>
              </a:tr>
              <a:tr h="329435">
                <a:tc>
                  <a:txBody>
                    <a:bodyPr/>
                    <a:lstStyle/>
                    <a:p>
                      <a:pPr>
                        <a:buNone/>
                      </a:pPr>
                      <a:r>
                        <a:rPr lang="en-US" sz="1700"/>
                        <a:t>Bağlam</a:t>
                      </a:r>
                    </a:p>
                  </a:txBody>
                  <a:tcPr marL="84819" marR="84819" marT="42409" marB="42409" anchor="ctr"/>
                </a:tc>
                <a:tc>
                  <a:txBody>
                    <a:bodyPr/>
                    <a:lstStyle/>
                    <a:p>
                      <a:pPr>
                        <a:buNone/>
                      </a:pPr>
                      <a:r>
                        <a:rPr lang="en-US" sz="1700"/>
                        <a:t>Context</a:t>
                      </a:r>
                    </a:p>
                  </a:txBody>
                  <a:tcPr marL="84819" marR="84819" marT="42409" marB="42409" anchor="ctr"/>
                </a:tc>
                <a:extLst>
                  <a:ext uri="{0D108BD9-81ED-4DB2-BD59-A6C34878D82A}">
                    <a16:rowId xmlns:a16="http://schemas.microsoft.com/office/drawing/2014/main" val="2725333664"/>
                  </a:ext>
                </a:extLst>
              </a:tr>
              <a:tr h="577620">
                <a:tc>
                  <a:txBody>
                    <a:bodyPr/>
                    <a:lstStyle/>
                    <a:p>
                      <a:pPr>
                        <a:buNone/>
                      </a:pPr>
                      <a:r>
                        <a:rPr lang="en-US" sz="1700"/>
                        <a:t>İki Yönlü Bağlam</a:t>
                      </a:r>
                    </a:p>
                  </a:txBody>
                  <a:tcPr marL="84819" marR="84819" marT="42409" marB="42409" anchor="ctr"/>
                </a:tc>
                <a:tc>
                  <a:txBody>
                    <a:bodyPr/>
                    <a:lstStyle/>
                    <a:p>
                      <a:pPr>
                        <a:buNone/>
                      </a:pPr>
                      <a:r>
                        <a:rPr lang="en-US" sz="1700"/>
                        <a:t>Bidirectional Context</a:t>
                      </a:r>
                    </a:p>
                  </a:txBody>
                  <a:tcPr marL="84819" marR="84819" marT="42409" marB="42409" anchor="ctr"/>
                </a:tc>
                <a:extLst>
                  <a:ext uri="{0D108BD9-81ED-4DB2-BD59-A6C34878D82A}">
                    <a16:rowId xmlns:a16="http://schemas.microsoft.com/office/drawing/2014/main" val="3424214844"/>
                  </a:ext>
                </a:extLst>
              </a:tr>
              <a:tr h="577620">
                <a:tc>
                  <a:txBody>
                    <a:bodyPr/>
                    <a:lstStyle/>
                    <a:p>
                      <a:pPr>
                        <a:buNone/>
                      </a:pPr>
                      <a:r>
                        <a:rPr lang="en-US" sz="1700"/>
                        <a:t>Önceden Eğitilmiş Model</a:t>
                      </a:r>
                    </a:p>
                  </a:txBody>
                  <a:tcPr marL="84819" marR="84819" marT="42409" marB="42409" anchor="ctr"/>
                </a:tc>
                <a:tc>
                  <a:txBody>
                    <a:bodyPr/>
                    <a:lstStyle/>
                    <a:p>
                      <a:pPr>
                        <a:buNone/>
                      </a:pPr>
                      <a:r>
                        <a:rPr lang="en-US" sz="1700"/>
                        <a:t>Pre-trained Model</a:t>
                      </a:r>
                    </a:p>
                  </a:txBody>
                  <a:tcPr marL="84819" marR="84819" marT="42409" marB="42409" anchor="ctr"/>
                </a:tc>
                <a:extLst>
                  <a:ext uri="{0D108BD9-81ED-4DB2-BD59-A6C34878D82A}">
                    <a16:rowId xmlns:a16="http://schemas.microsoft.com/office/drawing/2014/main" val="3458585715"/>
                  </a:ext>
                </a:extLst>
              </a:tr>
              <a:tr h="329435">
                <a:tc>
                  <a:txBody>
                    <a:bodyPr/>
                    <a:lstStyle/>
                    <a:p>
                      <a:pPr>
                        <a:buNone/>
                      </a:pPr>
                      <a:r>
                        <a:rPr lang="en-US" sz="1700" dirty="0"/>
                        <a:t>Derin </a:t>
                      </a:r>
                      <a:r>
                        <a:rPr lang="en-US" sz="1700" dirty="0" err="1"/>
                        <a:t>Öğrenme</a:t>
                      </a:r>
                      <a:endParaRPr lang="en-US" sz="1700" dirty="0"/>
                    </a:p>
                  </a:txBody>
                  <a:tcPr marL="84819" marR="84819" marT="42409" marB="42409" anchor="ctr"/>
                </a:tc>
                <a:tc>
                  <a:txBody>
                    <a:bodyPr/>
                    <a:lstStyle/>
                    <a:p>
                      <a:pPr>
                        <a:buNone/>
                      </a:pPr>
                      <a:r>
                        <a:rPr lang="en-US" sz="1700" dirty="0"/>
                        <a:t>Deep Learning</a:t>
                      </a:r>
                    </a:p>
                  </a:txBody>
                  <a:tcPr marL="84819" marR="84819" marT="42409" marB="42409" anchor="ctr"/>
                </a:tc>
                <a:extLst>
                  <a:ext uri="{0D108BD9-81ED-4DB2-BD59-A6C34878D82A}">
                    <a16:rowId xmlns:a16="http://schemas.microsoft.com/office/drawing/2014/main" val="1692606936"/>
                  </a:ext>
                </a:extLst>
              </a:tr>
            </a:tbl>
          </a:graphicData>
        </a:graphic>
      </p:graphicFrame>
      <p:sp>
        <p:nvSpPr>
          <p:cNvPr id="8" name="TextBox 7">
            <a:extLst>
              <a:ext uri="{FF2B5EF4-FFF2-40B4-BE49-F238E27FC236}">
                <a16:creationId xmlns:a16="http://schemas.microsoft.com/office/drawing/2014/main" id="{0F6C5716-A75D-1CB5-89D1-1BB014E4931B}"/>
              </a:ext>
            </a:extLst>
          </p:cNvPr>
          <p:cNvSpPr txBox="1"/>
          <p:nvPr/>
        </p:nvSpPr>
        <p:spPr>
          <a:xfrm>
            <a:off x="6248402" y="2143394"/>
            <a:ext cx="4988717" cy="817981"/>
          </a:xfrm>
          <a:prstGeom prst="rect">
            <a:avLst/>
          </a:prstGeom>
          <a:noFill/>
        </p:spPr>
        <p:txBody>
          <a:bodyPr wrap="square">
            <a:spAutoFit/>
          </a:bodyPr>
          <a:lstStyle/>
          <a:p>
            <a:pPr>
              <a:lnSpc>
                <a:spcPct val="125000"/>
              </a:lnSpc>
            </a:pPr>
            <a:r>
              <a:rPr lang="tr-TR" sz="1300" noProof="0" dirty="0" err="1"/>
              <a:t>Transformer</a:t>
            </a:r>
            <a:r>
              <a:rPr lang="tr-TR" sz="1300" noProof="0" dirty="0"/>
              <a:t> modelleri güncel NLP çalışmalarında yaygın olsa da, bu çalışmada daha yorumlanabilir ve ders kapsamında uygun olduğu için TF-IDF tabanlı yöntemler tercih edilmiştir.</a:t>
            </a:r>
          </a:p>
        </p:txBody>
      </p:sp>
      <p:sp>
        <p:nvSpPr>
          <p:cNvPr id="9" name="TextBox 8">
            <a:extLst>
              <a:ext uri="{FF2B5EF4-FFF2-40B4-BE49-F238E27FC236}">
                <a16:creationId xmlns:a16="http://schemas.microsoft.com/office/drawing/2014/main" id="{81B1659C-5CF9-88F9-1743-C71763EC7E48}"/>
              </a:ext>
            </a:extLst>
          </p:cNvPr>
          <p:cNvSpPr txBox="1"/>
          <p:nvPr/>
        </p:nvSpPr>
        <p:spPr>
          <a:xfrm>
            <a:off x="1013422" y="4375632"/>
            <a:ext cx="4958862" cy="1568186"/>
          </a:xfrm>
          <a:prstGeom prst="rect">
            <a:avLst/>
          </a:prstGeom>
          <a:noFill/>
        </p:spPr>
        <p:txBody>
          <a:bodyPr wrap="square">
            <a:spAutoFit/>
          </a:bodyPr>
          <a:lstStyle/>
          <a:p>
            <a:pPr>
              <a:lnSpc>
                <a:spcPct val="125000"/>
              </a:lnSpc>
              <a:buNone/>
            </a:pPr>
            <a:r>
              <a:rPr lang="tr-TR" sz="1300" b="1" noProof="0" dirty="0" err="1"/>
              <a:t>Vectorization</a:t>
            </a:r>
            <a:r>
              <a:rPr lang="tr-TR" sz="1300" b="1" noProof="0" dirty="0"/>
              <a:t> Yöntemleri — Kısa Karşılaştırma</a:t>
            </a:r>
          </a:p>
          <a:p>
            <a:pPr>
              <a:lnSpc>
                <a:spcPct val="125000"/>
              </a:lnSpc>
              <a:buNone/>
            </a:pPr>
            <a:r>
              <a:rPr lang="tr-TR" sz="1300" noProof="0" dirty="0"/>
              <a:t>• </a:t>
            </a:r>
            <a:r>
              <a:rPr lang="tr-TR" sz="1300" noProof="0" dirty="0" err="1"/>
              <a:t>One</a:t>
            </a:r>
            <a:r>
              <a:rPr lang="tr-TR" sz="1300" noProof="0" dirty="0"/>
              <a:t>-hot </a:t>
            </a:r>
            <a:r>
              <a:rPr lang="tr-TR" sz="1300" noProof="0" dirty="0" err="1"/>
              <a:t>Encoding</a:t>
            </a:r>
            <a:r>
              <a:rPr lang="tr-TR" sz="1300" noProof="0" dirty="0"/>
              <a:t>: Kelimenin var-yok bilgisini kodlar; bağlam içermez.</a:t>
            </a:r>
            <a:br>
              <a:rPr lang="tr-TR" sz="1300" noProof="0" dirty="0"/>
            </a:br>
            <a:r>
              <a:rPr lang="tr-TR" sz="1300" noProof="0" dirty="0"/>
              <a:t>• </a:t>
            </a:r>
            <a:r>
              <a:rPr lang="tr-TR" sz="1300" noProof="0" dirty="0" err="1"/>
              <a:t>Count</a:t>
            </a:r>
            <a:r>
              <a:rPr lang="tr-TR" sz="1300" noProof="0" dirty="0"/>
              <a:t> </a:t>
            </a:r>
            <a:r>
              <a:rPr lang="tr-TR" sz="1300" noProof="0" dirty="0" err="1"/>
              <a:t>Vectorizer</a:t>
            </a:r>
            <a:r>
              <a:rPr lang="tr-TR" sz="1300" noProof="0" dirty="0"/>
              <a:t>: Kelime sıklığını sayar; temel yöntemdir.</a:t>
            </a:r>
            <a:br>
              <a:rPr lang="tr-TR" sz="1300" noProof="0" dirty="0"/>
            </a:br>
            <a:r>
              <a:rPr lang="tr-TR" sz="1300" noProof="0" dirty="0"/>
              <a:t>• TF-IDF: Sık geçen ama önemsiz kelimeleri baskılar, önemli kelimeleri öne çıkarır; daha gelişmiş temsil sağlar.</a:t>
            </a:r>
          </a:p>
        </p:txBody>
      </p:sp>
      <p:sp>
        <p:nvSpPr>
          <p:cNvPr id="2" name="TextBox 1">
            <a:extLst>
              <a:ext uri="{FF2B5EF4-FFF2-40B4-BE49-F238E27FC236}">
                <a16:creationId xmlns:a16="http://schemas.microsoft.com/office/drawing/2014/main" id="{6C040D24-332C-63BA-5F33-419BB46886BF}"/>
              </a:ext>
            </a:extLst>
          </p:cNvPr>
          <p:cNvSpPr txBox="1"/>
          <p:nvPr/>
        </p:nvSpPr>
        <p:spPr>
          <a:xfrm>
            <a:off x="6248401" y="5872380"/>
            <a:ext cx="4988717" cy="283154"/>
          </a:xfrm>
          <a:prstGeom prst="rect">
            <a:avLst/>
          </a:prstGeom>
          <a:noFill/>
        </p:spPr>
        <p:txBody>
          <a:bodyPr wrap="square">
            <a:spAutoFit/>
          </a:bodyPr>
          <a:lstStyle/>
          <a:p>
            <a:pPr algn="ctr">
              <a:lnSpc>
                <a:spcPct val="125000"/>
              </a:lnSpc>
            </a:pPr>
            <a:r>
              <a:rPr lang="tr-TR" sz="1100" noProof="0" dirty="0"/>
              <a:t>Terimlerin Türkçe–İngilizce karşılıkları</a:t>
            </a:r>
          </a:p>
        </p:txBody>
      </p:sp>
      <p:sp>
        <p:nvSpPr>
          <p:cNvPr id="7" name="TextBox 6">
            <a:extLst>
              <a:ext uri="{FF2B5EF4-FFF2-40B4-BE49-F238E27FC236}">
                <a16:creationId xmlns:a16="http://schemas.microsoft.com/office/drawing/2014/main" id="{CD9D73DB-D59C-4E56-BDE0-E35F11AC8B0A}"/>
              </a:ext>
            </a:extLst>
          </p:cNvPr>
          <p:cNvSpPr txBox="1"/>
          <p:nvPr/>
        </p:nvSpPr>
        <p:spPr>
          <a:xfrm>
            <a:off x="6248401" y="2975663"/>
            <a:ext cx="4988717" cy="323165"/>
          </a:xfrm>
          <a:prstGeom prst="rect">
            <a:avLst/>
          </a:prstGeom>
          <a:noFill/>
        </p:spPr>
        <p:txBody>
          <a:bodyPr wrap="square">
            <a:spAutoFit/>
          </a:bodyPr>
          <a:lstStyle/>
          <a:p>
            <a:pPr algn="ctr"/>
            <a:r>
              <a:rPr lang="tr-TR" sz="1500" noProof="0" dirty="0"/>
              <a:t>Modern NLP Yaklaşımlarına Ait Terimler </a:t>
            </a:r>
          </a:p>
        </p:txBody>
      </p:sp>
      <p:pic>
        <p:nvPicPr>
          <p:cNvPr id="10" name="Picture 9">
            <a:extLst>
              <a:ext uri="{FF2B5EF4-FFF2-40B4-BE49-F238E27FC236}">
                <a16:creationId xmlns:a16="http://schemas.microsoft.com/office/drawing/2014/main" id="{0016BAB2-77B0-DCB0-8384-4DC25EEDBA82}"/>
              </a:ext>
            </a:extLst>
          </p:cNvPr>
          <p:cNvPicPr>
            <a:picLocks noChangeAspect="1"/>
          </p:cNvPicPr>
          <p:nvPr/>
        </p:nvPicPr>
        <p:blipFill>
          <a:blip r:embed="rId2"/>
          <a:stretch>
            <a:fillRect/>
          </a:stretch>
        </p:blipFill>
        <p:spPr>
          <a:xfrm>
            <a:off x="142875" y="49208"/>
            <a:ext cx="3394274" cy="1993905"/>
          </a:xfrm>
          <a:prstGeom prst="rect">
            <a:avLst/>
          </a:prstGeom>
        </p:spPr>
      </p:pic>
      <p:sp>
        <p:nvSpPr>
          <p:cNvPr id="3" name="TextBox 2">
            <a:extLst>
              <a:ext uri="{FF2B5EF4-FFF2-40B4-BE49-F238E27FC236}">
                <a16:creationId xmlns:a16="http://schemas.microsoft.com/office/drawing/2014/main" id="{0EAE2570-AA89-C667-D2D9-0A4B8709073E}"/>
              </a:ext>
            </a:extLst>
          </p:cNvPr>
          <p:cNvSpPr txBox="1"/>
          <p:nvPr/>
        </p:nvSpPr>
        <p:spPr>
          <a:xfrm>
            <a:off x="0" y="844043"/>
            <a:ext cx="12192000" cy="523220"/>
          </a:xfrm>
          <a:prstGeom prst="rect">
            <a:avLst/>
          </a:prstGeom>
          <a:noFill/>
        </p:spPr>
        <p:txBody>
          <a:bodyPr wrap="square">
            <a:spAutoFit/>
          </a:bodyPr>
          <a:lstStyle/>
          <a:p>
            <a:r>
              <a:rPr lang="tr-TR" sz="2800" dirty="0"/>
              <a:t>                                     Modern</a:t>
            </a:r>
            <a:r>
              <a:rPr lang="en-US" sz="2800" dirty="0"/>
              <a:t> NLP </a:t>
            </a:r>
            <a:r>
              <a:rPr lang="en-US" sz="2800" dirty="0" err="1"/>
              <a:t>Yaklaşımları</a:t>
            </a:r>
            <a:r>
              <a:rPr lang="en-US" sz="2800" dirty="0"/>
              <a:t> (Transformers)</a:t>
            </a:r>
            <a:r>
              <a:rPr lang="tr-TR" sz="2800" dirty="0"/>
              <a:t> Nedir?</a:t>
            </a:r>
          </a:p>
        </p:txBody>
      </p:sp>
    </p:spTree>
    <p:extLst>
      <p:ext uri="{BB962C8B-B14F-4D97-AF65-F5344CB8AC3E}">
        <p14:creationId xmlns:p14="http://schemas.microsoft.com/office/powerpoint/2010/main" val="22007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FFFF4-B81C-9291-B7F0-76E630B4D3F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39487F-5276-EF70-AEE7-EF17102DBB45}"/>
              </a:ext>
            </a:extLst>
          </p:cNvPr>
          <p:cNvSpPr txBox="1"/>
          <p:nvPr/>
        </p:nvSpPr>
        <p:spPr>
          <a:xfrm>
            <a:off x="0" y="593098"/>
            <a:ext cx="12192000" cy="523220"/>
          </a:xfrm>
          <a:prstGeom prst="rect">
            <a:avLst/>
          </a:prstGeom>
          <a:noFill/>
        </p:spPr>
        <p:txBody>
          <a:bodyPr wrap="square">
            <a:spAutoFit/>
          </a:bodyPr>
          <a:lstStyle/>
          <a:p>
            <a:pPr algn="ctr"/>
            <a:r>
              <a:rPr lang="en-US" sz="2800" dirty="0"/>
              <a:t>Duygu </a:t>
            </a:r>
            <a:r>
              <a:rPr lang="en-US" sz="2800" dirty="0" err="1"/>
              <a:t>Analizi</a:t>
            </a:r>
            <a:r>
              <a:rPr lang="en-US" sz="2800" dirty="0"/>
              <a:t> (Sentiment Analysis)</a:t>
            </a:r>
            <a:r>
              <a:rPr lang="tr-TR" sz="2800" dirty="0"/>
              <a:t> Nedir?</a:t>
            </a:r>
          </a:p>
        </p:txBody>
      </p:sp>
      <p:sp>
        <p:nvSpPr>
          <p:cNvPr id="7" name="Rectangle 4">
            <a:extLst>
              <a:ext uri="{FF2B5EF4-FFF2-40B4-BE49-F238E27FC236}">
                <a16:creationId xmlns:a16="http://schemas.microsoft.com/office/drawing/2014/main" id="{4555DDFA-DE8C-8709-132F-2AF3AA9C9073}"/>
              </a:ext>
            </a:extLst>
          </p:cNvPr>
          <p:cNvSpPr>
            <a:spLocks noChangeArrowheads="1"/>
          </p:cNvSpPr>
          <p:nvPr/>
        </p:nvSpPr>
        <p:spPr bwMode="auto">
          <a:xfrm>
            <a:off x="887056" y="1184755"/>
            <a:ext cx="10245597" cy="1568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b="1" i="0" u="none" strike="noStrike" cap="none" normalizeH="0" baseline="0" noProof="0" dirty="0">
                <a:ln>
                  <a:noFill/>
                </a:ln>
                <a:solidFill>
                  <a:schemeClr val="tx1"/>
                </a:solidFill>
                <a:effectLst/>
                <a:latin typeface="Arial" panose="020B0604020202020204" pitchFamily="34" charset="0"/>
              </a:rPr>
              <a:t>Duygu analizi</a:t>
            </a:r>
            <a:r>
              <a:rPr kumimoji="0" lang="tr-TR" sz="1300" b="0" i="0" u="none" strike="noStrike" cap="none" normalizeH="0" baseline="0" noProof="0" dirty="0">
                <a:ln>
                  <a:noFill/>
                </a:ln>
                <a:solidFill>
                  <a:schemeClr val="tx1"/>
                </a:solidFill>
                <a:effectLst/>
                <a:latin typeface="Arial" panose="020B0604020202020204" pitchFamily="34" charset="0"/>
              </a:rPr>
              <a:t>, metinlerde yer alan ifadelerin </a:t>
            </a:r>
            <a:r>
              <a:rPr kumimoji="0" lang="tr-TR" sz="1300" b="1" i="0" u="none" strike="noStrike" cap="none" normalizeH="0" baseline="0" noProof="0" dirty="0">
                <a:ln>
                  <a:noFill/>
                </a:ln>
                <a:solidFill>
                  <a:schemeClr val="tx1"/>
                </a:solidFill>
                <a:effectLst/>
                <a:latin typeface="Arial" panose="020B0604020202020204" pitchFamily="34" charset="0"/>
              </a:rPr>
              <a:t>duygusal yönelimini</a:t>
            </a:r>
            <a:r>
              <a:rPr kumimoji="0" lang="tr-TR" sz="1300" b="0" i="0" u="none" strike="noStrike" cap="none" normalizeH="0" baseline="0" noProof="0" dirty="0">
                <a:ln>
                  <a:noFill/>
                </a:ln>
                <a:solidFill>
                  <a:schemeClr val="tx1"/>
                </a:solidFill>
                <a:effectLst/>
                <a:latin typeface="Arial" panose="020B0604020202020204" pitchFamily="34" charset="0"/>
              </a:rPr>
              <a:t> (olumlu, olumsuz veya nötr) belirlemeyi amaçlayan bir metin analitiği yöntemidir.</a:t>
            </a:r>
          </a:p>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b="0" i="0" u="none" strike="noStrike" cap="none" normalizeH="0" baseline="0" noProof="0" dirty="0">
                <a:ln>
                  <a:noFill/>
                </a:ln>
                <a:solidFill>
                  <a:schemeClr val="tx1"/>
                </a:solidFill>
                <a:effectLst/>
                <a:latin typeface="Arial" panose="020B0604020202020204" pitchFamily="34" charset="0"/>
              </a:rPr>
              <a:t>Bu analiz, kullanıcıların bir ürün, hizmet veya konu hakkındaki </a:t>
            </a:r>
            <a:r>
              <a:rPr kumimoji="0" lang="tr-TR" sz="1300" b="1" i="0" u="none" strike="noStrike" cap="none" normalizeH="0" baseline="0" noProof="0" dirty="0">
                <a:ln>
                  <a:noFill/>
                </a:ln>
                <a:solidFill>
                  <a:schemeClr val="tx1"/>
                </a:solidFill>
                <a:effectLst/>
                <a:latin typeface="Arial" panose="020B0604020202020204" pitchFamily="34" charset="0"/>
              </a:rPr>
              <a:t>tutum ve algılarını</a:t>
            </a:r>
            <a:r>
              <a:rPr kumimoji="0" lang="tr-TR" sz="1300" b="0" i="0" u="none" strike="noStrike" cap="none" normalizeH="0" baseline="0" noProof="0" dirty="0">
                <a:ln>
                  <a:noFill/>
                </a:ln>
                <a:solidFill>
                  <a:schemeClr val="tx1"/>
                </a:solidFill>
                <a:effectLst/>
                <a:latin typeface="Arial" panose="020B0604020202020204" pitchFamily="34" charset="0"/>
              </a:rPr>
              <a:t> metin verileri üzerinden otomatik olarak ortaya çıkarmayı sağlar.</a:t>
            </a:r>
          </a:p>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b="0" i="0" u="none" strike="noStrike" cap="none" normalizeH="0" baseline="0" noProof="0" dirty="0">
                <a:ln>
                  <a:noFill/>
                </a:ln>
                <a:solidFill>
                  <a:schemeClr val="tx1"/>
                </a:solidFill>
                <a:effectLst/>
                <a:latin typeface="Arial" panose="020B0604020202020204" pitchFamily="34" charset="0"/>
              </a:rPr>
              <a:t>Metinler; ön işleme, </a:t>
            </a:r>
            <a:r>
              <a:rPr kumimoji="0" lang="tr-TR" sz="1300" b="0" i="0" u="none" strike="noStrike" cap="none" normalizeH="0" baseline="0" noProof="0" dirty="0" err="1">
                <a:ln>
                  <a:noFill/>
                </a:ln>
                <a:solidFill>
                  <a:schemeClr val="tx1"/>
                </a:solidFill>
                <a:effectLst/>
                <a:latin typeface="Arial" panose="020B0604020202020204" pitchFamily="34" charset="0"/>
              </a:rPr>
              <a:t>vektörleştirme</a:t>
            </a:r>
            <a:r>
              <a:rPr kumimoji="0" lang="tr-TR" sz="1300" b="0" i="0" u="none" strike="noStrike" cap="none" normalizeH="0" baseline="0" noProof="0" dirty="0">
                <a:ln>
                  <a:noFill/>
                </a:ln>
                <a:solidFill>
                  <a:schemeClr val="tx1"/>
                </a:solidFill>
                <a:effectLst/>
                <a:latin typeface="Arial" panose="020B0604020202020204" pitchFamily="34" charset="0"/>
              </a:rPr>
              <a:t> (TF-IDF vb.) ve modelleme adımlarından geçirilerek </a:t>
            </a:r>
            <a:r>
              <a:rPr kumimoji="0" lang="tr-TR" sz="1300" b="1" i="0" u="none" strike="noStrike" cap="none" normalizeH="0" baseline="0" noProof="0" dirty="0">
                <a:ln>
                  <a:noFill/>
                </a:ln>
                <a:solidFill>
                  <a:schemeClr val="tx1"/>
                </a:solidFill>
                <a:effectLst/>
                <a:latin typeface="Arial" panose="020B0604020202020204" pitchFamily="34" charset="0"/>
              </a:rPr>
              <a:t>sınıflandırma problemine</a:t>
            </a:r>
            <a:r>
              <a:rPr kumimoji="0" lang="tr-TR" sz="1300" b="0" i="0" u="none" strike="noStrike" cap="none" normalizeH="0" baseline="0" noProof="0" dirty="0">
                <a:ln>
                  <a:noFill/>
                </a:ln>
                <a:solidFill>
                  <a:schemeClr val="tx1"/>
                </a:solidFill>
                <a:effectLst/>
                <a:latin typeface="Arial" panose="020B0604020202020204" pitchFamily="34" charset="0"/>
              </a:rPr>
              <a:t> dönüştürülür.</a:t>
            </a:r>
          </a:p>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b="0" i="0" u="none" strike="noStrike" cap="none" normalizeH="0" baseline="0" noProof="0" dirty="0">
                <a:ln>
                  <a:noFill/>
                </a:ln>
                <a:solidFill>
                  <a:schemeClr val="tx1"/>
                </a:solidFill>
                <a:effectLst/>
                <a:latin typeface="Arial" panose="020B0604020202020204" pitchFamily="34" charset="0"/>
              </a:rPr>
              <a:t>Duygu analizi, “ne söylendiği” kadar </a:t>
            </a:r>
            <a:r>
              <a:rPr kumimoji="0" lang="tr-TR" sz="1300" b="1" i="0" u="none" strike="noStrike" cap="none" normalizeH="0" baseline="0" noProof="0" dirty="0">
                <a:ln>
                  <a:noFill/>
                </a:ln>
                <a:solidFill>
                  <a:schemeClr val="tx1"/>
                </a:solidFill>
                <a:effectLst/>
                <a:latin typeface="Arial" panose="020B0604020202020204" pitchFamily="34" charset="0"/>
              </a:rPr>
              <a:t>“nasıl hissedildiği”</a:t>
            </a:r>
            <a:r>
              <a:rPr kumimoji="0" lang="tr-TR" sz="1300" b="0" i="0" u="none" strike="noStrike" cap="none" normalizeH="0" baseline="0" noProof="0" dirty="0">
                <a:ln>
                  <a:noFill/>
                </a:ln>
                <a:solidFill>
                  <a:schemeClr val="tx1"/>
                </a:solidFill>
                <a:effectLst/>
                <a:latin typeface="Arial" panose="020B0604020202020204" pitchFamily="34" charset="0"/>
              </a:rPr>
              <a:t> bilgisini de analiz ederek karar destek süreçlerine katkı sağlar.</a:t>
            </a:r>
          </a:p>
        </p:txBody>
      </p:sp>
      <p:graphicFrame>
        <p:nvGraphicFramePr>
          <p:cNvPr id="8" name="Table 7">
            <a:extLst>
              <a:ext uri="{FF2B5EF4-FFF2-40B4-BE49-F238E27FC236}">
                <a16:creationId xmlns:a16="http://schemas.microsoft.com/office/drawing/2014/main" id="{32CFA806-D323-93BE-243A-93DE38994A50}"/>
              </a:ext>
            </a:extLst>
          </p:cNvPr>
          <p:cNvGraphicFramePr>
            <a:graphicFrameLocks noGrp="1"/>
          </p:cNvGraphicFramePr>
          <p:nvPr>
            <p:extLst>
              <p:ext uri="{D42A27DB-BD31-4B8C-83A1-F6EECF244321}">
                <p14:modId xmlns:p14="http://schemas.microsoft.com/office/powerpoint/2010/main" val="2904364162"/>
              </p:ext>
            </p:extLst>
          </p:nvPr>
        </p:nvGraphicFramePr>
        <p:xfrm>
          <a:off x="887058" y="3172452"/>
          <a:ext cx="4450688" cy="2808281"/>
        </p:xfrm>
        <a:graphic>
          <a:graphicData uri="http://schemas.openxmlformats.org/drawingml/2006/table">
            <a:tbl>
              <a:tblPr firstRow="1" bandRow="1">
                <a:tableStyleId>{5C22544A-7EE6-4342-B048-85BDC9FD1C3A}</a:tableStyleId>
              </a:tblPr>
              <a:tblGrid>
                <a:gridCol w="2225344">
                  <a:extLst>
                    <a:ext uri="{9D8B030D-6E8A-4147-A177-3AD203B41FA5}">
                      <a16:colId xmlns:a16="http://schemas.microsoft.com/office/drawing/2014/main" val="3505516133"/>
                    </a:ext>
                  </a:extLst>
                </a:gridCol>
                <a:gridCol w="2225344">
                  <a:extLst>
                    <a:ext uri="{9D8B030D-6E8A-4147-A177-3AD203B41FA5}">
                      <a16:colId xmlns:a16="http://schemas.microsoft.com/office/drawing/2014/main" val="2610219001"/>
                    </a:ext>
                  </a:extLst>
                </a:gridCol>
              </a:tblGrid>
              <a:tr h="401183">
                <a:tc>
                  <a:txBody>
                    <a:bodyPr/>
                    <a:lstStyle/>
                    <a:p>
                      <a:pPr>
                        <a:buNone/>
                      </a:pPr>
                      <a:r>
                        <a:rPr lang="en-US" dirty="0" err="1"/>
                        <a:t>Türkçe</a:t>
                      </a:r>
                      <a:r>
                        <a:rPr lang="en-US" dirty="0"/>
                        <a:t> Terim</a:t>
                      </a:r>
                    </a:p>
                  </a:txBody>
                  <a:tcPr anchor="ctr"/>
                </a:tc>
                <a:tc>
                  <a:txBody>
                    <a:bodyPr/>
                    <a:lstStyle/>
                    <a:p>
                      <a:pPr>
                        <a:buNone/>
                      </a:pPr>
                      <a:r>
                        <a:rPr lang="en-US"/>
                        <a:t>English Term</a:t>
                      </a:r>
                    </a:p>
                  </a:txBody>
                  <a:tcPr anchor="ctr"/>
                </a:tc>
                <a:extLst>
                  <a:ext uri="{0D108BD9-81ED-4DB2-BD59-A6C34878D82A}">
                    <a16:rowId xmlns:a16="http://schemas.microsoft.com/office/drawing/2014/main" val="2274630972"/>
                  </a:ext>
                </a:extLst>
              </a:tr>
              <a:tr h="401183">
                <a:tc>
                  <a:txBody>
                    <a:bodyPr/>
                    <a:lstStyle/>
                    <a:p>
                      <a:pPr>
                        <a:buNone/>
                      </a:pPr>
                      <a:r>
                        <a:rPr lang="en-US"/>
                        <a:t>Duygu Analizi</a:t>
                      </a:r>
                    </a:p>
                  </a:txBody>
                  <a:tcPr anchor="ctr"/>
                </a:tc>
                <a:tc>
                  <a:txBody>
                    <a:bodyPr/>
                    <a:lstStyle/>
                    <a:p>
                      <a:pPr>
                        <a:buNone/>
                      </a:pPr>
                      <a:r>
                        <a:rPr lang="en-US"/>
                        <a:t>Sentiment Analysis</a:t>
                      </a:r>
                    </a:p>
                  </a:txBody>
                  <a:tcPr anchor="ctr"/>
                </a:tc>
                <a:extLst>
                  <a:ext uri="{0D108BD9-81ED-4DB2-BD59-A6C34878D82A}">
                    <a16:rowId xmlns:a16="http://schemas.microsoft.com/office/drawing/2014/main" val="4009925299"/>
                  </a:ext>
                </a:extLst>
              </a:tr>
              <a:tr h="401183">
                <a:tc>
                  <a:txBody>
                    <a:bodyPr/>
                    <a:lstStyle/>
                    <a:p>
                      <a:pPr>
                        <a:buNone/>
                      </a:pPr>
                      <a:r>
                        <a:rPr lang="en-US"/>
                        <a:t>Olumlu Duygu</a:t>
                      </a:r>
                    </a:p>
                  </a:txBody>
                  <a:tcPr anchor="ctr"/>
                </a:tc>
                <a:tc>
                  <a:txBody>
                    <a:bodyPr/>
                    <a:lstStyle/>
                    <a:p>
                      <a:pPr>
                        <a:buNone/>
                      </a:pPr>
                      <a:r>
                        <a:rPr lang="en-US"/>
                        <a:t>Positive Sentiment</a:t>
                      </a:r>
                    </a:p>
                  </a:txBody>
                  <a:tcPr anchor="ctr"/>
                </a:tc>
                <a:extLst>
                  <a:ext uri="{0D108BD9-81ED-4DB2-BD59-A6C34878D82A}">
                    <a16:rowId xmlns:a16="http://schemas.microsoft.com/office/drawing/2014/main" val="2985570975"/>
                  </a:ext>
                </a:extLst>
              </a:tr>
              <a:tr h="401183">
                <a:tc>
                  <a:txBody>
                    <a:bodyPr/>
                    <a:lstStyle/>
                    <a:p>
                      <a:pPr>
                        <a:buNone/>
                      </a:pPr>
                      <a:r>
                        <a:rPr lang="en-US"/>
                        <a:t>Olumsuz Duygu</a:t>
                      </a:r>
                    </a:p>
                  </a:txBody>
                  <a:tcPr anchor="ctr"/>
                </a:tc>
                <a:tc>
                  <a:txBody>
                    <a:bodyPr/>
                    <a:lstStyle/>
                    <a:p>
                      <a:pPr>
                        <a:buNone/>
                      </a:pPr>
                      <a:r>
                        <a:rPr lang="en-US" dirty="0"/>
                        <a:t>Negative Sentiment</a:t>
                      </a:r>
                    </a:p>
                  </a:txBody>
                  <a:tcPr anchor="ctr"/>
                </a:tc>
                <a:extLst>
                  <a:ext uri="{0D108BD9-81ED-4DB2-BD59-A6C34878D82A}">
                    <a16:rowId xmlns:a16="http://schemas.microsoft.com/office/drawing/2014/main" val="3252929412"/>
                  </a:ext>
                </a:extLst>
              </a:tr>
              <a:tr h="401183">
                <a:tc>
                  <a:txBody>
                    <a:bodyPr/>
                    <a:lstStyle/>
                    <a:p>
                      <a:pPr>
                        <a:buNone/>
                      </a:pPr>
                      <a:r>
                        <a:rPr lang="en-US"/>
                        <a:t>Nötr Duygu</a:t>
                      </a:r>
                    </a:p>
                  </a:txBody>
                  <a:tcPr anchor="ctr"/>
                </a:tc>
                <a:tc>
                  <a:txBody>
                    <a:bodyPr/>
                    <a:lstStyle/>
                    <a:p>
                      <a:pPr>
                        <a:buNone/>
                      </a:pPr>
                      <a:r>
                        <a:rPr lang="en-US" dirty="0"/>
                        <a:t>Neutral Sentiment</a:t>
                      </a:r>
                    </a:p>
                  </a:txBody>
                  <a:tcPr anchor="ctr"/>
                </a:tc>
                <a:extLst>
                  <a:ext uri="{0D108BD9-81ED-4DB2-BD59-A6C34878D82A}">
                    <a16:rowId xmlns:a16="http://schemas.microsoft.com/office/drawing/2014/main" val="1487163684"/>
                  </a:ext>
                </a:extLst>
              </a:tr>
              <a:tr h="401183">
                <a:tc>
                  <a:txBody>
                    <a:bodyPr/>
                    <a:lstStyle/>
                    <a:p>
                      <a:pPr>
                        <a:buNone/>
                      </a:pPr>
                      <a:r>
                        <a:rPr lang="en-US"/>
                        <a:t>Duygu Yönelimi</a:t>
                      </a:r>
                    </a:p>
                  </a:txBody>
                  <a:tcPr anchor="ctr"/>
                </a:tc>
                <a:tc>
                  <a:txBody>
                    <a:bodyPr/>
                    <a:lstStyle/>
                    <a:p>
                      <a:pPr>
                        <a:buNone/>
                      </a:pPr>
                      <a:r>
                        <a:rPr lang="en-US" dirty="0"/>
                        <a:t>Polarity</a:t>
                      </a:r>
                    </a:p>
                  </a:txBody>
                  <a:tcPr anchor="ctr"/>
                </a:tc>
                <a:extLst>
                  <a:ext uri="{0D108BD9-81ED-4DB2-BD59-A6C34878D82A}">
                    <a16:rowId xmlns:a16="http://schemas.microsoft.com/office/drawing/2014/main" val="1785177908"/>
                  </a:ext>
                </a:extLst>
              </a:tr>
              <a:tr h="401183">
                <a:tc>
                  <a:txBody>
                    <a:bodyPr/>
                    <a:lstStyle/>
                    <a:p>
                      <a:pPr>
                        <a:buNone/>
                      </a:pPr>
                      <a:r>
                        <a:rPr lang="en-US" dirty="0"/>
                        <a:t>Metin </a:t>
                      </a:r>
                      <a:r>
                        <a:rPr lang="en-US" dirty="0" err="1"/>
                        <a:t>Sınıflandırma</a:t>
                      </a:r>
                      <a:endParaRPr lang="en-US" dirty="0"/>
                    </a:p>
                  </a:txBody>
                  <a:tcPr anchor="ctr"/>
                </a:tc>
                <a:tc>
                  <a:txBody>
                    <a:bodyPr/>
                    <a:lstStyle/>
                    <a:p>
                      <a:pPr>
                        <a:buNone/>
                      </a:pPr>
                      <a:r>
                        <a:rPr lang="en-US" dirty="0"/>
                        <a:t>Text Classification</a:t>
                      </a:r>
                    </a:p>
                  </a:txBody>
                  <a:tcPr anchor="ctr"/>
                </a:tc>
                <a:extLst>
                  <a:ext uri="{0D108BD9-81ED-4DB2-BD59-A6C34878D82A}">
                    <a16:rowId xmlns:a16="http://schemas.microsoft.com/office/drawing/2014/main" val="2419978313"/>
                  </a:ext>
                </a:extLst>
              </a:tr>
            </a:tbl>
          </a:graphicData>
        </a:graphic>
      </p:graphicFrame>
      <p:sp>
        <p:nvSpPr>
          <p:cNvPr id="10" name="TextBox 9">
            <a:extLst>
              <a:ext uri="{FF2B5EF4-FFF2-40B4-BE49-F238E27FC236}">
                <a16:creationId xmlns:a16="http://schemas.microsoft.com/office/drawing/2014/main" id="{130300DD-6017-945B-F771-1D1A0D195125}"/>
              </a:ext>
            </a:extLst>
          </p:cNvPr>
          <p:cNvSpPr txBox="1"/>
          <p:nvPr/>
        </p:nvSpPr>
        <p:spPr>
          <a:xfrm>
            <a:off x="5673171" y="3433332"/>
            <a:ext cx="2289143" cy="1506695"/>
          </a:xfrm>
          <a:prstGeom prst="rect">
            <a:avLst/>
          </a:prstGeom>
          <a:noFill/>
        </p:spPr>
        <p:txBody>
          <a:bodyPr wrap="square">
            <a:spAutoFit/>
          </a:bodyPr>
          <a:lstStyle/>
          <a:p>
            <a:pPr>
              <a:lnSpc>
                <a:spcPct val="125000"/>
              </a:lnSpc>
            </a:pPr>
            <a:r>
              <a:rPr lang="tr-TR" sz="1500" noProof="0" dirty="0"/>
              <a:t>Bu nedenle duygu analizi, özellikle kullanıcı geri bildirimlerinin yoğun olduğu alanlarda önemli içgörüler sunar.</a:t>
            </a:r>
          </a:p>
        </p:txBody>
      </p:sp>
      <p:sp>
        <p:nvSpPr>
          <p:cNvPr id="2" name="TextBox 1">
            <a:extLst>
              <a:ext uri="{FF2B5EF4-FFF2-40B4-BE49-F238E27FC236}">
                <a16:creationId xmlns:a16="http://schemas.microsoft.com/office/drawing/2014/main" id="{EFE236DD-2A1A-E8B9-95CE-640D8E5DBC70}"/>
              </a:ext>
            </a:extLst>
          </p:cNvPr>
          <p:cNvSpPr txBox="1"/>
          <p:nvPr/>
        </p:nvSpPr>
        <p:spPr>
          <a:xfrm>
            <a:off x="887058" y="5957750"/>
            <a:ext cx="4382447" cy="283154"/>
          </a:xfrm>
          <a:prstGeom prst="rect">
            <a:avLst/>
          </a:prstGeom>
          <a:noFill/>
        </p:spPr>
        <p:txBody>
          <a:bodyPr wrap="square">
            <a:spAutoFit/>
          </a:bodyPr>
          <a:lstStyle/>
          <a:p>
            <a:pPr algn="ctr">
              <a:lnSpc>
                <a:spcPct val="125000"/>
              </a:lnSpc>
            </a:pPr>
            <a:r>
              <a:rPr lang="tr-TR" sz="1100" noProof="0" dirty="0"/>
              <a:t>Terimlerin Türkçe–İngilizce karşılıkları</a:t>
            </a:r>
          </a:p>
        </p:txBody>
      </p:sp>
      <p:pic>
        <p:nvPicPr>
          <p:cNvPr id="5" name="Picture 4">
            <a:extLst>
              <a:ext uri="{FF2B5EF4-FFF2-40B4-BE49-F238E27FC236}">
                <a16:creationId xmlns:a16="http://schemas.microsoft.com/office/drawing/2014/main" id="{767EBDF3-EB18-BCD4-5911-5FF2084262D7}"/>
              </a:ext>
            </a:extLst>
          </p:cNvPr>
          <p:cNvPicPr>
            <a:picLocks noChangeAspect="1"/>
          </p:cNvPicPr>
          <p:nvPr/>
        </p:nvPicPr>
        <p:blipFill>
          <a:blip r:embed="rId2"/>
          <a:stretch>
            <a:fillRect/>
          </a:stretch>
        </p:blipFill>
        <p:spPr>
          <a:xfrm>
            <a:off x="8029575" y="3003665"/>
            <a:ext cx="3103079" cy="3237239"/>
          </a:xfrm>
          <a:prstGeom prst="rect">
            <a:avLst/>
          </a:prstGeom>
        </p:spPr>
      </p:pic>
      <p:sp>
        <p:nvSpPr>
          <p:cNvPr id="9" name="TextBox 8">
            <a:extLst>
              <a:ext uri="{FF2B5EF4-FFF2-40B4-BE49-F238E27FC236}">
                <a16:creationId xmlns:a16="http://schemas.microsoft.com/office/drawing/2014/main" id="{54859F61-2FB9-7855-6DA1-5C0536834AA5}"/>
              </a:ext>
            </a:extLst>
          </p:cNvPr>
          <p:cNvSpPr txBox="1"/>
          <p:nvPr/>
        </p:nvSpPr>
        <p:spPr>
          <a:xfrm>
            <a:off x="887057" y="2853777"/>
            <a:ext cx="4382447" cy="323165"/>
          </a:xfrm>
          <a:prstGeom prst="rect">
            <a:avLst/>
          </a:prstGeom>
          <a:noFill/>
        </p:spPr>
        <p:txBody>
          <a:bodyPr wrap="square">
            <a:spAutoFit/>
          </a:bodyPr>
          <a:lstStyle/>
          <a:p>
            <a:pPr algn="ctr"/>
            <a:r>
              <a:rPr lang="en-US" sz="1500" dirty="0"/>
              <a:t>Duygu </a:t>
            </a:r>
            <a:r>
              <a:rPr lang="en-US" sz="1500" dirty="0" err="1"/>
              <a:t>Analizi</a:t>
            </a:r>
            <a:r>
              <a:rPr lang="en-US" sz="1500" dirty="0"/>
              <a:t> </a:t>
            </a:r>
            <a:r>
              <a:rPr lang="tr-TR" sz="1500" noProof="0" dirty="0"/>
              <a:t>Ait Terimler </a:t>
            </a:r>
          </a:p>
        </p:txBody>
      </p:sp>
    </p:spTree>
    <p:extLst>
      <p:ext uri="{BB962C8B-B14F-4D97-AF65-F5344CB8AC3E}">
        <p14:creationId xmlns:p14="http://schemas.microsoft.com/office/powerpoint/2010/main" val="2477455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8A435-7783-56FC-09AB-CDC4FFF236C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EDB53D-723B-8B26-AA65-89135E5A4DF2}"/>
              </a:ext>
            </a:extLst>
          </p:cNvPr>
          <p:cNvSpPr txBox="1"/>
          <p:nvPr/>
        </p:nvSpPr>
        <p:spPr>
          <a:xfrm>
            <a:off x="0" y="526760"/>
            <a:ext cx="12192000" cy="523220"/>
          </a:xfrm>
          <a:prstGeom prst="rect">
            <a:avLst/>
          </a:prstGeom>
          <a:noFill/>
        </p:spPr>
        <p:txBody>
          <a:bodyPr wrap="square">
            <a:spAutoFit/>
          </a:bodyPr>
          <a:lstStyle/>
          <a:p>
            <a:pPr algn="ctr"/>
            <a:r>
              <a:rPr lang="tr-TR" sz="2800" noProof="0" dirty="0"/>
              <a:t>Duygu Analizi Türleri (</a:t>
            </a:r>
            <a:r>
              <a:rPr lang="tr-TR" sz="2800" noProof="0" dirty="0" err="1"/>
              <a:t>Types</a:t>
            </a:r>
            <a:r>
              <a:rPr lang="tr-TR" sz="2800" noProof="0" dirty="0"/>
              <a:t> of </a:t>
            </a:r>
            <a:r>
              <a:rPr lang="tr-TR" sz="2800" noProof="0" dirty="0" err="1"/>
              <a:t>Sentiment</a:t>
            </a:r>
            <a:r>
              <a:rPr lang="tr-TR" sz="2800" noProof="0" dirty="0"/>
              <a:t> Analysis) Nedir?</a:t>
            </a:r>
          </a:p>
        </p:txBody>
      </p:sp>
      <p:sp>
        <p:nvSpPr>
          <p:cNvPr id="4" name="Rectangle 1">
            <a:extLst>
              <a:ext uri="{FF2B5EF4-FFF2-40B4-BE49-F238E27FC236}">
                <a16:creationId xmlns:a16="http://schemas.microsoft.com/office/drawing/2014/main" id="{55437D0E-66B9-959B-1368-85E0A9BE8C1C}"/>
              </a:ext>
            </a:extLst>
          </p:cNvPr>
          <p:cNvSpPr>
            <a:spLocks noChangeArrowheads="1"/>
          </p:cNvSpPr>
          <p:nvPr/>
        </p:nvSpPr>
        <p:spPr bwMode="auto">
          <a:xfrm>
            <a:off x="1350499" y="1296351"/>
            <a:ext cx="9232530" cy="1318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i="0" u="none" strike="noStrike" cap="none" normalizeH="0" baseline="0" noProof="0" dirty="0">
                <a:ln>
                  <a:noFill/>
                </a:ln>
                <a:solidFill>
                  <a:schemeClr val="tx1"/>
                </a:solidFill>
                <a:effectLst/>
                <a:latin typeface="Arial" panose="020B0604020202020204" pitchFamily="34" charset="0"/>
              </a:rPr>
              <a:t>Duygu analizi, kullanılan yönteme göre farklı yaklaşımlarla gerçekleştirilebilir.</a:t>
            </a:r>
          </a:p>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i="0" u="none" strike="noStrike" cap="none" normalizeH="0" baseline="0" noProof="0" dirty="0">
                <a:ln>
                  <a:noFill/>
                </a:ln>
                <a:solidFill>
                  <a:schemeClr val="tx1"/>
                </a:solidFill>
                <a:effectLst/>
                <a:latin typeface="Arial" panose="020B0604020202020204" pitchFamily="34" charset="0"/>
              </a:rPr>
              <a:t>Literatürde duygu analizi yaklaşımları genel olarak sözlük tabanlı, makine öğrenmesi tabanlı ve derin öğrenme tabanlı olarak sınıflandırılır.</a:t>
            </a:r>
          </a:p>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i="0" u="none" strike="noStrike" cap="none" normalizeH="0" baseline="0" noProof="0" dirty="0">
                <a:ln>
                  <a:noFill/>
                </a:ln>
                <a:solidFill>
                  <a:schemeClr val="tx1"/>
                </a:solidFill>
                <a:effectLst/>
                <a:latin typeface="Arial" panose="020B0604020202020204" pitchFamily="34" charset="0"/>
              </a:rPr>
              <a:t>Bu ayrım, çalışmada tercih edilen yöntemin neden seçildiğini açıklamak için önemlidir.</a:t>
            </a:r>
          </a:p>
          <a:p>
            <a:pPr marL="0" marR="0" lvl="0" indent="0" algn="l" defTabSz="914400" rtl="0" eaLnBrk="0" fontAlgn="base" latinLnBrk="0" hangingPunct="0">
              <a:lnSpc>
                <a:spcPct val="125000"/>
              </a:lnSpc>
              <a:spcBef>
                <a:spcPct val="0"/>
              </a:spcBef>
              <a:spcAft>
                <a:spcPct val="0"/>
              </a:spcAft>
              <a:buClrTx/>
              <a:buSzTx/>
              <a:buFontTx/>
              <a:buChar char="•"/>
              <a:tabLst/>
            </a:pPr>
            <a:r>
              <a:rPr kumimoji="0" lang="tr-TR" sz="1300" i="0" u="none" strike="noStrike" cap="none" normalizeH="0" baseline="0" noProof="0" dirty="0">
                <a:ln>
                  <a:noFill/>
                </a:ln>
                <a:solidFill>
                  <a:schemeClr val="tx1"/>
                </a:solidFill>
                <a:effectLst/>
                <a:latin typeface="Arial" panose="020B0604020202020204" pitchFamily="34" charset="0"/>
              </a:rPr>
              <a:t>Yöntemler; veri yapısı, etiketli veri varlığı ve analiz amacına göre avantaj–sınırlılık farkları gösterir.</a:t>
            </a:r>
          </a:p>
        </p:txBody>
      </p:sp>
      <p:graphicFrame>
        <p:nvGraphicFramePr>
          <p:cNvPr id="5" name="Table 4">
            <a:extLst>
              <a:ext uri="{FF2B5EF4-FFF2-40B4-BE49-F238E27FC236}">
                <a16:creationId xmlns:a16="http://schemas.microsoft.com/office/drawing/2014/main" id="{89468266-8AEB-0A95-120F-A8C899AE6BD7}"/>
              </a:ext>
            </a:extLst>
          </p:cNvPr>
          <p:cNvGraphicFramePr>
            <a:graphicFrameLocks noGrp="1"/>
          </p:cNvGraphicFramePr>
          <p:nvPr>
            <p:extLst>
              <p:ext uri="{D42A27DB-BD31-4B8C-83A1-F6EECF244321}">
                <p14:modId xmlns:p14="http://schemas.microsoft.com/office/powerpoint/2010/main" val="2329641004"/>
              </p:ext>
            </p:extLst>
          </p:nvPr>
        </p:nvGraphicFramePr>
        <p:xfrm>
          <a:off x="1468294" y="3150680"/>
          <a:ext cx="4243188" cy="3065649"/>
        </p:xfrm>
        <a:graphic>
          <a:graphicData uri="http://schemas.openxmlformats.org/drawingml/2006/table">
            <a:tbl>
              <a:tblPr firstRow="1" bandRow="1">
                <a:tableStyleId>{5C22544A-7EE6-4342-B048-85BDC9FD1C3A}</a:tableStyleId>
              </a:tblPr>
              <a:tblGrid>
                <a:gridCol w="2121594">
                  <a:extLst>
                    <a:ext uri="{9D8B030D-6E8A-4147-A177-3AD203B41FA5}">
                      <a16:colId xmlns:a16="http://schemas.microsoft.com/office/drawing/2014/main" val="2059429944"/>
                    </a:ext>
                  </a:extLst>
                </a:gridCol>
                <a:gridCol w="2121594">
                  <a:extLst>
                    <a:ext uri="{9D8B030D-6E8A-4147-A177-3AD203B41FA5}">
                      <a16:colId xmlns:a16="http://schemas.microsoft.com/office/drawing/2014/main" val="3696165319"/>
                    </a:ext>
                  </a:extLst>
                </a:gridCol>
              </a:tblGrid>
              <a:tr h="381803">
                <a:tc>
                  <a:txBody>
                    <a:bodyPr/>
                    <a:lstStyle/>
                    <a:p>
                      <a:pPr>
                        <a:buNone/>
                      </a:pPr>
                      <a:r>
                        <a:rPr lang="en-US" dirty="0" err="1"/>
                        <a:t>Türkçe</a:t>
                      </a:r>
                      <a:r>
                        <a:rPr lang="en-US" dirty="0"/>
                        <a:t> Terim</a:t>
                      </a:r>
                    </a:p>
                  </a:txBody>
                  <a:tcPr anchor="ctr"/>
                </a:tc>
                <a:tc>
                  <a:txBody>
                    <a:bodyPr/>
                    <a:lstStyle/>
                    <a:p>
                      <a:pPr>
                        <a:buNone/>
                      </a:pPr>
                      <a:r>
                        <a:rPr lang="en-US"/>
                        <a:t>English Term</a:t>
                      </a:r>
                    </a:p>
                  </a:txBody>
                  <a:tcPr anchor="ctr"/>
                </a:tc>
                <a:extLst>
                  <a:ext uri="{0D108BD9-81ED-4DB2-BD59-A6C34878D82A}">
                    <a16:rowId xmlns:a16="http://schemas.microsoft.com/office/drawing/2014/main" val="1599138418"/>
                  </a:ext>
                </a:extLst>
              </a:tr>
              <a:tr h="381803">
                <a:tc>
                  <a:txBody>
                    <a:bodyPr/>
                    <a:lstStyle/>
                    <a:p>
                      <a:pPr>
                        <a:buNone/>
                      </a:pPr>
                      <a:r>
                        <a:rPr lang="en-US"/>
                        <a:t>Sözlük Tabanlı Yöntem</a:t>
                      </a:r>
                    </a:p>
                  </a:txBody>
                  <a:tcPr anchor="ctr"/>
                </a:tc>
                <a:tc>
                  <a:txBody>
                    <a:bodyPr/>
                    <a:lstStyle/>
                    <a:p>
                      <a:pPr>
                        <a:buNone/>
                      </a:pPr>
                      <a:r>
                        <a:rPr lang="en-US"/>
                        <a:t>Lexicon-Based Approach</a:t>
                      </a:r>
                    </a:p>
                  </a:txBody>
                  <a:tcPr anchor="ctr"/>
                </a:tc>
                <a:extLst>
                  <a:ext uri="{0D108BD9-81ED-4DB2-BD59-A6C34878D82A}">
                    <a16:rowId xmlns:a16="http://schemas.microsoft.com/office/drawing/2014/main" val="3862250400"/>
                  </a:ext>
                </a:extLst>
              </a:tr>
              <a:tr h="381803">
                <a:tc>
                  <a:txBody>
                    <a:bodyPr/>
                    <a:lstStyle/>
                    <a:p>
                      <a:pPr>
                        <a:buNone/>
                      </a:pPr>
                      <a:r>
                        <a:rPr lang="en-US"/>
                        <a:t>Makine Öğrenmesi Tabanlı</a:t>
                      </a:r>
                    </a:p>
                  </a:txBody>
                  <a:tcPr anchor="ctr"/>
                </a:tc>
                <a:tc>
                  <a:txBody>
                    <a:bodyPr/>
                    <a:lstStyle/>
                    <a:p>
                      <a:pPr>
                        <a:buNone/>
                      </a:pPr>
                      <a:r>
                        <a:rPr lang="en-US"/>
                        <a:t>Machine Learning-Based Approach</a:t>
                      </a:r>
                    </a:p>
                  </a:txBody>
                  <a:tcPr anchor="ctr"/>
                </a:tc>
                <a:extLst>
                  <a:ext uri="{0D108BD9-81ED-4DB2-BD59-A6C34878D82A}">
                    <a16:rowId xmlns:a16="http://schemas.microsoft.com/office/drawing/2014/main" val="2156953249"/>
                  </a:ext>
                </a:extLst>
              </a:tr>
              <a:tr h="381803">
                <a:tc>
                  <a:txBody>
                    <a:bodyPr/>
                    <a:lstStyle/>
                    <a:p>
                      <a:pPr>
                        <a:buNone/>
                      </a:pPr>
                      <a:r>
                        <a:rPr lang="en-US" dirty="0"/>
                        <a:t>Derin </a:t>
                      </a:r>
                      <a:r>
                        <a:rPr lang="en-US" dirty="0" err="1"/>
                        <a:t>Öğrenme</a:t>
                      </a:r>
                      <a:r>
                        <a:rPr lang="en-US" dirty="0"/>
                        <a:t> </a:t>
                      </a:r>
                      <a:r>
                        <a:rPr lang="en-US" dirty="0" err="1"/>
                        <a:t>Tabanlı</a:t>
                      </a:r>
                      <a:endParaRPr lang="en-US" dirty="0"/>
                    </a:p>
                  </a:txBody>
                  <a:tcPr anchor="ctr"/>
                </a:tc>
                <a:tc>
                  <a:txBody>
                    <a:bodyPr/>
                    <a:lstStyle/>
                    <a:p>
                      <a:pPr>
                        <a:buNone/>
                      </a:pPr>
                      <a:r>
                        <a:rPr lang="en-US"/>
                        <a:t>Deep Learning-Based Approach</a:t>
                      </a:r>
                    </a:p>
                  </a:txBody>
                  <a:tcPr anchor="ctr"/>
                </a:tc>
                <a:extLst>
                  <a:ext uri="{0D108BD9-81ED-4DB2-BD59-A6C34878D82A}">
                    <a16:rowId xmlns:a16="http://schemas.microsoft.com/office/drawing/2014/main" val="1656091032"/>
                  </a:ext>
                </a:extLst>
              </a:tr>
              <a:tr h="381803">
                <a:tc>
                  <a:txBody>
                    <a:bodyPr/>
                    <a:lstStyle/>
                    <a:p>
                      <a:pPr>
                        <a:buNone/>
                      </a:pPr>
                      <a:r>
                        <a:rPr lang="en-US"/>
                        <a:t>Etiketli Veri</a:t>
                      </a:r>
                    </a:p>
                  </a:txBody>
                  <a:tcPr anchor="ctr"/>
                </a:tc>
                <a:tc>
                  <a:txBody>
                    <a:bodyPr/>
                    <a:lstStyle/>
                    <a:p>
                      <a:pPr>
                        <a:buNone/>
                      </a:pPr>
                      <a:r>
                        <a:rPr lang="en-US"/>
                        <a:t>Labeled Data</a:t>
                      </a:r>
                    </a:p>
                  </a:txBody>
                  <a:tcPr anchor="ctr"/>
                </a:tc>
                <a:extLst>
                  <a:ext uri="{0D108BD9-81ED-4DB2-BD59-A6C34878D82A}">
                    <a16:rowId xmlns:a16="http://schemas.microsoft.com/office/drawing/2014/main" val="2265502090"/>
                  </a:ext>
                </a:extLst>
              </a:tr>
              <a:tr h="381803">
                <a:tc>
                  <a:txBody>
                    <a:bodyPr/>
                    <a:lstStyle/>
                    <a:p>
                      <a:pPr>
                        <a:buNone/>
                      </a:pPr>
                      <a:r>
                        <a:rPr lang="en-US"/>
                        <a:t>Duygu Skoru</a:t>
                      </a:r>
                    </a:p>
                  </a:txBody>
                  <a:tcPr anchor="ctr"/>
                </a:tc>
                <a:tc>
                  <a:txBody>
                    <a:bodyPr/>
                    <a:lstStyle/>
                    <a:p>
                      <a:pPr>
                        <a:buNone/>
                      </a:pPr>
                      <a:r>
                        <a:rPr lang="en-US" dirty="0"/>
                        <a:t>Sentiment Score</a:t>
                      </a:r>
                    </a:p>
                  </a:txBody>
                  <a:tcPr anchor="ctr"/>
                </a:tc>
                <a:extLst>
                  <a:ext uri="{0D108BD9-81ED-4DB2-BD59-A6C34878D82A}">
                    <a16:rowId xmlns:a16="http://schemas.microsoft.com/office/drawing/2014/main" val="4086988549"/>
                  </a:ext>
                </a:extLst>
              </a:tr>
            </a:tbl>
          </a:graphicData>
        </a:graphic>
      </p:graphicFrame>
      <p:sp>
        <p:nvSpPr>
          <p:cNvPr id="2" name="TextBox 1">
            <a:extLst>
              <a:ext uri="{FF2B5EF4-FFF2-40B4-BE49-F238E27FC236}">
                <a16:creationId xmlns:a16="http://schemas.microsoft.com/office/drawing/2014/main" id="{2007B71D-A817-5F02-C51C-FA067B640AFF}"/>
              </a:ext>
            </a:extLst>
          </p:cNvPr>
          <p:cNvSpPr txBox="1"/>
          <p:nvPr/>
        </p:nvSpPr>
        <p:spPr>
          <a:xfrm>
            <a:off x="1468294" y="6223476"/>
            <a:ext cx="4243188" cy="281404"/>
          </a:xfrm>
          <a:prstGeom prst="rect">
            <a:avLst/>
          </a:prstGeom>
          <a:noFill/>
        </p:spPr>
        <p:txBody>
          <a:bodyPr wrap="square">
            <a:spAutoFit/>
          </a:bodyPr>
          <a:lstStyle/>
          <a:p>
            <a:pPr algn="ctr">
              <a:lnSpc>
                <a:spcPct val="125000"/>
              </a:lnSpc>
            </a:pPr>
            <a:r>
              <a:rPr lang="tr-TR" sz="1100" noProof="0" dirty="0"/>
              <a:t>Terimlerin Türkçe–İngilizce karşılıkları</a:t>
            </a:r>
          </a:p>
        </p:txBody>
      </p:sp>
      <p:pic>
        <p:nvPicPr>
          <p:cNvPr id="6" name="Picture 5">
            <a:extLst>
              <a:ext uri="{FF2B5EF4-FFF2-40B4-BE49-F238E27FC236}">
                <a16:creationId xmlns:a16="http://schemas.microsoft.com/office/drawing/2014/main" id="{19106BC8-022E-EBDB-7B07-90DE7DFAF0A4}"/>
              </a:ext>
            </a:extLst>
          </p:cNvPr>
          <p:cNvPicPr>
            <a:picLocks noChangeAspect="1"/>
          </p:cNvPicPr>
          <p:nvPr/>
        </p:nvPicPr>
        <p:blipFill>
          <a:blip r:embed="rId2"/>
          <a:stretch>
            <a:fillRect/>
          </a:stretch>
        </p:blipFill>
        <p:spPr>
          <a:xfrm>
            <a:off x="7610622" y="2984856"/>
            <a:ext cx="3394299" cy="3442652"/>
          </a:xfrm>
          <a:prstGeom prst="rect">
            <a:avLst/>
          </a:prstGeom>
        </p:spPr>
      </p:pic>
      <p:sp>
        <p:nvSpPr>
          <p:cNvPr id="8" name="TextBox 7">
            <a:extLst>
              <a:ext uri="{FF2B5EF4-FFF2-40B4-BE49-F238E27FC236}">
                <a16:creationId xmlns:a16="http://schemas.microsoft.com/office/drawing/2014/main" id="{B1DA4FF9-F8F7-1E7D-4DE7-CFC586B03211}"/>
              </a:ext>
            </a:extLst>
          </p:cNvPr>
          <p:cNvSpPr txBox="1"/>
          <p:nvPr/>
        </p:nvSpPr>
        <p:spPr>
          <a:xfrm>
            <a:off x="1468295" y="2769349"/>
            <a:ext cx="4243188" cy="381218"/>
          </a:xfrm>
          <a:prstGeom prst="rect">
            <a:avLst/>
          </a:prstGeom>
          <a:noFill/>
        </p:spPr>
        <p:txBody>
          <a:bodyPr wrap="square">
            <a:spAutoFit/>
          </a:bodyPr>
          <a:lstStyle/>
          <a:p>
            <a:r>
              <a:rPr lang="en-US" sz="1800" dirty="0"/>
              <a:t>Duygu A</a:t>
            </a:r>
            <a:r>
              <a:rPr lang="tr-TR" sz="1800" dirty="0" err="1"/>
              <a:t>nalizi</a:t>
            </a:r>
            <a:r>
              <a:rPr lang="tr-TR" sz="1800" dirty="0"/>
              <a:t> Türlerine Ait Terimler</a:t>
            </a:r>
            <a:endParaRPr lang="tr-TR" dirty="0"/>
          </a:p>
        </p:txBody>
      </p:sp>
    </p:spTree>
    <p:extLst>
      <p:ext uri="{BB962C8B-B14F-4D97-AF65-F5344CB8AC3E}">
        <p14:creationId xmlns:p14="http://schemas.microsoft.com/office/powerpoint/2010/main" val="23866437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C1BEC-9F9F-E599-C2FB-6394BA64674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F0FD55-013D-4F8B-F775-D53670220500}"/>
              </a:ext>
            </a:extLst>
          </p:cNvPr>
          <p:cNvSpPr txBox="1"/>
          <p:nvPr/>
        </p:nvSpPr>
        <p:spPr>
          <a:xfrm>
            <a:off x="68238" y="794561"/>
            <a:ext cx="12192000" cy="523220"/>
          </a:xfrm>
          <a:prstGeom prst="rect">
            <a:avLst/>
          </a:prstGeom>
          <a:noFill/>
        </p:spPr>
        <p:txBody>
          <a:bodyPr wrap="square">
            <a:spAutoFit/>
          </a:bodyPr>
          <a:lstStyle/>
          <a:p>
            <a:pPr algn="ctr"/>
            <a:r>
              <a:rPr lang="tr-TR" sz="2800" noProof="0" dirty="0"/>
              <a:t>Makine Öğrenmesi Tabanlı Yaklaşım Nedir?</a:t>
            </a:r>
          </a:p>
        </p:txBody>
      </p:sp>
      <p:pic>
        <p:nvPicPr>
          <p:cNvPr id="4" name="Picture 3">
            <a:extLst>
              <a:ext uri="{FF2B5EF4-FFF2-40B4-BE49-F238E27FC236}">
                <a16:creationId xmlns:a16="http://schemas.microsoft.com/office/drawing/2014/main" id="{DD5C53B3-F6EF-9499-CDB9-2D27B252AEB0}"/>
              </a:ext>
            </a:extLst>
          </p:cNvPr>
          <p:cNvPicPr>
            <a:picLocks noChangeAspect="1"/>
          </p:cNvPicPr>
          <p:nvPr/>
        </p:nvPicPr>
        <p:blipFill>
          <a:blip r:embed="rId2"/>
          <a:stretch>
            <a:fillRect/>
          </a:stretch>
        </p:blipFill>
        <p:spPr>
          <a:xfrm>
            <a:off x="6445575" y="2333767"/>
            <a:ext cx="5594931" cy="4327897"/>
          </a:xfrm>
          <a:prstGeom prst="rect">
            <a:avLst/>
          </a:prstGeom>
        </p:spPr>
      </p:pic>
      <p:sp>
        <p:nvSpPr>
          <p:cNvPr id="8" name="TextBox 7">
            <a:extLst>
              <a:ext uri="{FF2B5EF4-FFF2-40B4-BE49-F238E27FC236}">
                <a16:creationId xmlns:a16="http://schemas.microsoft.com/office/drawing/2014/main" id="{94CA0BA2-AFF4-E830-4321-5119492724E3}"/>
              </a:ext>
            </a:extLst>
          </p:cNvPr>
          <p:cNvSpPr txBox="1"/>
          <p:nvPr/>
        </p:nvSpPr>
        <p:spPr>
          <a:xfrm>
            <a:off x="833018" y="1685962"/>
            <a:ext cx="5612557" cy="2155847"/>
          </a:xfrm>
          <a:prstGeom prst="rect">
            <a:avLst/>
          </a:prstGeom>
          <a:noFill/>
        </p:spPr>
        <p:txBody>
          <a:bodyPr wrap="square">
            <a:spAutoFit/>
          </a:bodyPr>
          <a:lstStyle/>
          <a:p>
            <a:pPr>
              <a:lnSpc>
                <a:spcPct val="150000"/>
              </a:lnSpc>
              <a:buNone/>
            </a:pPr>
            <a:r>
              <a:rPr lang="tr-TR" sz="1300" noProof="0" dirty="0"/>
              <a:t>Etiketli veriler kullanılarak duygu sınıflandırma modeli eğitilmiştir.</a:t>
            </a:r>
          </a:p>
          <a:p>
            <a:pPr>
              <a:lnSpc>
                <a:spcPct val="150000"/>
              </a:lnSpc>
              <a:buNone/>
            </a:pPr>
            <a:r>
              <a:rPr lang="tr-TR" sz="1300" noProof="0" dirty="0"/>
              <a:t>• </a:t>
            </a:r>
            <a:r>
              <a:rPr lang="tr-TR" sz="1300" b="1" noProof="0" dirty="0"/>
              <a:t>TF–IDF + </a:t>
            </a:r>
            <a:r>
              <a:rPr lang="tr-TR" sz="1300" b="1" noProof="0" dirty="0" err="1"/>
              <a:t>Logistic</a:t>
            </a:r>
            <a:r>
              <a:rPr lang="tr-TR" sz="1300" b="1" noProof="0" dirty="0"/>
              <a:t> </a:t>
            </a:r>
            <a:r>
              <a:rPr lang="tr-TR" sz="1300" b="1" noProof="0" dirty="0" err="1"/>
              <a:t>Regression</a:t>
            </a:r>
            <a:r>
              <a:rPr lang="tr-TR" sz="1300" b="1" noProof="0" dirty="0"/>
              <a:t>:</a:t>
            </a:r>
            <a:br>
              <a:rPr lang="tr-TR" sz="1300" noProof="0" dirty="0"/>
            </a:br>
            <a:r>
              <a:rPr lang="tr-TR" sz="1300" noProof="0" dirty="0"/>
              <a:t>Metin verilerinin sayısal temsili için TF–IDF kullanılmış, sınıflandırma için </a:t>
            </a:r>
            <a:r>
              <a:rPr lang="tr-TR" sz="1300" noProof="0" dirty="0" err="1"/>
              <a:t>Logistic</a:t>
            </a:r>
            <a:r>
              <a:rPr lang="tr-TR" sz="1300" noProof="0" dirty="0"/>
              <a:t> </a:t>
            </a:r>
            <a:r>
              <a:rPr lang="tr-TR" sz="1300" noProof="0" dirty="0" err="1"/>
              <a:t>Regression</a:t>
            </a:r>
            <a:r>
              <a:rPr lang="tr-TR" sz="1300" noProof="0" dirty="0"/>
              <a:t> modeli tercih edilmiştir.</a:t>
            </a:r>
          </a:p>
          <a:p>
            <a:pPr>
              <a:lnSpc>
                <a:spcPct val="150000"/>
              </a:lnSpc>
              <a:buNone/>
            </a:pPr>
            <a:r>
              <a:rPr lang="tr-TR" sz="1300" noProof="0" dirty="0"/>
              <a:t>• </a:t>
            </a:r>
            <a:r>
              <a:rPr lang="tr-TR" sz="1300" b="1" noProof="0" dirty="0"/>
              <a:t>Avantajı:</a:t>
            </a:r>
            <a:br>
              <a:rPr lang="tr-TR" sz="1300" noProof="0" dirty="0"/>
            </a:br>
            <a:r>
              <a:rPr lang="tr-TR" sz="1300" noProof="0" dirty="0"/>
              <a:t>Yorumlanabilir yapı ve dengeli performans.</a:t>
            </a:r>
            <a:br>
              <a:rPr lang="tr-TR" sz="1300" noProof="0" dirty="0"/>
            </a:br>
            <a:r>
              <a:rPr lang="tr-TR" sz="1300" noProof="0" dirty="0"/>
              <a:t>Yüksek boyutlu metin verilerinde etkili sonuçlar üretir</a:t>
            </a:r>
            <a:r>
              <a:rPr lang="tr-TR" sz="1300" b="1" noProof="0" dirty="0"/>
              <a:t>.</a:t>
            </a:r>
            <a:endParaRPr lang="tr-TR" sz="1300" noProof="0" dirty="0"/>
          </a:p>
        </p:txBody>
      </p:sp>
      <p:sp>
        <p:nvSpPr>
          <p:cNvPr id="10" name="TextBox 9">
            <a:extLst>
              <a:ext uri="{FF2B5EF4-FFF2-40B4-BE49-F238E27FC236}">
                <a16:creationId xmlns:a16="http://schemas.microsoft.com/office/drawing/2014/main" id="{2AB54C39-C927-2E07-879B-56B55BE3DF30}"/>
              </a:ext>
            </a:extLst>
          </p:cNvPr>
          <p:cNvSpPr txBox="1"/>
          <p:nvPr/>
        </p:nvSpPr>
        <p:spPr>
          <a:xfrm>
            <a:off x="833018" y="3863741"/>
            <a:ext cx="5083286" cy="955518"/>
          </a:xfrm>
          <a:prstGeom prst="rect">
            <a:avLst/>
          </a:prstGeom>
          <a:noFill/>
        </p:spPr>
        <p:txBody>
          <a:bodyPr wrap="square">
            <a:spAutoFit/>
          </a:bodyPr>
          <a:lstStyle/>
          <a:p>
            <a:pPr>
              <a:lnSpc>
                <a:spcPct val="150000"/>
              </a:lnSpc>
              <a:buNone/>
            </a:pPr>
            <a:r>
              <a:rPr lang="tr-TR" sz="1300" b="1" noProof="0" dirty="0"/>
              <a:t>Neden Bu Yöntem?</a:t>
            </a:r>
          </a:p>
          <a:p>
            <a:pPr>
              <a:lnSpc>
                <a:spcPct val="150000"/>
              </a:lnSpc>
              <a:buFont typeface="Arial" panose="020B0604020202020204" pitchFamily="34" charset="0"/>
              <a:buChar char="•"/>
            </a:pPr>
            <a:r>
              <a:rPr lang="tr-TR" sz="1300" noProof="0" dirty="0"/>
              <a:t>Metin verileri yüksek boyutlu olduğu için TF–IDF + doğrusal modeller etkilidir.</a:t>
            </a:r>
          </a:p>
        </p:txBody>
      </p:sp>
    </p:spTree>
    <p:extLst>
      <p:ext uri="{BB962C8B-B14F-4D97-AF65-F5344CB8AC3E}">
        <p14:creationId xmlns:p14="http://schemas.microsoft.com/office/powerpoint/2010/main" val="519445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E10EC0BE-82C5-E280-614A-7172FFD8C31C}"/>
              </a:ext>
            </a:extLst>
          </p:cNvPr>
          <p:cNvGraphicFramePr>
            <a:graphicFrameLocks noGrp="1"/>
          </p:cNvGraphicFramePr>
          <p:nvPr>
            <p:extLst>
              <p:ext uri="{D42A27DB-BD31-4B8C-83A1-F6EECF244321}">
                <p14:modId xmlns:p14="http://schemas.microsoft.com/office/powerpoint/2010/main" val="3797932588"/>
              </p:ext>
            </p:extLst>
          </p:nvPr>
        </p:nvGraphicFramePr>
        <p:xfrm>
          <a:off x="2056262" y="917096"/>
          <a:ext cx="8079475" cy="5562600"/>
        </p:xfrm>
        <a:graphic>
          <a:graphicData uri="http://schemas.openxmlformats.org/drawingml/2006/table">
            <a:tbl>
              <a:tblPr firstRow="1" bandRow="1">
                <a:tableStyleId>{5C22544A-7EE6-4342-B048-85BDC9FD1C3A}</a:tableStyleId>
              </a:tblPr>
              <a:tblGrid>
                <a:gridCol w="4055660">
                  <a:extLst>
                    <a:ext uri="{9D8B030D-6E8A-4147-A177-3AD203B41FA5}">
                      <a16:colId xmlns:a16="http://schemas.microsoft.com/office/drawing/2014/main" val="2893028269"/>
                    </a:ext>
                  </a:extLst>
                </a:gridCol>
                <a:gridCol w="4023815">
                  <a:extLst>
                    <a:ext uri="{9D8B030D-6E8A-4147-A177-3AD203B41FA5}">
                      <a16:colId xmlns:a16="http://schemas.microsoft.com/office/drawing/2014/main" val="1129528402"/>
                    </a:ext>
                  </a:extLst>
                </a:gridCol>
              </a:tblGrid>
              <a:tr h="370840">
                <a:tc>
                  <a:txBody>
                    <a:bodyPr/>
                    <a:lstStyle/>
                    <a:p>
                      <a:pPr>
                        <a:buNone/>
                      </a:pPr>
                      <a:r>
                        <a:rPr lang="en-US" sz="1300" dirty="0" err="1"/>
                        <a:t>İngilizce</a:t>
                      </a:r>
                      <a:r>
                        <a:rPr lang="en-US" sz="1300" dirty="0"/>
                        <a:t> Terim</a:t>
                      </a:r>
                    </a:p>
                  </a:txBody>
                  <a:tcPr anchor="ctr"/>
                </a:tc>
                <a:tc>
                  <a:txBody>
                    <a:bodyPr/>
                    <a:lstStyle/>
                    <a:p>
                      <a:pPr>
                        <a:buNone/>
                      </a:pPr>
                      <a:r>
                        <a:rPr lang="en-US" sz="1300"/>
                        <a:t>Türkçe Karşılığı</a:t>
                      </a:r>
                    </a:p>
                  </a:txBody>
                  <a:tcPr anchor="ctr"/>
                </a:tc>
                <a:extLst>
                  <a:ext uri="{0D108BD9-81ED-4DB2-BD59-A6C34878D82A}">
                    <a16:rowId xmlns:a16="http://schemas.microsoft.com/office/drawing/2014/main" val="2894796966"/>
                  </a:ext>
                </a:extLst>
              </a:tr>
              <a:tr h="370840">
                <a:tc>
                  <a:txBody>
                    <a:bodyPr/>
                    <a:lstStyle/>
                    <a:p>
                      <a:pPr>
                        <a:buNone/>
                      </a:pPr>
                      <a:r>
                        <a:rPr lang="en-US" sz="1300"/>
                        <a:t>Text Mining</a:t>
                      </a:r>
                    </a:p>
                  </a:txBody>
                  <a:tcPr anchor="ctr"/>
                </a:tc>
                <a:tc>
                  <a:txBody>
                    <a:bodyPr/>
                    <a:lstStyle/>
                    <a:p>
                      <a:pPr>
                        <a:buNone/>
                      </a:pPr>
                      <a:r>
                        <a:rPr lang="en-US" sz="1300"/>
                        <a:t>Metin Madenciliği</a:t>
                      </a:r>
                    </a:p>
                  </a:txBody>
                  <a:tcPr anchor="ctr"/>
                </a:tc>
                <a:extLst>
                  <a:ext uri="{0D108BD9-81ED-4DB2-BD59-A6C34878D82A}">
                    <a16:rowId xmlns:a16="http://schemas.microsoft.com/office/drawing/2014/main" val="1175287000"/>
                  </a:ext>
                </a:extLst>
              </a:tr>
              <a:tr h="370840">
                <a:tc>
                  <a:txBody>
                    <a:bodyPr/>
                    <a:lstStyle/>
                    <a:p>
                      <a:pPr>
                        <a:buNone/>
                      </a:pPr>
                      <a:r>
                        <a:rPr lang="en-US" sz="1300"/>
                        <a:t>Sentiment Analysis</a:t>
                      </a:r>
                    </a:p>
                  </a:txBody>
                  <a:tcPr anchor="ctr"/>
                </a:tc>
                <a:tc>
                  <a:txBody>
                    <a:bodyPr/>
                    <a:lstStyle/>
                    <a:p>
                      <a:pPr>
                        <a:buNone/>
                      </a:pPr>
                      <a:r>
                        <a:rPr lang="en-US" sz="1300"/>
                        <a:t>Duygu Analizi</a:t>
                      </a:r>
                    </a:p>
                  </a:txBody>
                  <a:tcPr anchor="ctr"/>
                </a:tc>
                <a:extLst>
                  <a:ext uri="{0D108BD9-81ED-4DB2-BD59-A6C34878D82A}">
                    <a16:rowId xmlns:a16="http://schemas.microsoft.com/office/drawing/2014/main" val="909387362"/>
                  </a:ext>
                </a:extLst>
              </a:tr>
              <a:tr h="370840">
                <a:tc>
                  <a:txBody>
                    <a:bodyPr/>
                    <a:lstStyle/>
                    <a:p>
                      <a:pPr>
                        <a:buNone/>
                      </a:pPr>
                      <a:r>
                        <a:rPr lang="en-US" sz="1300"/>
                        <a:t>TF–IDF</a:t>
                      </a:r>
                    </a:p>
                  </a:txBody>
                  <a:tcPr anchor="ctr"/>
                </a:tc>
                <a:tc>
                  <a:txBody>
                    <a:bodyPr/>
                    <a:lstStyle/>
                    <a:p>
                      <a:pPr>
                        <a:buNone/>
                      </a:pPr>
                      <a:r>
                        <a:rPr lang="en-US" sz="1300"/>
                        <a:t>Terim Frekansı – Ters Doküman Frekansı</a:t>
                      </a:r>
                    </a:p>
                  </a:txBody>
                  <a:tcPr anchor="ctr"/>
                </a:tc>
                <a:extLst>
                  <a:ext uri="{0D108BD9-81ED-4DB2-BD59-A6C34878D82A}">
                    <a16:rowId xmlns:a16="http://schemas.microsoft.com/office/drawing/2014/main" val="1213492867"/>
                  </a:ext>
                </a:extLst>
              </a:tr>
              <a:tr h="370840">
                <a:tc>
                  <a:txBody>
                    <a:bodyPr/>
                    <a:lstStyle/>
                    <a:p>
                      <a:pPr>
                        <a:buNone/>
                      </a:pPr>
                      <a:r>
                        <a:rPr lang="en-US" sz="1300"/>
                        <a:t>Bigram</a:t>
                      </a:r>
                    </a:p>
                  </a:txBody>
                  <a:tcPr anchor="ctr"/>
                </a:tc>
                <a:tc>
                  <a:txBody>
                    <a:bodyPr/>
                    <a:lstStyle/>
                    <a:p>
                      <a:pPr>
                        <a:buNone/>
                      </a:pPr>
                      <a:r>
                        <a:rPr lang="en-US" sz="1300"/>
                        <a:t>İkili Kelime Grubu</a:t>
                      </a:r>
                    </a:p>
                  </a:txBody>
                  <a:tcPr anchor="ctr"/>
                </a:tc>
                <a:extLst>
                  <a:ext uri="{0D108BD9-81ED-4DB2-BD59-A6C34878D82A}">
                    <a16:rowId xmlns:a16="http://schemas.microsoft.com/office/drawing/2014/main" val="2129559696"/>
                  </a:ext>
                </a:extLst>
              </a:tr>
              <a:tr h="370840">
                <a:tc>
                  <a:txBody>
                    <a:bodyPr/>
                    <a:lstStyle/>
                    <a:p>
                      <a:pPr>
                        <a:buNone/>
                      </a:pPr>
                      <a:r>
                        <a:rPr lang="en-US" sz="1300"/>
                        <a:t>Trigram</a:t>
                      </a:r>
                    </a:p>
                  </a:txBody>
                  <a:tcPr anchor="ctr"/>
                </a:tc>
                <a:tc>
                  <a:txBody>
                    <a:bodyPr/>
                    <a:lstStyle/>
                    <a:p>
                      <a:pPr>
                        <a:buNone/>
                      </a:pPr>
                      <a:r>
                        <a:rPr lang="en-US" sz="1300"/>
                        <a:t>Üçlü Kelime Grubu</a:t>
                      </a:r>
                    </a:p>
                  </a:txBody>
                  <a:tcPr anchor="ctr"/>
                </a:tc>
                <a:extLst>
                  <a:ext uri="{0D108BD9-81ED-4DB2-BD59-A6C34878D82A}">
                    <a16:rowId xmlns:a16="http://schemas.microsoft.com/office/drawing/2014/main" val="2309563082"/>
                  </a:ext>
                </a:extLst>
              </a:tr>
              <a:tr h="370840">
                <a:tc>
                  <a:txBody>
                    <a:bodyPr/>
                    <a:lstStyle/>
                    <a:p>
                      <a:pPr>
                        <a:buNone/>
                      </a:pPr>
                      <a:r>
                        <a:rPr lang="en-US" sz="1300"/>
                        <a:t>Classification</a:t>
                      </a:r>
                    </a:p>
                  </a:txBody>
                  <a:tcPr anchor="ctr"/>
                </a:tc>
                <a:tc>
                  <a:txBody>
                    <a:bodyPr/>
                    <a:lstStyle/>
                    <a:p>
                      <a:pPr>
                        <a:buNone/>
                      </a:pPr>
                      <a:r>
                        <a:rPr lang="en-US" sz="1300"/>
                        <a:t>Sınıflandırma</a:t>
                      </a:r>
                    </a:p>
                  </a:txBody>
                  <a:tcPr anchor="ctr"/>
                </a:tc>
                <a:extLst>
                  <a:ext uri="{0D108BD9-81ED-4DB2-BD59-A6C34878D82A}">
                    <a16:rowId xmlns:a16="http://schemas.microsoft.com/office/drawing/2014/main" val="3607335065"/>
                  </a:ext>
                </a:extLst>
              </a:tr>
              <a:tr h="370840">
                <a:tc>
                  <a:txBody>
                    <a:bodyPr/>
                    <a:lstStyle/>
                    <a:p>
                      <a:pPr>
                        <a:buNone/>
                      </a:pPr>
                      <a:r>
                        <a:rPr lang="en-US" sz="1300"/>
                        <a:t>Logistic Regression</a:t>
                      </a:r>
                    </a:p>
                  </a:txBody>
                  <a:tcPr anchor="ctr"/>
                </a:tc>
                <a:tc>
                  <a:txBody>
                    <a:bodyPr/>
                    <a:lstStyle/>
                    <a:p>
                      <a:pPr>
                        <a:buNone/>
                      </a:pPr>
                      <a:r>
                        <a:rPr lang="en-US" sz="1300" dirty="0" err="1"/>
                        <a:t>Lojistik</a:t>
                      </a:r>
                      <a:r>
                        <a:rPr lang="en-US" sz="1300" dirty="0"/>
                        <a:t> </a:t>
                      </a:r>
                      <a:r>
                        <a:rPr lang="en-US" sz="1300" dirty="0" err="1"/>
                        <a:t>Regresyon</a:t>
                      </a:r>
                      <a:endParaRPr lang="en-US" sz="1300" dirty="0"/>
                    </a:p>
                  </a:txBody>
                  <a:tcPr anchor="ctr"/>
                </a:tc>
                <a:extLst>
                  <a:ext uri="{0D108BD9-81ED-4DB2-BD59-A6C34878D82A}">
                    <a16:rowId xmlns:a16="http://schemas.microsoft.com/office/drawing/2014/main" val="1956262462"/>
                  </a:ext>
                </a:extLst>
              </a:tr>
              <a:tr h="370840">
                <a:tc>
                  <a:txBody>
                    <a:bodyPr/>
                    <a:lstStyle/>
                    <a:p>
                      <a:pPr>
                        <a:buNone/>
                      </a:pPr>
                      <a:r>
                        <a:rPr lang="en-US" sz="1300"/>
                        <a:t>Naive Bayes</a:t>
                      </a:r>
                    </a:p>
                  </a:txBody>
                  <a:tcPr anchor="ctr"/>
                </a:tc>
                <a:tc>
                  <a:txBody>
                    <a:bodyPr/>
                    <a:lstStyle/>
                    <a:p>
                      <a:pPr>
                        <a:buNone/>
                      </a:pPr>
                      <a:r>
                        <a:rPr lang="en-US" sz="1300"/>
                        <a:t>Naive Bayes</a:t>
                      </a:r>
                    </a:p>
                  </a:txBody>
                  <a:tcPr anchor="ctr"/>
                </a:tc>
                <a:extLst>
                  <a:ext uri="{0D108BD9-81ED-4DB2-BD59-A6C34878D82A}">
                    <a16:rowId xmlns:a16="http://schemas.microsoft.com/office/drawing/2014/main" val="3647270936"/>
                  </a:ext>
                </a:extLst>
              </a:tr>
              <a:tr h="370840">
                <a:tc>
                  <a:txBody>
                    <a:bodyPr/>
                    <a:lstStyle/>
                    <a:p>
                      <a:pPr>
                        <a:buNone/>
                      </a:pPr>
                      <a:r>
                        <a:rPr lang="en-US" sz="1300"/>
                        <a:t>Support Vector Machine</a:t>
                      </a:r>
                    </a:p>
                  </a:txBody>
                  <a:tcPr anchor="ctr"/>
                </a:tc>
                <a:tc>
                  <a:txBody>
                    <a:bodyPr/>
                    <a:lstStyle/>
                    <a:p>
                      <a:pPr>
                        <a:buNone/>
                      </a:pPr>
                      <a:r>
                        <a:rPr lang="en-US" sz="1300"/>
                        <a:t>Destek Vektör Makineleri</a:t>
                      </a:r>
                    </a:p>
                  </a:txBody>
                  <a:tcPr anchor="ctr"/>
                </a:tc>
                <a:extLst>
                  <a:ext uri="{0D108BD9-81ED-4DB2-BD59-A6C34878D82A}">
                    <a16:rowId xmlns:a16="http://schemas.microsoft.com/office/drawing/2014/main" val="4094095378"/>
                  </a:ext>
                </a:extLst>
              </a:tr>
              <a:tr h="370840">
                <a:tc>
                  <a:txBody>
                    <a:bodyPr/>
                    <a:lstStyle/>
                    <a:p>
                      <a:pPr>
                        <a:buNone/>
                      </a:pPr>
                      <a:r>
                        <a:rPr lang="en-US" sz="1300"/>
                        <a:t>Accuracy</a:t>
                      </a:r>
                    </a:p>
                  </a:txBody>
                  <a:tcPr anchor="ctr"/>
                </a:tc>
                <a:tc>
                  <a:txBody>
                    <a:bodyPr/>
                    <a:lstStyle/>
                    <a:p>
                      <a:pPr>
                        <a:buNone/>
                      </a:pPr>
                      <a:r>
                        <a:rPr lang="en-US" sz="1300"/>
                        <a:t>Doğruluk</a:t>
                      </a:r>
                    </a:p>
                  </a:txBody>
                  <a:tcPr anchor="ctr"/>
                </a:tc>
                <a:extLst>
                  <a:ext uri="{0D108BD9-81ED-4DB2-BD59-A6C34878D82A}">
                    <a16:rowId xmlns:a16="http://schemas.microsoft.com/office/drawing/2014/main" val="1855119100"/>
                  </a:ext>
                </a:extLst>
              </a:tr>
              <a:tr h="370840">
                <a:tc>
                  <a:txBody>
                    <a:bodyPr/>
                    <a:lstStyle/>
                    <a:p>
                      <a:pPr>
                        <a:buNone/>
                      </a:pPr>
                      <a:r>
                        <a:rPr lang="en-US" sz="1300"/>
                        <a:t>Precision</a:t>
                      </a:r>
                    </a:p>
                  </a:txBody>
                  <a:tcPr anchor="ctr"/>
                </a:tc>
                <a:tc>
                  <a:txBody>
                    <a:bodyPr/>
                    <a:lstStyle/>
                    <a:p>
                      <a:pPr>
                        <a:buNone/>
                      </a:pPr>
                      <a:r>
                        <a:rPr lang="en-US" sz="1300"/>
                        <a:t>Kesinlik</a:t>
                      </a:r>
                    </a:p>
                  </a:txBody>
                  <a:tcPr anchor="ctr"/>
                </a:tc>
                <a:extLst>
                  <a:ext uri="{0D108BD9-81ED-4DB2-BD59-A6C34878D82A}">
                    <a16:rowId xmlns:a16="http://schemas.microsoft.com/office/drawing/2014/main" val="1914154911"/>
                  </a:ext>
                </a:extLst>
              </a:tr>
              <a:tr h="370840">
                <a:tc>
                  <a:txBody>
                    <a:bodyPr/>
                    <a:lstStyle/>
                    <a:p>
                      <a:pPr>
                        <a:buNone/>
                      </a:pPr>
                      <a:r>
                        <a:rPr lang="en-US" sz="1300"/>
                        <a:t>Recall</a:t>
                      </a:r>
                    </a:p>
                  </a:txBody>
                  <a:tcPr anchor="ctr"/>
                </a:tc>
                <a:tc>
                  <a:txBody>
                    <a:bodyPr/>
                    <a:lstStyle/>
                    <a:p>
                      <a:pPr>
                        <a:buNone/>
                      </a:pPr>
                      <a:r>
                        <a:rPr lang="en-US" sz="1300" dirty="0" err="1"/>
                        <a:t>Duyarlılık</a:t>
                      </a:r>
                      <a:endParaRPr lang="en-US" sz="1300" dirty="0"/>
                    </a:p>
                  </a:txBody>
                  <a:tcPr anchor="ctr"/>
                </a:tc>
                <a:extLst>
                  <a:ext uri="{0D108BD9-81ED-4DB2-BD59-A6C34878D82A}">
                    <a16:rowId xmlns:a16="http://schemas.microsoft.com/office/drawing/2014/main" val="1760161700"/>
                  </a:ext>
                </a:extLst>
              </a:tr>
              <a:tr h="370840">
                <a:tc>
                  <a:txBody>
                    <a:bodyPr/>
                    <a:lstStyle/>
                    <a:p>
                      <a:pPr>
                        <a:buNone/>
                      </a:pPr>
                      <a:r>
                        <a:rPr lang="en-US" sz="1300"/>
                        <a:t>F1-Score</a:t>
                      </a:r>
                    </a:p>
                  </a:txBody>
                  <a:tcPr anchor="ctr"/>
                </a:tc>
                <a:tc>
                  <a:txBody>
                    <a:bodyPr/>
                    <a:lstStyle/>
                    <a:p>
                      <a:pPr>
                        <a:buNone/>
                      </a:pPr>
                      <a:r>
                        <a:rPr lang="en-US" sz="1300" dirty="0"/>
                        <a:t>F1 </a:t>
                      </a:r>
                      <a:r>
                        <a:rPr lang="en-US" sz="1300" dirty="0" err="1"/>
                        <a:t>Ölçütü</a:t>
                      </a:r>
                      <a:endParaRPr lang="en-US" sz="1300" dirty="0"/>
                    </a:p>
                  </a:txBody>
                  <a:tcPr anchor="ctr"/>
                </a:tc>
                <a:extLst>
                  <a:ext uri="{0D108BD9-81ED-4DB2-BD59-A6C34878D82A}">
                    <a16:rowId xmlns:a16="http://schemas.microsoft.com/office/drawing/2014/main" val="2581526186"/>
                  </a:ext>
                </a:extLst>
              </a:tr>
              <a:tr h="370840">
                <a:tc>
                  <a:txBody>
                    <a:bodyPr/>
                    <a:lstStyle/>
                    <a:p>
                      <a:pPr>
                        <a:buNone/>
                      </a:pPr>
                      <a:r>
                        <a:rPr lang="en-US" sz="1300"/>
                        <a:t>Confusion Matrix</a:t>
                      </a:r>
                    </a:p>
                  </a:txBody>
                  <a:tcPr anchor="ctr"/>
                </a:tc>
                <a:tc>
                  <a:txBody>
                    <a:bodyPr/>
                    <a:lstStyle/>
                    <a:p>
                      <a:pPr>
                        <a:buNone/>
                      </a:pPr>
                      <a:r>
                        <a:rPr lang="en-US" sz="1300" dirty="0" err="1"/>
                        <a:t>Karışıklık</a:t>
                      </a:r>
                      <a:r>
                        <a:rPr lang="en-US" sz="1300" dirty="0"/>
                        <a:t> Matrisi</a:t>
                      </a:r>
                    </a:p>
                  </a:txBody>
                  <a:tcPr anchor="ctr"/>
                </a:tc>
                <a:extLst>
                  <a:ext uri="{0D108BD9-81ED-4DB2-BD59-A6C34878D82A}">
                    <a16:rowId xmlns:a16="http://schemas.microsoft.com/office/drawing/2014/main" val="213687687"/>
                  </a:ext>
                </a:extLst>
              </a:tr>
            </a:tbl>
          </a:graphicData>
        </a:graphic>
      </p:graphicFrame>
      <p:sp>
        <p:nvSpPr>
          <p:cNvPr id="5" name="TextBox 4">
            <a:extLst>
              <a:ext uri="{FF2B5EF4-FFF2-40B4-BE49-F238E27FC236}">
                <a16:creationId xmlns:a16="http://schemas.microsoft.com/office/drawing/2014/main" id="{3A1B6242-B412-C5B2-F546-8CEAC7C3D92D}"/>
              </a:ext>
            </a:extLst>
          </p:cNvPr>
          <p:cNvSpPr txBox="1"/>
          <p:nvPr/>
        </p:nvSpPr>
        <p:spPr>
          <a:xfrm>
            <a:off x="0" y="378304"/>
            <a:ext cx="12192000" cy="523220"/>
          </a:xfrm>
          <a:prstGeom prst="rect">
            <a:avLst/>
          </a:prstGeom>
          <a:noFill/>
        </p:spPr>
        <p:txBody>
          <a:bodyPr wrap="square">
            <a:spAutoFit/>
          </a:bodyPr>
          <a:lstStyle/>
          <a:p>
            <a:pPr algn="ctr"/>
            <a:r>
              <a:rPr lang="tr-TR" sz="2800" noProof="0" dirty="0"/>
              <a:t>En Çok Kullanılan Temel Terimler (İngilizce –Türkçe</a:t>
            </a:r>
            <a:r>
              <a:rPr lang="en-US" sz="2800" dirty="0"/>
              <a:t>)</a:t>
            </a:r>
            <a:endParaRPr lang="tr-TR" sz="2800" dirty="0"/>
          </a:p>
        </p:txBody>
      </p:sp>
    </p:spTree>
    <p:extLst>
      <p:ext uri="{BB962C8B-B14F-4D97-AF65-F5344CB8AC3E}">
        <p14:creationId xmlns:p14="http://schemas.microsoft.com/office/powerpoint/2010/main" val="3651119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9F176-FA7A-10D6-EDCE-6F870F565A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9461C3-31A1-C2E8-C1ED-993DB3CCF653}"/>
              </a:ext>
            </a:extLst>
          </p:cNvPr>
          <p:cNvSpPr txBox="1"/>
          <p:nvPr/>
        </p:nvSpPr>
        <p:spPr>
          <a:xfrm>
            <a:off x="0" y="821856"/>
            <a:ext cx="12161861" cy="523220"/>
          </a:xfrm>
          <a:prstGeom prst="rect">
            <a:avLst/>
          </a:prstGeom>
          <a:noFill/>
        </p:spPr>
        <p:txBody>
          <a:bodyPr wrap="square">
            <a:spAutoFit/>
          </a:bodyPr>
          <a:lstStyle/>
          <a:p>
            <a:pPr algn="ctr"/>
            <a:r>
              <a:rPr lang="tr-TR" sz="2800" noProof="0" dirty="0"/>
              <a:t>Performans Metrikleri</a:t>
            </a:r>
          </a:p>
        </p:txBody>
      </p:sp>
      <p:sp>
        <p:nvSpPr>
          <p:cNvPr id="12" name="TextBox 11">
            <a:extLst>
              <a:ext uri="{FF2B5EF4-FFF2-40B4-BE49-F238E27FC236}">
                <a16:creationId xmlns:a16="http://schemas.microsoft.com/office/drawing/2014/main" id="{681AA0DA-DC80-96EC-0B10-767CBA25B66F}"/>
              </a:ext>
            </a:extLst>
          </p:cNvPr>
          <p:cNvSpPr txBox="1"/>
          <p:nvPr/>
        </p:nvSpPr>
        <p:spPr>
          <a:xfrm>
            <a:off x="5104263" y="1505420"/>
            <a:ext cx="6039134" cy="3956339"/>
          </a:xfrm>
          <a:prstGeom prst="rect">
            <a:avLst/>
          </a:prstGeom>
          <a:noFill/>
        </p:spPr>
        <p:txBody>
          <a:bodyPr wrap="square">
            <a:spAutoFit/>
          </a:bodyPr>
          <a:lstStyle/>
          <a:p>
            <a:pPr>
              <a:lnSpc>
                <a:spcPct val="150000"/>
              </a:lnSpc>
              <a:buNone/>
            </a:pPr>
            <a:r>
              <a:rPr lang="tr-TR" sz="1300" noProof="0" dirty="0"/>
              <a:t>Modelin başarısını değerlendirmek amacıyla aşağıdaki metrikler kullanılmıştır:</a:t>
            </a:r>
          </a:p>
          <a:p>
            <a:pPr>
              <a:lnSpc>
                <a:spcPct val="150000"/>
              </a:lnSpc>
              <a:buFont typeface="Arial" panose="020B0604020202020204" pitchFamily="34" charset="0"/>
              <a:buChar char="•"/>
            </a:pPr>
            <a:r>
              <a:rPr lang="tr-TR" sz="1300" b="1" noProof="0" dirty="0" err="1"/>
              <a:t>Accuracy</a:t>
            </a:r>
            <a:r>
              <a:rPr lang="tr-TR" sz="1300" b="1" noProof="0" dirty="0"/>
              <a:t>:</a:t>
            </a:r>
            <a:r>
              <a:rPr lang="tr-TR" sz="1300" noProof="0" dirty="0"/>
              <a:t> Modelin tüm tahminleri içerisindeki genel doğruluk oranını gösterir.</a:t>
            </a:r>
          </a:p>
          <a:p>
            <a:pPr>
              <a:lnSpc>
                <a:spcPct val="150000"/>
              </a:lnSpc>
              <a:buFont typeface="Arial" panose="020B0604020202020204" pitchFamily="34" charset="0"/>
              <a:buChar char="•"/>
            </a:pPr>
            <a:r>
              <a:rPr lang="tr-TR" sz="1300" b="1" noProof="0" dirty="0"/>
              <a:t>Precision:</a:t>
            </a:r>
            <a:r>
              <a:rPr lang="tr-TR" sz="1300" noProof="0" dirty="0"/>
              <a:t> Pozitif olarak tahmin edilen örneklerin ne kadarının doğru olduğunu ifade eder.</a:t>
            </a:r>
          </a:p>
          <a:p>
            <a:pPr>
              <a:lnSpc>
                <a:spcPct val="150000"/>
              </a:lnSpc>
              <a:buFont typeface="Arial" panose="020B0604020202020204" pitchFamily="34" charset="0"/>
              <a:buChar char="•"/>
            </a:pPr>
            <a:r>
              <a:rPr lang="tr-TR" sz="1300" b="1" noProof="0" dirty="0" err="1"/>
              <a:t>Recall</a:t>
            </a:r>
            <a:r>
              <a:rPr lang="tr-TR" sz="1300" b="1" noProof="0" dirty="0"/>
              <a:t>:</a:t>
            </a:r>
            <a:r>
              <a:rPr lang="tr-TR" sz="1300" noProof="0" dirty="0"/>
              <a:t> Gerçek pozitif örneklerin ne kadarının doğru şekilde yakalandığını gösterir.</a:t>
            </a:r>
          </a:p>
          <a:p>
            <a:pPr>
              <a:lnSpc>
                <a:spcPct val="150000"/>
              </a:lnSpc>
              <a:buFont typeface="Arial" panose="020B0604020202020204" pitchFamily="34" charset="0"/>
              <a:buChar char="•"/>
            </a:pPr>
            <a:r>
              <a:rPr lang="tr-TR" sz="1300" b="1" noProof="0" dirty="0"/>
              <a:t>F1-score:</a:t>
            </a:r>
            <a:r>
              <a:rPr lang="tr-TR" sz="1300" noProof="0" dirty="0"/>
              <a:t> Precision ve </a:t>
            </a:r>
            <a:r>
              <a:rPr lang="tr-TR" sz="1300" noProof="0" dirty="0" err="1"/>
              <a:t>Recall</a:t>
            </a:r>
            <a:r>
              <a:rPr lang="tr-TR" sz="1300" noProof="0" dirty="0"/>
              <a:t> metriklerinin dengeli birleşimini sunar.</a:t>
            </a:r>
          </a:p>
          <a:p>
            <a:pPr>
              <a:lnSpc>
                <a:spcPct val="150000"/>
              </a:lnSpc>
              <a:buNone/>
            </a:pPr>
            <a:r>
              <a:rPr lang="tr-TR" sz="1300" b="1" noProof="0" dirty="0"/>
              <a:t>Neden Bu Metrikler Kullanılmıştır?</a:t>
            </a:r>
            <a:br>
              <a:rPr lang="tr-TR" sz="1300" noProof="0" dirty="0"/>
            </a:br>
            <a:r>
              <a:rPr lang="tr-TR" sz="1300" noProof="0" dirty="0"/>
              <a:t>Veri setinde sınıf dağılımının dengesiz olması nedeniyle yalnızca </a:t>
            </a:r>
            <a:r>
              <a:rPr lang="tr-TR" sz="1300" noProof="0" dirty="0" err="1"/>
              <a:t>accuracy</a:t>
            </a:r>
            <a:r>
              <a:rPr lang="tr-TR" sz="1300" noProof="0" dirty="0"/>
              <a:t> metriği model performansını değerlendirmek için yeterli değildir. Bu nedenle Precision, </a:t>
            </a:r>
            <a:r>
              <a:rPr lang="tr-TR" sz="1300" noProof="0" dirty="0" err="1"/>
              <a:t>Recall</a:t>
            </a:r>
            <a:r>
              <a:rPr lang="tr-TR" sz="1300" noProof="0" dirty="0"/>
              <a:t> ve F1-score metrikleri birlikte kullanılarak modelin sınıf bazlı performansı daha ayrıntılı biçimde incelenmiştir. Bu metrikler, modelin hatalarını ve sınıflar arasındaki davranışını daha net biçimde ortaya koymaktadır.</a:t>
            </a:r>
          </a:p>
        </p:txBody>
      </p:sp>
      <p:pic>
        <p:nvPicPr>
          <p:cNvPr id="14" name="Picture 13" descr="A screenshot of a graph&#10;&#10;AI-generated content may be incorrect.">
            <a:extLst>
              <a:ext uri="{FF2B5EF4-FFF2-40B4-BE49-F238E27FC236}">
                <a16:creationId xmlns:a16="http://schemas.microsoft.com/office/drawing/2014/main" id="{5986F12C-4BFB-AE1A-E4D4-860D90239DF4}"/>
              </a:ext>
            </a:extLst>
          </p:cNvPr>
          <p:cNvPicPr>
            <a:picLocks noChangeAspect="1"/>
          </p:cNvPicPr>
          <p:nvPr/>
        </p:nvPicPr>
        <p:blipFill>
          <a:blip r:embed="rId2"/>
          <a:stretch>
            <a:fillRect/>
          </a:stretch>
        </p:blipFill>
        <p:spPr>
          <a:xfrm>
            <a:off x="659758" y="1636890"/>
            <a:ext cx="4036695" cy="2880519"/>
          </a:xfrm>
          <a:prstGeom prst="rect">
            <a:avLst/>
          </a:prstGeom>
        </p:spPr>
      </p:pic>
    </p:spTree>
    <p:extLst>
      <p:ext uri="{BB962C8B-B14F-4D97-AF65-F5344CB8AC3E}">
        <p14:creationId xmlns:p14="http://schemas.microsoft.com/office/powerpoint/2010/main" val="1164909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A3E1-37DD-A215-4DC5-0504C1EA4028}"/>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2175D28-BFE0-47C0-5BC0-86FB84D55E08}"/>
              </a:ext>
            </a:extLst>
          </p:cNvPr>
          <p:cNvSpPr/>
          <p:nvPr/>
        </p:nvSpPr>
        <p:spPr>
          <a:xfrm>
            <a:off x="2261899" y="1249581"/>
            <a:ext cx="7168704" cy="3274652"/>
          </a:xfrm>
          <a:prstGeom prst="roundRect">
            <a:avLst/>
          </a:prstGeom>
          <a:solidFill>
            <a:schemeClr val="tx2">
              <a:lumMod val="10000"/>
              <a:lumOff val="90000"/>
            </a:schemeClr>
          </a:solidFill>
          <a:ln>
            <a:solidFill>
              <a:schemeClr val="tx2">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50000"/>
              </a:lnSpc>
            </a:pPr>
            <a:r>
              <a:rPr lang="tr-TR" sz="2800" b="1" dirty="0"/>
              <a:t>all_kindle_review.csv </a:t>
            </a:r>
          </a:p>
          <a:p>
            <a:pPr algn="ctr">
              <a:lnSpc>
                <a:spcPct val="150000"/>
              </a:lnSpc>
            </a:pPr>
            <a:r>
              <a:rPr lang="tr-TR" sz="2800" b="1" dirty="0"/>
              <a:t>Veri Setinin</a:t>
            </a:r>
          </a:p>
          <a:p>
            <a:pPr algn="ctr">
              <a:lnSpc>
                <a:spcPct val="150000"/>
              </a:lnSpc>
            </a:pPr>
            <a:r>
              <a:rPr lang="tr-TR" sz="2800" b="1" dirty="0"/>
              <a:t>R UYGULAMASI</a:t>
            </a:r>
          </a:p>
        </p:txBody>
      </p:sp>
    </p:spTree>
    <p:extLst>
      <p:ext uri="{BB962C8B-B14F-4D97-AF65-F5344CB8AC3E}">
        <p14:creationId xmlns:p14="http://schemas.microsoft.com/office/powerpoint/2010/main" val="1718604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DAED66-CDEB-1BF6-07CD-09154C68C661}"/>
              </a:ext>
            </a:extLst>
          </p:cNvPr>
          <p:cNvSpPr txBox="1"/>
          <p:nvPr/>
        </p:nvSpPr>
        <p:spPr>
          <a:xfrm>
            <a:off x="0" y="534712"/>
            <a:ext cx="12192000" cy="523220"/>
          </a:xfrm>
          <a:prstGeom prst="rect">
            <a:avLst/>
          </a:prstGeom>
          <a:noFill/>
        </p:spPr>
        <p:txBody>
          <a:bodyPr wrap="square" rtlCol="0">
            <a:spAutoFit/>
          </a:bodyPr>
          <a:lstStyle/>
          <a:p>
            <a:pPr algn="ctr"/>
            <a:r>
              <a:rPr lang="tr-TR" sz="2800" dirty="0"/>
              <a:t>Veri Setinin Tanıtımı (Amazon </a:t>
            </a:r>
            <a:r>
              <a:rPr lang="tr-TR" sz="2800" dirty="0" err="1"/>
              <a:t>Kindle</a:t>
            </a:r>
            <a:r>
              <a:rPr lang="tr-TR" sz="2800" dirty="0"/>
              <a:t> Yorumları)</a:t>
            </a:r>
            <a:endParaRPr lang="tr-TR" sz="2800" b="1" dirty="0"/>
          </a:p>
        </p:txBody>
      </p:sp>
      <p:sp>
        <p:nvSpPr>
          <p:cNvPr id="4" name="TextBox 3">
            <a:extLst>
              <a:ext uri="{FF2B5EF4-FFF2-40B4-BE49-F238E27FC236}">
                <a16:creationId xmlns:a16="http://schemas.microsoft.com/office/drawing/2014/main" id="{9224FF3D-31A6-A8F0-E2CA-224D2DDAEDEC}"/>
              </a:ext>
            </a:extLst>
          </p:cNvPr>
          <p:cNvSpPr txBox="1"/>
          <p:nvPr/>
        </p:nvSpPr>
        <p:spPr>
          <a:xfrm>
            <a:off x="1188949" y="1002959"/>
            <a:ext cx="9995392" cy="1355628"/>
          </a:xfrm>
          <a:prstGeom prst="rect">
            <a:avLst/>
          </a:prstGeom>
          <a:noFill/>
        </p:spPr>
        <p:txBody>
          <a:bodyPr wrap="square">
            <a:spAutoFit/>
          </a:bodyPr>
          <a:lstStyle/>
          <a:p>
            <a:pPr algn="just">
              <a:lnSpc>
                <a:spcPct val="125000"/>
              </a:lnSpc>
            </a:pPr>
            <a:r>
              <a:rPr lang="tr-TR" sz="1200" noProof="0" dirty="0"/>
              <a:t>   </a:t>
            </a:r>
            <a:r>
              <a:rPr lang="tr-TR" sz="1300" noProof="0" dirty="0"/>
              <a:t>Bu çalışmada, </a:t>
            </a:r>
            <a:r>
              <a:rPr lang="tr-TR" sz="1300" b="1" noProof="0" dirty="0"/>
              <a:t>Amazon </a:t>
            </a:r>
            <a:r>
              <a:rPr lang="tr-TR" sz="1300" b="1" noProof="0" dirty="0" err="1"/>
              <a:t>Kindle</a:t>
            </a:r>
            <a:r>
              <a:rPr lang="tr-TR" sz="1300" b="1" noProof="0" dirty="0"/>
              <a:t> platformuna ait kullanıcı yorumlarını</a:t>
            </a:r>
            <a:r>
              <a:rPr lang="tr-TR" sz="1300" noProof="0" dirty="0"/>
              <a:t> içeren all_kindle_review.csv veri seti incelenmiştir. Veri seti; kullanıcıların kitaplara verdikleri </a:t>
            </a:r>
            <a:r>
              <a:rPr lang="tr-TR" sz="1300" b="1" noProof="0" dirty="0"/>
              <a:t>yıldız puanları (rating)</a:t>
            </a:r>
            <a:r>
              <a:rPr lang="tr-TR" sz="1300" noProof="0" dirty="0"/>
              <a:t> ve bu puanlara eşlik eden </a:t>
            </a:r>
            <a:r>
              <a:rPr lang="tr-TR" sz="1300" b="1" noProof="0" dirty="0"/>
              <a:t>metin tabanlı yorumlardan</a:t>
            </a:r>
            <a:r>
              <a:rPr lang="tr-TR" sz="1300" noProof="0" dirty="0"/>
              <a:t> oluşmaktadır. Bu yorumlar kullanılarak metin analitiği ve duygu analizi yöntemleriyle kullanıcıların </a:t>
            </a:r>
            <a:r>
              <a:rPr lang="tr-TR" sz="1300" b="1" noProof="0" dirty="0"/>
              <a:t>memnuniyet düzeyleri ve duygusal eğilimleri</a:t>
            </a:r>
            <a:r>
              <a:rPr lang="tr-TR" sz="1300" noProof="0" dirty="0"/>
              <a:t> analiz edilmiştir.</a:t>
            </a:r>
          </a:p>
          <a:p>
            <a:pPr algn="just">
              <a:lnSpc>
                <a:spcPct val="150000"/>
              </a:lnSpc>
            </a:pPr>
            <a:r>
              <a:rPr lang="tr-TR" sz="1300" dirty="0"/>
              <a:t>   </a:t>
            </a:r>
            <a:r>
              <a:rPr lang="en-US" sz="1300" dirty="0"/>
              <a:t>Veri </a:t>
            </a:r>
            <a:r>
              <a:rPr lang="en-US" sz="1300" dirty="0" err="1"/>
              <a:t>setinde</a:t>
            </a:r>
            <a:r>
              <a:rPr lang="en-US" sz="1300" dirty="0"/>
              <a:t> </a:t>
            </a:r>
            <a:r>
              <a:rPr lang="en-US" sz="1300" b="1" dirty="0" err="1"/>
              <a:t>toplam</a:t>
            </a:r>
            <a:r>
              <a:rPr lang="en-US" sz="1300" b="1" dirty="0"/>
              <a:t> 10 </a:t>
            </a:r>
            <a:r>
              <a:rPr lang="en-US" sz="1300" b="1" dirty="0" err="1"/>
              <a:t>adet</a:t>
            </a:r>
            <a:r>
              <a:rPr lang="en-US" sz="1300" b="1" dirty="0"/>
              <a:t> </a:t>
            </a:r>
            <a:r>
              <a:rPr lang="en-US" sz="1300" b="1" dirty="0" err="1"/>
              <a:t>sütun</a:t>
            </a:r>
            <a:r>
              <a:rPr lang="en-US" sz="1300" dirty="0"/>
              <a:t> </a:t>
            </a:r>
            <a:r>
              <a:rPr lang="en-US" sz="1300" dirty="0" err="1"/>
              <a:t>bulunmaktadır</a:t>
            </a:r>
            <a:r>
              <a:rPr lang="en-US" sz="1200" dirty="0"/>
              <a:t>.</a:t>
            </a:r>
            <a:endParaRPr lang="tr-TR" sz="1200" noProof="0" dirty="0"/>
          </a:p>
        </p:txBody>
      </p:sp>
      <p:graphicFrame>
        <p:nvGraphicFramePr>
          <p:cNvPr id="5" name="Table 4">
            <a:extLst>
              <a:ext uri="{FF2B5EF4-FFF2-40B4-BE49-F238E27FC236}">
                <a16:creationId xmlns:a16="http://schemas.microsoft.com/office/drawing/2014/main" id="{35B41114-DC60-1F57-7833-26930061E0E7}"/>
              </a:ext>
            </a:extLst>
          </p:cNvPr>
          <p:cNvGraphicFramePr>
            <a:graphicFrameLocks noGrp="1"/>
          </p:cNvGraphicFramePr>
          <p:nvPr>
            <p:extLst>
              <p:ext uri="{D42A27DB-BD31-4B8C-83A1-F6EECF244321}">
                <p14:modId xmlns:p14="http://schemas.microsoft.com/office/powerpoint/2010/main" val="1343592642"/>
              </p:ext>
            </p:extLst>
          </p:nvPr>
        </p:nvGraphicFramePr>
        <p:xfrm>
          <a:off x="1141180" y="2884341"/>
          <a:ext cx="5744116" cy="3561256"/>
        </p:xfrm>
        <a:graphic>
          <a:graphicData uri="http://schemas.openxmlformats.org/drawingml/2006/table">
            <a:tbl>
              <a:tblPr firstRow="1" bandRow="1">
                <a:tableStyleId>{5C22544A-7EE6-4342-B048-85BDC9FD1C3A}</a:tableStyleId>
              </a:tblPr>
              <a:tblGrid>
                <a:gridCol w="2872058">
                  <a:extLst>
                    <a:ext uri="{9D8B030D-6E8A-4147-A177-3AD203B41FA5}">
                      <a16:colId xmlns:a16="http://schemas.microsoft.com/office/drawing/2014/main" val="978915291"/>
                    </a:ext>
                  </a:extLst>
                </a:gridCol>
                <a:gridCol w="2872058">
                  <a:extLst>
                    <a:ext uri="{9D8B030D-6E8A-4147-A177-3AD203B41FA5}">
                      <a16:colId xmlns:a16="http://schemas.microsoft.com/office/drawing/2014/main" val="2573515127"/>
                    </a:ext>
                  </a:extLst>
                </a:gridCol>
              </a:tblGrid>
              <a:tr h="282737">
                <a:tc>
                  <a:txBody>
                    <a:bodyPr/>
                    <a:lstStyle/>
                    <a:p>
                      <a:pPr>
                        <a:buNone/>
                      </a:pPr>
                      <a:r>
                        <a:rPr lang="tr-TR" sz="1300" noProof="0" dirty="0"/>
                        <a:t>İngilizce Değişken Adı</a:t>
                      </a:r>
                    </a:p>
                  </a:txBody>
                  <a:tcPr anchor="ctr"/>
                </a:tc>
                <a:tc>
                  <a:txBody>
                    <a:bodyPr/>
                    <a:lstStyle/>
                    <a:p>
                      <a:pPr>
                        <a:buNone/>
                      </a:pPr>
                      <a:r>
                        <a:rPr lang="tr-TR" sz="1300" noProof="0" dirty="0"/>
                        <a:t>Türkçe Karşılığı</a:t>
                      </a:r>
                    </a:p>
                  </a:txBody>
                  <a:tcPr anchor="ctr"/>
                </a:tc>
                <a:extLst>
                  <a:ext uri="{0D108BD9-81ED-4DB2-BD59-A6C34878D82A}">
                    <a16:rowId xmlns:a16="http://schemas.microsoft.com/office/drawing/2014/main" val="3687675982"/>
                  </a:ext>
                </a:extLst>
              </a:tr>
              <a:tr h="347711">
                <a:tc>
                  <a:txBody>
                    <a:bodyPr/>
                    <a:lstStyle/>
                    <a:p>
                      <a:pPr>
                        <a:buNone/>
                      </a:pPr>
                      <a:r>
                        <a:rPr lang="tr-TR" sz="1300" noProof="0" dirty="0">
                          <a:latin typeface="Courier New" panose="02070309020205020404" pitchFamily="49" charset="0"/>
                        </a:rPr>
                        <a:t>Unnamed..0</a:t>
                      </a:r>
                      <a:endParaRPr lang="tr-TR" sz="1300" noProof="0" dirty="0"/>
                    </a:p>
                  </a:txBody>
                  <a:tcPr anchor="ctr"/>
                </a:tc>
                <a:tc>
                  <a:txBody>
                    <a:bodyPr/>
                    <a:lstStyle/>
                    <a:p>
                      <a:pPr>
                        <a:buNone/>
                      </a:pPr>
                      <a:r>
                        <a:rPr lang="tr-TR" sz="1300" noProof="0" dirty="0"/>
                        <a:t>Otomatik indeks / Satır numarası</a:t>
                      </a:r>
                    </a:p>
                  </a:txBody>
                  <a:tcPr anchor="ctr"/>
                </a:tc>
                <a:extLst>
                  <a:ext uri="{0D108BD9-81ED-4DB2-BD59-A6C34878D82A}">
                    <a16:rowId xmlns:a16="http://schemas.microsoft.com/office/drawing/2014/main" val="3865231550"/>
                  </a:ext>
                </a:extLst>
              </a:tr>
              <a:tr h="476188">
                <a:tc>
                  <a:txBody>
                    <a:bodyPr/>
                    <a:lstStyle/>
                    <a:p>
                      <a:pPr>
                        <a:buNone/>
                      </a:pPr>
                      <a:r>
                        <a:rPr lang="tr-TR" sz="1300" noProof="0" dirty="0">
                          <a:latin typeface="Courier New" panose="02070309020205020404" pitchFamily="49" charset="0"/>
                        </a:rPr>
                        <a:t>asin</a:t>
                      </a:r>
                      <a:endParaRPr lang="tr-TR" sz="1300" noProof="0" dirty="0"/>
                    </a:p>
                  </a:txBody>
                  <a:tcPr anchor="ctr"/>
                </a:tc>
                <a:tc>
                  <a:txBody>
                    <a:bodyPr/>
                    <a:lstStyle/>
                    <a:p>
                      <a:pPr>
                        <a:buNone/>
                      </a:pPr>
                      <a:r>
                        <a:rPr lang="tr-TR" sz="1300" noProof="0" dirty="0"/>
                        <a:t>Ürün kimlik numarası (Amazon ASIN)</a:t>
                      </a:r>
                    </a:p>
                  </a:txBody>
                  <a:tcPr anchor="ctr"/>
                </a:tc>
                <a:extLst>
                  <a:ext uri="{0D108BD9-81ED-4DB2-BD59-A6C34878D82A}">
                    <a16:rowId xmlns:a16="http://schemas.microsoft.com/office/drawing/2014/main" val="2272426561"/>
                  </a:ext>
                </a:extLst>
              </a:tr>
              <a:tr h="282737">
                <a:tc>
                  <a:txBody>
                    <a:bodyPr/>
                    <a:lstStyle/>
                    <a:p>
                      <a:pPr>
                        <a:buNone/>
                      </a:pPr>
                      <a:r>
                        <a:rPr lang="tr-TR" sz="1300" noProof="0" dirty="0" err="1">
                          <a:latin typeface="Courier New" panose="02070309020205020404" pitchFamily="49" charset="0"/>
                        </a:rPr>
                        <a:t>helpful</a:t>
                      </a:r>
                      <a:endParaRPr lang="tr-TR" sz="1300" noProof="0" dirty="0"/>
                    </a:p>
                  </a:txBody>
                  <a:tcPr anchor="ctr"/>
                </a:tc>
                <a:tc>
                  <a:txBody>
                    <a:bodyPr/>
                    <a:lstStyle/>
                    <a:p>
                      <a:pPr>
                        <a:buNone/>
                      </a:pPr>
                      <a:r>
                        <a:rPr lang="tr-TR" sz="1300" noProof="0" dirty="0"/>
                        <a:t>Yararlı oy sayısı</a:t>
                      </a:r>
                    </a:p>
                  </a:txBody>
                  <a:tcPr anchor="ctr"/>
                </a:tc>
                <a:extLst>
                  <a:ext uri="{0D108BD9-81ED-4DB2-BD59-A6C34878D82A}">
                    <a16:rowId xmlns:a16="http://schemas.microsoft.com/office/drawing/2014/main" val="2806187961"/>
                  </a:ext>
                </a:extLst>
              </a:tr>
              <a:tr h="282737">
                <a:tc>
                  <a:txBody>
                    <a:bodyPr/>
                    <a:lstStyle/>
                    <a:p>
                      <a:pPr>
                        <a:buNone/>
                      </a:pPr>
                      <a:r>
                        <a:rPr lang="tr-TR" sz="1300" noProof="0" dirty="0">
                          <a:latin typeface="Courier New" panose="02070309020205020404" pitchFamily="49" charset="0"/>
                        </a:rPr>
                        <a:t>rating</a:t>
                      </a:r>
                      <a:endParaRPr lang="tr-TR" sz="1300" noProof="0" dirty="0"/>
                    </a:p>
                  </a:txBody>
                  <a:tcPr anchor="ctr"/>
                </a:tc>
                <a:tc>
                  <a:txBody>
                    <a:bodyPr/>
                    <a:lstStyle/>
                    <a:p>
                      <a:pPr>
                        <a:buNone/>
                      </a:pPr>
                      <a:r>
                        <a:rPr lang="tr-TR" sz="1300" noProof="0" dirty="0"/>
                        <a:t>Yıldız puanı</a:t>
                      </a:r>
                    </a:p>
                  </a:txBody>
                  <a:tcPr anchor="ctr"/>
                </a:tc>
                <a:extLst>
                  <a:ext uri="{0D108BD9-81ED-4DB2-BD59-A6C34878D82A}">
                    <a16:rowId xmlns:a16="http://schemas.microsoft.com/office/drawing/2014/main" val="2188584794"/>
                  </a:ext>
                </a:extLst>
              </a:tr>
              <a:tr h="282737">
                <a:tc>
                  <a:txBody>
                    <a:bodyPr/>
                    <a:lstStyle/>
                    <a:p>
                      <a:pPr>
                        <a:buNone/>
                      </a:pPr>
                      <a:r>
                        <a:rPr lang="tr-TR" sz="1300" noProof="0" dirty="0" err="1">
                          <a:latin typeface="Courier New" panose="02070309020205020404" pitchFamily="49" charset="0"/>
                        </a:rPr>
                        <a:t>reviewText</a:t>
                      </a:r>
                      <a:endParaRPr lang="tr-TR" sz="1300" noProof="0" dirty="0"/>
                    </a:p>
                  </a:txBody>
                  <a:tcPr anchor="ctr"/>
                </a:tc>
                <a:tc>
                  <a:txBody>
                    <a:bodyPr/>
                    <a:lstStyle/>
                    <a:p>
                      <a:pPr>
                        <a:buNone/>
                      </a:pPr>
                      <a:r>
                        <a:rPr lang="tr-TR" sz="1300" noProof="0" dirty="0"/>
                        <a:t>Yorum metni</a:t>
                      </a:r>
                    </a:p>
                  </a:txBody>
                  <a:tcPr anchor="ctr"/>
                </a:tc>
                <a:extLst>
                  <a:ext uri="{0D108BD9-81ED-4DB2-BD59-A6C34878D82A}">
                    <a16:rowId xmlns:a16="http://schemas.microsoft.com/office/drawing/2014/main" val="4150342269"/>
                  </a:ext>
                </a:extLst>
              </a:tr>
              <a:tr h="282737">
                <a:tc>
                  <a:txBody>
                    <a:bodyPr/>
                    <a:lstStyle/>
                    <a:p>
                      <a:pPr>
                        <a:buNone/>
                      </a:pPr>
                      <a:r>
                        <a:rPr lang="tr-TR" sz="1300" noProof="0" dirty="0" err="1">
                          <a:latin typeface="Courier New" panose="02070309020205020404" pitchFamily="49" charset="0"/>
                        </a:rPr>
                        <a:t>reviewTime</a:t>
                      </a:r>
                      <a:endParaRPr lang="tr-TR" sz="1300" noProof="0" dirty="0"/>
                    </a:p>
                  </a:txBody>
                  <a:tcPr anchor="ctr"/>
                </a:tc>
                <a:tc>
                  <a:txBody>
                    <a:bodyPr/>
                    <a:lstStyle/>
                    <a:p>
                      <a:pPr>
                        <a:buNone/>
                      </a:pPr>
                      <a:r>
                        <a:rPr lang="tr-TR" sz="1300" noProof="0" dirty="0"/>
                        <a:t>Yorum tarihi (metin formatı)</a:t>
                      </a:r>
                    </a:p>
                  </a:txBody>
                  <a:tcPr anchor="ctr"/>
                </a:tc>
                <a:extLst>
                  <a:ext uri="{0D108BD9-81ED-4DB2-BD59-A6C34878D82A}">
                    <a16:rowId xmlns:a16="http://schemas.microsoft.com/office/drawing/2014/main" val="2046592535"/>
                  </a:ext>
                </a:extLst>
              </a:tr>
              <a:tr h="282737">
                <a:tc>
                  <a:txBody>
                    <a:bodyPr/>
                    <a:lstStyle/>
                    <a:p>
                      <a:pPr>
                        <a:buNone/>
                      </a:pPr>
                      <a:r>
                        <a:rPr lang="tr-TR" sz="1300" noProof="0" dirty="0" err="1">
                          <a:latin typeface="Courier New" panose="02070309020205020404" pitchFamily="49" charset="0"/>
                        </a:rPr>
                        <a:t>reviewerID</a:t>
                      </a:r>
                      <a:endParaRPr lang="tr-TR" sz="1300" noProof="0" dirty="0"/>
                    </a:p>
                  </a:txBody>
                  <a:tcPr anchor="ctr"/>
                </a:tc>
                <a:tc>
                  <a:txBody>
                    <a:bodyPr/>
                    <a:lstStyle/>
                    <a:p>
                      <a:pPr>
                        <a:buNone/>
                      </a:pPr>
                      <a:r>
                        <a:rPr lang="tr-TR" sz="1300" noProof="0" dirty="0"/>
                        <a:t>Yorumcu kimlik numarası</a:t>
                      </a:r>
                    </a:p>
                  </a:txBody>
                  <a:tcPr anchor="ctr"/>
                </a:tc>
                <a:extLst>
                  <a:ext uri="{0D108BD9-81ED-4DB2-BD59-A6C34878D82A}">
                    <a16:rowId xmlns:a16="http://schemas.microsoft.com/office/drawing/2014/main" val="1929728563"/>
                  </a:ext>
                </a:extLst>
              </a:tr>
              <a:tr h="282737">
                <a:tc>
                  <a:txBody>
                    <a:bodyPr/>
                    <a:lstStyle/>
                    <a:p>
                      <a:pPr>
                        <a:buNone/>
                      </a:pPr>
                      <a:r>
                        <a:rPr lang="tr-TR" sz="1300" noProof="0" dirty="0" err="1">
                          <a:latin typeface="Courier New" panose="02070309020205020404" pitchFamily="49" charset="0"/>
                        </a:rPr>
                        <a:t>reviewerName</a:t>
                      </a:r>
                      <a:endParaRPr lang="tr-TR" sz="1300" noProof="0" dirty="0"/>
                    </a:p>
                  </a:txBody>
                  <a:tcPr anchor="ctr"/>
                </a:tc>
                <a:tc>
                  <a:txBody>
                    <a:bodyPr/>
                    <a:lstStyle/>
                    <a:p>
                      <a:pPr>
                        <a:buNone/>
                      </a:pPr>
                      <a:r>
                        <a:rPr lang="tr-TR" sz="1300" noProof="0" dirty="0"/>
                        <a:t>Yorumcu adı</a:t>
                      </a:r>
                    </a:p>
                  </a:txBody>
                  <a:tcPr anchor="ctr"/>
                </a:tc>
                <a:extLst>
                  <a:ext uri="{0D108BD9-81ED-4DB2-BD59-A6C34878D82A}">
                    <a16:rowId xmlns:a16="http://schemas.microsoft.com/office/drawing/2014/main" val="2160462124"/>
                  </a:ext>
                </a:extLst>
              </a:tr>
              <a:tr h="282737">
                <a:tc>
                  <a:txBody>
                    <a:bodyPr/>
                    <a:lstStyle/>
                    <a:p>
                      <a:pPr>
                        <a:buNone/>
                      </a:pPr>
                      <a:r>
                        <a:rPr lang="tr-TR" sz="1300" noProof="0" dirty="0" err="1">
                          <a:latin typeface="Courier New" panose="02070309020205020404" pitchFamily="49" charset="0"/>
                        </a:rPr>
                        <a:t>summary</a:t>
                      </a:r>
                      <a:endParaRPr lang="tr-TR" sz="1300" noProof="0" dirty="0"/>
                    </a:p>
                  </a:txBody>
                  <a:tcPr anchor="ctr"/>
                </a:tc>
                <a:tc>
                  <a:txBody>
                    <a:bodyPr/>
                    <a:lstStyle/>
                    <a:p>
                      <a:pPr>
                        <a:buNone/>
                      </a:pPr>
                      <a:r>
                        <a:rPr lang="tr-TR" sz="1300" noProof="0" dirty="0"/>
                        <a:t>Yorum özeti / Kısa yorum</a:t>
                      </a:r>
                    </a:p>
                  </a:txBody>
                  <a:tcPr anchor="ctr"/>
                </a:tc>
                <a:extLst>
                  <a:ext uri="{0D108BD9-81ED-4DB2-BD59-A6C34878D82A}">
                    <a16:rowId xmlns:a16="http://schemas.microsoft.com/office/drawing/2014/main" val="3435147602"/>
                  </a:ext>
                </a:extLst>
              </a:tr>
              <a:tr h="409385">
                <a:tc>
                  <a:txBody>
                    <a:bodyPr/>
                    <a:lstStyle/>
                    <a:p>
                      <a:pPr>
                        <a:buNone/>
                      </a:pPr>
                      <a:r>
                        <a:rPr lang="tr-TR" sz="1300" noProof="0" dirty="0" err="1">
                          <a:latin typeface="Courier New" panose="02070309020205020404" pitchFamily="49" charset="0"/>
                        </a:rPr>
                        <a:t>unixReviewTime</a:t>
                      </a:r>
                      <a:endParaRPr lang="tr-TR" sz="1300" noProof="0" dirty="0"/>
                    </a:p>
                  </a:txBody>
                  <a:tcPr anchor="ctr"/>
                </a:tc>
                <a:tc>
                  <a:txBody>
                    <a:bodyPr/>
                    <a:lstStyle/>
                    <a:p>
                      <a:pPr>
                        <a:buNone/>
                      </a:pPr>
                      <a:r>
                        <a:rPr lang="tr-TR" sz="1300" noProof="0" dirty="0"/>
                        <a:t>Yorum tarihi (Unix zaman damgası)</a:t>
                      </a:r>
                    </a:p>
                  </a:txBody>
                  <a:tcPr anchor="ctr"/>
                </a:tc>
                <a:extLst>
                  <a:ext uri="{0D108BD9-81ED-4DB2-BD59-A6C34878D82A}">
                    <a16:rowId xmlns:a16="http://schemas.microsoft.com/office/drawing/2014/main" val="2135395860"/>
                  </a:ext>
                </a:extLst>
              </a:tr>
            </a:tbl>
          </a:graphicData>
        </a:graphic>
      </p:graphicFrame>
      <p:pic>
        <p:nvPicPr>
          <p:cNvPr id="6" name="Picture 5">
            <a:extLst>
              <a:ext uri="{FF2B5EF4-FFF2-40B4-BE49-F238E27FC236}">
                <a16:creationId xmlns:a16="http://schemas.microsoft.com/office/drawing/2014/main" id="{303F3192-2933-A972-A6DF-1AAD7BBC8B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1180" y="2330011"/>
            <a:ext cx="5924230" cy="471483"/>
          </a:xfrm>
          <a:prstGeom prst="rect">
            <a:avLst/>
          </a:prstGeom>
        </p:spPr>
      </p:pic>
      <p:pic>
        <p:nvPicPr>
          <p:cNvPr id="7" name="Picture 6">
            <a:extLst>
              <a:ext uri="{FF2B5EF4-FFF2-40B4-BE49-F238E27FC236}">
                <a16:creationId xmlns:a16="http://schemas.microsoft.com/office/drawing/2014/main" id="{E1454E06-4453-44F7-4003-8A38E357E51B}"/>
              </a:ext>
            </a:extLst>
          </p:cNvPr>
          <p:cNvPicPr>
            <a:picLocks noChangeAspect="1"/>
          </p:cNvPicPr>
          <p:nvPr/>
        </p:nvPicPr>
        <p:blipFill>
          <a:blip r:embed="rId3"/>
          <a:stretch>
            <a:fillRect/>
          </a:stretch>
        </p:blipFill>
        <p:spPr>
          <a:xfrm>
            <a:off x="7163979" y="2873948"/>
            <a:ext cx="4223330" cy="1791021"/>
          </a:xfrm>
          <a:prstGeom prst="rect">
            <a:avLst/>
          </a:prstGeom>
        </p:spPr>
      </p:pic>
      <p:sp>
        <p:nvSpPr>
          <p:cNvPr id="9" name="TextBox 8">
            <a:extLst>
              <a:ext uri="{FF2B5EF4-FFF2-40B4-BE49-F238E27FC236}">
                <a16:creationId xmlns:a16="http://schemas.microsoft.com/office/drawing/2014/main" id="{3384CEA4-F1A3-F099-C37C-62CCCC52532F}"/>
              </a:ext>
            </a:extLst>
          </p:cNvPr>
          <p:cNvSpPr txBox="1"/>
          <p:nvPr/>
        </p:nvSpPr>
        <p:spPr>
          <a:xfrm>
            <a:off x="7163979" y="4828742"/>
            <a:ext cx="4020362" cy="567912"/>
          </a:xfrm>
          <a:prstGeom prst="rect">
            <a:avLst/>
          </a:prstGeom>
          <a:noFill/>
        </p:spPr>
        <p:txBody>
          <a:bodyPr wrap="square">
            <a:spAutoFit/>
          </a:bodyPr>
          <a:lstStyle/>
          <a:p>
            <a:pPr>
              <a:lnSpc>
                <a:spcPct val="125000"/>
              </a:lnSpc>
            </a:pPr>
            <a:r>
              <a:rPr lang="tr-TR" sz="1300" noProof="0" dirty="0"/>
              <a:t> Bu çıktı, </a:t>
            </a:r>
            <a:r>
              <a:rPr lang="tr-TR" sz="1300" noProof="0" dirty="0" err="1"/>
              <a:t>corpus</a:t>
            </a:r>
            <a:r>
              <a:rPr lang="tr-TR" sz="1300" noProof="0" dirty="0"/>
              <a:t> içerisindeki ilk iki yorumun metin uzunluklarını göstermektedir.</a:t>
            </a:r>
          </a:p>
        </p:txBody>
      </p:sp>
    </p:spTree>
    <p:extLst>
      <p:ext uri="{BB962C8B-B14F-4D97-AF65-F5344CB8AC3E}">
        <p14:creationId xmlns:p14="http://schemas.microsoft.com/office/powerpoint/2010/main" val="2479526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04A94-FF15-BD61-7C2C-F10114D6FAB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C483C8A-15DD-53ED-C4E3-C04F97FAA1FA}"/>
              </a:ext>
            </a:extLst>
          </p:cNvPr>
          <p:cNvPicPr>
            <a:picLocks noChangeAspect="1"/>
          </p:cNvPicPr>
          <p:nvPr/>
        </p:nvPicPr>
        <p:blipFill>
          <a:blip r:embed="rId2">
            <a:extLst>
              <a:ext uri="{28A0092B-C50C-407E-A947-70E740481C1C}">
                <a14:useLocalDpi xmlns:a14="http://schemas.microsoft.com/office/drawing/2010/main" val="0"/>
              </a:ext>
            </a:extLst>
          </a:blip>
          <a:srcRect l="9361" t="3273" r="16999" b="20938"/>
          <a:stretch>
            <a:fillRect/>
          </a:stretch>
        </p:blipFill>
        <p:spPr>
          <a:xfrm>
            <a:off x="7767999" y="1899720"/>
            <a:ext cx="3543430" cy="2964069"/>
          </a:xfrm>
          <a:prstGeom prst="rect">
            <a:avLst/>
          </a:prstGeom>
        </p:spPr>
      </p:pic>
      <p:pic>
        <p:nvPicPr>
          <p:cNvPr id="7" name="Picture 6">
            <a:extLst>
              <a:ext uri="{FF2B5EF4-FFF2-40B4-BE49-F238E27FC236}">
                <a16:creationId xmlns:a16="http://schemas.microsoft.com/office/drawing/2014/main" id="{E734D86B-5DE2-7D1D-B378-4655B523AB93}"/>
              </a:ext>
            </a:extLst>
          </p:cNvPr>
          <p:cNvPicPr>
            <a:picLocks noChangeAspect="1"/>
          </p:cNvPicPr>
          <p:nvPr/>
        </p:nvPicPr>
        <p:blipFill>
          <a:blip r:embed="rId3">
            <a:extLst>
              <a:ext uri="{28A0092B-C50C-407E-A947-70E740481C1C}">
                <a14:useLocalDpi xmlns:a14="http://schemas.microsoft.com/office/drawing/2010/main" val="0"/>
              </a:ext>
            </a:extLst>
          </a:blip>
          <a:srcRect l="12178" t="3506" r="19605" b="23603"/>
          <a:stretch>
            <a:fillRect/>
          </a:stretch>
        </p:blipFill>
        <p:spPr>
          <a:xfrm>
            <a:off x="4329572" y="1899721"/>
            <a:ext cx="3285877" cy="2850873"/>
          </a:xfrm>
          <a:prstGeom prst="rect">
            <a:avLst/>
          </a:prstGeom>
        </p:spPr>
      </p:pic>
      <p:pic>
        <p:nvPicPr>
          <p:cNvPr id="8" name="Picture 7">
            <a:extLst>
              <a:ext uri="{FF2B5EF4-FFF2-40B4-BE49-F238E27FC236}">
                <a16:creationId xmlns:a16="http://schemas.microsoft.com/office/drawing/2014/main" id="{E1D23AA2-6A02-8703-67C5-8B01256ABCDD}"/>
              </a:ext>
            </a:extLst>
          </p:cNvPr>
          <p:cNvPicPr>
            <a:picLocks noChangeAspect="1"/>
          </p:cNvPicPr>
          <p:nvPr/>
        </p:nvPicPr>
        <p:blipFill>
          <a:blip r:embed="rId4">
            <a:extLst>
              <a:ext uri="{28A0092B-C50C-407E-A947-70E740481C1C}">
                <a14:useLocalDpi xmlns:a14="http://schemas.microsoft.com/office/drawing/2010/main" val="0"/>
              </a:ext>
            </a:extLst>
          </a:blip>
          <a:srcRect l="8790" t="6040" r="21147" b="2907"/>
          <a:stretch>
            <a:fillRect/>
          </a:stretch>
        </p:blipFill>
        <p:spPr>
          <a:xfrm>
            <a:off x="521031" y="2007286"/>
            <a:ext cx="3507475" cy="3184424"/>
          </a:xfrm>
          <a:prstGeom prst="rect">
            <a:avLst/>
          </a:prstGeom>
        </p:spPr>
      </p:pic>
      <p:sp>
        <p:nvSpPr>
          <p:cNvPr id="10" name="TextBox 9">
            <a:extLst>
              <a:ext uri="{FF2B5EF4-FFF2-40B4-BE49-F238E27FC236}">
                <a16:creationId xmlns:a16="http://schemas.microsoft.com/office/drawing/2014/main" id="{CFBB0A3C-F5E0-0AE2-ED1E-E0406A5009C8}"/>
              </a:ext>
            </a:extLst>
          </p:cNvPr>
          <p:cNvSpPr txBox="1"/>
          <p:nvPr/>
        </p:nvSpPr>
        <p:spPr>
          <a:xfrm>
            <a:off x="575622" y="5272500"/>
            <a:ext cx="3180679" cy="253916"/>
          </a:xfrm>
          <a:prstGeom prst="rect">
            <a:avLst/>
          </a:prstGeom>
          <a:noFill/>
        </p:spPr>
        <p:txBody>
          <a:bodyPr wrap="none" rtlCol="0">
            <a:spAutoFit/>
          </a:bodyPr>
          <a:lstStyle/>
          <a:p>
            <a:r>
              <a:rPr lang="da-DK" sz="1050" b="1" dirty="0"/>
              <a:t>Şekil 1.</a:t>
            </a:r>
            <a:r>
              <a:rPr lang="da-DK" sz="1050" dirty="0"/>
              <a:t> En sık geçen 5 kelimenin frekans dağılımı</a:t>
            </a:r>
            <a:endParaRPr lang="tr-TR" sz="1600" dirty="0"/>
          </a:p>
        </p:txBody>
      </p:sp>
      <p:sp>
        <p:nvSpPr>
          <p:cNvPr id="11" name="TextBox 10">
            <a:extLst>
              <a:ext uri="{FF2B5EF4-FFF2-40B4-BE49-F238E27FC236}">
                <a16:creationId xmlns:a16="http://schemas.microsoft.com/office/drawing/2014/main" id="{F39723FA-7A40-5E76-5D6E-2C2112500337}"/>
              </a:ext>
            </a:extLst>
          </p:cNvPr>
          <p:cNvSpPr txBox="1"/>
          <p:nvPr/>
        </p:nvSpPr>
        <p:spPr>
          <a:xfrm>
            <a:off x="4243458" y="5272500"/>
            <a:ext cx="3327636" cy="415498"/>
          </a:xfrm>
          <a:prstGeom prst="rect">
            <a:avLst/>
          </a:prstGeom>
          <a:noFill/>
        </p:spPr>
        <p:txBody>
          <a:bodyPr wrap="square" rtlCol="0">
            <a:spAutoFit/>
          </a:bodyPr>
          <a:lstStyle/>
          <a:p>
            <a:r>
              <a:rPr lang="tr-TR" sz="1050" b="1" noProof="0" dirty="0"/>
              <a:t>Şekil 2.</a:t>
            </a:r>
            <a:r>
              <a:rPr lang="tr-TR" sz="1050" noProof="0" dirty="0"/>
              <a:t> En sık geçen 5 kelimenin toplam tekrar sayılarına göre dağılımı</a:t>
            </a:r>
          </a:p>
        </p:txBody>
      </p:sp>
      <p:sp>
        <p:nvSpPr>
          <p:cNvPr id="13" name="TextBox 12">
            <a:extLst>
              <a:ext uri="{FF2B5EF4-FFF2-40B4-BE49-F238E27FC236}">
                <a16:creationId xmlns:a16="http://schemas.microsoft.com/office/drawing/2014/main" id="{383D873D-7F34-4C95-74E2-C4E5AB013E37}"/>
              </a:ext>
            </a:extLst>
          </p:cNvPr>
          <p:cNvSpPr txBox="1"/>
          <p:nvPr/>
        </p:nvSpPr>
        <p:spPr>
          <a:xfrm>
            <a:off x="7992090" y="5257111"/>
            <a:ext cx="3451557" cy="430887"/>
          </a:xfrm>
          <a:prstGeom prst="rect">
            <a:avLst/>
          </a:prstGeom>
          <a:noFill/>
        </p:spPr>
        <p:txBody>
          <a:bodyPr wrap="square" rtlCol="0">
            <a:spAutoFit/>
          </a:bodyPr>
          <a:lstStyle/>
          <a:p>
            <a:r>
              <a:rPr lang="tr-TR" sz="1050" b="1" noProof="0" dirty="0"/>
              <a:t>Şekil 3.</a:t>
            </a:r>
            <a:r>
              <a:rPr lang="tr-TR" sz="1050" noProof="0" dirty="0"/>
              <a:t> En sık geçen 5 kelimenin yüzde (%) bazlı dağılımı.</a:t>
            </a:r>
          </a:p>
        </p:txBody>
      </p:sp>
      <p:sp>
        <p:nvSpPr>
          <p:cNvPr id="15" name="TextBox 14">
            <a:extLst>
              <a:ext uri="{FF2B5EF4-FFF2-40B4-BE49-F238E27FC236}">
                <a16:creationId xmlns:a16="http://schemas.microsoft.com/office/drawing/2014/main" id="{9041B69A-89DB-C703-B519-6054319A3746}"/>
              </a:ext>
            </a:extLst>
          </p:cNvPr>
          <p:cNvSpPr txBox="1"/>
          <p:nvPr/>
        </p:nvSpPr>
        <p:spPr>
          <a:xfrm>
            <a:off x="-1136" y="727511"/>
            <a:ext cx="12193136" cy="523220"/>
          </a:xfrm>
          <a:prstGeom prst="rect">
            <a:avLst/>
          </a:prstGeom>
          <a:noFill/>
        </p:spPr>
        <p:txBody>
          <a:bodyPr wrap="square">
            <a:spAutoFit/>
          </a:bodyPr>
          <a:lstStyle/>
          <a:p>
            <a:pPr algn="ctr"/>
            <a:r>
              <a:rPr lang="tr-TR" sz="2800" noProof="0" dirty="0"/>
              <a:t>En Sık Geçen Kelimeler (Frekans) – Bar ve Pasta Grafik Gösterimi</a:t>
            </a:r>
          </a:p>
        </p:txBody>
      </p:sp>
      <p:sp>
        <p:nvSpPr>
          <p:cNvPr id="17" name="TextBox 16">
            <a:extLst>
              <a:ext uri="{FF2B5EF4-FFF2-40B4-BE49-F238E27FC236}">
                <a16:creationId xmlns:a16="http://schemas.microsoft.com/office/drawing/2014/main" id="{0A9289C2-1EFA-BAAF-9624-18C9BC10D09F}"/>
              </a:ext>
            </a:extLst>
          </p:cNvPr>
          <p:cNvSpPr txBox="1"/>
          <p:nvPr/>
        </p:nvSpPr>
        <p:spPr>
          <a:xfrm>
            <a:off x="-188724" y="1144932"/>
            <a:ext cx="12192000" cy="292388"/>
          </a:xfrm>
          <a:prstGeom prst="rect">
            <a:avLst/>
          </a:prstGeom>
          <a:noFill/>
        </p:spPr>
        <p:txBody>
          <a:bodyPr wrap="square">
            <a:spAutoFit/>
          </a:bodyPr>
          <a:lstStyle/>
          <a:p>
            <a:pPr algn="ctr"/>
            <a:r>
              <a:rPr lang="tr-TR" sz="1300" noProof="0" dirty="0"/>
              <a:t>En sık geçen 5 kelimenin frekans ve yüzde (%) bazlı dağılımı.</a:t>
            </a:r>
          </a:p>
        </p:txBody>
      </p:sp>
      <p:sp>
        <p:nvSpPr>
          <p:cNvPr id="2" name="Arrow: U-Turn 1">
            <a:extLst>
              <a:ext uri="{FF2B5EF4-FFF2-40B4-BE49-F238E27FC236}">
                <a16:creationId xmlns:a16="http://schemas.microsoft.com/office/drawing/2014/main" id="{CE23989C-EABC-4C44-295D-901E8FAC8704}"/>
              </a:ext>
            </a:extLst>
          </p:cNvPr>
          <p:cNvSpPr/>
          <p:nvPr/>
        </p:nvSpPr>
        <p:spPr>
          <a:xfrm>
            <a:off x="9655791" y="1406910"/>
            <a:ext cx="873320" cy="523220"/>
          </a:xfrm>
          <a:prstGeom prst="uturnArrow">
            <a:avLst/>
          </a:prstGeom>
          <a:solidFill>
            <a:srgbClr val="FF0000"/>
          </a:solidFill>
          <a:ln>
            <a:solidFill>
              <a:srgbClr val="FF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tr-TR">
              <a:solidFill>
                <a:schemeClr val="tx1"/>
              </a:solidFill>
            </a:endParaRPr>
          </a:p>
        </p:txBody>
      </p:sp>
    </p:spTree>
    <p:extLst>
      <p:ext uri="{BB962C8B-B14F-4D97-AF65-F5344CB8AC3E}">
        <p14:creationId xmlns:p14="http://schemas.microsoft.com/office/powerpoint/2010/main" val="8217731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355DA-BE65-4211-D206-5A8D2D5BC16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4C09A6A-690F-9F49-5559-09A313133D2E}"/>
              </a:ext>
            </a:extLst>
          </p:cNvPr>
          <p:cNvPicPr>
            <a:picLocks noChangeAspect="1"/>
          </p:cNvPicPr>
          <p:nvPr/>
        </p:nvPicPr>
        <p:blipFill>
          <a:blip r:embed="rId2">
            <a:extLst>
              <a:ext uri="{28A0092B-C50C-407E-A947-70E740481C1C}">
                <a14:useLocalDpi xmlns:a14="http://schemas.microsoft.com/office/drawing/2010/main" val="0"/>
              </a:ext>
            </a:extLst>
          </a:blip>
          <a:srcRect l="17093" t="13967" r="19552" b="16917"/>
          <a:stretch>
            <a:fillRect/>
          </a:stretch>
        </p:blipFill>
        <p:spPr>
          <a:xfrm>
            <a:off x="3828196" y="1573536"/>
            <a:ext cx="4319518" cy="3826344"/>
          </a:xfrm>
          <a:prstGeom prst="rect">
            <a:avLst/>
          </a:prstGeom>
        </p:spPr>
      </p:pic>
      <p:sp>
        <p:nvSpPr>
          <p:cNvPr id="8" name="TextBox 7">
            <a:extLst>
              <a:ext uri="{FF2B5EF4-FFF2-40B4-BE49-F238E27FC236}">
                <a16:creationId xmlns:a16="http://schemas.microsoft.com/office/drawing/2014/main" id="{7CB300CA-FF40-2DE8-3246-13EB4ADD130D}"/>
              </a:ext>
            </a:extLst>
          </p:cNvPr>
          <p:cNvSpPr txBox="1"/>
          <p:nvPr/>
        </p:nvSpPr>
        <p:spPr>
          <a:xfrm>
            <a:off x="4280009" y="5335799"/>
            <a:ext cx="3748142" cy="253916"/>
          </a:xfrm>
          <a:prstGeom prst="rect">
            <a:avLst/>
          </a:prstGeom>
          <a:noFill/>
        </p:spPr>
        <p:txBody>
          <a:bodyPr wrap="none" rtlCol="0">
            <a:spAutoFit/>
          </a:bodyPr>
          <a:lstStyle/>
          <a:p>
            <a:r>
              <a:rPr lang="tr-TR" sz="1050" b="1" noProof="0" dirty="0"/>
              <a:t>Şekil 10.</a:t>
            </a:r>
            <a:r>
              <a:rPr lang="tr-TR" sz="1050" noProof="0" dirty="0"/>
              <a:t> Kullanıcı yorumlarından oluşturulan kelime bulutu.</a:t>
            </a:r>
          </a:p>
        </p:txBody>
      </p:sp>
      <p:sp>
        <p:nvSpPr>
          <p:cNvPr id="10" name="TextBox 9">
            <a:extLst>
              <a:ext uri="{FF2B5EF4-FFF2-40B4-BE49-F238E27FC236}">
                <a16:creationId xmlns:a16="http://schemas.microsoft.com/office/drawing/2014/main" id="{403C4B7B-6144-25B7-3657-EA37E3A8DDC5}"/>
              </a:ext>
            </a:extLst>
          </p:cNvPr>
          <p:cNvSpPr txBox="1"/>
          <p:nvPr/>
        </p:nvSpPr>
        <p:spPr>
          <a:xfrm>
            <a:off x="0" y="810200"/>
            <a:ext cx="12192000" cy="523220"/>
          </a:xfrm>
          <a:prstGeom prst="rect">
            <a:avLst/>
          </a:prstGeom>
          <a:noFill/>
        </p:spPr>
        <p:txBody>
          <a:bodyPr wrap="square">
            <a:spAutoFit/>
          </a:bodyPr>
          <a:lstStyle/>
          <a:p>
            <a:pPr algn="ctr"/>
            <a:r>
              <a:rPr lang="tr-TR" sz="2800" noProof="0" dirty="0"/>
              <a:t>Kelime Bulutu (Word Cloud)</a:t>
            </a:r>
          </a:p>
        </p:txBody>
      </p:sp>
      <p:sp>
        <p:nvSpPr>
          <p:cNvPr id="12" name="TextBox 11">
            <a:extLst>
              <a:ext uri="{FF2B5EF4-FFF2-40B4-BE49-F238E27FC236}">
                <a16:creationId xmlns:a16="http://schemas.microsoft.com/office/drawing/2014/main" id="{D98D027B-63F7-EA7A-F2CB-944F27ED86C2}"/>
              </a:ext>
            </a:extLst>
          </p:cNvPr>
          <p:cNvSpPr txBox="1"/>
          <p:nvPr/>
        </p:nvSpPr>
        <p:spPr>
          <a:xfrm>
            <a:off x="0" y="1268285"/>
            <a:ext cx="12192000" cy="369332"/>
          </a:xfrm>
          <a:prstGeom prst="rect">
            <a:avLst/>
          </a:prstGeom>
          <a:noFill/>
        </p:spPr>
        <p:txBody>
          <a:bodyPr wrap="square">
            <a:spAutoFit/>
          </a:bodyPr>
          <a:lstStyle/>
          <a:p>
            <a:pPr algn="ctr"/>
            <a:r>
              <a:rPr lang="tr-TR" sz="1300" noProof="0" dirty="0"/>
              <a:t>Sık geçen kelimeler daha büyük boyutlarda gösterilmiştir</a:t>
            </a:r>
            <a:r>
              <a:rPr lang="en-US" dirty="0"/>
              <a:t>.</a:t>
            </a:r>
            <a:endParaRPr lang="tr-TR" dirty="0"/>
          </a:p>
        </p:txBody>
      </p:sp>
    </p:spTree>
    <p:extLst>
      <p:ext uri="{BB962C8B-B14F-4D97-AF65-F5344CB8AC3E}">
        <p14:creationId xmlns:p14="http://schemas.microsoft.com/office/powerpoint/2010/main" val="22233896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9288B-0C3B-FB55-D636-B2E3BAFAC91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E52006D-862E-FA60-131D-E5C2659E4F68}"/>
              </a:ext>
            </a:extLst>
          </p:cNvPr>
          <p:cNvPicPr>
            <a:picLocks noChangeAspect="1"/>
          </p:cNvPicPr>
          <p:nvPr/>
        </p:nvPicPr>
        <p:blipFill>
          <a:blip r:embed="rId2">
            <a:extLst>
              <a:ext uri="{28A0092B-C50C-407E-A947-70E740481C1C}">
                <a14:useLocalDpi xmlns:a14="http://schemas.microsoft.com/office/drawing/2010/main" val="0"/>
              </a:ext>
            </a:extLst>
          </a:blip>
          <a:srcRect l="11702" t="4084" r="3865" b="2729"/>
          <a:stretch>
            <a:fillRect/>
          </a:stretch>
        </p:blipFill>
        <p:spPr>
          <a:xfrm>
            <a:off x="4101378" y="1902824"/>
            <a:ext cx="3472284" cy="3111689"/>
          </a:xfrm>
          <a:prstGeom prst="rect">
            <a:avLst/>
          </a:prstGeom>
        </p:spPr>
      </p:pic>
      <p:pic>
        <p:nvPicPr>
          <p:cNvPr id="7" name="Picture 6">
            <a:extLst>
              <a:ext uri="{FF2B5EF4-FFF2-40B4-BE49-F238E27FC236}">
                <a16:creationId xmlns:a16="http://schemas.microsoft.com/office/drawing/2014/main" id="{D9A2D148-F4C0-7DBC-CB44-19EAE78B12D1}"/>
              </a:ext>
            </a:extLst>
          </p:cNvPr>
          <p:cNvPicPr>
            <a:picLocks noChangeAspect="1"/>
          </p:cNvPicPr>
          <p:nvPr/>
        </p:nvPicPr>
        <p:blipFill>
          <a:blip r:embed="rId3">
            <a:extLst>
              <a:ext uri="{28A0092B-C50C-407E-A947-70E740481C1C}">
                <a14:useLocalDpi xmlns:a14="http://schemas.microsoft.com/office/drawing/2010/main" val="0"/>
              </a:ext>
            </a:extLst>
          </a:blip>
          <a:srcRect l="12770" t="4892" r="4219"/>
          <a:stretch>
            <a:fillRect/>
          </a:stretch>
        </p:blipFill>
        <p:spPr>
          <a:xfrm>
            <a:off x="7648951" y="1902824"/>
            <a:ext cx="3472284" cy="3177547"/>
          </a:xfrm>
          <a:prstGeom prst="rect">
            <a:avLst/>
          </a:prstGeom>
        </p:spPr>
      </p:pic>
      <p:pic>
        <p:nvPicPr>
          <p:cNvPr id="9" name="Picture 8">
            <a:extLst>
              <a:ext uri="{FF2B5EF4-FFF2-40B4-BE49-F238E27FC236}">
                <a16:creationId xmlns:a16="http://schemas.microsoft.com/office/drawing/2014/main" id="{DECB42FE-FC2B-1D44-ECC1-9F5AE3E1B894}"/>
              </a:ext>
            </a:extLst>
          </p:cNvPr>
          <p:cNvPicPr>
            <a:picLocks noChangeAspect="1"/>
          </p:cNvPicPr>
          <p:nvPr/>
        </p:nvPicPr>
        <p:blipFill>
          <a:blip r:embed="rId4">
            <a:extLst>
              <a:ext uri="{28A0092B-C50C-407E-A947-70E740481C1C}">
                <a14:useLocalDpi xmlns:a14="http://schemas.microsoft.com/office/drawing/2010/main" val="0"/>
              </a:ext>
            </a:extLst>
          </a:blip>
          <a:srcRect l="11879" t="3871" r="4101" b="2682"/>
          <a:stretch>
            <a:fillRect/>
          </a:stretch>
        </p:blipFill>
        <p:spPr>
          <a:xfrm>
            <a:off x="606185" y="1908576"/>
            <a:ext cx="3461299" cy="3125844"/>
          </a:xfrm>
          <a:prstGeom prst="rect">
            <a:avLst/>
          </a:prstGeom>
        </p:spPr>
      </p:pic>
      <p:sp>
        <p:nvSpPr>
          <p:cNvPr id="10" name="TextBox 9">
            <a:extLst>
              <a:ext uri="{FF2B5EF4-FFF2-40B4-BE49-F238E27FC236}">
                <a16:creationId xmlns:a16="http://schemas.microsoft.com/office/drawing/2014/main" id="{0890A5FB-D890-BD26-4994-B3BC2E2FBFBC}"/>
              </a:ext>
            </a:extLst>
          </p:cNvPr>
          <p:cNvSpPr txBox="1"/>
          <p:nvPr/>
        </p:nvSpPr>
        <p:spPr>
          <a:xfrm>
            <a:off x="975406" y="5034420"/>
            <a:ext cx="3050683" cy="415498"/>
          </a:xfrm>
          <a:prstGeom prst="rect">
            <a:avLst/>
          </a:prstGeom>
          <a:noFill/>
        </p:spPr>
        <p:txBody>
          <a:bodyPr wrap="square" rtlCol="0">
            <a:spAutoFit/>
          </a:bodyPr>
          <a:lstStyle/>
          <a:p>
            <a:r>
              <a:rPr lang="tr-TR" sz="1050" b="1" noProof="0" dirty="0"/>
              <a:t>Şekil 4.</a:t>
            </a:r>
            <a:r>
              <a:rPr lang="tr-TR" sz="1050" noProof="0" dirty="0"/>
              <a:t> Rating değerlerine göre </a:t>
            </a:r>
            <a:r>
              <a:rPr lang="tr-TR" sz="1050" noProof="0" dirty="0" err="1"/>
              <a:t>Syuzhet</a:t>
            </a:r>
            <a:r>
              <a:rPr lang="tr-TR" sz="1050" noProof="0" dirty="0"/>
              <a:t> duygu skorlarının dağılımı.</a:t>
            </a:r>
          </a:p>
        </p:txBody>
      </p:sp>
      <p:sp>
        <p:nvSpPr>
          <p:cNvPr id="11" name="TextBox 10">
            <a:extLst>
              <a:ext uri="{FF2B5EF4-FFF2-40B4-BE49-F238E27FC236}">
                <a16:creationId xmlns:a16="http://schemas.microsoft.com/office/drawing/2014/main" id="{AD4BF4D3-FED0-ADAA-C127-C5B39EEEDEF3}"/>
              </a:ext>
            </a:extLst>
          </p:cNvPr>
          <p:cNvSpPr txBox="1"/>
          <p:nvPr/>
        </p:nvSpPr>
        <p:spPr>
          <a:xfrm>
            <a:off x="4311213" y="4988253"/>
            <a:ext cx="3154064" cy="415498"/>
          </a:xfrm>
          <a:prstGeom prst="rect">
            <a:avLst/>
          </a:prstGeom>
          <a:noFill/>
        </p:spPr>
        <p:txBody>
          <a:bodyPr wrap="square" rtlCol="0">
            <a:spAutoFit/>
          </a:bodyPr>
          <a:lstStyle/>
          <a:p>
            <a:r>
              <a:rPr lang="tr-TR" sz="1050" b="1" noProof="0" dirty="0"/>
              <a:t>Şekil 5.</a:t>
            </a:r>
            <a:r>
              <a:rPr lang="tr-TR" sz="1050" noProof="0" dirty="0"/>
              <a:t> Rating değerlerine göre Bing duygu skorlarının dağılımı.</a:t>
            </a:r>
          </a:p>
        </p:txBody>
      </p:sp>
      <p:sp>
        <p:nvSpPr>
          <p:cNvPr id="12" name="TextBox 11">
            <a:extLst>
              <a:ext uri="{FF2B5EF4-FFF2-40B4-BE49-F238E27FC236}">
                <a16:creationId xmlns:a16="http://schemas.microsoft.com/office/drawing/2014/main" id="{4519B98E-A6F2-7290-2169-10B1FBA2619C}"/>
              </a:ext>
            </a:extLst>
          </p:cNvPr>
          <p:cNvSpPr txBox="1"/>
          <p:nvPr/>
        </p:nvSpPr>
        <p:spPr>
          <a:xfrm>
            <a:off x="7901436" y="5034420"/>
            <a:ext cx="3154064" cy="415498"/>
          </a:xfrm>
          <a:prstGeom prst="rect">
            <a:avLst/>
          </a:prstGeom>
          <a:noFill/>
        </p:spPr>
        <p:txBody>
          <a:bodyPr wrap="square" rtlCol="0">
            <a:spAutoFit/>
          </a:bodyPr>
          <a:lstStyle/>
          <a:p>
            <a:r>
              <a:rPr lang="tr-TR" sz="1050" b="1" noProof="0" dirty="0"/>
              <a:t>Şekil 6.</a:t>
            </a:r>
            <a:r>
              <a:rPr lang="tr-TR" sz="1050" noProof="0" dirty="0"/>
              <a:t> Rating değerlerine göre </a:t>
            </a:r>
            <a:r>
              <a:rPr lang="tr-TR" sz="1050" noProof="0" dirty="0" err="1"/>
              <a:t>Afinn</a:t>
            </a:r>
            <a:r>
              <a:rPr lang="tr-TR" sz="1050" noProof="0" dirty="0"/>
              <a:t> duygu skorlarının dağılımı.</a:t>
            </a:r>
          </a:p>
        </p:txBody>
      </p:sp>
      <p:sp>
        <p:nvSpPr>
          <p:cNvPr id="14" name="TextBox 13">
            <a:extLst>
              <a:ext uri="{FF2B5EF4-FFF2-40B4-BE49-F238E27FC236}">
                <a16:creationId xmlns:a16="http://schemas.microsoft.com/office/drawing/2014/main" id="{2C111337-1C7B-EB0E-EA26-2C10253B830F}"/>
              </a:ext>
            </a:extLst>
          </p:cNvPr>
          <p:cNvSpPr txBox="1"/>
          <p:nvPr/>
        </p:nvSpPr>
        <p:spPr>
          <a:xfrm>
            <a:off x="0" y="803945"/>
            <a:ext cx="12192000" cy="523220"/>
          </a:xfrm>
          <a:prstGeom prst="rect">
            <a:avLst/>
          </a:prstGeom>
          <a:noFill/>
        </p:spPr>
        <p:txBody>
          <a:bodyPr wrap="square">
            <a:spAutoFit/>
          </a:bodyPr>
          <a:lstStyle/>
          <a:p>
            <a:pPr algn="ctr"/>
            <a:r>
              <a:rPr lang="tr-TR" sz="2800" noProof="0" dirty="0"/>
              <a:t>Rating Bazlı </a:t>
            </a:r>
            <a:r>
              <a:rPr lang="tr-TR" sz="2800" noProof="0" dirty="0" err="1"/>
              <a:t>Syuzhet</a:t>
            </a:r>
            <a:r>
              <a:rPr lang="tr-TR" sz="2800" noProof="0" dirty="0"/>
              <a:t>, Bing ve </a:t>
            </a:r>
            <a:r>
              <a:rPr lang="tr-TR" sz="2800" noProof="0" dirty="0" err="1"/>
              <a:t>Afinn</a:t>
            </a:r>
            <a:r>
              <a:rPr lang="tr-TR" sz="2800" noProof="0" dirty="0"/>
              <a:t> Duygu Skoru Dağılımları</a:t>
            </a:r>
          </a:p>
        </p:txBody>
      </p:sp>
      <p:sp>
        <p:nvSpPr>
          <p:cNvPr id="16" name="TextBox 15">
            <a:extLst>
              <a:ext uri="{FF2B5EF4-FFF2-40B4-BE49-F238E27FC236}">
                <a16:creationId xmlns:a16="http://schemas.microsoft.com/office/drawing/2014/main" id="{980D0D64-7AA1-1C5A-7963-9DE674BE6C24}"/>
              </a:ext>
            </a:extLst>
          </p:cNvPr>
          <p:cNvSpPr txBox="1"/>
          <p:nvPr/>
        </p:nvSpPr>
        <p:spPr>
          <a:xfrm>
            <a:off x="0" y="1278717"/>
            <a:ext cx="12192000" cy="369332"/>
          </a:xfrm>
          <a:prstGeom prst="rect">
            <a:avLst/>
          </a:prstGeom>
          <a:noFill/>
        </p:spPr>
        <p:txBody>
          <a:bodyPr wrap="square">
            <a:spAutoFit/>
          </a:bodyPr>
          <a:lstStyle/>
          <a:p>
            <a:pPr algn="ctr"/>
            <a:r>
              <a:rPr lang="tr-TR" sz="1300" noProof="0" dirty="0"/>
              <a:t>Grafikler, rating değerlerine göre </a:t>
            </a:r>
            <a:r>
              <a:rPr lang="tr-TR" sz="1300" noProof="0" dirty="0" err="1"/>
              <a:t>Syuzhet</a:t>
            </a:r>
            <a:r>
              <a:rPr lang="tr-TR" sz="1300" noProof="0" dirty="0"/>
              <a:t>, Bing ve </a:t>
            </a:r>
            <a:r>
              <a:rPr lang="tr-TR" sz="1300" noProof="0" dirty="0" err="1"/>
              <a:t>Afinn</a:t>
            </a:r>
            <a:r>
              <a:rPr lang="tr-TR" sz="1300" noProof="0" dirty="0"/>
              <a:t> duygu skorlarının dağılımını göstermektedir</a:t>
            </a:r>
            <a:r>
              <a:rPr lang="en-US" dirty="0"/>
              <a:t>.</a:t>
            </a:r>
            <a:endParaRPr lang="tr-TR" dirty="0"/>
          </a:p>
        </p:txBody>
      </p:sp>
    </p:spTree>
    <p:extLst>
      <p:ext uri="{BB962C8B-B14F-4D97-AF65-F5344CB8AC3E}">
        <p14:creationId xmlns:p14="http://schemas.microsoft.com/office/powerpoint/2010/main" val="41741437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B1926-084F-7C4E-C9AF-0768287CF78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CFEC1FA-5BAD-C51C-C838-E077322E7119}"/>
              </a:ext>
            </a:extLst>
          </p:cNvPr>
          <p:cNvPicPr>
            <a:picLocks noChangeAspect="1"/>
          </p:cNvPicPr>
          <p:nvPr/>
        </p:nvPicPr>
        <p:blipFill>
          <a:blip r:embed="rId2">
            <a:extLst>
              <a:ext uri="{28A0092B-C50C-407E-A947-70E740481C1C}">
                <a14:useLocalDpi xmlns:a14="http://schemas.microsoft.com/office/drawing/2010/main" val="0"/>
              </a:ext>
            </a:extLst>
          </a:blip>
          <a:srcRect l="6151" t="4161" r="20143" b="3072"/>
          <a:stretch>
            <a:fillRect/>
          </a:stretch>
        </p:blipFill>
        <p:spPr>
          <a:xfrm>
            <a:off x="5719593" y="1853705"/>
            <a:ext cx="5524023" cy="3797806"/>
          </a:xfrm>
          <a:prstGeom prst="rect">
            <a:avLst/>
          </a:prstGeom>
        </p:spPr>
      </p:pic>
      <p:sp>
        <p:nvSpPr>
          <p:cNvPr id="6" name="TextBox 5">
            <a:extLst>
              <a:ext uri="{FF2B5EF4-FFF2-40B4-BE49-F238E27FC236}">
                <a16:creationId xmlns:a16="http://schemas.microsoft.com/office/drawing/2014/main" id="{A892B63A-EDB2-5254-823C-66A36290EC4F}"/>
              </a:ext>
            </a:extLst>
          </p:cNvPr>
          <p:cNvSpPr txBox="1"/>
          <p:nvPr/>
        </p:nvSpPr>
        <p:spPr>
          <a:xfrm>
            <a:off x="764380" y="5651511"/>
            <a:ext cx="4955213" cy="253916"/>
          </a:xfrm>
          <a:prstGeom prst="rect">
            <a:avLst/>
          </a:prstGeom>
          <a:noFill/>
        </p:spPr>
        <p:txBody>
          <a:bodyPr wrap="square" rtlCol="0">
            <a:spAutoFit/>
          </a:bodyPr>
          <a:lstStyle/>
          <a:p>
            <a:pPr algn="ctr"/>
            <a:r>
              <a:rPr lang="tr-TR" sz="1050" b="1" noProof="0" dirty="0"/>
              <a:t>Şekil 7.</a:t>
            </a:r>
            <a:r>
              <a:rPr lang="tr-TR" sz="1050" noProof="0" dirty="0"/>
              <a:t> İlk 500 yorum için yöntem bazlı duygu skoru karşılaştırması.</a:t>
            </a:r>
          </a:p>
        </p:txBody>
      </p:sp>
      <p:sp>
        <p:nvSpPr>
          <p:cNvPr id="7" name="TextBox 6">
            <a:extLst>
              <a:ext uri="{FF2B5EF4-FFF2-40B4-BE49-F238E27FC236}">
                <a16:creationId xmlns:a16="http://schemas.microsoft.com/office/drawing/2014/main" id="{944035E6-E22E-B05F-283A-3D0EFB76D7CD}"/>
              </a:ext>
            </a:extLst>
          </p:cNvPr>
          <p:cNvSpPr txBox="1"/>
          <p:nvPr/>
        </p:nvSpPr>
        <p:spPr>
          <a:xfrm>
            <a:off x="6400798" y="5651511"/>
            <a:ext cx="4842817" cy="253916"/>
          </a:xfrm>
          <a:prstGeom prst="rect">
            <a:avLst/>
          </a:prstGeom>
          <a:noFill/>
        </p:spPr>
        <p:txBody>
          <a:bodyPr wrap="square" rtlCol="0">
            <a:spAutoFit/>
          </a:bodyPr>
          <a:lstStyle/>
          <a:p>
            <a:pPr algn="ctr"/>
            <a:r>
              <a:rPr lang="tr-TR" sz="1050" noProof="0" dirty="0"/>
              <a:t>Şekil 8. İlk 500 yoruma ait </a:t>
            </a:r>
            <a:r>
              <a:rPr lang="tr-TR" sz="1050" noProof="0" dirty="0" err="1"/>
              <a:t>Syuzhet</a:t>
            </a:r>
            <a:r>
              <a:rPr lang="tr-TR" sz="1050" noProof="0" dirty="0"/>
              <a:t> duygu skorlarının dağılımı.</a:t>
            </a:r>
          </a:p>
        </p:txBody>
      </p:sp>
      <p:sp>
        <p:nvSpPr>
          <p:cNvPr id="9" name="TextBox 8">
            <a:extLst>
              <a:ext uri="{FF2B5EF4-FFF2-40B4-BE49-F238E27FC236}">
                <a16:creationId xmlns:a16="http://schemas.microsoft.com/office/drawing/2014/main" id="{3FFCCED0-CA2E-5D93-7926-A75ABFEE6F2D}"/>
              </a:ext>
            </a:extLst>
          </p:cNvPr>
          <p:cNvSpPr txBox="1"/>
          <p:nvPr/>
        </p:nvSpPr>
        <p:spPr>
          <a:xfrm>
            <a:off x="0" y="596669"/>
            <a:ext cx="12192000" cy="523220"/>
          </a:xfrm>
          <a:prstGeom prst="rect">
            <a:avLst/>
          </a:prstGeom>
          <a:noFill/>
        </p:spPr>
        <p:txBody>
          <a:bodyPr wrap="square">
            <a:spAutoFit/>
          </a:bodyPr>
          <a:lstStyle/>
          <a:p>
            <a:pPr algn="ctr"/>
            <a:r>
              <a:rPr lang="tr-TR" sz="2800" noProof="0" dirty="0"/>
              <a:t>Duygu Analizi Yöntemlerinin Karşılaştırılması</a:t>
            </a:r>
          </a:p>
        </p:txBody>
      </p:sp>
      <p:pic>
        <p:nvPicPr>
          <p:cNvPr id="3" name="Picture 2">
            <a:extLst>
              <a:ext uri="{FF2B5EF4-FFF2-40B4-BE49-F238E27FC236}">
                <a16:creationId xmlns:a16="http://schemas.microsoft.com/office/drawing/2014/main" id="{E45F69C5-695D-C336-2ACD-FD764E84B18F}"/>
              </a:ext>
            </a:extLst>
          </p:cNvPr>
          <p:cNvPicPr>
            <a:picLocks noChangeAspect="1"/>
          </p:cNvPicPr>
          <p:nvPr/>
        </p:nvPicPr>
        <p:blipFill>
          <a:blip r:embed="rId3">
            <a:extLst>
              <a:ext uri="{28A0092B-C50C-407E-A947-70E740481C1C}">
                <a14:useLocalDpi xmlns:a14="http://schemas.microsoft.com/office/drawing/2010/main" val="0"/>
              </a:ext>
            </a:extLst>
          </a:blip>
          <a:srcRect l="4970" t="5690" r="11596" b="1542"/>
          <a:stretch>
            <a:fillRect/>
          </a:stretch>
        </p:blipFill>
        <p:spPr>
          <a:xfrm>
            <a:off x="764381" y="1853706"/>
            <a:ext cx="5183770" cy="3797805"/>
          </a:xfrm>
          <a:prstGeom prst="rect">
            <a:avLst/>
          </a:prstGeom>
        </p:spPr>
      </p:pic>
      <p:sp>
        <p:nvSpPr>
          <p:cNvPr id="2" name="Arrow: U-Turn 1">
            <a:extLst>
              <a:ext uri="{FF2B5EF4-FFF2-40B4-BE49-F238E27FC236}">
                <a16:creationId xmlns:a16="http://schemas.microsoft.com/office/drawing/2014/main" id="{88CEEB5B-B89D-CB25-7F0C-2B062FCC3F3D}"/>
              </a:ext>
            </a:extLst>
          </p:cNvPr>
          <p:cNvSpPr/>
          <p:nvPr/>
        </p:nvSpPr>
        <p:spPr>
          <a:xfrm>
            <a:off x="2736376" y="1274536"/>
            <a:ext cx="873320" cy="523220"/>
          </a:xfrm>
          <a:prstGeom prst="uturnArrow">
            <a:avLst/>
          </a:prstGeom>
          <a:solidFill>
            <a:srgbClr val="FF0000"/>
          </a:solidFill>
          <a:ln>
            <a:solidFill>
              <a:srgbClr val="FF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tr-TR">
              <a:solidFill>
                <a:schemeClr val="tx1"/>
              </a:solidFill>
            </a:endParaRPr>
          </a:p>
        </p:txBody>
      </p:sp>
    </p:spTree>
    <p:extLst>
      <p:ext uri="{BB962C8B-B14F-4D97-AF65-F5344CB8AC3E}">
        <p14:creationId xmlns:p14="http://schemas.microsoft.com/office/powerpoint/2010/main" val="40615906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7D54C-7823-FF2E-67EF-5950E6284FE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610D180-2649-15C0-3022-CC3C312BAE99}"/>
              </a:ext>
            </a:extLst>
          </p:cNvPr>
          <p:cNvPicPr>
            <a:picLocks noChangeAspect="1"/>
          </p:cNvPicPr>
          <p:nvPr/>
        </p:nvPicPr>
        <p:blipFill>
          <a:blip r:embed="rId2">
            <a:extLst>
              <a:ext uri="{28A0092B-C50C-407E-A947-70E740481C1C}">
                <a14:useLocalDpi xmlns:a14="http://schemas.microsoft.com/office/drawing/2010/main" val="0"/>
              </a:ext>
            </a:extLst>
          </a:blip>
          <a:srcRect l="8012" t="5074" b="2923"/>
          <a:stretch>
            <a:fillRect/>
          </a:stretch>
        </p:blipFill>
        <p:spPr>
          <a:xfrm>
            <a:off x="2879677" y="1288683"/>
            <a:ext cx="6404881" cy="4231837"/>
          </a:xfrm>
          <a:prstGeom prst="rect">
            <a:avLst/>
          </a:prstGeom>
        </p:spPr>
      </p:pic>
      <p:sp>
        <p:nvSpPr>
          <p:cNvPr id="8" name="TextBox 7">
            <a:extLst>
              <a:ext uri="{FF2B5EF4-FFF2-40B4-BE49-F238E27FC236}">
                <a16:creationId xmlns:a16="http://schemas.microsoft.com/office/drawing/2014/main" id="{63D2A63A-1F34-92BD-9DED-A81C8FA1964F}"/>
              </a:ext>
            </a:extLst>
          </p:cNvPr>
          <p:cNvSpPr txBox="1"/>
          <p:nvPr/>
        </p:nvSpPr>
        <p:spPr>
          <a:xfrm>
            <a:off x="3071741" y="5520520"/>
            <a:ext cx="6498895" cy="253916"/>
          </a:xfrm>
          <a:prstGeom prst="rect">
            <a:avLst/>
          </a:prstGeom>
          <a:noFill/>
        </p:spPr>
        <p:txBody>
          <a:bodyPr wrap="none" rtlCol="0">
            <a:spAutoFit/>
          </a:bodyPr>
          <a:lstStyle/>
          <a:p>
            <a:r>
              <a:rPr lang="tr-TR" sz="1050" b="1" noProof="0" dirty="0"/>
              <a:t>Şekil 9.</a:t>
            </a:r>
            <a:r>
              <a:rPr lang="tr-TR" sz="1050" noProof="0" dirty="0"/>
              <a:t> NRC duygu sözlüğüne göre kullanıcı yorumlarında yer alan duyguların toplam skor bazlı dağılımı.</a:t>
            </a:r>
          </a:p>
        </p:txBody>
      </p:sp>
      <p:sp>
        <p:nvSpPr>
          <p:cNvPr id="10" name="TextBox 9">
            <a:extLst>
              <a:ext uri="{FF2B5EF4-FFF2-40B4-BE49-F238E27FC236}">
                <a16:creationId xmlns:a16="http://schemas.microsoft.com/office/drawing/2014/main" id="{546F302D-608D-BAA5-F7DB-A64B2D08101A}"/>
              </a:ext>
            </a:extLst>
          </p:cNvPr>
          <p:cNvSpPr txBox="1"/>
          <p:nvPr/>
        </p:nvSpPr>
        <p:spPr>
          <a:xfrm>
            <a:off x="0" y="765463"/>
            <a:ext cx="12192000" cy="523220"/>
          </a:xfrm>
          <a:prstGeom prst="rect">
            <a:avLst/>
          </a:prstGeom>
          <a:noFill/>
        </p:spPr>
        <p:txBody>
          <a:bodyPr wrap="square">
            <a:spAutoFit/>
          </a:bodyPr>
          <a:lstStyle/>
          <a:p>
            <a:pPr algn="ctr"/>
            <a:r>
              <a:rPr lang="tr-TR" sz="2800" b="1" noProof="0" dirty="0"/>
              <a:t>NRC Sözlüğüne Göre Duygu Dağılımı</a:t>
            </a:r>
            <a:endParaRPr lang="tr-TR" sz="2800" noProof="0" dirty="0"/>
          </a:p>
        </p:txBody>
      </p:sp>
      <p:sp>
        <p:nvSpPr>
          <p:cNvPr id="13" name="TextBox 12">
            <a:extLst>
              <a:ext uri="{FF2B5EF4-FFF2-40B4-BE49-F238E27FC236}">
                <a16:creationId xmlns:a16="http://schemas.microsoft.com/office/drawing/2014/main" id="{DF182398-FF1F-BAD7-B2B1-0D6322E31A81}"/>
              </a:ext>
            </a:extLst>
          </p:cNvPr>
          <p:cNvSpPr txBox="1"/>
          <p:nvPr/>
        </p:nvSpPr>
        <p:spPr>
          <a:xfrm>
            <a:off x="2752263" y="5967270"/>
            <a:ext cx="6250429" cy="369332"/>
          </a:xfrm>
          <a:prstGeom prst="rect">
            <a:avLst/>
          </a:prstGeom>
          <a:noFill/>
        </p:spPr>
        <p:txBody>
          <a:bodyPr wrap="none" rtlCol="0">
            <a:spAutoFit/>
          </a:bodyPr>
          <a:lstStyle/>
          <a:p>
            <a:r>
              <a:rPr lang="tr-TR" dirty="0">
                <a:solidFill>
                  <a:srgbClr val="FF0000"/>
                </a:solidFill>
              </a:rPr>
              <a:t>33. Slayt ta grafik üzerine sayılar eklenebilirse süper olacak</a:t>
            </a:r>
          </a:p>
        </p:txBody>
      </p:sp>
    </p:spTree>
    <p:extLst>
      <p:ext uri="{BB962C8B-B14F-4D97-AF65-F5344CB8AC3E}">
        <p14:creationId xmlns:p14="http://schemas.microsoft.com/office/powerpoint/2010/main" val="40516154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4C610-E81B-DBDB-BFEA-0C708A4B0A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A328A1-453D-76DC-5115-E89352ADD9E5}"/>
              </a:ext>
            </a:extLst>
          </p:cNvPr>
          <p:cNvSpPr txBox="1"/>
          <p:nvPr/>
        </p:nvSpPr>
        <p:spPr>
          <a:xfrm>
            <a:off x="-81886" y="1733265"/>
            <a:ext cx="12192000" cy="523220"/>
          </a:xfrm>
          <a:prstGeom prst="rect">
            <a:avLst/>
          </a:prstGeom>
          <a:noFill/>
        </p:spPr>
        <p:txBody>
          <a:bodyPr wrap="square" rtlCol="0">
            <a:spAutoFit/>
          </a:bodyPr>
          <a:lstStyle/>
          <a:p>
            <a:pPr algn="ctr"/>
            <a:r>
              <a:rPr lang="tr-TR" sz="2800" dirty="0"/>
              <a:t>KAYNAKÇA</a:t>
            </a:r>
          </a:p>
        </p:txBody>
      </p:sp>
      <p:sp>
        <p:nvSpPr>
          <p:cNvPr id="4" name="TextBox 3">
            <a:extLst>
              <a:ext uri="{FF2B5EF4-FFF2-40B4-BE49-F238E27FC236}">
                <a16:creationId xmlns:a16="http://schemas.microsoft.com/office/drawing/2014/main" id="{A331EAA7-F0AE-DB12-1B75-4FD585DBC2AD}"/>
              </a:ext>
            </a:extLst>
          </p:cNvPr>
          <p:cNvSpPr txBox="1"/>
          <p:nvPr/>
        </p:nvSpPr>
        <p:spPr>
          <a:xfrm>
            <a:off x="2250174" y="2655460"/>
            <a:ext cx="8019765" cy="646331"/>
          </a:xfrm>
          <a:prstGeom prst="rect">
            <a:avLst/>
          </a:prstGeom>
          <a:noFill/>
        </p:spPr>
        <p:txBody>
          <a:bodyPr wrap="square">
            <a:spAutoFit/>
          </a:bodyPr>
          <a:lstStyle/>
          <a:p>
            <a:r>
              <a:rPr lang="tr-TR" dirty="0">
                <a:hlinkClick r:id="rId2"/>
              </a:rPr>
              <a:t>https://www.kaggle.com/datasets/meetnagadia/amazon-kindle-book-review-for-sentiment-analysis</a:t>
            </a:r>
            <a:r>
              <a:rPr lang="tr-TR" dirty="0"/>
              <a:t>      </a:t>
            </a:r>
          </a:p>
        </p:txBody>
      </p:sp>
    </p:spTree>
    <p:extLst>
      <p:ext uri="{BB962C8B-B14F-4D97-AF65-F5344CB8AC3E}">
        <p14:creationId xmlns:p14="http://schemas.microsoft.com/office/powerpoint/2010/main" val="3332541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3605</TotalTime>
  <Words>5092</Words>
  <Application>Microsoft Office PowerPoint</Application>
  <PresentationFormat>Widescreen</PresentationFormat>
  <Paragraphs>639</Paragraphs>
  <Slides>35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Gülfiz POYRAZ</dc:creator>
  <cp:lastModifiedBy>Gülfiz POYRAZ</cp:lastModifiedBy>
  <cp:revision>89</cp:revision>
  <dcterms:created xsi:type="dcterms:W3CDTF">2025-12-06T21:15:30Z</dcterms:created>
  <dcterms:modified xsi:type="dcterms:W3CDTF">2025-12-17T18:28:26Z</dcterms:modified>
</cp:coreProperties>
</file>