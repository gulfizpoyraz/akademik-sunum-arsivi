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37"/>
  </p:notesMasterIdLst>
  <p:sldIdLst>
    <p:sldId id="257" r:id="rId2"/>
    <p:sldId id="310" r:id="rId3"/>
    <p:sldId id="258" r:id="rId4"/>
    <p:sldId id="295" r:id="rId5"/>
    <p:sldId id="311" r:id="rId6"/>
    <p:sldId id="296" r:id="rId7"/>
    <p:sldId id="263" r:id="rId8"/>
    <p:sldId id="297" r:id="rId9"/>
    <p:sldId id="262" r:id="rId10"/>
    <p:sldId id="261" r:id="rId11"/>
    <p:sldId id="266" r:id="rId12"/>
    <p:sldId id="267" r:id="rId13"/>
    <p:sldId id="280" r:id="rId14"/>
    <p:sldId id="277" r:id="rId15"/>
    <p:sldId id="282" r:id="rId16"/>
    <p:sldId id="279" r:id="rId17"/>
    <p:sldId id="309" r:id="rId18"/>
    <p:sldId id="281" r:id="rId19"/>
    <p:sldId id="284" r:id="rId20"/>
    <p:sldId id="286" r:id="rId21"/>
    <p:sldId id="298" r:id="rId22"/>
    <p:sldId id="289" r:id="rId23"/>
    <p:sldId id="299" r:id="rId24"/>
    <p:sldId id="303" r:id="rId25"/>
    <p:sldId id="288" r:id="rId26"/>
    <p:sldId id="300" r:id="rId27"/>
    <p:sldId id="301" r:id="rId28"/>
    <p:sldId id="304" r:id="rId29"/>
    <p:sldId id="305" r:id="rId30"/>
    <p:sldId id="292" r:id="rId31"/>
    <p:sldId id="312" r:id="rId32"/>
    <p:sldId id="313" r:id="rId33"/>
    <p:sldId id="306" r:id="rId34"/>
    <p:sldId id="308" r:id="rId35"/>
    <p:sldId id="307"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p:cViewPr varScale="1">
        <p:scale>
          <a:sx n="70" d="100"/>
          <a:sy n="70" d="100"/>
        </p:scale>
        <p:origin x="525"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CFDDA5-E5F1-4674-8D8B-CD6A94E8E11F}" type="datetimeFigureOut">
              <a:rPr lang="tr-TR" smtClean="0"/>
              <a:t>9.01.2026</a:t>
            </a:fld>
            <a:endParaRPr lang="tr-T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99AB69-9731-49B0-B18A-F7C4AC6845B7}" type="slidenum">
              <a:rPr lang="tr-TR" smtClean="0"/>
              <a:t>‹#›</a:t>
            </a:fld>
            <a:endParaRPr lang="tr-TR"/>
          </a:p>
        </p:txBody>
      </p:sp>
    </p:spTree>
    <p:extLst>
      <p:ext uri="{BB962C8B-B14F-4D97-AF65-F5344CB8AC3E}">
        <p14:creationId xmlns:p14="http://schemas.microsoft.com/office/powerpoint/2010/main" val="1876883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5"/>
          </p:nvPr>
        </p:nvSpPr>
        <p:spPr/>
        <p:txBody>
          <a:bodyPr/>
          <a:lstStyle/>
          <a:p>
            <a:fld id="{BC99AB69-9731-49B0-B18A-F7C4AC6845B7}" type="slidenum">
              <a:rPr lang="tr-TR" smtClean="0"/>
              <a:t>35</a:t>
            </a:fld>
            <a:endParaRPr lang="tr-TR"/>
          </a:p>
        </p:txBody>
      </p:sp>
    </p:spTree>
    <p:extLst>
      <p:ext uri="{BB962C8B-B14F-4D97-AF65-F5344CB8AC3E}">
        <p14:creationId xmlns:p14="http://schemas.microsoft.com/office/powerpoint/2010/main" val="4045606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7EBE153-BDF9-4417-BAA1-E9439D4C7519}" type="datetimeFigureOut">
              <a:rPr lang="tr-TR" smtClean="0"/>
              <a:t>9.01.2026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484AB63-583B-4891-85E3-C594FF10C164}" type="slidenum">
              <a:rPr lang="tr-TR" smtClean="0"/>
              <a:t>‹#›</a:t>
            </a:fld>
            <a:endParaRPr lang="tr-T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3392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EBE153-BDF9-4417-BAA1-E9439D4C7519}" type="datetimeFigureOut">
              <a:rPr lang="tr-TR" smtClean="0"/>
              <a:t>9.01.2026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484AB63-583B-4891-85E3-C594FF10C164}" type="slidenum">
              <a:rPr lang="tr-TR" smtClean="0"/>
              <a:t>‹#›</a:t>
            </a:fld>
            <a:endParaRPr lang="tr-TR"/>
          </a:p>
        </p:txBody>
      </p:sp>
    </p:spTree>
    <p:extLst>
      <p:ext uri="{BB962C8B-B14F-4D97-AF65-F5344CB8AC3E}">
        <p14:creationId xmlns:p14="http://schemas.microsoft.com/office/powerpoint/2010/main" val="17749237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EBE153-BDF9-4417-BAA1-E9439D4C7519}" type="datetimeFigureOut">
              <a:rPr lang="tr-TR" smtClean="0"/>
              <a:t>9.01.2026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484AB63-583B-4891-85E3-C594FF10C164}" type="slidenum">
              <a:rPr lang="tr-TR" smtClean="0"/>
              <a:t>‹#›</a:t>
            </a:fld>
            <a:endParaRPr lang="tr-T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1094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7EBE153-BDF9-4417-BAA1-E9439D4C7519}" type="datetimeFigureOut">
              <a:rPr lang="tr-TR" smtClean="0"/>
              <a:t>9.01.2026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F484AB63-583B-4891-85E3-C594FF10C164}" type="slidenum">
              <a:rPr lang="tr-TR" smtClean="0"/>
              <a:t>‹#›</a:t>
            </a:fld>
            <a:endParaRPr lang="tr-TR"/>
          </a:p>
        </p:txBody>
      </p:sp>
    </p:spTree>
    <p:extLst>
      <p:ext uri="{BB962C8B-B14F-4D97-AF65-F5344CB8AC3E}">
        <p14:creationId xmlns:p14="http://schemas.microsoft.com/office/powerpoint/2010/main" val="2902825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EBE153-BDF9-4417-BAA1-E9439D4C7519}" type="datetimeFigureOut">
              <a:rPr lang="tr-TR" smtClean="0"/>
              <a:t>9.01.2026</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F484AB63-583B-4891-85E3-C594FF10C164}" type="slidenum">
              <a:rPr lang="tr-TR" smtClean="0"/>
              <a:t>‹#›</a:t>
            </a:fld>
            <a:endParaRPr lang="tr-TR"/>
          </a:p>
        </p:txBody>
      </p:sp>
    </p:spTree>
    <p:extLst>
      <p:ext uri="{BB962C8B-B14F-4D97-AF65-F5344CB8AC3E}">
        <p14:creationId xmlns:p14="http://schemas.microsoft.com/office/powerpoint/2010/main" val="1872127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7EBE153-BDF9-4417-BAA1-E9439D4C7519}" type="datetimeFigureOut">
              <a:rPr lang="tr-TR" smtClean="0"/>
              <a:t>9.01.2026</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F484AB63-583B-4891-85E3-C594FF10C164}" type="slidenum">
              <a:rPr lang="tr-TR" smtClean="0"/>
              <a:t>‹#›</a:t>
            </a:fld>
            <a:endParaRPr lang="tr-TR"/>
          </a:p>
        </p:txBody>
      </p:sp>
    </p:spTree>
    <p:extLst>
      <p:ext uri="{BB962C8B-B14F-4D97-AF65-F5344CB8AC3E}">
        <p14:creationId xmlns:p14="http://schemas.microsoft.com/office/powerpoint/2010/main" val="213757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7" name="Date Placeholder 6"/>
          <p:cNvSpPr>
            <a:spLocks noGrp="1"/>
          </p:cNvSpPr>
          <p:nvPr>
            <p:ph type="dt" sz="half" idx="10"/>
          </p:nvPr>
        </p:nvSpPr>
        <p:spPr/>
        <p:txBody>
          <a:bodyPr/>
          <a:lstStyle/>
          <a:p>
            <a:fld id="{D7EBE153-BDF9-4417-BAA1-E9439D4C7519}" type="datetimeFigureOut">
              <a:rPr lang="tr-TR" smtClean="0"/>
              <a:pPr/>
              <a:t>9.01.2026</a:t>
            </a:fld>
            <a:endParaRPr lang="tr-TR"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tr-TR" dirty="0"/>
          </a:p>
        </p:txBody>
      </p:sp>
      <p:sp>
        <p:nvSpPr>
          <p:cNvPr id="9" name="Slide Number Placeholder 8"/>
          <p:cNvSpPr>
            <a:spLocks noGrp="1"/>
          </p:cNvSpPr>
          <p:nvPr>
            <p:ph type="sldNum" sz="quarter" idx="12"/>
          </p:nvPr>
        </p:nvSpPr>
        <p:spPr/>
        <p:txBody>
          <a:bodyPr/>
          <a:lstStyle/>
          <a:p>
            <a:fld id="{F484AB63-583B-4891-85E3-C594FF10C164}" type="slidenum">
              <a:rPr lang="tr-TR" smtClean="0"/>
              <a:t>‹#›</a:t>
            </a:fld>
            <a:endParaRPr lang="tr-TR" dirty="0"/>
          </a:p>
        </p:txBody>
      </p:sp>
    </p:spTree>
    <p:extLst>
      <p:ext uri="{BB962C8B-B14F-4D97-AF65-F5344CB8AC3E}">
        <p14:creationId xmlns:p14="http://schemas.microsoft.com/office/powerpoint/2010/main" val="30364875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7EBE153-BDF9-4417-BAA1-E9439D4C7519}" type="datetimeFigureOut">
              <a:rPr lang="tr-TR" smtClean="0"/>
              <a:t>9.01.2026</a:t>
            </a:fld>
            <a:endParaRPr lang="tr-TR"/>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tr-T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484AB63-583B-4891-85E3-C594FF10C164}" type="slidenum">
              <a:rPr lang="tr-TR" smtClean="0"/>
              <a:t>‹#›</a:t>
            </a:fld>
            <a:endParaRPr lang="tr-TR"/>
          </a:p>
        </p:txBody>
      </p:sp>
    </p:spTree>
    <p:extLst>
      <p:ext uri="{BB962C8B-B14F-4D97-AF65-F5344CB8AC3E}">
        <p14:creationId xmlns:p14="http://schemas.microsoft.com/office/powerpoint/2010/main" val="16997252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7EBE153-BDF9-4417-BAA1-E9439D4C7519}" type="datetimeFigureOut">
              <a:rPr lang="tr-TR" smtClean="0"/>
              <a:t>9.01.2026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F484AB63-583B-4891-85E3-C594FF10C164}" type="slidenum">
              <a:rPr lang="tr-TR" smtClean="0"/>
              <a:t>‹#›</a:t>
            </a:fld>
            <a:endParaRPr lang="tr-TR"/>
          </a:p>
        </p:txBody>
      </p:sp>
    </p:spTree>
    <p:extLst>
      <p:ext uri="{BB962C8B-B14F-4D97-AF65-F5344CB8AC3E}">
        <p14:creationId xmlns:p14="http://schemas.microsoft.com/office/powerpoint/2010/main" val="1187170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EBE153-BDF9-4417-BAA1-E9439D4C7519}" type="datetimeFigureOut">
              <a:rPr lang="tr-TR" smtClean="0"/>
              <a:t>9.01.2026</a:t>
            </a:fld>
            <a:endParaRPr lang="tr-TR" dirty="0"/>
          </a:p>
        </p:txBody>
      </p:sp>
      <p:sp>
        <p:nvSpPr>
          <p:cNvPr id="5" name="Footer Placeholder 4"/>
          <p:cNvSpPr>
            <a:spLocks noGrp="1"/>
          </p:cNvSpPr>
          <p:nvPr>
            <p:ph type="ftr" sz="quarter" idx="11"/>
          </p:nvPr>
        </p:nvSpPr>
        <p:spPr/>
        <p:txBody>
          <a:bodyPr/>
          <a:lstStyle/>
          <a:p>
            <a:endParaRPr lang="tr-TR" dirty="0"/>
          </a:p>
        </p:txBody>
      </p:sp>
      <p:sp>
        <p:nvSpPr>
          <p:cNvPr id="6" name="Slide Number Placeholder 5"/>
          <p:cNvSpPr>
            <a:spLocks noGrp="1"/>
          </p:cNvSpPr>
          <p:nvPr>
            <p:ph type="sldNum" sz="quarter" idx="12"/>
          </p:nvPr>
        </p:nvSpPr>
        <p:spPr/>
        <p:txBody>
          <a:bodyPr/>
          <a:lstStyle/>
          <a:p>
            <a:fld id="{F484AB63-583B-4891-85E3-C594FF10C164}" type="slidenum">
              <a:rPr lang="tr-TR" smtClean="0"/>
              <a:t>‹#›</a:t>
            </a:fld>
            <a:endParaRPr lang="tr-TR" dirty="0"/>
          </a:p>
        </p:txBody>
      </p:sp>
    </p:spTree>
    <p:extLst>
      <p:ext uri="{BB962C8B-B14F-4D97-AF65-F5344CB8AC3E}">
        <p14:creationId xmlns:p14="http://schemas.microsoft.com/office/powerpoint/2010/main" val="24491957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EBE153-BDF9-4417-BAA1-E9439D4C7519}" type="datetimeFigureOut">
              <a:rPr lang="tr-TR" smtClean="0"/>
              <a:t>9.01.2026</a:t>
            </a:fld>
            <a:endParaRPr lang="tr-TR" dirty="0"/>
          </a:p>
        </p:txBody>
      </p:sp>
      <p:sp>
        <p:nvSpPr>
          <p:cNvPr id="5" name="Footer Placeholder 4"/>
          <p:cNvSpPr>
            <a:spLocks noGrp="1"/>
          </p:cNvSpPr>
          <p:nvPr>
            <p:ph type="ftr" sz="quarter" idx="11"/>
          </p:nvPr>
        </p:nvSpPr>
        <p:spPr/>
        <p:txBody>
          <a:bodyPr/>
          <a:lstStyle/>
          <a:p>
            <a:endParaRPr lang="tr-TR" dirty="0"/>
          </a:p>
        </p:txBody>
      </p:sp>
      <p:sp>
        <p:nvSpPr>
          <p:cNvPr id="6" name="Slide Number Placeholder 5"/>
          <p:cNvSpPr>
            <a:spLocks noGrp="1"/>
          </p:cNvSpPr>
          <p:nvPr>
            <p:ph type="sldNum" sz="quarter" idx="12"/>
          </p:nvPr>
        </p:nvSpPr>
        <p:spPr/>
        <p:txBody>
          <a:bodyPr/>
          <a:lstStyle/>
          <a:p>
            <a:fld id="{F484AB63-583B-4891-85E3-C594FF10C164}" type="slidenum">
              <a:rPr lang="tr-TR" smtClean="0"/>
              <a:t>‹#›</a:t>
            </a:fld>
            <a:endParaRPr lang="tr-TR" dirty="0"/>
          </a:p>
        </p:txBody>
      </p:sp>
    </p:spTree>
    <p:extLst>
      <p:ext uri="{BB962C8B-B14F-4D97-AF65-F5344CB8AC3E}">
        <p14:creationId xmlns:p14="http://schemas.microsoft.com/office/powerpoint/2010/main" val="3659692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7EBE153-BDF9-4417-BAA1-E9439D4C7519}" type="datetimeFigureOut">
              <a:rPr lang="tr-TR" smtClean="0"/>
              <a:t>9.01.2026</a:t>
            </a:fld>
            <a:endParaRPr lang="tr-T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tr-T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F484AB63-583B-4891-85E3-C594FF10C164}" type="slidenum">
              <a:rPr lang="tr-TR" smtClean="0"/>
              <a:t>‹#›</a:t>
            </a:fld>
            <a:endParaRPr lang="tr-TR"/>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1329844"/>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hyperlink" Target="https://archive.org/stream/nutukmustafakemalataturkpdfdrive.com/Nutuk%20-%20Mustafa%20Kemal%20Atat%C3%BCrk%20%28%20PDFDrive.com%20%29_djvu.txt" TargetMode="External"/><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099CBC2-9670-0CB5-F67C-0C6CEC1E5003}"/>
              </a:ext>
            </a:extLst>
          </p:cNvPr>
          <p:cNvPicPr>
            <a:picLocks noChangeAspect="1"/>
          </p:cNvPicPr>
          <p:nvPr/>
        </p:nvPicPr>
        <p:blipFill>
          <a:blip r:embed="rId2">
            <a:extLst>
              <a:ext uri="{28A0092B-C50C-407E-A947-70E740481C1C}">
                <a14:useLocalDpi xmlns:a14="http://schemas.microsoft.com/office/drawing/2010/main" val="0"/>
              </a:ext>
            </a:extLst>
          </a:blip>
          <a:srcRect r="121" b="1"/>
          <a:stretch>
            <a:fillRect/>
          </a:stretch>
        </p:blipFill>
        <p:spPr>
          <a:xfrm>
            <a:off x="20" y="10"/>
            <a:ext cx="12191980" cy="6866290"/>
          </a:xfrm>
          <a:prstGeom prst="rect">
            <a:avLst/>
          </a:prstGeom>
        </p:spPr>
      </p:pic>
      <p:sp>
        <p:nvSpPr>
          <p:cNvPr id="2" name="TextBox 1">
            <a:extLst>
              <a:ext uri="{FF2B5EF4-FFF2-40B4-BE49-F238E27FC236}">
                <a16:creationId xmlns:a16="http://schemas.microsoft.com/office/drawing/2014/main" id="{654A458B-A94C-21C4-8A68-7CAF0C334E0F}"/>
              </a:ext>
            </a:extLst>
          </p:cNvPr>
          <p:cNvSpPr txBox="1"/>
          <p:nvPr/>
        </p:nvSpPr>
        <p:spPr>
          <a:xfrm>
            <a:off x="9081654" y="5458691"/>
            <a:ext cx="2687782" cy="923330"/>
          </a:xfrm>
          <a:prstGeom prst="rect">
            <a:avLst/>
          </a:prstGeom>
          <a:noFill/>
        </p:spPr>
        <p:txBody>
          <a:bodyPr wrap="square" rtlCol="0">
            <a:spAutoFit/>
          </a:bodyPr>
          <a:lstStyle/>
          <a:p>
            <a:r>
              <a:rPr lang="tr-TR" sz="5400" b="1" dirty="0">
                <a:solidFill>
                  <a:schemeClr val="bg1"/>
                </a:solidFill>
                <a:latin typeface="Arial" panose="020B0604020202020204" pitchFamily="34" charset="0"/>
                <a:cs typeface="Arial" panose="020B0604020202020204" pitchFamily="34" charset="0"/>
              </a:rPr>
              <a:t>NUTUK</a:t>
            </a:r>
          </a:p>
        </p:txBody>
      </p:sp>
    </p:spTree>
    <p:extLst>
      <p:ext uri="{BB962C8B-B14F-4D97-AF65-F5344CB8AC3E}">
        <p14:creationId xmlns:p14="http://schemas.microsoft.com/office/powerpoint/2010/main" val="35070592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8534674-5503-212B-6FED-B4EADF649D92}"/>
              </a:ext>
            </a:extLst>
          </p:cNvPr>
          <p:cNvPicPr>
            <a:picLocks noChangeAspect="1"/>
          </p:cNvPicPr>
          <p:nvPr/>
        </p:nvPicPr>
        <p:blipFill>
          <a:blip r:embed="rId2"/>
          <a:srcRect r="56205"/>
          <a:stretch>
            <a:fillRect/>
          </a:stretch>
        </p:blipFill>
        <p:spPr>
          <a:xfrm>
            <a:off x="574489" y="325355"/>
            <a:ext cx="3665001" cy="5747770"/>
          </a:xfrm>
          <a:prstGeom prst="rect">
            <a:avLst/>
          </a:prstGeom>
        </p:spPr>
      </p:pic>
      <p:sp>
        <p:nvSpPr>
          <p:cNvPr id="10" name="TextBox 9">
            <a:extLst>
              <a:ext uri="{FF2B5EF4-FFF2-40B4-BE49-F238E27FC236}">
                <a16:creationId xmlns:a16="http://schemas.microsoft.com/office/drawing/2014/main" id="{3073EFF4-C666-9156-08BB-1E9972F5A624}"/>
              </a:ext>
            </a:extLst>
          </p:cNvPr>
          <p:cNvSpPr txBox="1"/>
          <p:nvPr/>
        </p:nvSpPr>
        <p:spPr>
          <a:xfrm>
            <a:off x="3768437" y="720435"/>
            <a:ext cx="8423562" cy="954107"/>
          </a:xfrm>
          <a:prstGeom prst="rect">
            <a:avLst/>
          </a:prstGeom>
          <a:noFill/>
        </p:spPr>
        <p:txBody>
          <a:bodyPr wrap="square">
            <a:spAutoFit/>
          </a:bodyPr>
          <a:lstStyle/>
          <a:p>
            <a:pPr algn="ctr">
              <a:buNone/>
            </a:pPr>
            <a:r>
              <a:rPr lang="en-US" sz="2800" b="1" dirty="0">
                <a:latin typeface="Arial" panose="020B0604020202020204" pitchFamily="34" charset="0"/>
                <a:cs typeface="Arial" panose="020B0604020202020204" pitchFamily="34" charset="0"/>
              </a:rPr>
              <a:t>PYSPARK </a:t>
            </a:r>
            <a:r>
              <a:rPr lang="en-US" sz="2800" dirty="0">
                <a:latin typeface="Arial" panose="020B0604020202020204" pitchFamily="34" charset="0"/>
                <a:cs typeface="Arial" panose="020B0604020202020204" pitchFamily="34" charset="0"/>
              </a:rPr>
              <a:t>İLE</a:t>
            </a:r>
            <a:r>
              <a:rPr lang="en-US" sz="2800" b="1" dirty="0">
                <a:latin typeface="Arial" panose="020B0604020202020204" pitchFamily="34" charset="0"/>
                <a:cs typeface="Arial" panose="020B0604020202020204" pitchFamily="34" charset="0"/>
              </a:rPr>
              <a:t> “NUTUK” </a:t>
            </a:r>
            <a:r>
              <a:rPr lang="en-US" sz="2800" dirty="0">
                <a:latin typeface="Arial" panose="020B0604020202020204" pitchFamily="34" charset="0"/>
                <a:cs typeface="Arial" panose="020B0604020202020204" pitchFamily="34" charset="0"/>
              </a:rPr>
              <a:t>METNİ ÜZERİNDE</a:t>
            </a:r>
          </a:p>
          <a:p>
            <a:pPr algn="ctr">
              <a:buNone/>
            </a:pPr>
            <a:r>
              <a:rPr lang="en-US" sz="2800" dirty="0">
                <a:latin typeface="Arial" panose="020B0604020202020204" pitchFamily="34" charset="0"/>
                <a:cs typeface="Arial" panose="020B0604020202020204" pitchFamily="34" charset="0"/>
              </a:rPr>
              <a:t>BÜYÜK VERİ TABANLI METİN ANALİZİ</a:t>
            </a:r>
          </a:p>
        </p:txBody>
      </p:sp>
      <p:sp>
        <p:nvSpPr>
          <p:cNvPr id="12" name="TextBox 11">
            <a:extLst>
              <a:ext uri="{FF2B5EF4-FFF2-40B4-BE49-F238E27FC236}">
                <a16:creationId xmlns:a16="http://schemas.microsoft.com/office/drawing/2014/main" id="{6918D212-3C62-ADFE-7D06-F94EC9C37B50}"/>
              </a:ext>
            </a:extLst>
          </p:cNvPr>
          <p:cNvSpPr txBox="1"/>
          <p:nvPr/>
        </p:nvSpPr>
        <p:spPr>
          <a:xfrm>
            <a:off x="5299365" y="3118470"/>
            <a:ext cx="5029199" cy="2616101"/>
          </a:xfrm>
          <a:prstGeom prst="rect">
            <a:avLst/>
          </a:prstGeom>
          <a:noFill/>
        </p:spPr>
        <p:txBody>
          <a:bodyPr wrap="square">
            <a:spAutoFit/>
          </a:bodyPr>
          <a:lstStyle/>
          <a:p>
            <a:pPr algn="ctr">
              <a:buNone/>
            </a:pPr>
            <a:br>
              <a:rPr lang="en-US" dirty="0"/>
            </a:br>
            <a:r>
              <a:rPr lang="en-US" sz="2400" dirty="0">
                <a:latin typeface="Arial" panose="020B0604020202020204" pitchFamily="34" charset="0"/>
                <a:cs typeface="Arial" panose="020B0604020202020204" pitchFamily="34" charset="0"/>
              </a:rPr>
              <a:t>Gülfiz POYRAZ</a:t>
            </a:r>
          </a:p>
          <a:p>
            <a:pPr algn="ctr">
              <a:buNone/>
            </a:pPr>
            <a:endParaRPr lang="tr-TR" sz="2400" dirty="0">
              <a:latin typeface="Arial" panose="020B0604020202020204" pitchFamily="34" charset="0"/>
              <a:cs typeface="Arial" panose="020B0604020202020204" pitchFamily="34" charset="0"/>
            </a:endParaRPr>
          </a:p>
          <a:p>
            <a:pPr algn="ctr">
              <a:buNone/>
            </a:pPr>
            <a:endParaRPr lang="tr-TR" sz="2400" dirty="0">
              <a:latin typeface="Arial" panose="020B0604020202020204" pitchFamily="34" charset="0"/>
              <a:cs typeface="Arial" panose="020B0604020202020204" pitchFamily="34" charset="0"/>
            </a:endParaRPr>
          </a:p>
          <a:p>
            <a:pPr algn="ctr">
              <a:buNone/>
            </a:pPr>
            <a:r>
              <a:rPr lang="en-US" sz="2000" dirty="0">
                <a:latin typeface="Arial" panose="020B0604020202020204" pitchFamily="34" charset="0"/>
                <a:cs typeface="Arial" panose="020B0604020202020204" pitchFamily="34" charset="0"/>
              </a:rPr>
              <a:t>Prof. Dr. Orhan ER</a:t>
            </a:r>
            <a:endParaRPr lang="tr-TR" sz="2000" dirty="0">
              <a:latin typeface="Arial" panose="020B0604020202020204" pitchFamily="34" charset="0"/>
              <a:cs typeface="Arial" panose="020B0604020202020204" pitchFamily="34" charset="0"/>
            </a:endParaRPr>
          </a:p>
          <a:p>
            <a:pPr>
              <a:buNone/>
            </a:pPr>
            <a:endParaRPr lang="tr-TR" dirty="0"/>
          </a:p>
          <a:p>
            <a:pPr>
              <a:buNone/>
            </a:pPr>
            <a:endParaRPr lang="tr-TR" dirty="0"/>
          </a:p>
          <a:p>
            <a:pPr algn="ctr">
              <a:buNone/>
            </a:pPr>
            <a:r>
              <a:rPr lang="tr-TR" dirty="0"/>
              <a:t>2026</a:t>
            </a:r>
            <a:endParaRPr lang="en-US" dirty="0"/>
          </a:p>
        </p:txBody>
      </p:sp>
      <p:sp>
        <p:nvSpPr>
          <p:cNvPr id="14" name="TextBox 13">
            <a:extLst>
              <a:ext uri="{FF2B5EF4-FFF2-40B4-BE49-F238E27FC236}">
                <a16:creationId xmlns:a16="http://schemas.microsoft.com/office/drawing/2014/main" id="{507E2016-165E-B9F8-5C74-43016F1F79EC}"/>
              </a:ext>
            </a:extLst>
          </p:cNvPr>
          <p:cNvSpPr txBox="1"/>
          <p:nvPr/>
        </p:nvSpPr>
        <p:spPr>
          <a:xfrm>
            <a:off x="3768438" y="2193033"/>
            <a:ext cx="8423562" cy="523220"/>
          </a:xfrm>
          <a:prstGeom prst="rect">
            <a:avLst/>
          </a:prstGeom>
          <a:noFill/>
        </p:spPr>
        <p:txBody>
          <a:bodyPr wrap="square">
            <a:spAutoFit/>
          </a:bodyPr>
          <a:lstStyle/>
          <a:p>
            <a:pPr algn="ctr">
              <a:buNone/>
            </a:pPr>
            <a:r>
              <a:rPr lang="en-US" sz="2800" dirty="0">
                <a:latin typeface="Arial" panose="020B0604020202020204" pitchFamily="34" charset="0"/>
                <a:cs typeface="Arial" panose="020B0604020202020204" pitchFamily="34" charset="0"/>
              </a:rPr>
              <a:t>BÜYÜK VER</a:t>
            </a:r>
            <a:r>
              <a:rPr lang="tr-TR" sz="2800" dirty="0">
                <a:latin typeface="Arial" panose="020B0604020202020204" pitchFamily="34" charset="0"/>
                <a:cs typeface="Arial" panose="020B0604020202020204" pitchFamily="34" charset="0"/>
              </a:rPr>
              <a:t>İ</a:t>
            </a:r>
            <a:r>
              <a:rPr lang="en-US" sz="2800" dirty="0">
                <a:latin typeface="Arial" panose="020B0604020202020204" pitchFamily="34" charset="0"/>
                <a:cs typeface="Arial" panose="020B0604020202020204" pitchFamily="34" charset="0"/>
              </a:rPr>
              <a:t> TEKNOLOJ</a:t>
            </a:r>
            <a:r>
              <a:rPr lang="tr-TR" sz="2800" dirty="0">
                <a:latin typeface="Arial" panose="020B0604020202020204" pitchFamily="34" charset="0"/>
                <a:cs typeface="Arial" panose="020B0604020202020204" pitchFamily="34" charset="0"/>
              </a:rPr>
              <a:t>İ</a:t>
            </a:r>
            <a:r>
              <a:rPr lang="en-US" sz="2800" dirty="0">
                <a:latin typeface="Arial" panose="020B0604020202020204" pitchFamily="34" charset="0"/>
                <a:cs typeface="Arial" panose="020B0604020202020204" pitchFamily="34" charset="0"/>
              </a:rPr>
              <a:t>LER</a:t>
            </a:r>
            <a:r>
              <a:rPr lang="tr-TR" sz="2800" dirty="0">
                <a:latin typeface="Arial" panose="020B0604020202020204" pitchFamily="34" charset="0"/>
                <a:cs typeface="Arial" panose="020B0604020202020204" pitchFamily="34" charset="0"/>
              </a:rPr>
              <a:t>İ</a:t>
            </a:r>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57036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C40B8C1-E165-ECCE-06E0-47D8A6913EBE}"/>
              </a:ext>
            </a:extLst>
          </p:cNvPr>
          <p:cNvSpPr txBox="1"/>
          <p:nvPr/>
        </p:nvSpPr>
        <p:spPr>
          <a:xfrm>
            <a:off x="2272146" y="1668590"/>
            <a:ext cx="8208818" cy="3644587"/>
          </a:xfrm>
          <a:prstGeom prst="rect">
            <a:avLst/>
          </a:prstGeom>
          <a:noFill/>
        </p:spPr>
        <p:txBody>
          <a:bodyPr wrap="square">
            <a:spAutoFit/>
          </a:bodyPr>
          <a:lstStyle/>
          <a:p>
            <a:pPr>
              <a:lnSpc>
                <a:spcPct val="125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Nutuk metnini </a:t>
            </a:r>
            <a:r>
              <a:rPr lang="tr-TR" sz="1400" noProof="0" dirty="0" err="1">
                <a:latin typeface="Arial" panose="020B0604020202020204" pitchFamily="34" charset="0"/>
                <a:cs typeface="Arial" panose="020B0604020202020204" pitchFamily="34" charset="0"/>
              </a:rPr>
              <a:t>PySpark</a:t>
            </a:r>
            <a:r>
              <a:rPr lang="tr-TR" sz="1400" noProof="0" dirty="0">
                <a:latin typeface="Arial" panose="020B0604020202020204" pitchFamily="34" charset="0"/>
                <a:cs typeface="Arial" panose="020B0604020202020204" pitchFamily="34" charset="0"/>
              </a:rPr>
              <a:t> ortamında analiz ederek veri setinin yapısını ve temel özelliklerini inceleyeceğiz.</a:t>
            </a:r>
          </a:p>
          <a:p>
            <a:pPr>
              <a:lnSpc>
                <a:spcPct val="125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Analiz öncesinde satır uzunluğu, dil yapısı ve boş/kısa satır oranlarını değerlendirerek ham verinin sorunlu noktalarını ortaya koyacağız.</a:t>
            </a:r>
          </a:p>
          <a:p>
            <a:pPr>
              <a:lnSpc>
                <a:spcPct val="125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Kelimeleri </a:t>
            </a:r>
            <a:r>
              <a:rPr lang="tr-TR" sz="1400" noProof="0" dirty="0" err="1">
                <a:latin typeface="Arial" panose="020B0604020202020204" pitchFamily="34" charset="0"/>
                <a:cs typeface="Arial" panose="020B0604020202020204" pitchFamily="34" charset="0"/>
              </a:rPr>
              <a:t>tokenize</a:t>
            </a:r>
            <a:r>
              <a:rPr lang="tr-TR" sz="1400" noProof="0" dirty="0">
                <a:latin typeface="Arial" panose="020B0604020202020204" pitchFamily="34" charset="0"/>
                <a:cs typeface="Arial" panose="020B0604020202020204" pitchFamily="34" charset="0"/>
              </a:rPr>
              <a:t> ederek kelime frekanslarını hesaplayacak, en sık geçen kavramları ve dağılımlarını inceleyeceğiz.</a:t>
            </a:r>
          </a:p>
          <a:p>
            <a:pPr>
              <a:lnSpc>
                <a:spcPct val="125000"/>
              </a:lnSpc>
              <a:buFont typeface="Arial" panose="020B0604020202020204" pitchFamily="34" charset="0"/>
              <a:buChar char="•"/>
            </a:pPr>
            <a:r>
              <a:rPr lang="tr-TR" sz="1400" noProof="0" dirty="0" err="1">
                <a:latin typeface="Arial" panose="020B0604020202020204" pitchFamily="34" charset="0"/>
                <a:cs typeface="Arial" panose="020B0604020202020204" pitchFamily="34" charset="0"/>
              </a:rPr>
              <a:t>Stopword’lerin</a:t>
            </a:r>
            <a:r>
              <a:rPr lang="tr-TR" sz="1400" noProof="0" dirty="0">
                <a:latin typeface="Arial" panose="020B0604020202020204" pitchFamily="34" charset="0"/>
                <a:cs typeface="Arial" panose="020B0604020202020204" pitchFamily="34" charset="0"/>
              </a:rPr>
              <a:t> metin üzerindeki etkisini gözlemleyerek temizleme ihtiyacını analiz edeceğiz.</a:t>
            </a:r>
          </a:p>
          <a:p>
            <a:pPr>
              <a:lnSpc>
                <a:spcPct val="125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Metni temizleyip dengeli hâle getirerek analize uygun bir veri seti oluşturacağız.</a:t>
            </a:r>
          </a:p>
          <a:p>
            <a:pPr>
              <a:lnSpc>
                <a:spcPct val="125000"/>
              </a:lnSpc>
              <a:buFont typeface="Arial" panose="020B0604020202020204" pitchFamily="34" charset="0"/>
              <a:buChar char="•"/>
            </a:pPr>
            <a:r>
              <a:rPr lang="tr-TR" sz="1400" noProof="0" dirty="0" err="1">
                <a:latin typeface="Arial" panose="020B0604020202020204" pitchFamily="34" charset="0"/>
                <a:cs typeface="Arial" panose="020B0604020202020204" pitchFamily="34" charset="0"/>
              </a:rPr>
              <a:t>CountVectorizer</a:t>
            </a:r>
            <a:r>
              <a:rPr lang="tr-TR" sz="1400" noProof="0" dirty="0">
                <a:latin typeface="Arial" panose="020B0604020202020204" pitchFamily="34" charset="0"/>
                <a:cs typeface="Arial" panose="020B0604020202020204" pitchFamily="34" charset="0"/>
              </a:rPr>
              <a:t> ve TF-IDF yöntemleriyle metni sayısal vektörlere dönüştüreceğiz.</a:t>
            </a:r>
          </a:p>
          <a:p>
            <a:pPr>
              <a:lnSpc>
                <a:spcPct val="125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Kelime frekansları ve TF-IDF sonuçlarını grafikler ve kelime bulutları ile görselleştireceğiz.</a:t>
            </a:r>
          </a:p>
          <a:p>
            <a:pPr>
              <a:lnSpc>
                <a:spcPct val="125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Elde edilen sayısal temsiller üzerinden K-</a:t>
            </a:r>
            <a:r>
              <a:rPr lang="tr-TR" sz="1400" noProof="0" dirty="0" err="1">
                <a:latin typeface="Arial" panose="020B0604020202020204" pitchFamily="34" charset="0"/>
                <a:cs typeface="Arial" panose="020B0604020202020204" pitchFamily="34" charset="0"/>
              </a:rPr>
              <a:t>Means</a:t>
            </a:r>
            <a:r>
              <a:rPr lang="tr-TR" sz="1400" noProof="0" dirty="0">
                <a:latin typeface="Arial" panose="020B0604020202020204" pitchFamily="34" charset="0"/>
                <a:cs typeface="Arial" panose="020B0604020202020204" pitchFamily="34" charset="0"/>
              </a:rPr>
              <a:t> algoritması ile tematik kümeler oluşturacağız.</a:t>
            </a:r>
          </a:p>
          <a:p>
            <a:pPr>
              <a:lnSpc>
                <a:spcPct val="125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Son olarak, elde edilen çıktıları yorumlayarak Nutuk metninin tematik yapısını ve anlatı çeşitliliğini değerlendireceğiz</a:t>
            </a:r>
            <a:r>
              <a:rPr lang="en-US" dirty="0"/>
              <a:t>.</a:t>
            </a:r>
          </a:p>
        </p:txBody>
      </p:sp>
      <p:sp>
        <p:nvSpPr>
          <p:cNvPr id="5" name="TextBox 4">
            <a:extLst>
              <a:ext uri="{FF2B5EF4-FFF2-40B4-BE49-F238E27FC236}">
                <a16:creationId xmlns:a16="http://schemas.microsoft.com/office/drawing/2014/main" id="{3F77E322-0E8B-2675-84EB-8D80C6DCB157}"/>
              </a:ext>
            </a:extLst>
          </p:cNvPr>
          <p:cNvSpPr txBox="1"/>
          <p:nvPr/>
        </p:nvSpPr>
        <p:spPr>
          <a:xfrm>
            <a:off x="0" y="923698"/>
            <a:ext cx="12192000" cy="523220"/>
          </a:xfrm>
          <a:prstGeom prst="rect">
            <a:avLst/>
          </a:prstGeom>
          <a:noFill/>
        </p:spPr>
        <p:txBody>
          <a:bodyPr wrap="square">
            <a:spAutoFit/>
          </a:bodyPr>
          <a:lstStyle/>
          <a:p>
            <a:pPr algn="ctr">
              <a:buNone/>
            </a:pPr>
            <a:r>
              <a:rPr lang="tr-TR" sz="2800" noProof="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Bu Çalışmada Neler Yapacağız?</a:t>
            </a:r>
          </a:p>
        </p:txBody>
      </p:sp>
    </p:spTree>
    <p:extLst>
      <p:ext uri="{BB962C8B-B14F-4D97-AF65-F5344CB8AC3E}">
        <p14:creationId xmlns:p14="http://schemas.microsoft.com/office/powerpoint/2010/main" val="492108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E287269-2F93-F0B3-0425-CB4D9AE2B568}"/>
              </a:ext>
            </a:extLst>
          </p:cNvPr>
          <p:cNvSpPr txBox="1"/>
          <p:nvPr/>
        </p:nvSpPr>
        <p:spPr>
          <a:xfrm>
            <a:off x="4031105" y="1560227"/>
            <a:ext cx="6102256" cy="3970318"/>
          </a:xfrm>
          <a:prstGeom prst="rect">
            <a:avLst/>
          </a:prstGeom>
          <a:noFill/>
        </p:spPr>
        <p:txBody>
          <a:bodyPr wrap="square">
            <a:spAutoFit/>
          </a:bodyPr>
          <a:lstStyle/>
          <a:p>
            <a:pPr>
              <a:buNone/>
            </a:pPr>
            <a:r>
              <a:rPr lang="tr-TR" sz="1400" dirty="0">
                <a:latin typeface="Arial" panose="020B0604020202020204" pitchFamily="34" charset="0"/>
                <a:cs typeface="Arial" panose="020B0604020202020204" pitchFamily="34" charset="0"/>
              </a:rPr>
              <a:t>  Bu çalışmada, büyük hacimli ve tekrar içeren bir metin yapısına sahip olması nedeniyle, veri seti olarak Nutuk metni kullanılmıştır.</a:t>
            </a:r>
            <a:endParaRPr lang="tr-TR" sz="1400" noProof="0" dirty="0">
              <a:latin typeface="Arial" panose="020B0604020202020204" pitchFamily="34" charset="0"/>
              <a:cs typeface="Arial" panose="020B0604020202020204" pitchFamily="34" charset="0"/>
            </a:endParaRPr>
          </a:p>
          <a:p>
            <a:pPr>
              <a:buNone/>
            </a:pPr>
            <a:r>
              <a:rPr lang="tr-TR" sz="1400" dirty="0">
                <a:latin typeface="Arial" panose="020B0604020202020204" pitchFamily="34" charset="0"/>
                <a:cs typeface="Arial" panose="020B0604020202020204" pitchFamily="34" charset="0"/>
              </a:rPr>
              <a:t>  </a:t>
            </a:r>
            <a:r>
              <a:rPr lang="tr-TR" sz="1400" noProof="0" dirty="0">
                <a:latin typeface="Arial" panose="020B0604020202020204" pitchFamily="34" charset="0"/>
                <a:cs typeface="Arial" panose="020B0604020202020204" pitchFamily="34" charset="0"/>
              </a:rPr>
              <a:t>Nutuk, Mustafa Kemal Atatürk’ün 1919–1927 yılları arasında yaşanan Millî Mücadele sürecini ayrıntılı biçimde aktardığı, hacimli ve kavramsal açıdan zengin bir tarihsel eserdir. </a:t>
            </a:r>
          </a:p>
          <a:p>
            <a:pPr>
              <a:buNone/>
            </a:pPr>
            <a:r>
              <a:rPr lang="tr-TR" sz="1400" dirty="0">
                <a:latin typeface="Arial" panose="020B0604020202020204" pitchFamily="34" charset="0"/>
                <a:cs typeface="Arial" panose="020B0604020202020204" pitchFamily="34" charset="0"/>
              </a:rPr>
              <a:t>  </a:t>
            </a:r>
            <a:r>
              <a:rPr lang="tr-TR" sz="1400" noProof="0" dirty="0">
                <a:latin typeface="Arial" panose="020B0604020202020204" pitchFamily="34" charset="0"/>
                <a:cs typeface="Arial" panose="020B0604020202020204" pitchFamily="34" charset="0"/>
              </a:rPr>
              <a:t>Metin; siyasal karar alma süreçlerini, toplumsal dönüşümü ve ulusal egemenlik anlayışının oluşumunu bütüncül bir yapı içinde sunmaktadır. Sahip olduğu metin uzunluğu, kavram tekrarları ve tematik süreklilik, Nutuk’u büyük veri ve metin madenciliği uygulamaları için uygun bir veri seti hâline getirmektedir. </a:t>
            </a:r>
          </a:p>
          <a:p>
            <a:pPr>
              <a:buNone/>
            </a:pPr>
            <a:r>
              <a:rPr lang="tr-TR" sz="1400" dirty="0">
                <a:latin typeface="Arial" panose="020B0604020202020204" pitchFamily="34" charset="0"/>
                <a:cs typeface="Arial" panose="020B0604020202020204" pitchFamily="34" charset="0"/>
              </a:rPr>
              <a:t>  </a:t>
            </a:r>
            <a:r>
              <a:rPr lang="tr-TR" sz="1400" noProof="0" dirty="0">
                <a:latin typeface="Arial" panose="020B0604020202020204" pitchFamily="34" charset="0"/>
                <a:cs typeface="Arial" panose="020B0604020202020204" pitchFamily="34" charset="0"/>
              </a:rPr>
              <a:t>Bu kapsamda Nutuk, yalnızca tarihsel bir anlatı olarak değil, büyük hacimli metinsel veri olarak ele alınmıştır. </a:t>
            </a:r>
            <a:r>
              <a:rPr lang="tr-TR" sz="1400" noProof="0" dirty="0" err="1">
                <a:latin typeface="Arial" panose="020B0604020202020204" pitchFamily="34" charset="0"/>
                <a:cs typeface="Arial" panose="020B0604020202020204" pitchFamily="34" charset="0"/>
              </a:rPr>
              <a:t>PySpark</a:t>
            </a:r>
            <a:r>
              <a:rPr lang="tr-TR" sz="1400" noProof="0" dirty="0">
                <a:latin typeface="Arial" panose="020B0604020202020204" pitchFamily="34" charset="0"/>
                <a:cs typeface="Arial" panose="020B0604020202020204" pitchFamily="34" charset="0"/>
              </a:rPr>
              <a:t> gibi dağıtık büyük veri işleme araçları kullanılarak metin sistematik biçimde analiz edilmiştir. </a:t>
            </a:r>
          </a:p>
          <a:p>
            <a:pPr>
              <a:buNone/>
            </a:pPr>
            <a:r>
              <a:rPr lang="tr-TR" sz="1400" noProof="0" dirty="0">
                <a:latin typeface="Arial" panose="020B0604020202020204" pitchFamily="34" charset="0"/>
                <a:cs typeface="Arial" panose="020B0604020202020204" pitchFamily="34" charset="0"/>
              </a:rPr>
              <a:t>  Böylece metin içerisindeki kavramsal yoğunluklar, tekrar eden temalar ve söylemsel yapı, nicel analiz yöntemleriyle ortaya konulmuştur. </a:t>
            </a:r>
          </a:p>
          <a:p>
            <a:pPr>
              <a:buNone/>
            </a:pPr>
            <a:r>
              <a:rPr lang="tr-TR" sz="1400" dirty="0">
                <a:latin typeface="Arial" panose="020B0604020202020204" pitchFamily="34" charset="0"/>
                <a:cs typeface="Arial" panose="020B0604020202020204" pitchFamily="34" charset="0"/>
              </a:rPr>
              <a:t>  </a:t>
            </a:r>
            <a:r>
              <a:rPr lang="tr-TR" sz="1400" noProof="0" dirty="0">
                <a:latin typeface="Arial" panose="020B0604020202020204" pitchFamily="34" charset="0"/>
                <a:cs typeface="Arial" panose="020B0604020202020204" pitchFamily="34" charset="0"/>
              </a:rPr>
              <a:t>Çalışmanın temel amacı, Nutuk metnini büyük veri ve metin madenciliği yaklaşımlarıyla inceleyerek, tarihsel söylemin veri odaklı bir bakış açısıyla analiz edilebileceğini göstermektir</a:t>
            </a:r>
            <a:r>
              <a:rPr lang="tr-TR" sz="1400" dirty="0">
                <a:latin typeface="Arial" panose="020B0604020202020204" pitchFamily="34" charset="0"/>
                <a:cs typeface="Arial" panose="020B0604020202020204" pitchFamily="34" charset="0"/>
              </a:rPr>
              <a:t>.</a:t>
            </a:r>
          </a:p>
        </p:txBody>
      </p:sp>
      <p:pic>
        <p:nvPicPr>
          <p:cNvPr id="4" name="Picture 3">
            <a:extLst>
              <a:ext uri="{FF2B5EF4-FFF2-40B4-BE49-F238E27FC236}">
                <a16:creationId xmlns:a16="http://schemas.microsoft.com/office/drawing/2014/main" id="{2AF8D38A-CC88-9C97-C2DE-6A661039A1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6079" y="861316"/>
            <a:ext cx="2885941" cy="4836624"/>
          </a:xfrm>
          <a:prstGeom prst="rect">
            <a:avLst/>
          </a:prstGeom>
        </p:spPr>
      </p:pic>
      <p:sp>
        <p:nvSpPr>
          <p:cNvPr id="5" name="TextBox 4">
            <a:extLst>
              <a:ext uri="{FF2B5EF4-FFF2-40B4-BE49-F238E27FC236}">
                <a16:creationId xmlns:a16="http://schemas.microsoft.com/office/drawing/2014/main" id="{962FB20B-501C-D36D-586A-4DABE5B75A84}"/>
              </a:ext>
            </a:extLst>
          </p:cNvPr>
          <p:cNvSpPr txBox="1"/>
          <p:nvPr/>
        </p:nvSpPr>
        <p:spPr>
          <a:xfrm>
            <a:off x="0" y="861316"/>
            <a:ext cx="12192000" cy="523220"/>
          </a:xfrm>
          <a:prstGeom prst="rect">
            <a:avLst/>
          </a:prstGeom>
          <a:noFill/>
        </p:spPr>
        <p:txBody>
          <a:bodyPr wrap="square">
            <a:spAutoFit/>
          </a:bodyPr>
          <a:lstStyle/>
          <a:p>
            <a:pPr algn="ctr">
              <a:buNone/>
            </a:pPr>
            <a:r>
              <a:rPr lang="tr-TR" sz="2800" noProof="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GİRİŞ</a:t>
            </a:r>
          </a:p>
        </p:txBody>
      </p:sp>
    </p:spTree>
    <p:extLst>
      <p:ext uri="{BB962C8B-B14F-4D97-AF65-F5344CB8AC3E}">
        <p14:creationId xmlns:p14="http://schemas.microsoft.com/office/powerpoint/2010/main" val="32096548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3078FF1-090E-A7D2-8E40-18BD201926CC}"/>
              </a:ext>
            </a:extLst>
          </p:cNvPr>
          <p:cNvSpPr txBox="1"/>
          <p:nvPr/>
        </p:nvSpPr>
        <p:spPr>
          <a:xfrm>
            <a:off x="3048000" y="2129285"/>
            <a:ext cx="6096000" cy="1299715"/>
          </a:xfrm>
          <a:prstGeom prst="rect">
            <a:avLst/>
          </a:prstGeom>
          <a:noFill/>
        </p:spPr>
        <p:txBody>
          <a:bodyPr wrap="square">
            <a:spAutoFit/>
          </a:bodyPr>
          <a:lstStyle/>
          <a:p>
            <a:pPr>
              <a:lnSpc>
                <a:spcPct val="114000"/>
              </a:lnSpc>
            </a:pPr>
            <a:r>
              <a:rPr lang="tr-TR" sz="1400" noProof="0" dirty="0">
                <a:latin typeface="Arial" panose="020B0604020202020204" pitchFamily="34" charset="0"/>
                <a:cs typeface="Arial" panose="020B0604020202020204" pitchFamily="34" charset="0"/>
              </a:rPr>
              <a:t>    </a:t>
            </a:r>
            <a:r>
              <a:rPr lang="tr-TR" sz="1400" dirty="0">
                <a:latin typeface="Arial" panose="020B0604020202020204" pitchFamily="34" charset="0"/>
                <a:cs typeface="Arial" panose="020B0604020202020204" pitchFamily="34" charset="0"/>
              </a:rPr>
              <a:t>Nutuk metnine uygulanan metin temizliği ve dengeleme adımlarının, kelime frekansı ve TF-IDF gibi analizler aracılığıyla; ileride makine öğrenmesi tabanlı metin sınıflandırma ve konu analizi çalışmalarında kullanılabilecek, daha ayırt edici ve anlamlı öznitelikler üreteceği öngörülmektedir.</a:t>
            </a:r>
          </a:p>
        </p:txBody>
      </p:sp>
      <p:sp>
        <p:nvSpPr>
          <p:cNvPr id="5" name="TextBox 4">
            <a:extLst>
              <a:ext uri="{FF2B5EF4-FFF2-40B4-BE49-F238E27FC236}">
                <a16:creationId xmlns:a16="http://schemas.microsoft.com/office/drawing/2014/main" id="{C1DCFF27-71E5-0B11-FF67-B3C73ECD11BC}"/>
              </a:ext>
            </a:extLst>
          </p:cNvPr>
          <p:cNvSpPr txBox="1"/>
          <p:nvPr/>
        </p:nvSpPr>
        <p:spPr>
          <a:xfrm>
            <a:off x="0" y="1221571"/>
            <a:ext cx="5791200" cy="523220"/>
          </a:xfrm>
          <a:prstGeom prst="rect">
            <a:avLst/>
          </a:prstGeom>
          <a:noFill/>
        </p:spPr>
        <p:txBody>
          <a:bodyPr wrap="square">
            <a:spAutoFit/>
          </a:bodyPr>
          <a:lstStyle/>
          <a:p>
            <a:pPr algn="r"/>
            <a:r>
              <a:rPr lang="tr-TR" sz="2800" noProof="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ARAŞTIRMA HİPOTEZİ </a:t>
            </a:r>
          </a:p>
        </p:txBody>
      </p:sp>
    </p:spTree>
    <p:extLst>
      <p:ext uri="{BB962C8B-B14F-4D97-AF65-F5344CB8AC3E}">
        <p14:creationId xmlns:p14="http://schemas.microsoft.com/office/powerpoint/2010/main" val="1750186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FF04DBE-716A-4BF4-582E-A67894A95470}"/>
              </a:ext>
            </a:extLst>
          </p:cNvPr>
          <p:cNvGraphicFramePr>
            <a:graphicFrameLocks noGrp="1"/>
          </p:cNvGraphicFramePr>
          <p:nvPr>
            <p:extLst>
              <p:ext uri="{D42A27DB-BD31-4B8C-83A1-F6EECF244321}">
                <p14:modId xmlns:p14="http://schemas.microsoft.com/office/powerpoint/2010/main" val="3482757325"/>
              </p:ext>
            </p:extLst>
          </p:nvPr>
        </p:nvGraphicFramePr>
        <p:xfrm>
          <a:off x="747215" y="1388668"/>
          <a:ext cx="10697569" cy="4820920"/>
        </p:xfrm>
        <a:graphic>
          <a:graphicData uri="http://schemas.openxmlformats.org/drawingml/2006/table">
            <a:tbl>
              <a:tblPr firstRow="1" bandRow="1">
                <a:tableStyleId>{073A0DAA-6AF3-43AB-8588-CEC1D06C72B9}</a:tableStyleId>
              </a:tblPr>
              <a:tblGrid>
                <a:gridCol w="2821675">
                  <a:extLst>
                    <a:ext uri="{9D8B030D-6E8A-4147-A177-3AD203B41FA5}">
                      <a16:colId xmlns:a16="http://schemas.microsoft.com/office/drawing/2014/main" val="2024983654"/>
                    </a:ext>
                  </a:extLst>
                </a:gridCol>
                <a:gridCol w="2422477">
                  <a:extLst>
                    <a:ext uri="{9D8B030D-6E8A-4147-A177-3AD203B41FA5}">
                      <a16:colId xmlns:a16="http://schemas.microsoft.com/office/drawing/2014/main" val="2725514632"/>
                    </a:ext>
                  </a:extLst>
                </a:gridCol>
                <a:gridCol w="5453417">
                  <a:extLst>
                    <a:ext uri="{9D8B030D-6E8A-4147-A177-3AD203B41FA5}">
                      <a16:colId xmlns:a16="http://schemas.microsoft.com/office/drawing/2014/main" val="2347404725"/>
                    </a:ext>
                  </a:extLst>
                </a:gridCol>
              </a:tblGrid>
              <a:tr h="370840">
                <a:tc>
                  <a:txBody>
                    <a:bodyPr/>
                    <a:lstStyle/>
                    <a:p>
                      <a:pPr>
                        <a:buNone/>
                      </a:pPr>
                      <a:r>
                        <a:rPr lang="en-US" sz="1400" dirty="0" err="1">
                          <a:latin typeface="Arial" panose="020B0604020202020204" pitchFamily="34" charset="0"/>
                          <a:cs typeface="Arial" panose="020B0604020202020204" pitchFamily="34" charset="0"/>
                        </a:rPr>
                        <a:t>Kategori</a:t>
                      </a:r>
                      <a:endParaRPr lang="en-US" sz="1400" dirty="0">
                        <a:latin typeface="Arial" panose="020B0604020202020204" pitchFamily="34" charset="0"/>
                        <a:cs typeface="Arial" panose="020B0604020202020204" pitchFamily="34" charset="0"/>
                      </a:endParaRPr>
                    </a:p>
                  </a:txBody>
                  <a:tcPr anchor="ctr"/>
                </a:tc>
                <a:tc>
                  <a:txBody>
                    <a:bodyPr/>
                    <a:lstStyle/>
                    <a:p>
                      <a:pPr>
                        <a:buNone/>
                      </a:pPr>
                      <a:r>
                        <a:rPr lang="en-US" sz="1400" dirty="0" err="1">
                          <a:latin typeface="Arial" panose="020B0604020202020204" pitchFamily="34" charset="0"/>
                          <a:cs typeface="Arial" panose="020B0604020202020204" pitchFamily="34" charset="0"/>
                        </a:rPr>
                        <a:t>Kütüphane</a:t>
                      </a:r>
                      <a:r>
                        <a:rPr lang="en-US" sz="1400" dirty="0">
                          <a:latin typeface="Arial" panose="020B0604020202020204" pitchFamily="34" charset="0"/>
                          <a:cs typeface="Arial" panose="020B0604020202020204" pitchFamily="34" charset="0"/>
                        </a:rPr>
                        <a:t> / </a:t>
                      </a:r>
                      <a:r>
                        <a:rPr lang="en-US" sz="1400" dirty="0" err="1">
                          <a:latin typeface="Arial" panose="020B0604020202020204" pitchFamily="34" charset="0"/>
                          <a:cs typeface="Arial" panose="020B0604020202020204" pitchFamily="34" charset="0"/>
                        </a:rPr>
                        <a:t>Modül</a:t>
                      </a:r>
                      <a:endParaRPr lang="en-US" sz="1400" dirty="0">
                        <a:latin typeface="Arial" panose="020B0604020202020204" pitchFamily="34" charset="0"/>
                        <a:cs typeface="Arial" panose="020B0604020202020204" pitchFamily="34" charset="0"/>
                      </a:endParaRPr>
                    </a:p>
                  </a:txBody>
                  <a:tcPr anchor="ctr"/>
                </a:tc>
                <a:tc>
                  <a:txBody>
                    <a:bodyPr/>
                    <a:lstStyle/>
                    <a:p>
                      <a:pPr>
                        <a:buNone/>
                      </a:pPr>
                      <a:r>
                        <a:rPr lang="en-US" sz="1400" dirty="0" err="1">
                          <a:latin typeface="Arial" panose="020B0604020202020204" pitchFamily="34" charset="0"/>
                          <a:cs typeface="Arial" panose="020B0604020202020204" pitchFamily="34" charset="0"/>
                        </a:rPr>
                        <a:t>Kullanım</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Amacı</a:t>
                      </a:r>
                      <a:endParaRPr lang="en-US" sz="14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32166459"/>
                  </a:ext>
                </a:extLst>
              </a:tr>
              <a:tr h="370840">
                <a:tc>
                  <a:txBody>
                    <a:bodyPr/>
                    <a:lstStyle/>
                    <a:p>
                      <a:pPr>
                        <a:buNone/>
                      </a:pPr>
                      <a:r>
                        <a:rPr lang="en-US" sz="1400" dirty="0">
                          <a:latin typeface="Arial" panose="020B0604020202020204" pitchFamily="34" charset="0"/>
                          <a:cs typeface="Arial" panose="020B0604020202020204" pitchFamily="34" charset="0"/>
                        </a:rPr>
                        <a:t>Spark </a:t>
                      </a:r>
                      <a:r>
                        <a:rPr lang="en-US" sz="1400" dirty="0" err="1">
                          <a:latin typeface="Arial" panose="020B0604020202020204" pitchFamily="34" charset="0"/>
                          <a:cs typeface="Arial" panose="020B0604020202020204" pitchFamily="34" charset="0"/>
                        </a:rPr>
                        <a:t>Çekirdeği</a:t>
                      </a:r>
                      <a:endParaRPr lang="en-US" sz="1400" dirty="0">
                        <a:latin typeface="Arial" panose="020B0604020202020204" pitchFamily="34" charset="0"/>
                        <a:cs typeface="Arial" panose="020B0604020202020204" pitchFamily="34" charset="0"/>
                      </a:endParaRPr>
                    </a:p>
                  </a:txBody>
                  <a:tcPr anchor="ctr"/>
                </a:tc>
                <a:tc>
                  <a:txBody>
                    <a:bodyPr/>
                    <a:lstStyle/>
                    <a:p>
                      <a:pPr>
                        <a:buNone/>
                      </a:pPr>
                      <a:r>
                        <a:rPr lang="en-US" sz="1400" dirty="0" err="1">
                          <a:latin typeface="Arial" panose="020B0604020202020204" pitchFamily="34" charset="0"/>
                          <a:cs typeface="Arial" panose="020B0604020202020204" pitchFamily="34" charset="0"/>
                        </a:rPr>
                        <a:t>SparkSession</a:t>
                      </a:r>
                      <a:endParaRPr lang="en-US" sz="1400" dirty="0">
                        <a:latin typeface="Arial" panose="020B0604020202020204" pitchFamily="34" charset="0"/>
                        <a:cs typeface="Arial" panose="020B0604020202020204" pitchFamily="34" charset="0"/>
                      </a:endParaRPr>
                    </a:p>
                  </a:txBody>
                  <a:tcPr anchor="ctr"/>
                </a:tc>
                <a:tc>
                  <a:txBody>
                    <a:bodyPr/>
                    <a:lstStyle/>
                    <a:p>
                      <a:pPr>
                        <a:buNone/>
                      </a:pPr>
                      <a:r>
                        <a:rPr lang="en-US" sz="1400" dirty="0">
                          <a:latin typeface="Arial" panose="020B0604020202020204" pitchFamily="34" charset="0"/>
                          <a:cs typeface="Arial" panose="020B0604020202020204" pitchFamily="34" charset="0"/>
                        </a:rPr>
                        <a:t>Apache Spark </a:t>
                      </a:r>
                      <a:r>
                        <a:rPr lang="en-US" sz="1400" dirty="0" err="1">
                          <a:latin typeface="Arial" panose="020B0604020202020204" pitchFamily="34" charset="0"/>
                          <a:cs typeface="Arial" panose="020B0604020202020204" pitchFamily="34" charset="0"/>
                        </a:rPr>
                        <a:t>ortamının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başlatılması</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ve</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veri</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işlemenin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yönetilmesi</a:t>
                      </a:r>
                      <a:endParaRPr lang="en-US" sz="14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478955512"/>
                  </a:ext>
                </a:extLst>
              </a:tr>
              <a:tr h="370840">
                <a:tc>
                  <a:txBody>
                    <a:bodyPr/>
                    <a:lstStyle/>
                    <a:p>
                      <a:pPr>
                        <a:buNone/>
                      </a:pPr>
                      <a:r>
                        <a:rPr lang="en-US" sz="1400" dirty="0">
                          <a:latin typeface="Arial" panose="020B0604020202020204" pitchFamily="34" charset="0"/>
                          <a:cs typeface="Arial" panose="020B0604020202020204" pitchFamily="34" charset="0"/>
                        </a:rPr>
                        <a:t>Spark SQL </a:t>
                      </a:r>
                      <a:r>
                        <a:rPr lang="en-US" sz="1400" dirty="0" err="1">
                          <a:latin typeface="Arial" panose="020B0604020202020204" pitchFamily="34" charset="0"/>
                          <a:cs typeface="Arial" panose="020B0604020202020204" pitchFamily="34" charset="0"/>
                        </a:rPr>
                        <a:t>Fonksiyonları</a:t>
                      </a:r>
                      <a:endParaRPr lang="en-US" sz="1400" dirty="0">
                        <a:latin typeface="Arial" panose="020B0604020202020204" pitchFamily="34" charset="0"/>
                        <a:cs typeface="Arial" panose="020B0604020202020204" pitchFamily="34" charset="0"/>
                      </a:endParaRPr>
                    </a:p>
                  </a:txBody>
                  <a:tcPr anchor="ctr"/>
                </a:tc>
                <a:tc>
                  <a:txBody>
                    <a:bodyPr/>
                    <a:lstStyle/>
                    <a:p>
                      <a:pPr>
                        <a:buNone/>
                      </a:pPr>
                      <a:r>
                        <a:rPr lang="en-US" sz="1400" dirty="0">
                          <a:latin typeface="Arial" panose="020B0604020202020204" pitchFamily="34" charset="0"/>
                          <a:cs typeface="Arial" panose="020B0604020202020204" pitchFamily="34" charset="0"/>
                        </a:rPr>
                        <a:t>col, length</a:t>
                      </a:r>
                    </a:p>
                  </a:txBody>
                  <a:tcPr anchor="ctr"/>
                </a:tc>
                <a:tc>
                  <a:txBody>
                    <a:bodyPr/>
                    <a:lstStyle/>
                    <a:p>
                      <a:pPr>
                        <a:buNone/>
                      </a:pPr>
                      <a:r>
                        <a:rPr lang="en-US" sz="1400" dirty="0" err="1">
                          <a:latin typeface="Arial" panose="020B0604020202020204" pitchFamily="34" charset="0"/>
                          <a:cs typeface="Arial" panose="020B0604020202020204" pitchFamily="34" charset="0"/>
                        </a:rPr>
                        <a:t>Satır</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ve</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karakter</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uzunluğu</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analizi</a:t>
                      </a:r>
                      <a:endParaRPr lang="en-US" sz="14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547607001"/>
                  </a:ext>
                </a:extLst>
              </a:tr>
              <a:tr h="370840">
                <a:tc>
                  <a:txBody>
                    <a:bodyPr/>
                    <a:lstStyle/>
                    <a:p>
                      <a:pPr>
                        <a:buNone/>
                      </a:pPr>
                      <a:r>
                        <a:rPr lang="en-US" sz="1400" dirty="0">
                          <a:latin typeface="Arial" panose="020B0604020202020204" pitchFamily="34" charset="0"/>
                          <a:cs typeface="Arial" panose="020B0604020202020204" pitchFamily="34" charset="0"/>
                        </a:rPr>
                        <a:t>Spark SQL </a:t>
                      </a:r>
                      <a:r>
                        <a:rPr lang="en-US" sz="1400" dirty="0" err="1">
                          <a:latin typeface="Arial" panose="020B0604020202020204" pitchFamily="34" charset="0"/>
                          <a:cs typeface="Arial" panose="020B0604020202020204" pitchFamily="34" charset="0"/>
                        </a:rPr>
                        <a:t>Fonksiyonları</a:t>
                      </a:r>
                      <a:endParaRPr lang="en-US" sz="1400" dirty="0">
                        <a:latin typeface="Arial" panose="020B0604020202020204" pitchFamily="34" charset="0"/>
                        <a:cs typeface="Arial" panose="020B0604020202020204" pitchFamily="34" charset="0"/>
                      </a:endParaRPr>
                    </a:p>
                  </a:txBody>
                  <a:tcPr anchor="ctr"/>
                </a:tc>
                <a:tc>
                  <a:txBody>
                    <a:bodyPr/>
                    <a:lstStyle/>
                    <a:p>
                      <a:pPr>
                        <a:buNone/>
                      </a:pPr>
                      <a:r>
                        <a:rPr lang="en-US" sz="1400" dirty="0">
                          <a:latin typeface="Arial" panose="020B0604020202020204" pitchFamily="34" charset="0"/>
                          <a:cs typeface="Arial" panose="020B0604020202020204" pitchFamily="34" charset="0"/>
                        </a:rPr>
                        <a:t>split, lower</a:t>
                      </a:r>
                    </a:p>
                  </a:txBody>
                  <a:tcPr anchor="ctr"/>
                </a:tc>
                <a:tc>
                  <a:txBody>
                    <a:bodyPr/>
                    <a:lstStyle/>
                    <a:p>
                      <a:pPr>
                        <a:buNone/>
                      </a:pPr>
                      <a:r>
                        <a:rPr lang="en-US" sz="1400" dirty="0" err="1">
                          <a:latin typeface="Arial" panose="020B0604020202020204" pitchFamily="34" charset="0"/>
                          <a:cs typeface="Arial" panose="020B0604020202020204" pitchFamily="34" charset="0"/>
                        </a:rPr>
                        <a:t>Metnin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kelimelere</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ayrılması</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ve</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küçük</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harfe</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dönüştürülmesi</a:t>
                      </a:r>
                      <a:endParaRPr lang="en-US" sz="14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092392209"/>
                  </a:ext>
                </a:extLst>
              </a:tr>
              <a:tr h="370840">
                <a:tc>
                  <a:txBody>
                    <a:bodyPr/>
                    <a:lstStyle/>
                    <a:p>
                      <a:pPr>
                        <a:buNone/>
                      </a:pPr>
                      <a:r>
                        <a:rPr lang="en-US" sz="1400" dirty="0">
                          <a:latin typeface="Arial" panose="020B0604020202020204" pitchFamily="34" charset="0"/>
                          <a:cs typeface="Arial" panose="020B0604020202020204" pitchFamily="34" charset="0"/>
                        </a:rPr>
                        <a:t>Spark SQL </a:t>
                      </a:r>
                      <a:r>
                        <a:rPr lang="en-US" sz="1400" dirty="0" err="1">
                          <a:latin typeface="Arial" panose="020B0604020202020204" pitchFamily="34" charset="0"/>
                          <a:cs typeface="Arial" panose="020B0604020202020204" pitchFamily="34" charset="0"/>
                        </a:rPr>
                        <a:t>Fonksiyonları</a:t>
                      </a:r>
                      <a:endParaRPr lang="en-US" sz="1400" dirty="0">
                        <a:latin typeface="Arial" panose="020B0604020202020204" pitchFamily="34" charset="0"/>
                        <a:cs typeface="Arial" panose="020B0604020202020204" pitchFamily="34" charset="0"/>
                      </a:endParaRPr>
                    </a:p>
                  </a:txBody>
                  <a:tcPr anchor="ctr"/>
                </a:tc>
                <a:tc>
                  <a:txBody>
                    <a:bodyPr/>
                    <a:lstStyle/>
                    <a:p>
                      <a:pPr>
                        <a:buNone/>
                      </a:pPr>
                      <a:r>
                        <a:rPr lang="en-US" sz="1400" dirty="0" err="1">
                          <a:latin typeface="Arial" panose="020B0604020202020204" pitchFamily="34" charset="0"/>
                          <a:cs typeface="Arial" panose="020B0604020202020204" pitchFamily="34" charset="0"/>
                        </a:rPr>
                        <a:t>regexp_replace</a:t>
                      </a:r>
                      <a:r>
                        <a:rPr lang="en-US" sz="1400" dirty="0">
                          <a:latin typeface="Arial" panose="020B0604020202020204" pitchFamily="34" charset="0"/>
                          <a:cs typeface="Arial" panose="020B0604020202020204" pitchFamily="34" charset="0"/>
                        </a:rPr>
                        <a:t>, trim</a:t>
                      </a:r>
                    </a:p>
                  </a:txBody>
                  <a:tcPr anchor="ctr"/>
                </a:tc>
                <a:tc>
                  <a:txBody>
                    <a:bodyPr/>
                    <a:lstStyle/>
                    <a:p>
                      <a:pPr>
                        <a:buNone/>
                      </a:pPr>
                      <a:r>
                        <a:rPr lang="en-US" sz="1400" dirty="0" err="1">
                          <a:latin typeface="Arial" panose="020B0604020202020204" pitchFamily="34" charset="0"/>
                          <a:cs typeface="Arial" panose="020B0604020202020204" pitchFamily="34" charset="0"/>
                        </a:rPr>
                        <a:t>Noktalama</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işaretlerinin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temizlenmesi</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ve</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metin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sadeleştirme</a:t>
                      </a:r>
                      <a:endParaRPr lang="en-US" sz="14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075506327"/>
                  </a:ext>
                </a:extLst>
              </a:tr>
              <a:tr h="370840">
                <a:tc>
                  <a:txBody>
                    <a:bodyPr/>
                    <a:lstStyle/>
                    <a:p>
                      <a:pPr>
                        <a:buNone/>
                      </a:pPr>
                      <a:r>
                        <a:rPr lang="en-US" sz="1400" dirty="0">
                          <a:latin typeface="Arial" panose="020B0604020202020204" pitchFamily="34" charset="0"/>
                          <a:cs typeface="Arial" panose="020B0604020202020204" pitchFamily="34" charset="0"/>
                        </a:rPr>
                        <a:t>Spark SQL </a:t>
                      </a:r>
                      <a:r>
                        <a:rPr lang="en-US" sz="1400" dirty="0" err="1">
                          <a:latin typeface="Arial" panose="020B0604020202020204" pitchFamily="34" charset="0"/>
                          <a:cs typeface="Arial" panose="020B0604020202020204" pitchFamily="34" charset="0"/>
                        </a:rPr>
                        <a:t>Fonksiyonları</a:t>
                      </a:r>
                      <a:endParaRPr lang="en-US" sz="1400" dirty="0">
                        <a:latin typeface="Arial" panose="020B0604020202020204" pitchFamily="34" charset="0"/>
                        <a:cs typeface="Arial" panose="020B0604020202020204" pitchFamily="34" charset="0"/>
                      </a:endParaRPr>
                    </a:p>
                  </a:txBody>
                  <a:tcPr anchor="ctr"/>
                </a:tc>
                <a:tc>
                  <a:txBody>
                    <a:bodyPr/>
                    <a:lstStyle/>
                    <a:p>
                      <a:pPr>
                        <a:buNone/>
                      </a:pPr>
                      <a:r>
                        <a:rPr lang="en-US" sz="1400" dirty="0">
                          <a:latin typeface="Arial" panose="020B0604020202020204" pitchFamily="34" charset="0"/>
                          <a:cs typeface="Arial" panose="020B0604020202020204" pitchFamily="34" charset="0"/>
                        </a:rPr>
                        <a:t>explode, </a:t>
                      </a:r>
                      <a:r>
                        <a:rPr lang="en-US" sz="1400" dirty="0" err="1">
                          <a:latin typeface="Arial" panose="020B0604020202020204" pitchFamily="34" charset="0"/>
                          <a:cs typeface="Arial" panose="020B0604020202020204" pitchFamily="34" charset="0"/>
                        </a:rPr>
                        <a:t>concat_ws</a:t>
                      </a:r>
                      <a:endParaRPr lang="en-US" sz="1400" dirty="0">
                        <a:latin typeface="Arial" panose="020B0604020202020204" pitchFamily="34" charset="0"/>
                        <a:cs typeface="Arial" panose="020B0604020202020204" pitchFamily="34" charset="0"/>
                      </a:endParaRPr>
                    </a:p>
                  </a:txBody>
                  <a:tcPr anchor="ctr"/>
                </a:tc>
                <a:tc>
                  <a:txBody>
                    <a:bodyPr/>
                    <a:lstStyle/>
                    <a:p>
                      <a:pPr>
                        <a:buNone/>
                      </a:pPr>
                      <a:r>
                        <a:rPr lang="fi-FI" sz="1400" dirty="0">
                          <a:latin typeface="Arial" panose="020B0604020202020204" pitchFamily="34" charset="0"/>
                          <a:cs typeface="Arial" panose="020B0604020202020204" pitchFamily="34" charset="0"/>
                        </a:rPr>
                        <a:t>Kelime listelerinin açılması ve birleştirilmesi</a:t>
                      </a:r>
                    </a:p>
                  </a:txBody>
                  <a:tcPr anchor="ctr"/>
                </a:tc>
                <a:extLst>
                  <a:ext uri="{0D108BD9-81ED-4DB2-BD59-A6C34878D82A}">
                    <a16:rowId xmlns:a16="http://schemas.microsoft.com/office/drawing/2014/main" val="3707662075"/>
                  </a:ext>
                </a:extLst>
              </a:tr>
              <a:tr h="370840">
                <a:tc>
                  <a:txBody>
                    <a:bodyPr/>
                    <a:lstStyle/>
                    <a:p>
                      <a:pPr>
                        <a:buNone/>
                      </a:pPr>
                      <a:r>
                        <a:rPr lang="en-US" sz="1400" dirty="0">
                          <a:latin typeface="Arial" panose="020B0604020202020204" pitchFamily="34" charset="0"/>
                          <a:cs typeface="Arial" panose="020B0604020202020204" pitchFamily="34" charset="0"/>
                        </a:rPr>
                        <a:t>Spark SQL </a:t>
                      </a:r>
                      <a:r>
                        <a:rPr lang="en-US" sz="1400" dirty="0" err="1">
                          <a:latin typeface="Arial" panose="020B0604020202020204" pitchFamily="34" charset="0"/>
                          <a:cs typeface="Arial" panose="020B0604020202020204" pitchFamily="34" charset="0"/>
                        </a:rPr>
                        <a:t>Fonksiyonları</a:t>
                      </a:r>
                      <a:endParaRPr lang="en-US" sz="1400" dirty="0">
                        <a:latin typeface="Arial" panose="020B0604020202020204" pitchFamily="34" charset="0"/>
                        <a:cs typeface="Arial" panose="020B0604020202020204" pitchFamily="34" charset="0"/>
                      </a:endParaRPr>
                    </a:p>
                  </a:txBody>
                  <a:tcPr anchor="ctr"/>
                </a:tc>
                <a:tc>
                  <a:txBody>
                    <a:bodyPr/>
                    <a:lstStyle/>
                    <a:p>
                      <a:pPr>
                        <a:buNone/>
                      </a:pPr>
                      <a:r>
                        <a:rPr lang="en-US" sz="1400" dirty="0" err="1">
                          <a:latin typeface="Arial" panose="020B0604020202020204" pitchFamily="34" charset="0"/>
                          <a:cs typeface="Arial" panose="020B0604020202020204" pitchFamily="34" charset="0"/>
                        </a:rPr>
                        <a:t>countDistinct</a:t>
                      </a:r>
                      <a:endParaRPr lang="en-US" sz="1400" dirty="0">
                        <a:latin typeface="Arial" panose="020B0604020202020204" pitchFamily="34" charset="0"/>
                        <a:cs typeface="Arial" panose="020B0604020202020204" pitchFamily="34" charset="0"/>
                      </a:endParaRPr>
                    </a:p>
                  </a:txBody>
                  <a:tcPr anchor="ctr"/>
                </a:tc>
                <a:tc>
                  <a:txBody>
                    <a:bodyPr/>
                    <a:lstStyle/>
                    <a:p>
                      <a:pPr>
                        <a:buNone/>
                      </a:pPr>
                      <a:r>
                        <a:rPr lang="en-US" sz="1400" dirty="0" err="1">
                          <a:latin typeface="Arial" panose="020B0604020202020204" pitchFamily="34" charset="0"/>
                          <a:cs typeface="Arial" panose="020B0604020202020204" pitchFamily="34" charset="0"/>
                        </a:rPr>
                        <a:t>Benzersiz</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kelime</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sayısının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hesaplanması</a:t>
                      </a:r>
                      <a:endParaRPr lang="en-US" sz="14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949313878"/>
                  </a:ext>
                </a:extLst>
              </a:tr>
              <a:tr h="370840">
                <a:tc>
                  <a:txBody>
                    <a:bodyPr/>
                    <a:lstStyle/>
                    <a:p>
                      <a:pPr>
                        <a:buNone/>
                      </a:pPr>
                      <a:r>
                        <a:rPr lang="en-US" sz="1400" dirty="0" err="1">
                          <a:latin typeface="Arial" panose="020B0604020202020204" pitchFamily="34" charset="0"/>
                          <a:cs typeface="Arial" panose="020B0604020202020204" pitchFamily="34" charset="0"/>
                        </a:rPr>
                        <a:t>MLlib</a:t>
                      </a:r>
                      <a:r>
                        <a:rPr lang="en-US" sz="1400" dirty="0">
                          <a:latin typeface="Arial" panose="020B0604020202020204" pitchFamily="34" charset="0"/>
                          <a:cs typeface="Arial" panose="020B0604020202020204" pitchFamily="34" charset="0"/>
                        </a:rPr>
                        <a:t> – Metin </a:t>
                      </a:r>
                      <a:r>
                        <a:rPr lang="en-US" sz="1400" dirty="0" err="1">
                          <a:latin typeface="Arial" panose="020B0604020202020204" pitchFamily="34" charset="0"/>
                          <a:cs typeface="Arial" panose="020B0604020202020204" pitchFamily="34" charset="0"/>
                        </a:rPr>
                        <a:t>İşleme</a:t>
                      </a:r>
                      <a:endParaRPr lang="en-US" sz="1400" dirty="0">
                        <a:latin typeface="Arial" panose="020B0604020202020204" pitchFamily="34" charset="0"/>
                        <a:cs typeface="Arial" panose="020B0604020202020204" pitchFamily="34" charset="0"/>
                      </a:endParaRPr>
                    </a:p>
                  </a:txBody>
                  <a:tcPr anchor="ctr"/>
                </a:tc>
                <a:tc>
                  <a:txBody>
                    <a:bodyPr/>
                    <a:lstStyle/>
                    <a:p>
                      <a:pPr>
                        <a:buNone/>
                      </a:pPr>
                      <a:r>
                        <a:rPr lang="en-US" sz="1400" dirty="0" err="1">
                          <a:latin typeface="Arial" panose="020B0604020202020204" pitchFamily="34" charset="0"/>
                          <a:cs typeface="Arial" panose="020B0604020202020204" pitchFamily="34" charset="0"/>
                        </a:rPr>
                        <a:t>StopWordsRemover</a:t>
                      </a:r>
                      <a:endParaRPr lang="en-US" sz="1400" dirty="0">
                        <a:latin typeface="Arial" panose="020B0604020202020204" pitchFamily="34" charset="0"/>
                        <a:cs typeface="Arial" panose="020B0604020202020204" pitchFamily="34" charset="0"/>
                      </a:endParaRPr>
                    </a:p>
                  </a:txBody>
                  <a:tcPr anchor="ctr"/>
                </a:tc>
                <a:tc>
                  <a:txBody>
                    <a:bodyPr/>
                    <a:lstStyle/>
                    <a:p>
                      <a:pPr>
                        <a:buNone/>
                      </a:pPr>
                      <a:r>
                        <a:rPr lang="en-US" sz="1400" dirty="0" err="1">
                          <a:latin typeface="Arial" panose="020B0604020202020204" pitchFamily="34" charset="0"/>
                          <a:cs typeface="Arial" panose="020B0604020202020204" pitchFamily="34" charset="0"/>
                        </a:rPr>
                        <a:t>Anlamsız</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kelimelerin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stopwords</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çıkarılması</a:t>
                      </a:r>
                      <a:endParaRPr lang="en-US" sz="14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876507730"/>
                  </a:ext>
                </a:extLst>
              </a:tr>
              <a:tr h="370840">
                <a:tc>
                  <a:txBody>
                    <a:bodyPr/>
                    <a:lstStyle/>
                    <a:p>
                      <a:pPr>
                        <a:buNone/>
                      </a:pPr>
                      <a:r>
                        <a:rPr lang="en-US" sz="1400" dirty="0" err="1">
                          <a:latin typeface="Arial" panose="020B0604020202020204" pitchFamily="34" charset="0"/>
                          <a:cs typeface="Arial" panose="020B0604020202020204" pitchFamily="34" charset="0"/>
                        </a:rPr>
                        <a:t>MLlib</a:t>
                      </a:r>
                      <a:r>
                        <a:rPr lang="en-US" sz="1400" dirty="0">
                          <a:latin typeface="Arial" panose="020B0604020202020204" pitchFamily="34" charset="0"/>
                          <a:cs typeface="Arial" panose="020B0604020202020204" pitchFamily="34" charset="0"/>
                        </a:rPr>
                        <a:t> – </a:t>
                      </a:r>
                      <a:r>
                        <a:rPr lang="en-US" sz="1400" dirty="0" err="1">
                          <a:latin typeface="Arial" panose="020B0604020202020204" pitchFamily="34" charset="0"/>
                          <a:cs typeface="Arial" panose="020B0604020202020204" pitchFamily="34" charset="0"/>
                        </a:rPr>
                        <a:t>Özellik</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Çıkarımı</a:t>
                      </a:r>
                      <a:endParaRPr lang="en-US" sz="1400" dirty="0">
                        <a:latin typeface="Arial" panose="020B0604020202020204" pitchFamily="34" charset="0"/>
                        <a:cs typeface="Arial" panose="020B0604020202020204" pitchFamily="34" charset="0"/>
                      </a:endParaRPr>
                    </a:p>
                  </a:txBody>
                  <a:tcPr anchor="ctr"/>
                </a:tc>
                <a:tc>
                  <a:txBody>
                    <a:bodyPr/>
                    <a:lstStyle/>
                    <a:p>
                      <a:pPr>
                        <a:buNone/>
                      </a:pPr>
                      <a:r>
                        <a:rPr lang="en-US" sz="1400" dirty="0" err="1">
                          <a:latin typeface="Arial" panose="020B0604020202020204" pitchFamily="34" charset="0"/>
                          <a:cs typeface="Arial" panose="020B0604020202020204" pitchFamily="34" charset="0"/>
                        </a:rPr>
                        <a:t>CountVectorizer</a:t>
                      </a:r>
                      <a:endParaRPr lang="en-US" sz="1400" dirty="0">
                        <a:latin typeface="Arial" panose="020B0604020202020204" pitchFamily="34" charset="0"/>
                        <a:cs typeface="Arial" panose="020B0604020202020204" pitchFamily="34" charset="0"/>
                      </a:endParaRPr>
                    </a:p>
                  </a:txBody>
                  <a:tcPr anchor="ctr"/>
                </a:tc>
                <a:tc>
                  <a:txBody>
                    <a:bodyPr/>
                    <a:lstStyle/>
                    <a:p>
                      <a:pPr>
                        <a:buNone/>
                      </a:pPr>
                      <a:r>
                        <a:rPr lang="en-US" sz="1400" dirty="0" err="1">
                          <a:latin typeface="Arial" panose="020B0604020202020204" pitchFamily="34" charset="0"/>
                          <a:cs typeface="Arial" panose="020B0604020202020204" pitchFamily="34" charset="0"/>
                        </a:rPr>
                        <a:t>Kelime</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frekanslarının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sayısal</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vektörlere</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dönüştürülmesi</a:t>
                      </a:r>
                      <a:endParaRPr lang="en-US" sz="14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504322322"/>
                  </a:ext>
                </a:extLst>
              </a:tr>
              <a:tr h="370840">
                <a:tc>
                  <a:txBody>
                    <a:bodyPr/>
                    <a:lstStyle/>
                    <a:p>
                      <a:pPr>
                        <a:buNone/>
                      </a:pPr>
                      <a:r>
                        <a:rPr lang="en-US" sz="1400" dirty="0" err="1">
                          <a:latin typeface="Arial" panose="020B0604020202020204" pitchFamily="34" charset="0"/>
                          <a:cs typeface="Arial" panose="020B0604020202020204" pitchFamily="34" charset="0"/>
                        </a:rPr>
                        <a:t>MLlib</a:t>
                      </a:r>
                      <a:r>
                        <a:rPr lang="en-US" sz="1400" dirty="0">
                          <a:latin typeface="Arial" panose="020B0604020202020204" pitchFamily="34" charset="0"/>
                          <a:cs typeface="Arial" panose="020B0604020202020204" pitchFamily="34" charset="0"/>
                        </a:rPr>
                        <a:t> – </a:t>
                      </a:r>
                      <a:r>
                        <a:rPr lang="en-US" sz="1400" dirty="0" err="1">
                          <a:latin typeface="Arial" panose="020B0604020202020204" pitchFamily="34" charset="0"/>
                          <a:cs typeface="Arial" panose="020B0604020202020204" pitchFamily="34" charset="0"/>
                        </a:rPr>
                        <a:t>Özellik</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Ağırlıklandırma</a:t>
                      </a:r>
                      <a:endParaRPr lang="en-US" sz="1400" dirty="0">
                        <a:latin typeface="Arial" panose="020B0604020202020204" pitchFamily="34" charset="0"/>
                        <a:cs typeface="Arial" panose="020B0604020202020204" pitchFamily="34" charset="0"/>
                      </a:endParaRPr>
                    </a:p>
                  </a:txBody>
                  <a:tcPr anchor="ctr"/>
                </a:tc>
                <a:tc>
                  <a:txBody>
                    <a:bodyPr/>
                    <a:lstStyle/>
                    <a:p>
                      <a:pPr>
                        <a:buNone/>
                      </a:pPr>
                      <a:r>
                        <a:rPr lang="en-US" sz="1400" dirty="0">
                          <a:latin typeface="Arial" panose="020B0604020202020204" pitchFamily="34" charset="0"/>
                          <a:cs typeface="Arial" panose="020B0604020202020204" pitchFamily="34" charset="0"/>
                        </a:rPr>
                        <a:t>IDF</a:t>
                      </a:r>
                    </a:p>
                  </a:txBody>
                  <a:tcPr anchor="ctr"/>
                </a:tc>
                <a:tc>
                  <a:txBody>
                    <a:bodyPr/>
                    <a:lstStyle/>
                    <a:p>
                      <a:pPr>
                        <a:buNone/>
                      </a:pPr>
                      <a:r>
                        <a:rPr lang="en-US" sz="1400" dirty="0">
                          <a:latin typeface="Arial" panose="020B0604020202020204" pitchFamily="34" charset="0"/>
                          <a:cs typeface="Arial" panose="020B0604020202020204" pitchFamily="34" charset="0"/>
                        </a:rPr>
                        <a:t>TF-IDF </a:t>
                      </a:r>
                      <a:r>
                        <a:rPr lang="en-US" sz="1400" dirty="0" err="1">
                          <a:latin typeface="Arial" panose="020B0604020202020204" pitchFamily="34" charset="0"/>
                          <a:cs typeface="Arial" panose="020B0604020202020204" pitchFamily="34" charset="0"/>
                        </a:rPr>
                        <a:t>yöntemiyle</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ayırt</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edici</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kelimelerin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belirlenmesi</a:t>
                      </a:r>
                      <a:endParaRPr lang="en-US" sz="14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466857851"/>
                  </a:ext>
                </a:extLst>
              </a:tr>
              <a:tr h="370840">
                <a:tc>
                  <a:txBody>
                    <a:bodyPr/>
                    <a:lstStyle/>
                    <a:p>
                      <a:pPr>
                        <a:buNone/>
                      </a:pPr>
                      <a:r>
                        <a:rPr lang="en-US" sz="1400" dirty="0" err="1">
                          <a:latin typeface="Arial" panose="020B0604020202020204" pitchFamily="34" charset="0"/>
                          <a:cs typeface="Arial" panose="020B0604020202020204" pitchFamily="34" charset="0"/>
                        </a:rPr>
                        <a:t>MLlib</a:t>
                      </a:r>
                      <a:r>
                        <a:rPr lang="en-US" sz="1400" dirty="0">
                          <a:latin typeface="Arial" panose="020B0604020202020204" pitchFamily="34" charset="0"/>
                          <a:cs typeface="Arial" panose="020B0604020202020204" pitchFamily="34" charset="0"/>
                        </a:rPr>
                        <a:t> – N-gram </a:t>
                      </a:r>
                      <a:r>
                        <a:rPr lang="en-US" sz="1400" dirty="0" err="1">
                          <a:latin typeface="Arial" panose="020B0604020202020204" pitchFamily="34" charset="0"/>
                          <a:cs typeface="Arial" panose="020B0604020202020204" pitchFamily="34" charset="0"/>
                        </a:rPr>
                        <a:t>Analizi</a:t>
                      </a:r>
                      <a:endParaRPr lang="en-US" sz="1400" dirty="0">
                        <a:latin typeface="Arial" panose="020B0604020202020204" pitchFamily="34" charset="0"/>
                        <a:cs typeface="Arial" panose="020B0604020202020204" pitchFamily="34" charset="0"/>
                      </a:endParaRPr>
                    </a:p>
                  </a:txBody>
                  <a:tcPr anchor="ctr"/>
                </a:tc>
                <a:tc>
                  <a:txBody>
                    <a:bodyPr/>
                    <a:lstStyle/>
                    <a:p>
                      <a:pPr>
                        <a:buNone/>
                      </a:pPr>
                      <a:r>
                        <a:rPr lang="en-US" sz="1400" dirty="0" err="1">
                          <a:latin typeface="Arial" panose="020B0604020202020204" pitchFamily="34" charset="0"/>
                          <a:cs typeface="Arial" panose="020B0604020202020204" pitchFamily="34" charset="0"/>
                        </a:rPr>
                        <a:t>NGram</a:t>
                      </a:r>
                      <a:endParaRPr lang="en-US" sz="1400" dirty="0">
                        <a:latin typeface="Arial" panose="020B0604020202020204" pitchFamily="34" charset="0"/>
                        <a:cs typeface="Arial" panose="020B0604020202020204" pitchFamily="34" charset="0"/>
                      </a:endParaRPr>
                    </a:p>
                  </a:txBody>
                  <a:tcPr anchor="ctr"/>
                </a:tc>
                <a:tc>
                  <a:txBody>
                    <a:bodyPr/>
                    <a:lstStyle/>
                    <a:p>
                      <a:pPr>
                        <a:buNone/>
                      </a:pPr>
                      <a:r>
                        <a:rPr lang="en-US" sz="1400" dirty="0" err="1">
                          <a:latin typeface="Arial" panose="020B0604020202020204" pitchFamily="34" charset="0"/>
                          <a:cs typeface="Arial" panose="020B0604020202020204" pitchFamily="34" charset="0"/>
                        </a:rPr>
                        <a:t>Kelime</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gruplarının</a:t>
                      </a:r>
                      <a:r>
                        <a:rPr lang="en-US" sz="1400" dirty="0">
                          <a:latin typeface="Arial" panose="020B0604020202020204" pitchFamily="34" charset="0"/>
                          <a:cs typeface="Arial" panose="020B0604020202020204" pitchFamily="34" charset="0"/>
                        </a:rPr>
                        <a:t> (bigram) </a:t>
                      </a:r>
                      <a:r>
                        <a:rPr lang="en-US" sz="1400" dirty="0" err="1">
                          <a:latin typeface="Arial" panose="020B0604020202020204" pitchFamily="34" charset="0"/>
                          <a:cs typeface="Arial" panose="020B0604020202020204" pitchFamily="34" charset="0"/>
                        </a:rPr>
                        <a:t>oluşturulması</a:t>
                      </a:r>
                      <a:endParaRPr lang="en-US" sz="14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348525408"/>
                  </a:ext>
                </a:extLst>
              </a:tr>
              <a:tr h="370840">
                <a:tc>
                  <a:txBody>
                    <a:bodyPr/>
                    <a:lstStyle/>
                    <a:p>
                      <a:pPr>
                        <a:buNone/>
                      </a:pPr>
                      <a:r>
                        <a:rPr lang="en-US" sz="1400" dirty="0" err="1">
                          <a:latin typeface="Arial" panose="020B0604020202020204" pitchFamily="34" charset="0"/>
                          <a:cs typeface="Arial" panose="020B0604020202020204" pitchFamily="34" charset="0"/>
                        </a:rPr>
                        <a:t>Görselleştirme</a:t>
                      </a:r>
                      <a:endParaRPr lang="en-US" sz="1400" dirty="0">
                        <a:latin typeface="Arial" panose="020B0604020202020204" pitchFamily="34" charset="0"/>
                        <a:cs typeface="Arial" panose="020B0604020202020204" pitchFamily="34" charset="0"/>
                      </a:endParaRPr>
                    </a:p>
                  </a:txBody>
                  <a:tcPr anchor="ctr"/>
                </a:tc>
                <a:tc>
                  <a:txBody>
                    <a:bodyPr/>
                    <a:lstStyle/>
                    <a:p>
                      <a:pPr>
                        <a:buNone/>
                      </a:pPr>
                      <a:r>
                        <a:rPr lang="en-US" sz="1400" dirty="0" err="1">
                          <a:latin typeface="Arial" panose="020B0604020202020204" pitchFamily="34" charset="0"/>
                          <a:cs typeface="Arial" panose="020B0604020202020204" pitchFamily="34" charset="0"/>
                        </a:rPr>
                        <a:t>matplotlib.pyplot</a:t>
                      </a:r>
                      <a:endParaRPr lang="en-US" sz="1400" dirty="0">
                        <a:latin typeface="Arial" panose="020B0604020202020204" pitchFamily="34" charset="0"/>
                        <a:cs typeface="Arial" panose="020B0604020202020204" pitchFamily="34" charset="0"/>
                      </a:endParaRPr>
                    </a:p>
                  </a:txBody>
                  <a:tcPr anchor="ctr"/>
                </a:tc>
                <a:tc>
                  <a:txBody>
                    <a:bodyPr/>
                    <a:lstStyle/>
                    <a:p>
                      <a:pPr>
                        <a:buNone/>
                      </a:pPr>
                      <a:r>
                        <a:rPr lang="en-US" sz="1400" dirty="0" err="1">
                          <a:latin typeface="Arial" panose="020B0604020202020204" pitchFamily="34" charset="0"/>
                          <a:cs typeface="Arial" panose="020B0604020202020204" pitchFamily="34" charset="0"/>
                        </a:rPr>
                        <a:t>Grafiklerin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oluşturulması</a:t>
                      </a:r>
                      <a:endParaRPr lang="en-US" sz="14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910774773"/>
                  </a:ext>
                </a:extLst>
              </a:tr>
              <a:tr h="370840">
                <a:tc>
                  <a:txBody>
                    <a:bodyPr/>
                    <a:lstStyle/>
                    <a:p>
                      <a:pPr>
                        <a:buNone/>
                      </a:pPr>
                      <a:r>
                        <a:rPr lang="en-US" sz="1400" dirty="0" err="1">
                          <a:latin typeface="Arial" panose="020B0604020202020204" pitchFamily="34" charset="0"/>
                          <a:cs typeface="Arial" panose="020B0604020202020204" pitchFamily="34" charset="0"/>
                        </a:rPr>
                        <a:t>Görselleştirme</a:t>
                      </a:r>
                      <a:endParaRPr lang="en-US" sz="1400" dirty="0">
                        <a:latin typeface="Arial" panose="020B0604020202020204" pitchFamily="34" charset="0"/>
                        <a:cs typeface="Arial" panose="020B0604020202020204" pitchFamily="34" charset="0"/>
                      </a:endParaRPr>
                    </a:p>
                  </a:txBody>
                  <a:tcPr anchor="ctr"/>
                </a:tc>
                <a:tc>
                  <a:txBody>
                    <a:bodyPr/>
                    <a:lstStyle/>
                    <a:p>
                      <a:pPr>
                        <a:buNone/>
                      </a:pPr>
                      <a:r>
                        <a:rPr lang="en-US" sz="1400" dirty="0" err="1">
                          <a:latin typeface="Arial" panose="020B0604020202020204" pitchFamily="34" charset="0"/>
                          <a:cs typeface="Arial" panose="020B0604020202020204" pitchFamily="34" charset="0"/>
                        </a:rPr>
                        <a:t>WordCloud</a:t>
                      </a:r>
                      <a:endParaRPr lang="en-US" sz="1400" dirty="0">
                        <a:latin typeface="Arial" panose="020B0604020202020204" pitchFamily="34" charset="0"/>
                        <a:cs typeface="Arial" panose="020B0604020202020204" pitchFamily="34" charset="0"/>
                      </a:endParaRPr>
                    </a:p>
                  </a:txBody>
                  <a:tcPr anchor="ctr"/>
                </a:tc>
                <a:tc>
                  <a:txBody>
                    <a:bodyPr/>
                    <a:lstStyle/>
                    <a:p>
                      <a:pPr>
                        <a:buNone/>
                      </a:pPr>
                      <a:r>
                        <a:rPr lang="en-US" sz="1400" dirty="0" err="1">
                          <a:latin typeface="Arial" panose="020B0604020202020204" pitchFamily="34" charset="0"/>
                          <a:cs typeface="Arial" panose="020B0604020202020204" pitchFamily="34" charset="0"/>
                        </a:rPr>
                        <a:t>Kelime</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bulutu</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görselleştirmesi</a:t>
                      </a:r>
                      <a:endParaRPr lang="en-US" sz="14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351732579"/>
                  </a:ext>
                </a:extLst>
              </a:tr>
            </a:tbl>
          </a:graphicData>
        </a:graphic>
      </p:graphicFrame>
      <p:sp>
        <p:nvSpPr>
          <p:cNvPr id="4" name="TextBox 3">
            <a:extLst>
              <a:ext uri="{FF2B5EF4-FFF2-40B4-BE49-F238E27FC236}">
                <a16:creationId xmlns:a16="http://schemas.microsoft.com/office/drawing/2014/main" id="{BFDA6055-15F4-865C-3462-48197D6CB35D}"/>
              </a:ext>
            </a:extLst>
          </p:cNvPr>
          <p:cNvSpPr txBox="1"/>
          <p:nvPr/>
        </p:nvSpPr>
        <p:spPr>
          <a:xfrm>
            <a:off x="747214" y="903058"/>
            <a:ext cx="10697569" cy="523220"/>
          </a:xfrm>
          <a:prstGeom prst="rect">
            <a:avLst/>
          </a:prstGeom>
          <a:noFill/>
        </p:spPr>
        <p:txBody>
          <a:bodyPr wrap="square">
            <a:spAutoFit/>
          </a:bodyPr>
          <a:lstStyle/>
          <a:p>
            <a:r>
              <a:rPr lang="tr-TR" sz="1400" noProof="0" dirty="0">
                <a:latin typeface="Arial" panose="020B0604020202020204" pitchFamily="34" charset="0"/>
                <a:cs typeface="Arial" panose="020B0604020202020204" pitchFamily="34" charset="0"/>
              </a:rPr>
              <a:t>Bu çalışmada kullanılan kütüphaneler, Apache </a:t>
            </a:r>
            <a:r>
              <a:rPr lang="tr-TR" sz="1400" noProof="0" dirty="0" err="1">
                <a:latin typeface="Arial" panose="020B0604020202020204" pitchFamily="34" charset="0"/>
                <a:cs typeface="Arial" panose="020B0604020202020204" pitchFamily="34" charset="0"/>
              </a:rPr>
              <a:t>Spark’ın</a:t>
            </a:r>
            <a:r>
              <a:rPr lang="tr-TR" sz="1400" noProof="0" dirty="0">
                <a:latin typeface="Arial" panose="020B0604020202020204" pitchFamily="34" charset="0"/>
                <a:cs typeface="Arial" panose="020B0604020202020204" pitchFamily="34" charset="0"/>
              </a:rPr>
              <a:t> dağıtık metin işleme ve metin madenciliği yeteneklerini destekleyecek şekilde seçilmiştir.</a:t>
            </a:r>
          </a:p>
        </p:txBody>
      </p:sp>
      <p:sp>
        <p:nvSpPr>
          <p:cNvPr id="3" name="TextBox 2">
            <a:extLst>
              <a:ext uri="{FF2B5EF4-FFF2-40B4-BE49-F238E27FC236}">
                <a16:creationId xmlns:a16="http://schemas.microsoft.com/office/drawing/2014/main" id="{A0064CFA-FFA0-D5E7-ED83-0C3C24B0EF4E}"/>
              </a:ext>
            </a:extLst>
          </p:cNvPr>
          <p:cNvSpPr txBox="1"/>
          <p:nvPr/>
        </p:nvSpPr>
        <p:spPr>
          <a:xfrm>
            <a:off x="0" y="469167"/>
            <a:ext cx="12192000" cy="523220"/>
          </a:xfrm>
          <a:prstGeom prst="rect">
            <a:avLst/>
          </a:prstGeom>
          <a:noFill/>
        </p:spPr>
        <p:txBody>
          <a:bodyPr wrap="square" rtlCol="0">
            <a:spAutoFit/>
          </a:bodyPr>
          <a:lstStyle/>
          <a:p>
            <a:pPr algn="ctr"/>
            <a:r>
              <a:rPr lang="tr-TR" sz="2800" b="1" dirty="0">
                <a:latin typeface="Arial" panose="020B0604020202020204" pitchFamily="34" charset="0"/>
                <a:cs typeface="Arial" panose="020B0604020202020204" pitchFamily="34" charset="0"/>
              </a:rPr>
              <a:t>KÜTÜPHANLER</a:t>
            </a:r>
          </a:p>
        </p:txBody>
      </p:sp>
      <p:graphicFrame>
        <p:nvGraphicFramePr>
          <p:cNvPr id="5" name="Table 4">
            <a:extLst>
              <a:ext uri="{FF2B5EF4-FFF2-40B4-BE49-F238E27FC236}">
                <a16:creationId xmlns:a16="http://schemas.microsoft.com/office/drawing/2014/main" id="{70A0D1D4-7DEF-EF01-C9A0-5D184A5B60B1}"/>
              </a:ext>
            </a:extLst>
          </p:cNvPr>
          <p:cNvGraphicFramePr>
            <a:graphicFrameLocks noGrp="1"/>
          </p:cNvGraphicFramePr>
          <p:nvPr>
            <p:extLst>
              <p:ext uri="{D42A27DB-BD31-4B8C-83A1-F6EECF244321}">
                <p14:modId xmlns:p14="http://schemas.microsoft.com/office/powerpoint/2010/main" val="3679634435"/>
              </p:ext>
            </p:extLst>
          </p:nvPr>
        </p:nvGraphicFramePr>
        <p:xfrm>
          <a:off x="747213" y="1388668"/>
          <a:ext cx="10697569" cy="4820920"/>
        </p:xfrm>
        <a:graphic>
          <a:graphicData uri="http://schemas.openxmlformats.org/drawingml/2006/table">
            <a:tbl>
              <a:tblPr firstRow="1" bandRow="1">
                <a:tableStyleId>{073A0DAA-6AF3-43AB-8588-CEC1D06C72B9}</a:tableStyleId>
              </a:tblPr>
              <a:tblGrid>
                <a:gridCol w="2821675">
                  <a:extLst>
                    <a:ext uri="{9D8B030D-6E8A-4147-A177-3AD203B41FA5}">
                      <a16:colId xmlns:a16="http://schemas.microsoft.com/office/drawing/2014/main" val="2024983654"/>
                    </a:ext>
                  </a:extLst>
                </a:gridCol>
                <a:gridCol w="2422477">
                  <a:extLst>
                    <a:ext uri="{9D8B030D-6E8A-4147-A177-3AD203B41FA5}">
                      <a16:colId xmlns:a16="http://schemas.microsoft.com/office/drawing/2014/main" val="2725514632"/>
                    </a:ext>
                  </a:extLst>
                </a:gridCol>
                <a:gridCol w="5453417">
                  <a:extLst>
                    <a:ext uri="{9D8B030D-6E8A-4147-A177-3AD203B41FA5}">
                      <a16:colId xmlns:a16="http://schemas.microsoft.com/office/drawing/2014/main" val="2347404725"/>
                    </a:ext>
                  </a:extLst>
                </a:gridCol>
              </a:tblGrid>
              <a:tr h="370840">
                <a:tc>
                  <a:txBody>
                    <a:bodyPr/>
                    <a:lstStyle/>
                    <a:p>
                      <a:pPr>
                        <a:buNone/>
                      </a:pPr>
                      <a:r>
                        <a:rPr lang="tr-TR" sz="1400" noProof="0" dirty="0">
                          <a:latin typeface="Arial" panose="020B0604020202020204" pitchFamily="34" charset="0"/>
                          <a:cs typeface="Arial" panose="020B0604020202020204" pitchFamily="34" charset="0"/>
                        </a:rPr>
                        <a:t>Kategori</a:t>
                      </a:r>
                    </a:p>
                  </a:txBody>
                  <a:tcPr anchor="ctr"/>
                </a:tc>
                <a:tc>
                  <a:txBody>
                    <a:bodyPr/>
                    <a:lstStyle/>
                    <a:p>
                      <a:pPr>
                        <a:buNone/>
                      </a:pPr>
                      <a:r>
                        <a:rPr lang="tr-TR" sz="1400" noProof="0" dirty="0">
                          <a:latin typeface="Arial" panose="020B0604020202020204" pitchFamily="34" charset="0"/>
                          <a:cs typeface="Arial" panose="020B0604020202020204" pitchFamily="34" charset="0"/>
                        </a:rPr>
                        <a:t>Kütüphane / Modül</a:t>
                      </a:r>
                    </a:p>
                  </a:txBody>
                  <a:tcPr anchor="ctr"/>
                </a:tc>
                <a:tc>
                  <a:txBody>
                    <a:bodyPr/>
                    <a:lstStyle/>
                    <a:p>
                      <a:pPr>
                        <a:buNone/>
                      </a:pPr>
                      <a:r>
                        <a:rPr lang="tr-TR" sz="1400" noProof="0" dirty="0">
                          <a:latin typeface="Arial" panose="020B0604020202020204" pitchFamily="34" charset="0"/>
                          <a:cs typeface="Arial" panose="020B0604020202020204" pitchFamily="34" charset="0"/>
                        </a:rPr>
                        <a:t>Kullanım Amacı</a:t>
                      </a:r>
                    </a:p>
                  </a:txBody>
                  <a:tcPr anchor="ctr"/>
                </a:tc>
                <a:extLst>
                  <a:ext uri="{0D108BD9-81ED-4DB2-BD59-A6C34878D82A}">
                    <a16:rowId xmlns:a16="http://schemas.microsoft.com/office/drawing/2014/main" val="232166459"/>
                  </a:ext>
                </a:extLst>
              </a:tr>
              <a:tr h="370840">
                <a:tc>
                  <a:txBody>
                    <a:bodyPr/>
                    <a:lstStyle/>
                    <a:p>
                      <a:pPr>
                        <a:buNone/>
                      </a:pPr>
                      <a:r>
                        <a:rPr lang="tr-TR" sz="1400" noProof="0" dirty="0" err="1">
                          <a:latin typeface="Arial" panose="020B0604020202020204" pitchFamily="34" charset="0"/>
                          <a:cs typeface="Arial" panose="020B0604020202020204" pitchFamily="34" charset="0"/>
                        </a:rPr>
                        <a:t>Spark</a:t>
                      </a:r>
                      <a:r>
                        <a:rPr lang="tr-TR" sz="1400" noProof="0" dirty="0">
                          <a:latin typeface="Arial" panose="020B0604020202020204" pitchFamily="34" charset="0"/>
                          <a:cs typeface="Arial" panose="020B0604020202020204" pitchFamily="34" charset="0"/>
                        </a:rPr>
                        <a:t> Çekirdeği</a:t>
                      </a:r>
                    </a:p>
                  </a:txBody>
                  <a:tcPr anchor="ctr"/>
                </a:tc>
                <a:tc>
                  <a:txBody>
                    <a:bodyPr/>
                    <a:lstStyle/>
                    <a:p>
                      <a:pPr>
                        <a:buNone/>
                      </a:pPr>
                      <a:r>
                        <a:rPr lang="tr-TR" sz="1400" noProof="0" dirty="0" err="1">
                          <a:latin typeface="Arial" panose="020B0604020202020204" pitchFamily="34" charset="0"/>
                          <a:cs typeface="Arial" panose="020B0604020202020204" pitchFamily="34" charset="0"/>
                        </a:rPr>
                        <a:t>SparkSession</a:t>
                      </a:r>
                      <a:endParaRPr lang="tr-TR" sz="1400" noProof="0" dirty="0">
                        <a:latin typeface="Arial" panose="020B0604020202020204" pitchFamily="34" charset="0"/>
                        <a:cs typeface="Arial" panose="020B0604020202020204" pitchFamily="34" charset="0"/>
                      </a:endParaRPr>
                    </a:p>
                  </a:txBody>
                  <a:tcPr anchor="ctr"/>
                </a:tc>
                <a:tc>
                  <a:txBody>
                    <a:bodyPr/>
                    <a:lstStyle/>
                    <a:p>
                      <a:pPr>
                        <a:buNone/>
                      </a:pPr>
                      <a:r>
                        <a:rPr lang="tr-TR" sz="1400" noProof="0" dirty="0">
                          <a:latin typeface="Arial" panose="020B0604020202020204" pitchFamily="34" charset="0"/>
                          <a:cs typeface="Arial" panose="020B0604020202020204" pitchFamily="34" charset="0"/>
                        </a:rPr>
                        <a:t>Apache </a:t>
                      </a:r>
                      <a:r>
                        <a:rPr lang="tr-TR" sz="1400" noProof="0" dirty="0" err="1">
                          <a:latin typeface="Arial" panose="020B0604020202020204" pitchFamily="34" charset="0"/>
                          <a:cs typeface="Arial" panose="020B0604020202020204" pitchFamily="34" charset="0"/>
                        </a:rPr>
                        <a:t>Spark</a:t>
                      </a:r>
                      <a:r>
                        <a:rPr lang="tr-TR" sz="1400" noProof="0" dirty="0">
                          <a:latin typeface="Arial" panose="020B0604020202020204" pitchFamily="34" charset="0"/>
                          <a:cs typeface="Arial" panose="020B0604020202020204" pitchFamily="34" charset="0"/>
                        </a:rPr>
                        <a:t> ortamının başlatılması ve veri işlemenin yönetilmesi</a:t>
                      </a:r>
                    </a:p>
                  </a:txBody>
                  <a:tcPr anchor="ctr"/>
                </a:tc>
                <a:extLst>
                  <a:ext uri="{0D108BD9-81ED-4DB2-BD59-A6C34878D82A}">
                    <a16:rowId xmlns:a16="http://schemas.microsoft.com/office/drawing/2014/main" val="2478955512"/>
                  </a:ext>
                </a:extLst>
              </a:tr>
              <a:tr h="370840">
                <a:tc>
                  <a:txBody>
                    <a:bodyPr/>
                    <a:lstStyle/>
                    <a:p>
                      <a:pPr>
                        <a:buNone/>
                      </a:pPr>
                      <a:r>
                        <a:rPr lang="tr-TR" sz="1400" noProof="0" dirty="0" err="1">
                          <a:latin typeface="Arial" panose="020B0604020202020204" pitchFamily="34" charset="0"/>
                          <a:cs typeface="Arial" panose="020B0604020202020204" pitchFamily="34" charset="0"/>
                        </a:rPr>
                        <a:t>Spark</a:t>
                      </a:r>
                      <a:r>
                        <a:rPr lang="tr-TR" sz="1400" noProof="0" dirty="0">
                          <a:latin typeface="Arial" panose="020B0604020202020204" pitchFamily="34" charset="0"/>
                          <a:cs typeface="Arial" panose="020B0604020202020204" pitchFamily="34" charset="0"/>
                        </a:rPr>
                        <a:t> SQL Fonksiyonları</a:t>
                      </a:r>
                    </a:p>
                  </a:txBody>
                  <a:tcPr anchor="ctr"/>
                </a:tc>
                <a:tc>
                  <a:txBody>
                    <a:bodyPr/>
                    <a:lstStyle/>
                    <a:p>
                      <a:pPr>
                        <a:buNone/>
                      </a:pPr>
                      <a:r>
                        <a:rPr lang="tr-TR" sz="1400" noProof="0" dirty="0" err="1">
                          <a:latin typeface="Arial" panose="020B0604020202020204" pitchFamily="34" charset="0"/>
                          <a:cs typeface="Arial" panose="020B0604020202020204" pitchFamily="34" charset="0"/>
                        </a:rPr>
                        <a:t>col</a:t>
                      </a:r>
                      <a:r>
                        <a:rPr lang="tr-TR" sz="1400" noProof="0" dirty="0">
                          <a:latin typeface="Arial" panose="020B0604020202020204" pitchFamily="34" charset="0"/>
                          <a:cs typeface="Arial" panose="020B0604020202020204" pitchFamily="34" charset="0"/>
                        </a:rPr>
                        <a:t>, </a:t>
                      </a:r>
                      <a:r>
                        <a:rPr lang="tr-TR" sz="1400" noProof="0" dirty="0" err="1">
                          <a:latin typeface="Arial" panose="020B0604020202020204" pitchFamily="34" charset="0"/>
                          <a:cs typeface="Arial" panose="020B0604020202020204" pitchFamily="34" charset="0"/>
                        </a:rPr>
                        <a:t>length</a:t>
                      </a:r>
                      <a:endParaRPr lang="tr-TR" sz="1400" noProof="0" dirty="0">
                        <a:latin typeface="Arial" panose="020B0604020202020204" pitchFamily="34" charset="0"/>
                        <a:cs typeface="Arial" panose="020B0604020202020204" pitchFamily="34" charset="0"/>
                      </a:endParaRPr>
                    </a:p>
                  </a:txBody>
                  <a:tcPr anchor="ctr"/>
                </a:tc>
                <a:tc>
                  <a:txBody>
                    <a:bodyPr/>
                    <a:lstStyle/>
                    <a:p>
                      <a:pPr>
                        <a:buNone/>
                      </a:pPr>
                      <a:r>
                        <a:rPr lang="tr-TR" sz="1400" noProof="0" dirty="0">
                          <a:latin typeface="Arial" panose="020B0604020202020204" pitchFamily="34" charset="0"/>
                          <a:cs typeface="Arial" panose="020B0604020202020204" pitchFamily="34" charset="0"/>
                        </a:rPr>
                        <a:t>Satır ve karakter uzunluğu analizi</a:t>
                      </a:r>
                    </a:p>
                  </a:txBody>
                  <a:tcPr anchor="ctr"/>
                </a:tc>
                <a:extLst>
                  <a:ext uri="{0D108BD9-81ED-4DB2-BD59-A6C34878D82A}">
                    <a16:rowId xmlns:a16="http://schemas.microsoft.com/office/drawing/2014/main" val="1547607001"/>
                  </a:ext>
                </a:extLst>
              </a:tr>
              <a:tr h="370840">
                <a:tc>
                  <a:txBody>
                    <a:bodyPr/>
                    <a:lstStyle/>
                    <a:p>
                      <a:pPr>
                        <a:buNone/>
                      </a:pPr>
                      <a:r>
                        <a:rPr lang="tr-TR" sz="1400" noProof="0" dirty="0" err="1">
                          <a:latin typeface="Arial" panose="020B0604020202020204" pitchFamily="34" charset="0"/>
                          <a:cs typeface="Arial" panose="020B0604020202020204" pitchFamily="34" charset="0"/>
                        </a:rPr>
                        <a:t>Spark</a:t>
                      </a:r>
                      <a:r>
                        <a:rPr lang="tr-TR" sz="1400" noProof="0" dirty="0">
                          <a:latin typeface="Arial" panose="020B0604020202020204" pitchFamily="34" charset="0"/>
                          <a:cs typeface="Arial" panose="020B0604020202020204" pitchFamily="34" charset="0"/>
                        </a:rPr>
                        <a:t> SQL Fonksiyonları</a:t>
                      </a:r>
                    </a:p>
                  </a:txBody>
                  <a:tcPr anchor="ctr"/>
                </a:tc>
                <a:tc>
                  <a:txBody>
                    <a:bodyPr/>
                    <a:lstStyle/>
                    <a:p>
                      <a:pPr>
                        <a:buNone/>
                      </a:pPr>
                      <a:r>
                        <a:rPr lang="tr-TR" sz="1400" noProof="0" dirty="0" err="1">
                          <a:latin typeface="Arial" panose="020B0604020202020204" pitchFamily="34" charset="0"/>
                          <a:cs typeface="Arial" panose="020B0604020202020204" pitchFamily="34" charset="0"/>
                        </a:rPr>
                        <a:t>split</a:t>
                      </a:r>
                      <a:r>
                        <a:rPr lang="tr-TR" sz="1400" noProof="0" dirty="0">
                          <a:latin typeface="Arial" panose="020B0604020202020204" pitchFamily="34" charset="0"/>
                          <a:cs typeface="Arial" panose="020B0604020202020204" pitchFamily="34" charset="0"/>
                        </a:rPr>
                        <a:t>, </a:t>
                      </a:r>
                      <a:r>
                        <a:rPr lang="tr-TR" sz="1400" noProof="0" dirty="0" err="1">
                          <a:latin typeface="Arial" panose="020B0604020202020204" pitchFamily="34" charset="0"/>
                          <a:cs typeface="Arial" panose="020B0604020202020204" pitchFamily="34" charset="0"/>
                        </a:rPr>
                        <a:t>lower</a:t>
                      </a:r>
                      <a:endParaRPr lang="tr-TR" sz="1400" noProof="0" dirty="0">
                        <a:latin typeface="Arial" panose="020B0604020202020204" pitchFamily="34" charset="0"/>
                        <a:cs typeface="Arial" panose="020B0604020202020204" pitchFamily="34" charset="0"/>
                      </a:endParaRPr>
                    </a:p>
                  </a:txBody>
                  <a:tcPr anchor="ctr"/>
                </a:tc>
                <a:tc>
                  <a:txBody>
                    <a:bodyPr/>
                    <a:lstStyle/>
                    <a:p>
                      <a:pPr>
                        <a:buNone/>
                      </a:pPr>
                      <a:r>
                        <a:rPr lang="tr-TR" sz="1400" noProof="0" dirty="0">
                          <a:latin typeface="Arial" panose="020B0604020202020204" pitchFamily="34" charset="0"/>
                          <a:cs typeface="Arial" panose="020B0604020202020204" pitchFamily="34" charset="0"/>
                        </a:rPr>
                        <a:t>Metnin kelimelere ayrılması ve küçük harfe dönüştürülmesi</a:t>
                      </a:r>
                    </a:p>
                  </a:txBody>
                  <a:tcPr anchor="ctr"/>
                </a:tc>
                <a:extLst>
                  <a:ext uri="{0D108BD9-81ED-4DB2-BD59-A6C34878D82A}">
                    <a16:rowId xmlns:a16="http://schemas.microsoft.com/office/drawing/2014/main" val="2092392209"/>
                  </a:ext>
                </a:extLst>
              </a:tr>
              <a:tr h="370840">
                <a:tc>
                  <a:txBody>
                    <a:bodyPr/>
                    <a:lstStyle/>
                    <a:p>
                      <a:pPr>
                        <a:buNone/>
                      </a:pPr>
                      <a:r>
                        <a:rPr lang="tr-TR" sz="1400" noProof="0" dirty="0" err="1">
                          <a:latin typeface="Arial" panose="020B0604020202020204" pitchFamily="34" charset="0"/>
                          <a:cs typeface="Arial" panose="020B0604020202020204" pitchFamily="34" charset="0"/>
                        </a:rPr>
                        <a:t>Spark</a:t>
                      </a:r>
                      <a:r>
                        <a:rPr lang="tr-TR" sz="1400" noProof="0" dirty="0">
                          <a:latin typeface="Arial" panose="020B0604020202020204" pitchFamily="34" charset="0"/>
                          <a:cs typeface="Arial" panose="020B0604020202020204" pitchFamily="34" charset="0"/>
                        </a:rPr>
                        <a:t> SQL Fonksiyonları</a:t>
                      </a:r>
                    </a:p>
                  </a:txBody>
                  <a:tcPr anchor="ctr"/>
                </a:tc>
                <a:tc>
                  <a:txBody>
                    <a:bodyPr/>
                    <a:lstStyle/>
                    <a:p>
                      <a:pPr>
                        <a:buNone/>
                      </a:pPr>
                      <a:r>
                        <a:rPr lang="tr-TR" sz="1400" noProof="0" dirty="0" err="1">
                          <a:latin typeface="Arial" panose="020B0604020202020204" pitchFamily="34" charset="0"/>
                          <a:cs typeface="Arial" panose="020B0604020202020204" pitchFamily="34" charset="0"/>
                        </a:rPr>
                        <a:t>regexp_replace</a:t>
                      </a:r>
                      <a:r>
                        <a:rPr lang="tr-TR" sz="1400" noProof="0" dirty="0">
                          <a:latin typeface="Arial" panose="020B0604020202020204" pitchFamily="34" charset="0"/>
                          <a:cs typeface="Arial" panose="020B0604020202020204" pitchFamily="34" charset="0"/>
                        </a:rPr>
                        <a:t>, </a:t>
                      </a:r>
                      <a:r>
                        <a:rPr lang="tr-TR" sz="1400" noProof="0" dirty="0" err="1">
                          <a:latin typeface="Arial" panose="020B0604020202020204" pitchFamily="34" charset="0"/>
                          <a:cs typeface="Arial" panose="020B0604020202020204" pitchFamily="34" charset="0"/>
                        </a:rPr>
                        <a:t>trim</a:t>
                      </a:r>
                      <a:endParaRPr lang="tr-TR" sz="1400" noProof="0" dirty="0">
                        <a:latin typeface="Arial" panose="020B0604020202020204" pitchFamily="34" charset="0"/>
                        <a:cs typeface="Arial" panose="020B0604020202020204" pitchFamily="34" charset="0"/>
                      </a:endParaRPr>
                    </a:p>
                  </a:txBody>
                  <a:tcPr anchor="ctr"/>
                </a:tc>
                <a:tc>
                  <a:txBody>
                    <a:bodyPr/>
                    <a:lstStyle/>
                    <a:p>
                      <a:pPr>
                        <a:buNone/>
                      </a:pPr>
                      <a:r>
                        <a:rPr lang="tr-TR" sz="1400" noProof="0" dirty="0">
                          <a:latin typeface="Arial" panose="020B0604020202020204" pitchFamily="34" charset="0"/>
                          <a:cs typeface="Arial" panose="020B0604020202020204" pitchFamily="34" charset="0"/>
                        </a:rPr>
                        <a:t>Noktalama işaretlerinin temizlenmesi ve metin sadeleştirme</a:t>
                      </a:r>
                    </a:p>
                  </a:txBody>
                  <a:tcPr anchor="ctr"/>
                </a:tc>
                <a:extLst>
                  <a:ext uri="{0D108BD9-81ED-4DB2-BD59-A6C34878D82A}">
                    <a16:rowId xmlns:a16="http://schemas.microsoft.com/office/drawing/2014/main" val="3075506327"/>
                  </a:ext>
                </a:extLst>
              </a:tr>
              <a:tr h="370840">
                <a:tc>
                  <a:txBody>
                    <a:bodyPr/>
                    <a:lstStyle/>
                    <a:p>
                      <a:pPr>
                        <a:buNone/>
                      </a:pPr>
                      <a:r>
                        <a:rPr lang="tr-TR" sz="1400" noProof="0" dirty="0" err="1">
                          <a:latin typeface="Arial" panose="020B0604020202020204" pitchFamily="34" charset="0"/>
                          <a:cs typeface="Arial" panose="020B0604020202020204" pitchFamily="34" charset="0"/>
                        </a:rPr>
                        <a:t>Spark</a:t>
                      </a:r>
                      <a:r>
                        <a:rPr lang="tr-TR" sz="1400" noProof="0" dirty="0">
                          <a:latin typeface="Arial" panose="020B0604020202020204" pitchFamily="34" charset="0"/>
                          <a:cs typeface="Arial" panose="020B0604020202020204" pitchFamily="34" charset="0"/>
                        </a:rPr>
                        <a:t> SQL Fonksiyonları</a:t>
                      </a:r>
                    </a:p>
                  </a:txBody>
                  <a:tcPr anchor="ctr"/>
                </a:tc>
                <a:tc>
                  <a:txBody>
                    <a:bodyPr/>
                    <a:lstStyle/>
                    <a:p>
                      <a:pPr>
                        <a:buNone/>
                      </a:pPr>
                      <a:r>
                        <a:rPr lang="tr-TR" sz="1400" noProof="0" dirty="0" err="1">
                          <a:latin typeface="Arial" panose="020B0604020202020204" pitchFamily="34" charset="0"/>
                          <a:cs typeface="Arial" panose="020B0604020202020204" pitchFamily="34" charset="0"/>
                        </a:rPr>
                        <a:t>explode</a:t>
                      </a:r>
                      <a:r>
                        <a:rPr lang="tr-TR" sz="1400" noProof="0" dirty="0">
                          <a:latin typeface="Arial" panose="020B0604020202020204" pitchFamily="34" charset="0"/>
                          <a:cs typeface="Arial" panose="020B0604020202020204" pitchFamily="34" charset="0"/>
                        </a:rPr>
                        <a:t>, </a:t>
                      </a:r>
                      <a:r>
                        <a:rPr lang="tr-TR" sz="1400" noProof="0" dirty="0" err="1">
                          <a:latin typeface="Arial" panose="020B0604020202020204" pitchFamily="34" charset="0"/>
                          <a:cs typeface="Arial" panose="020B0604020202020204" pitchFamily="34" charset="0"/>
                        </a:rPr>
                        <a:t>concat_ws</a:t>
                      </a:r>
                      <a:endParaRPr lang="tr-TR" sz="1400" noProof="0" dirty="0">
                        <a:latin typeface="Arial" panose="020B0604020202020204" pitchFamily="34" charset="0"/>
                        <a:cs typeface="Arial" panose="020B0604020202020204" pitchFamily="34" charset="0"/>
                      </a:endParaRPr>
                    </a:p>
                  </a:txBody>
                  <a:tcPr anchor="ctr"/>
                </a:tc>
                <a:tc>
                  <a:txBody>
                    <a:bodyPr/>
                    <a:lstStyle/>
                    <a:p>
                      <a:pPr>
                        <a:buNone/>
                      </a:pPr>
                      <a:r>
                        <a:rPr lang="tr-TR" sz="1400" noProof="0" dirty="0">
                          <a:latin typeface="Arial" panose="020B0604020202020204" pitchFamily="34" charset="0"/>
                          <a:cs typeface="Arial" panose="020B0604020202020204" pitchFamily="34" charset="0"/>
                        </a:rPr>
                        <a:t>Kelime listelerinin açılması ve birleştirilmesi</a:t>
                      </a:r>
                    </a:p>
                  </a:txBody>
                  <a:tcPr anchor="ctr"/>
                </a:tc>
                <a:extLst>
                  <a:ext uri="{0D108BD9-81ED-4DB2-BD59-A6C34878D82A}">
                    <a16:rowId xmlns:a16="http://schemas.microsoft.com/office/drawing/2014/main" val="3707662075"/>
                  </a:ext>
                </a:extLst>
              </a:tr>
              <a:tr h="370840">
                <a:tc>
                  <a:txBody>
                    <a:bodyPr/>
                    <a:lstStyle/>
                    <a:p>
                      <a:pPr>
                        <a:buNone/>
                      </a:pPr>
                      <a:r>
                        <a:rPr lang="tr-TR" sz="1400" noProof="0" dirty="0" err="1">
                          <a:latin typeface="Arial" panose="020B0604020202020204" pitchFamily="34" charset="0"/>
                          <a:cs typeface="Arial" panose="020B0604020202020204" pitchFamily="34" charset="0"/>
                        </a:rPr>
                        <a:t>Spark</a:t>
                      </a:r>
                      <a:r>
                        <a:rPr lang="tr-TR" sz="1400" noProof="0" dirty="0">
                          <a:latin typeface="Arial" panose="020B0604020202020204" pitchFamily="34" charset="0"/>
                          <a:cs typeface="Arial" panose="020B0604020202020204" pitchFamily="34" charset="0"/>
                        </a:rPr>
                        <a:t> SQL Fonksiyonları</a:t>
                      </a:r>
                    </a:p>
                  </a:txBody>
                  <a:tcPr anchor="ctr"/>
                </a:tc>
                <a:tc>
                  <a:txBody>
                    <a:bodyPr/>
                    <a:lstStyle/>
                    <a:p>
                      <a:pPr>
                        <a:buNone/>
                      </a:pPr>
                      <a:r>
                        <a:rPr lang="tr-TR" sz="1400" noProof="0" dirty="0" err="1">
                          <a:latin typeface="Arial" panose="020B0604020202020204" pitchFamily="34" charset="0"/>
                          <a:cs typeface="Arial" panose="020B0604020202020204" pitchFamily="34" charset="0"/>
                        </a:rPr>
                        <a:t>countDistinct</a:t>
                      </a:r>
                      <a:endParaRPr lang="tr-TR" sz="1400" noProof="0" dirty="0">
                        <a:latin typeface="Arial" panose="020B0604020202020204" pitchFamily="34" charset="0"/>
                        <a:cs typeface="Arial" panose="020B0604020202020204" pitchFamily="34" charset="0"/>
                      </a:endParaRPr>
                    </a:p>
                  </a:txBody>
                  <a:tcPr anchor="ctr"/>
                </a:tc>
                <a:tc>
                  <a:txBody>
                    <a:bodyPr/>
                    <a:lstStyle/>
                    <a:p>
                      <a:pPr>
                        <a:buNone/>
                      </a:pPr>
                      <a:r>
                        <a:rPr lang="tr-TR" sz="1400" noProof="0" dirty="0">
                          <a:latin typeface="Arial" panose="020B0604020202020204" pitchFamily="34" charset="0"/>
                          <a:cs typeface="Arial" panose="020B0604020202020204" pitchFamily="34" charset="0"/>
                        </a:rPr>
                        <a:t>Benzersiz kelime sayısının hesaplanması</a:t>
                      </a:r>
                    </a:p>
                  </a:txBody>
                  <a:tcPr anchor="ctr"/>
                </a:tc>
                <a:extLst>
                  <a:ext uri="{0D108BD9-81ED-4DB2-BD59-A6C34878D82A}">
                    <a16:rowId xmlns:a16="http://schemas.microsoft.com/office/drawing/2014/main" val="3949313878"/>
                  </a:ext>
                </a:extLst>
              </a:tr>
              <a:tr h="370840">
                <a:tc>
                  <a:txBody>
                    <a:bodyPr/>
                    <a:lstStyle/>
                    <a:p>
                      <a:pPr>
                        <a:buNone/>
                      </a:pPr>
                      <a:r>
                        <a:rPr lang="tr-TR" sz="1400" noProof="0" dirty="0" err="1">
                          <a:latin typeface="Arial" panose="020B0604020202020204" pitchFamily="34" charset="0"/>
                          <a:cs typeface="Arial" panose="020B0604020202020204" pitchFamily="34" charset="0"/>
                        </a:rPr>
                        <a:t>MLlib</a:t>
                      </a:r>
                      <a:r>
                        <a:rPr lang="tr-TR" sz="1400" noProof="0" dirty="0">
                          <a:latin typeface="Arial" panose="020B0604020202020204" pitchFamily="34" charset="0"/>
                          <a:cs typeface="Arial" panose="020B0604020202020204" pitchFamily="34" charset="0"/>
                        </a:rPr>
                        <a:t> – Metin İşleme</a:t>
                      </a:r>
                    </a:p>
                  </a:txBody>
                  <a:tcPr anchor="ctr"/>
                </a:tc>
                <a:tc>
                  <a:txBody>
                    <a:bodyPr/>
                    <a:lstStyle/>
                    <a:p>
                      <a:pPr>
                        <a:buNone/>
                      </a:pPr>
                      <a:r>
                        <a:rPr lang="tr-TR" sz="1400" noProof="0" dirty="0" err="1">
                          <a:latin typeface="Arial" panose="020B0604020202020204" pitchFamily="34" charset="0"/>
                          <a:cs typeface="Arial" panose="020B0604020202020204" pitchFamily="34" charset="0"/>
                        </a:rPr>
                        <a:t>StopWordsRemover</a:t>
                      </a:r>
                      <a:endParaRPr lang="tr-TR" sz="1400" noProof="0" dirty="0">
                        <a:latin typeface="Arial" panose="020B0604020202020204" pitchFamily="34" charset="0"/>
                        <a:cs typeface="Arial" panose="020B0604020202020204" pitchFamily="34" charset="0"/>
                      </a:endParaRPr>
                    </a:p>
                  </a:txBody>
                  <a:tcPr anchor="ctr"/>
                </a:tc>
                <a:tc>
                  <a:txBody>
                    <a:bodyPr/>
                    <a:lstStyle/>
                    <a:p>
                      <a:pPr>
                        <a:buNone/>
                      </a:pPr>
                      <a:r>
                        <a:rPr lang="tr-TR" sz="1400" noProof="0" dirty="0">
                          <a:latin typeface="Arial" panose="020B0604020202020204" pitchFamily="34" charset="0"/>
                          <a:cs typeface="Arial" panose="020B0604020202020204" pitchFamily="34" charset="0"/>
                        </a:rPr>
                        <a:t>Anlamsız kelimelerin (</a:t>
                      </a:r>
                      <a:r>
                        <a:rPr lang="tr-TR" sz="1400" noProof="0" dirty="0" err="1">
                          <a:latin typeface="Arial" panose="020B0604020202020204" pitchFamily="34" charset="0"/>
                          <a:cs typeface="Arial" panose="020B0604020202020204" pitchFamily="34" charset="0"/>
                        </a:rPr>
                        <a:t>stopwords</a:t>
                      </a:r>
                      <a:r>
                        <a:rPr lang="tr-TR" sz="1400" noProof="0" dirty="0">
                          <a:latin typeface="Arial" panose="020B0604020202020204" pitchFamily="34" charset="0"/>
                          <a:cs typeface="Arial" panose="020B0604020202020204" pitchFamily="34" charset="0"/>
                        </a:rPr>
                        <a:t>) çıkarılması</a:t>
                      </a:r>
                    </a:p>
                  </a:txBody>
                  <a:tcPr anchor="ctr"/>
                </a:tc>
                <a:extLst>
                  <a:ext uri="{0D108BD9-81ED-4DB2-BD59-A6C34878D82A}">
                    <a16:rowId xmlns:a16="http://schemas.microsoft.com/office/drawing/2014/main" val="1876507730"/>
                  </a:ext>
                </a:extLst>
              </a:tr>
              <a:tr h="370840">
                <a:tc>
                  <a:txBody>
                    <a:bodyPr/>
                    <a:lstStyle/>
                    <a:p>
                      <a:pPr>
                        <a:buNone/>
                      </a:pPr>
                      <a:r>
                        <a:rPr lang="tr-TR" sz="1400" noProof="0" dirty="0" err="1">
                          <a:latin typeface="Arial" panose="020B0604020202020204" pitchFamily="34" charset="0"/>
                          <a:cs typeface="Arial" panose="020B0604020202020204" pitchFamily="34" charset="0"/>
                        </a:rPr>
                        <a:t>MLlib</a:t>
                      </a:r>
                      <a:r>
                        <a:rPr lang="tr-TR" sz="1400" noProof="0" dirty="0">
                          <a:latin typeface="Arial" panose="020B0604020202020204" pitchFamily="34" charset="0"/>
                          <a:cs typeface="Arial" panose="020B0604020202020204" pitchFamily="34" charset="0"/>
                        </a:rPr>
                        <a:t> – Özellik Çıkarımı</a:t>
                      </a:r>
                    </a:p>
                  </a:txBody>
                  <a:tcPr anchor="ctr"/>
                </a:tc>
                <a:tc>
                  <a:txBody>
                    <a:bodyPr/>
                    <a:lstStyle/>
                    <a:p>
                      <a:pPr>
                        <a:buNone/>
                      </a:pPr>
                      <a:r>
                        <a:rPr lang="tr-TR" sz="1400" noProof="0" dirty="0" err="1">
                          <a:latin typeface="Arial" panose="020B0604020202020204" pitchFamily="34" charset="0"/>
                          <a:cs typeface="Arial" panose="020B0604020202020204" pitchFamily="34" charset="0"/>
                        </a:rPr>
                        <a:t>CountVectorizer</a:t>
                      </a:r>
                      <a:endParaRPr lang="tr-TR" sz="1400" noProof="0" dirty="0">
                        <a:latin typeface="Arial" panose="020B0604020202020204" pitchFamily="34" charset="0"/>
                        <a:cs typeface="Arial" panose="020B0604020202020204" pitchFamily="34" charset="0"/>
                      </a:endParaRPr>
                    </a:p>
                  </a:txBody>
                  <a:tcPr anchor="ctr"/>
                </a:tc>
                <a:tc>
                  <a:txBody>
                    <a:bodyPr/>
                    <a:lstStyle/>
                    <a:p>
                      <a:pPr>
                        <a:buNone/>
                      </a:pPr>
                      <a:r>
                        <a:rPr lang="tr-TR" sz="1400" noProof="0" dirty="0">
                          <a:latin typeface="Arial" panose="020B0604020202020204" pitchFamily="34" charset="0"/>
                          <a:cs typeface="Arial" panose="020B0604020202020204" pitchFamily="34" charset="0"/>
                        </a:rPr>
                        <a:t>Kelime frekanslarının sayısal vektörlere dönüştürülmesi</a:t>
                      </a:r>
                    </a:p>
                  </a:txBody>
                  <a:tcPr anchor="ctr"/>
                </a:tc>
                <a:extLst>
                  <a:ext uri="{0D108BD9-81ED-4DB2-BD59-A6C34878D82A}">
                    <a16:rowId xmlns:a16="http://schemas.microsoft.com/office/drawing/2014/main" val="3504322322"/>
                  </a:ext>
                </a:extLst>
              </a:tr>
              <a:tr h="370840">
                <a:tc>
                  <a:txBody>
                    <a:bodyPr/>
                    <a:lstStyle/>
                    <a:p>
                      <a:pPr>
                        <a:buNone/>
                      </a:pPr>
                      <a:r>
                        <a:rPr lang="tr-TR" sz="1400" noProof="0" dirty="0" err="1">
                          <a:latin typeface="Arial" panose="020B0604020202020204" pitchFamily="34" charset="0"/>
                          <a:cs typeface="Arial" panose="020B0604020202020204" pitchFamily="34" charset="0"/>
                        </a:rPr>
                        <a:t>MLlib</a:t>
                      </a:r>
                      <a:r>
                        <a:rPr lang="tr-TR" sz="1400" noProof="0" dirty="0">
                          <a:latin typeface="Arial" panose="020B0604020202020204" pitchFamily="34" charset="0"/>
                          <a:cs typeface="Arial" panose="020B0604020202020204" pitchFamily="34" charset="0"/>
                        </a:rPr>
                        <a:t> – Özellik Ağırlıklandırma</a:t>
                      </a:r>
                    </a:p>
                  </a:txBody>
                  <a:tcPr anchor="ctr"/>
                </a:tc>
                <a:tc>
                  <a:txBody>
                    <a:bodyPr/>
                    <a:lstStyle/>
                    <a:p>
                      <a:pPr>
                        <a:buNone/>
                      </a:pPr>
                      <a:r>
                        <a:rPr lang="tr-TR" sz="1400" noProof="0" dirty="0">
                          <a:latin typeface="Arial" panose="020B0604020202020204" pitchFamily="34" charset="0"/>
                          <a:cs typeface="Arial" panose="020B0604020202020204" pitchFamily="34" charset="0"/>
                        </a:rPr>
                        <a:t>IDF</a:t>
                      </a:r>
                    </a:p>
                  </a:txBody>
                  <a:tcPr anchor="ctr"/>
                </a:tc>
                <a:tc>
                  <a:txBody>
                    <a:bodyPr/>
                    <a:lstStyle/>
                    <a:p>
                      <a:pPr>
                        <a:buNone/>
                      </a:pPr>
                      <a:r>
                        <a:rPr lang="tr-TR" sz="1400" noProof="0" dirty="0">
                          <a:latin typeface="Arial" panose="020B0604020202020204" pitchFamily="34" charset="0"/>
                          <a:cs typeface="Arial" panose="020B0604020202020204" pitchFamily="34" charset="0"/>
                        </a:rPr>
                        <a:t>TF-IDF yöntemiyle ayırt edici kelimelerin belirlenmesi</a:t>
                      </a:r>
                    </a:p>
                  </a:txBody>
                  <a:tcPr anchor="ctr"/>
                </a:tc>
                <a:extLst>
                  <a:ext uri="{0D108BD9-81ED-4DB2-BD59-A6C34878D82A}">
                    <a16:rowId xmlns:a16="http://schemas.microsoft.com/office/drawing/2014/main" val="1466857851"/>
                  </a:ext>
                </a:extLst>
              </a:tr>
              <a:tr h="370840">
                <a:tc>
                  <a:txBody>
                    <a:bodyPr/>
                    <a:lstStyle/>
                    <a:p>
                      <a:pPr>
                        <a:buNone/>
                      </a:pPr>
                      <a:r>
                        <a:rPr lang="tr-TR" sz="1400" noProof="0" dirty="0" err="1">
                          <a:latin typeface="Arial" panose="020B0604020202020204" pitchFamily="34" charset="0"/>
                          <a:cs typeface="Arial" panose="020B0604020202020204" pitchFamily="34" charset="0"/>
                        </a:rPr>
                        <a:t>MLlib</a:t>
                      </a:r>
                      <a:r>
                        <a:rPr lang="tr-TR" sz="1400" noProof="0" dirty="0">
                          <a:latin typeface="Arial" panose="020B0604020202020204" pitchFamily="34" charset="0"/>
                          <a:cs typeface="Arial" panose="020B0604020202020204" pitchFamily="34" charset="0"/>
                        </a:rPr>
                        <a:t> – N-gram Analizi</a:t>
                      </a:r>
                    </a:p>
                  </a:txBody>
                  <a:tcPr anchor="ctr"/>
                </a:tc>
                <a:tc>
                  <a:txBody>
                    <a:bodyPr/>
                    <a:lstStyle/>
                    <a:p>
                      <a:pPr>
                        <a:buNone/>
                      </a:pPr>
                      <a:r>
                        <a:rPr lang="tr-TR" sz="1400" noProof="0" dirty="0" err="1">
                          <a:latin typeface="Arial" panose="020B0604020202020204" pitchFamily="34" charset="0"/>
                          <a:cs typeface="Arial" panose="020B0604020202020204" pitchFamily="34" charset="0"/>
                        </a:rPr>
                        <a:t>NGram</a:t>
                      </a:r>
                      <a:endParaRPr lang="tr-TR" sz="1400" noProof="0" dirty="0">
                        <a:latin typeface="Arial" panose="020B0604020202020204" pitchFamily="34" charset="0"/>
                        <a:cs typeface="Arial" panose="020B0604020202020204" pitchFamily="34" charset="0"/>
                      </a:endParaRPr>
                    </a:p>
                  </a:txBody>
                  <a:tcPr anchor="ctr"/>
                </a:tc>
                <a:tc>
                  <a:txBody>
                    <a:bodyPr/>
                    <a:lstStyle/>
                    <a:p>
                      <a:pPr>
                        <a:buNone/>
                      </a:pPr>
                      <a:r>
                        <a:rPr lang="tr-TR" sz="1400" noProof="0" dirty="0">
                          <a:latin typeface="Arial" panose="020B0604020202020204" pitchFamily="34" charset="0"/>
                          <a:cs typeface="Arial" panose="020B0604020202020204" pitchFamily="34" charset="0"/>
                        </a:rPr>
                        <a:t>Kelime gruplarının (</a:t>
                      </a:r>
                      <a:r>
                        <a:rPr lang="tr-TR" sz="1400" noProof="0" dirty="0" err="1">
                          <a:latin typeface="Arial" panose="020B0604020202020204" pitchFamily="34" charset="0"/>
                          <a:cs typeface="Arial" panose="020B0604020202020204" pitchFamily="34" charset="0"/>
                        </a:rPr>
                        <a:t>bigram</a:t>
                      </a:r>
                      <a:r>
                        <a:rPr lang="tr-TR" sz="1400" noProof="0" dirty="0">
                          <a:latin typeface="Arial" panose="020B0604020202020204" pitchFamily="34" charset="0"/>
                          <a:cs typeface="Arial" panose="020B0604020202020204" pitchFamily="34" charset="0"/>
                        </a:rPr>
                        <a:t>) oluşturulması</a:t>
                      </a:r>
                    </a:p>
                  </a:txBody>
                  <a:tcPr anchor="ctr"/>
                </a:tc>
                <a:extLst>
                  <a:ext uri="{0D108BD9-81ED-4DB2-BD59-A6C34878D82A}">
                    <a16:rowId xmlns:a16="http://schemas.microsoft.com/office/drawing/2014/main" val="1348525408"/>
                  </a:ext>
                </a:extLst>
              </a:tr>
              <a:tr h="370840">
                <a:tc>
                  <a:txBody>
                    <a:bodyPr/>
                    <a:lstStyle/>
                    <a:p>
                      <a:pPr>
                        <a:buNone/>
                      </a:pPr>
                      <a:r>
                        <a:rPr lang="tr-TR" sz="1400" noProof="0" dirty="0">
                          <a:latin typeface="Arial" panose="020B0604020202020204" pitchFamily="34" charset="0"/>
                          <a:cs typeface="Arial" panose="020B0604020202020204" pitchFamily="34" charset="0"/>
                        </a:rPr>
                        <a:t>Görselleştirme</a:t>
                      </a:r>
                    </a:p>
                  </a:txBody>
                  <a:tcPr anchor="ctr"/>
                </a:tc>
                <a:tc>
                  <a:txBody>
                    <a:bodyPr/>
                    <a:lstStyle/>
                    <a:p>
                      <a:pPr>
                        <a:buNone/>
                      </a:pPr>
                      <a:r>
                        <a:rPr lang="tr-TR" sz="1400" noProof="0" dirty="0" err="1">
                          <a:latin typeface="Arial" panose="020B0604020202020204" pitchFamily="34" charset="0"/>
                          <a:cs typeface="Arial" panose="020B0604020202020204" pitchFamily="34" charset="0"/>
                        </a:rPr>
                        <a:t>matplotlib.pyplot</a:t>
                      </a:r>
                      <a:endParaRPr lang="tr-TR" sz="1400" noProof="0" dirty="0">
                        <a:latin typeface="Arial" panose="020B0604020202020204" pitchFamily="34" charset="0"/>
                        <a:cs typeface="Arial" panose="020B0604020202020204" pitchFamily="34" charset="0"/>
                      </a:endParaRPr>
                    </a:p>
                  </a:txBody>
                  <a:tcPr anchor="ctr"/>
                </a:tc>
                <a:tc>
                  <a:txBody>
                    <a:bodyPr/>
                    <a:lstStyle/>
                    <a:p>
                      <a:pPr>
                        <a:buNone/>
                      </a:pPr>
                      <a:r>
                        <a:rPr lang="tr-TR" sz="1400" noProof="0" dirty="0">
                          <a:latin typeface="Arial" panose="020B0604020202020204" pitchFamily="34" charset="0"/>
                          <a:cs typeface="Arial" panose="020B0604020202020204" pitchFamily="34" charset="0"/>
                        </a:rPr>
                        <a:t>Grafiklerin oluşturulması</a:t>
                      </a:r>
                    </a:p>
                  </a:txBody>
                  <a:tcPr anchor="ctr"/>
                </a:tc>
                <a:extLst>
                  <a:ext uri="{0D108BD9-81ED-4DB2-BD59-A6C34878D82A}">
                    <a16:rowId xmlns:a16="http://schemas.microsoft.com/office/drawing/2014/main" val="910774773"/>
                  </a:ext>
                </a:extLst>
              </a:tr>
              <a:tr h="370840">
                <a:tc>
                  <a:txBody>
                    <a:bodyPr/>
                    <a:lstStyle/>
                    <a:p>
                      <a:pPr>
                        <a:buNone/>
                      </a:pPr>
                      <a:r>
                        <a:rPr lang="tr-TR" sz="1400" noProof="0" dirty="0">
                          <a:latin typeface="Arial" panose="020B0604020202020204" pitchFamily="34" charset="0"/>
                          <a:cs typeface="Arial" panose="020B0604020202020204" pitchFamily="34" charset="0"/>
                        </a:rPr>
                        <a:t>Görselleştirme</a:t>
                      </a:r>
                    </a:p>
                  </a:txBody>
                  <a:tcPr anchor="ctr"/>
                </a:tc>
                <a:tc>
                  <a:txBody>
                    <a:bodyPr/>
                    <a:lstStyle/>
                    <a:p>
                      <a:pPr>
                        <a:buNone/>
                      </a:pPr>
                      <a:r>
                        <a:rPr lang="tr-TR" sz="1400" noProof="0" dirty="0" err="1">
                          <a:latin typeface="Arial" panose="020B0604020202020204" pitchFamily="34" charset="0"/>
                          <a:cs typeface="Arial" panose="020B0604020202020204" pitchFamily="34" charset="0"/>
                        </a:rPr>
                        <a:t>WordCloud</a:t>
                      </a:r>
                      <a:endParaRPr lang="tr-TR" sz="1400" noProof="0" dirty="0">
                        <a:latin typeface="Arial" panose="020B0604020202020204" pitchFamily="34" charset="0"/>
                        <a:cs typeface="Arial" panose="020B0604020202020204" pitchFamily="34" charset="0"/>
                      </a:endParaRPr>
                    </a:p>
                  </a:txBody>
                  <a:tcPr anchor="ctr"/>
                </a:tc>
                <a:tc>
                  <a:txBody>
                    <a:bodyPr/>
                    <a:lstStyle/>
                    <a:p>
                      <a:pPr>
                        <a:buNone/>
                      </a:pPr>
                      <a:r>
                        <a:rPr lang="tr-TR" sz="1400" noProof="0" dirty="0">
                          <a:latin typeface="Arial" panose="020B0604020202020204" pitchFamily="34" charset="0"/>
                          <a:cs typeface="Arial" panose="020B0604020202020204" pitchFamily="34" charset="0"/>
                        </a:rPr>
                        <a:t>Kelime bulutu görselleştirmesi</a:t>
                      </a:r>
                    </a:p>
                  </a:txBody>
                  <a:tcPr anchor="ctr"/>
                </a:tc>
                <a:extLst>
                  <a:ext uri="{0D108BD9-81ED-4DB2-BD59-A6C34878D82A}">
                    <a16:rowId xmlns:a16="http://schemas.microsoft.com/office/drawing/2014/main" val="3351732579"/>
                  </a:ext>
                </a:extLst>
              </a:tr>
            </a:tbl>
          </a:graphicData>
        </a:graphic>
      </p:graphicFrame>
    </p:spTree>
    <p:extLst>
      <p:ext uri="{BB962C8B-B14F-4D97-AF65-F5344CB8AC3E}">
        <p14:creationId xmlns:p14="http://schemas.microsoft.com/office/powerpoint/2010/main" val="312472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9BD603C-DC9D-D009-CB98-6DB66B36DD00}"/>
              </a:ext>
            </a:extLst>
          </p:cNvPr>
          <p:cNvPicPr>
            <a:picLocks noChangeAspect="1"/>
          </p:cNvPicPr>
          <p:nvPr/>
        </p:nvPicPr>
        <p:blipFill>
          <a:blip r:embed="rId2"/>
          <a:stretch>
            <a:fillRect/>
          </a:stretch>
        </p:blipFill>
        <p:spPr>
          <a:xfrm>
            <a:off x="5128869" y="1518180"/>
            <a:ext cx="3274317" cy="3208351"/>
          </a:xfrm>
          <a:prstGeom prst="rect">
            <a:avLst/>
          </a:prstGeom>
        </p:spPr>
      </p:pic>
      <p:pic>
        <p:nvPicPr>
          <p:cNvPr id="7" name="Picture 6">
            <a:extLst>
              <a:ext uri="{FF2B5EF4-FFF2-40B4-BE49-F238E27FC236}">
                <a16:creationId xmlns:a16="http://schemas.microsoft.com/office/drawing/2014/main" id="{90266587-E7A0-56A5-64D2-D21C1C87A82F}"/>
              </a:ext>
            </a:extLst>
          </p:cNvPr>
          <p:cNvPicPr>
            <a:picLocks noChangeAspect="1"/>
          </p:cNvPicPr>
          <p:nvPr/>
        </p:nvPicPr>
        <p:blipFill>
          <a:blip r:embed="rId3"/>
          <a:stretch>
            <a:fillRect/>
          </a:stretch>
        </p:blipFill>
        <p:spPr>
          <a:xfrm>
            <a:off x="5845723" y="4783847"/>
            <a:ext cx="1659079" cy="1259604"/>
          </a:xfrm>
          <a:prstGeom prst="rect">
            <a:avLst/>
          </a:prstGeom>
        </p:spPr>
      </p:pic>
      <p:pic>
        <p:nvPicPr>
          <p:cNvPr id="9" name="Picture 8">
            <a:extLst>
              <a:ext uri="{FF2B5EF4-FFF2-40B4-BE49-F238E27FC236}">
                <a16:creationId xmlns:a16="http://schemas.microsoft.com/office/drawing/2014/main" id="{83986D2E-A1DD-3EFC-BA4A-4A236F643D18}"/>
              </a:ext>
            </a:extLst>
          </p:cNvPr>
          <p:cNvPicPr>
            <a:picLocks noChangeAspect="1"/>
          </p:cNvPicPr>
          <p:nvPr/>
        </p:nvPicPr>
        <p:blipFill>
          <a:blip r:embed="rId4"/>
          <a:srcRect r="11603"/>
          <a:stretch>
            <a:fillRect/>
          </a:stretch>
        </p:blipFill>
        <p:spPr>
          <a:xfrm>
            <a:off x="8576471" y="1450282"/>
            <a:ext cx="2533275" cy="4067092"/>
          </a:xfrm>
          <a:prstGeom prst="rect">
            <a:avLst/>
          </a:prstGeom>
        </p:spPr>
      </p:pic>
      <p:sp>
        <p:nvSpPr>
          <p:cNvPr id="12" name="Rectangle 1">
            <a:extLst>
              <a:ext uri="{FF2B5EF4-FFF2-40B4-BE49-F238E27FC236}">
                <a16:creationId xmlns:a16="http://schemas.microsoft.com/office/drawing/2014/main" id="{48C62A81-6A8E-EE13-CEE1-E3C34C0FD475}"/>
              </a:ext>
            </a:extLst>
          </p:cNvPr>
          <p:cNvSpPr>
            <a:spLocks noChangeArrowheads="1"/>
          </p:cNvSpPr>
          <p:nvPr/>
        </p:nvSpPr>
        <p:spPr bwMode="auto">
          <a:xfrm rot="10800000" flipV="1">
            <a:off x="891266" y="1450282"/>
            <a:ext cx="3882788"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tr-TR" sz="140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Veri seti analize başlamadan önce ön işleme (</a:t>
            </a:r>
            <a:r>
              <a:rPr kumimoji="0" lang="tr-TR" sz="1400" i="0" u="none" strike="noStrike" cap="none" normalizeH="0" baseline="0" noProof="0" dirty="0" err="1">
                <a:ln>
                  <a:noFill/>
                </a:ln>
                <a:solidFill>
                  <a:schemeClr val="tx1"/>
                </a:solidFill>
                <a:effectLst/>
                <a:latin typeface="Arial" panose="020B0604020202020204" pitchFamily="34" charset="0"/>
                <a:cs typeface="Arial" panose="020B0604020202020204" pitchFamily="34" charset="0"/>
              </a:rPr>
              <a:t>preprocessing</a:t>
            </a:r>
            <a:r>
              <a:rPr kumimoji="0" lang="tr-TR" sz="140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 aşamasından geçirilmiştir.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sz="1400" i="0" u="none" strike="noStrike" cap="none" normalizeH="0" baseline="0" noProof="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sz="140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Metin içerisinde yer alan yayın bilgileri, sayfa başlıkları, editör ve dağıtım bilgileri analiz kapsamı dışında bırakılmıştır.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sz="1400" i="0" u="none" strike="noStrike" cap="none" normalizeH="0" baseline="0" noProof="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sz="140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Analizle doğrudan ilişkili olmayan meta veriler ve yapısal gürültü veri setinden temizlenmiştir.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sz="1400" i="0" u="none" strike="noStrike" cap="none" normalizeH="0" baseline="0" noProof="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sz="140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Metin yalnızca Nutuk’un içerik kısmını temsil edecek şekilde sadeleştirilmiştir.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sz="1400" i="0" u="none" strike="noStrike" cap="none" normalizeH="0" baseline="0" noProof="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sz="140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Bu temizlik işlemleri, analiz sonuçlarının yanlı (</a:t>
            </a:r>
            <a:r>
              <a:rPr kumimoji="0" lang="tr-TR" sz="1400" i="0" u="none" strike="noStrike" cap="none" normalizeH="0" baseline="0" noProof="0" dirty="0" err="1">
                <a:ln>
                  <a:noFill/>
                </a:ln>
                <a:solidFill>
                  <a:schemeClr val="tx1"/>
                </a:solidFill>
                <a:effectLst/>
                <a:latin typeface="Arial" panose="020B0604020202020204" pitchFamily="34" charset="0"/>
                <a:cs typeface="Arial" panose="020B0604020202020204" pitchFamily="34" charset="0"/>
              </a:rPr>
              <a:t>biased</a:t>
            </a:r>
            <a:r>
              <a:rPr kumimoji="0" lang="tr-TR" sz="140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 ve hatalı olmasını önlemek amacıyla yapılmıştır</a:t>
            </a:r>
            <a:r>
              <a:rPr kumimoji="0" lang="tr-TR" sz="1800" b="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a:t>
            </a:r>
          </a:p>
        </p:txBody>
      </p:sp>
      <p:sp>
        <p:nvSpPr>
          <p:cNvPr id="14" name="TextBox 13">
            <a:extLst>
              <a:ext uri="{FF2B5EF4-FFF2-40B4-BE49-F238E27FC236}">
                <a16:creationId xmlns:a16="http://schemas.microsoft.com/office/drawing/2014/main" id="{934759DE-CA83-8C7F-31C0-956CA7FC8CB1}"/>
              </a:ext>
            </a:extLst>
          </p:cNvPr>
          <p:cNvSpPr txBox="1"/>
          <p:nvPr/>
        </p:nvSpPr>
        <p:spPr>
          <a:xfrm>
            <a:off x="0" y="717567"/>
            <a:ext cx="12126036" cy="523220"/>
          </a:xfrm>
          <a:prstGeom prst="rect">
            <a:avLst/>
          </a:prstGeom>
          <a:noFill/>
        </p:spPr>
        <p:txBody>
          <a:bodyPr wrap="square">
            <a:spAutoFit/>
          </a:bodyPr>
          <a:lstStyle/>
          <a:p>
            <a:pPr algn="ctr"/>
            <a:r>
              <a:rPr lang="it-IT" sz="28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Analiz Öncesi Veri Temizleme</a:t>
            </a:r>
            <a:r>
              <a:rPr lang="tr-TR" sz="28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ye</a:t>
            </a:r>
            <a:r>
              <a:rPr lang="it-IT" sz="28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Hazırlık</a:t>
            </a:r>
            <a:endParaRPr lang="tr-TR" sz="2800"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257533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1051EF6-2E3F-D860-0E7B-7081D8F78248}"/>
              </a:ext>
            </a:extLst>
          </p:cNvPr>
          <p:cNvPicPr>
            <a:picLocks noChangeAspect="1"/>
          </p:cNvPicPr>
          <p:nvPr/>
        </p:nvPicPr>
        <p:blipFill>
          <a:blip r:embed="rId2"/>
          <a:stretch>
            <a:fillRect/>
          </a:stretch>
        </p:blipFill>
        <p:spPr>
          <a:xfrm>
            <a:off x="8318967" y="1682304"/>
            <a:ext cx="3248352" cy="1242494"/>
          </a:xfrm>
          <a:prstGeom prst="rect">
            <a:avLst/>
          </a:prstGeom>
        </p:spPr>
      </p:pic>
      <p:pic>
        <p:nvPicPr>
          <p:cNvPr id="4" name="Picture 3">
            <a:extLst>
              <a:ext uri="{FF2B5EF4-FFF2-40B4-BE49-F238E27FC236}">
                <a16:creationId xmlns:a16="http://schemas.microsoft.com/office/drawing/2014/main" id="{4CF09198-08FE-7EC3-247E-E5418546D4D3}"/>
              </a:ext>
            </a:extLst>
          </p:cNvPr>
          <p:cNvPicPr>
            <a:picLocks noChangeAspect="1"/>
          </p:cNvPicPr>
          <p:nvPr/>
        </p:nvPicPr>
        <p:blipFill>
          <a:blip r:embed="rId3"/>
          <a:stretch>
            <a:fillRect/>
          </a:stretch>
        </p:blipFill>
        <p:spPr>
          <a:xfrm>
            <a:off x="8318967" y="3599503"/>
            <a:ext cx="3248352" cy="2087066"/>
          </a:xfrm>
          <a:prstGeom prst="rect">
            <a:avLst/>
          </a:prstGeom>
        </p:spPr>
      </p:pic>
      <p:pic>
        <p:nvPicPr>
          <p:cNvPr id="5" name="Picture 4">
            <a:extLst>
              <a:ext uri="{FF2B5EF4-FFF2-40B4-BE49-F238E27FC236}">
                <a16:creationId xmlns:a16="http://schemas.microsoft.com/office/drawing/2014/main" id="{CC423DB8-D682-FC31-E91C-01347B691968}"/>
              </a:ext>
            </a:extLst>
          </p:cNvPr>
          <p:cNvPicPr>
            <a:picLocks noChangeAspect="1"/>
          </p:cNvPicPr>
          <p:nvPr/>
        </p:nvPicPr>
        <p:blipFill>
          <a:blip r:embed="rId4"/>
          <a:stretch>
            <a:fillRect/>
          </a:stretch>
        </p:blipFill>
        <p:spPr>
          <a:xfrm>
            <a:off x="4991096" y="1867343"/>
            <a:ext cx="3248352" cy="795845"/>
          </a:xfrm>
          <a:prstGeom prst="rect">
            <a:avLst/>
          </a:prstGeom>
        </p:spPr>
      </p:pic>
      <p:sp>
        <p:nvSpPr>
          <p:cNvPr id="6" name="TextBox 5">
            <a:extLst>
              <a:ext uri="{FF2B5EF4-FFF2-40B4-BE49-F238E27FC236}">
                <a16:creationId xmlns:a16="http://schemas.microsoft.com/office/drawing/2014/main" id="{6F589713-B1C6-4495-B99A-CBB00386DE8E}"/>
              </a:ext>
            </a:extLst>
          </p:cNvPr>
          <p:cNvSpPr txBox="1"/>
          <p:nvPr/>
        </p:nvSpPr>
        <p:spPr>
          <a:xfrm>
            <a:off x="4991096" y="2793993"/>
            <a:ext cx="1881917" cy="261610"/>
          </a:xfrm>
          <a:prstGeom prst="rect">
            <a:avLst/>
          </a:prstGeom>
          <a:noFill/>
        </p:spPr>
        <p:txBody>
          <a:bodyPr wrap="square">
            <a:spAutoFit/>
          </a:bodyPr>
          <a:lstStyle/>
          <a:p>
            <a:r>
              <a:rPr lang="tr-TR" sz="1100" noProof="0" dirty="0" err="1">
                <a:latin typeface="Arial" panose="020B0604020202020204" pitchFamily="34" charset="0"/>
                <a:cs typeface="Arial" panose="020B0604020202020204" pitchFamily="34" charset="0"/>
              </a:rPr>
              <a:t>Spark’a</a:t>
            </a:r>
            <a:r>
              <a:rPr lang="tr-TR" sz="1100" noProof="0" dirty="0">
                <a:latin typeface="Arial" panose="020B0604020202020204" pitchFamily="34" charset="0"/>
                <a:cs typeface="Arial" panose="020B0604020202020204" pitchFamily="34" charset="0"/>
              </a:rPr>
              <a:t> Veri Alma Kodu</a:t>
            </a:r>
          </a:p>
        </p:txBody>
      </p:sp>
      <p:sp>
        <p:nvSpPr>
          <p:cNvPr id="7" name="TextBox 6">
            <a:extLst>
              <a:ext uri="{FF2B5EF4-FFF2-40B4-BE49-F238E27FC236}">
                <a16:creationId xmlns:a16="http://schemas.microsoft.com/office/drawing/2014/main" id="{C00BA372-818F-FED1-366E-3D1CF085770B}"/>
              </a:ext>
            </a:extLst>
          </p:cNvPr>
          <p:cNvSpPr txBox="1"/>
          <p:nvPr/>
        </p:nvSpPr>
        <p:spPr>
          <a:xfrm>
            <a:off x="8510050" y="2924798"/>
            <a:ext cx="2098254" cy="261610"/>
          </a:xfrm>
          <a:prstGeom prst="rect">
            <a:avLst/>
          </a:prstGeom>
          <a:noFill/>
        </p:spPr>
        <p:txBody>
          <a:bodyPr wrap="square">
            <a:spAutoFit/>
          </a:bodyPr>
          <a:lstStyle/>
          <a:p>
            <a:r>
              <a:rPr lang="tr-TR" sz="1100" noProof="0" dirty="0">
                <a:latin typeface="Arial" panose="020B0604020202020204" pitchFamily="34" charset="0"/>
                <a:cs typeface="Arial" panose="020B0604020202020204" pitchFamily="34" charset="0"/>
              </a:rPr>
              <a:t>“Ey Türk” İçerik Doğrulama</a:t>
            </a:r>
          </a:p>
        </p:txBody>
      </p:sp>
      <p:sp>
        <p:nvSpPr>
          <p:cNvPr id="9" name="TextBox 8">
            <a:extLst>
              <a:ext uri="{FF2B5EF4-FFF2-40B4-BE49-F238E27FC236}">
                <a16:creationId xmlns:a16="http://schemas.microsoft.com/office/drawing/2014/main" id="{7701C081-15EE-381D-D3A9-E215B296C0F2}"/>
              </a:ext>
            </a:extLst>
          </p:cNvPr>
          <p:cNvSpPr txBox="1"/>
          <p:nvPr/>
        </p:nvSpPr>
        <p:spPr>
          <a:xfrm>
            <a:off x="8510050" y="5555765"/>
            <a:ext cx="1795033" cy="261610"/>
          </a:xfrm>
          <a:prstGeom prst="rect">
            <a:avLst/>
          </a:prstGeom>
          <a:noFill/>
        </p:spPr>
        <p:txBody>
          <a:bodyPr wrap="square">
            <a:spAutoFit/>
          </a:bodyPr>
          <a:lstStyle/>
          <a:p>
            <a:r>
              <a:rPr lang="tr-TR" sz="1100" noProof="0" dirty="0">
                <a:latin typeface="Arial" panose="020B0604020202020204" pitchFamily="34" charset="0"/>
                <a:cs typeface="Arial" panose="020B0604020202020204" pitchFamily="34" charset="0"/>
              </a:rPr>
              <a:t>Ham Veri İlk Satırlar</a:t>
            </a:r>
          </a:p>
        </p:txBody>
      </p:sp>
      <p:sp>
        <p:nvSpPr>
          <p:cNvPr id="11" name="TextBox 10">
            <a:extLst>
              <a:ext uri="{FF2B5EF4-FFF2-40B4-BE49-F238E27FC236}">
                <a16:creationId xmlns:a16="http://schemas.microsoft.com/office/drawing/2014/main" id="{6ADEA605-B25B-260A-2FDF-11A35610B265}"/>
              </a:ext>
            </a:extLst>
          </p:cNvPr>
          <p:cNvSpPr txBox="1"/>
          <p:nvPr/>
        </p:nvSpPr>
        <p:spPr>
          <a:xfrm>
            <a:off x="-91440" y="534780"/>
            <a:ext cx="12192000" cy="523220"/>
          </a:xfrm>
          <a:prstGeom prst="rect">
            <a:avLst/>
          </a:prstGeom>
          <a:noFill/>
        </p:spPr>
        <p:txBody>
          <a:bodyPr wrap="square">
            <a:spAutoFit/>
          </a:bodyPr>
          <a:lstStyle/>
          <a:p>
            <a:pPr algn="ctr"/>
            <a:r>
              <a:rPr lang="tr-TR" sz="2800" noProof="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Ham Veri Tanıtımı İnceleme </a:t>
            </a:r>
            <a:r>
              <a:rPr lang="en-US" sz="28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(Apache Spark)</a:t>
            </a:r>
            <a:endParaRPr lang="tr-TR" sz="2800"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58907A75-3124-5D75-F440-44E3DE1F9999}"/>
              </a:ext>
            </a:extLst>
          </p:cNvPr>
          <p:cNvPicPr>
            <a:picLocks noChangeAspect="1"/>
          </p:cNvPicPr>
          <p:nvPr/>
        </p:nvPicPr>
        <p:blipFill>
          <a:blip r:embed="rId5"/>
          <a:stretch>
            <a:fillRect/>
          </a:stretch>
        </p:blipFill>
        <p:spPr>
          <a:xfrm>
            <a:off x="4996916" y="3472531"/>
            <a:ext cx="2783960" cy="1430685"/>
          </a:xfrm>
          <a:prstGeom prst="rect">
            <a:avLst/>
          </a:prstGeom>
        </p:spPr>
      </p:pic>
      <p:sp>
        <p:nvSpPr>
          <p:cNvPr id="13" name="TextBox 12">
            <a:extLst>
              <a:ext uri="{FF2B5EF4-FFF2-40B4-BE49-F238E27FC236}">
                <a16:creationId xmlns:a16="http://schemas.microsoft.com/office/drawing/2014/main" id="{1104EBD2-404C-3842-43F3-EB511F11BDC2}"/>
              </a:ext>
            </a:extLst>
          </p:cNvPr>
          <p:cNvSpPr txBox="1"/>
          <p:nvPr/>
        </p:nvSpPr>
        <p:spPr>
          <a:xfrm>
            <a:off x="4868644" y="4714168"/>
            <a:ext cx="3176857" cy="381771"/>
          </a:xfrm>
          <a:prstGeom prst="rect">
            <a:avLst/>
          </a:prstGeom>
          <a:noFill/>
        </p:spPr>
        <p:txBody>
          <a:bodyPr wrap="square">
            <a:spAutoFit/>
          </a:bodyPr>
          <a:lstStyle/>
          <a:p>
            <a:pPr>
              <a:lnSpc>
                <a:spcPct val="114000"/>
              </a:lnSpc>
            </a:pPr>
            <a:r>
              <a:rPr lang="tr-TR" noProof="0" dirty="0">
                <a:latin typeface="Arial" panose="020B0604020202020204" pitchFamily="34" charset="0"/>
                <a:cs typeface="Arial" panose="020B0604020202020204" pitchFamily="34" charset="0"/>
              </a:rPr>
              <a:t> </a:t>
            </a:r>
            <a:r>
              <a:rPr lang="tr-TR" sz="1100" noProof="0" dirty="0">
                <a:latin typeface="Arial" panose="020B0604020202020204" pitchFamily="34" charset="0"/>
                <a:cs typeface="Arial" panose="020B0604020202020204" pitchFamily="34" charset="0"/>
              </a:rPr>
              <a:t>Satır/Sütun Sayısı ve Şema (</a:t>
            </a:r>
            <a:r>
              <a:rPr lang="tr-TR" sz="1100" noProof="0" dirty="0" err="1">
                <a:latin typeface="Arial" panose="020B0604020202020204" pitchFamily="34" charset="0"/>
                <a:cs typeface="Arial" panose="020B0604020202020204" pitchFamily="34" charset="0"/>
              </a:rPr>
              <a:t>df.printSchema</a:t>
            </a:r>
            <a:r>
              <a:rPr lang="tr-TR" sz="1100" noProof="0" dirty="0">
                <a:latin typeface="Arial" panose="020B0604020202020204" pitchFamily="34" charset="0"/>
                <a:cs typeface="Arial" panose="020B0604020202020204" pitchFamily="34" charset="0"/>
              </a:rPr>
              <a:t>)</a:t>
            </a:r>
          </a:p>
        </p:txBody>
      </p:sp>
      <p:sp>
        <p:nvSpPr>
          <p:cNvPr id="14" name="Rectangle 1">
            <a:extLst>
              <a:ext uri="{FF2B5EF4-FFF2-40B4-BE49-F238E27FC236}">
                <a16:creationId xmlns:a16="http://schemas.microsoft.com/office/drawing/2014/main" id="{4CB3FB6D-FDA2-3DBC-3375-BCDA7CB77487}"/>
              </a:ext>
            </a:extLst>
          </p:cNvPr>
          <p:cNvSpPr>
            <a:spLocks noChangeArrowheads="1"/>
          </p:cNvSpPr>
          <p:nvPr/>
        </p:nvSpPr>
        <p:spPr bwMode="auto">
          <a:xfrm>
            <a:off x="776852" y="1476166"/>
            <a:ext cx="4214244" cy="4246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Nutuk metni, herhangi bir ön işleme uygulanmadan Apache </a:t>
            </a:r>
            <a:r>
              <a:rPr kumimoji="0" lang="tr-TR" sz="1400" i="0" u="none" strike="noStrike" cap="none" normalizeH="0" baseline="0" noProof="0" dirty="0" err="1">
                <a:ln>
                  <a:noFill/>
                </a:ln>
                <a:solidFill>
                  <a:schemeClr val="tx1"/>
                </a:solidFill>
                <a:effectLst/>
                <a:latin typeface="Arial" panose="020B0604020202020204" pitchFamily="34" charset="0"/>
                <a:cs typeface="Arial" panose="020B0604020202020204" pitchFamily="34" charset="0"/>
              </a:rPr>
              <a:t>Spark</a:t>
            </a:r>
            <a:r>
              <a:rPr kumimoji="0" lang="tr-TR" sz="140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 ortamına aktarılmıştır.</a:t>
            </a:r>
          </a:p>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Veri setinin Nutuk’a ait olduğu, metin içerisinden seçilen özgün ifadeler üzerinden doğrulanmıştır.</a:t>
            </a:r>
          </a:p>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Veri setinin yapısal özellikleri incelenmiş; satır sayısı, sütun sayısı ve şema bilgileri analiz edilmiştir.</a:t>
            </a:r>
          </a:p>
          <a:p>
            <a:pPr defTabSz="914400" eaLnBrk="0" fontAlgn="base" hangingPunct="0">
              <a:lnSpc>
                <a:spcPct val="114000"/>
              </a:lnSpc>
              <a:spcBef>
                <a:spcPct val="0"/>
              </a:spcBef>
              <a:spcAft>
                <a:spcPct val="0"/>
              </a:spcAft>
              <a:buFontTx/>
              <a:buChar char="•"/>
            </a:pPr>
            <a:r>
              <a:rPr lang="tr-TR" sz="1400" dirty="0">
                <a:latin typeface="Arial" panose="020B0604020202020204" pitchFamily="34" charset="0"/>
              </a:rPr>
              <a:t>Veri seti toplam 42889 satırdan oluşmakta olup tek bir metin sütunu içermektedir.</a:t>
            </a:r>
          </a:p>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Metindeki satır uzunlukları hesaplanarak ham verinin yapısal çeşitliliği gözlemlenmiştir.</a:t>
            </a:r>
          </a:p>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Ham veriye ait satır yapısı ve içerik özellikleri, örnek satırlar üzerinden görsel olarak incelenmiştir.</a:t>
            </a:r>
          </a:p>
          <a:p>
            <a:pPr lvl="0" defTabSz="914400" eaLnBrk="0" fontAlgn="base" hangingPunct="0">
              <a:lnSpc>
                <a:spcPct val="114000"/>
              </a:lnSpc>
              <a:spcBef>
                <a:spcPct val="0"/>
              </a:spcBef>
              <a:spcAft>
                <a:spcPct val="0"/>
              </a:spcAft>
              <a:buFontTx/>
              <a:buChar char="•"/>
            </a:pPr>
            <a:r>
              <a:rPr lang="tr-TR" sz="1400" dirty="0">
                <a:latin typeface="Arial" panose="020B0604020202020204" pitchFamily="34" charset="0"/>
              </a:rPr>
              <a:t>Şema incelemesi, tüm satırların metin (</a:t>
            </a:r>
            <a:r>
              <a:rPr lang="tr-TR" sz="1400" dirty="0" err="1">
                <a:latin typeface="Arial" panose="020B0604020202020204" pitchFamily="34" charset="0"/>
              </a:rPr>
              <a:t>string</a:t>
            </a:r>
            <a:r>
              <a:rPr lang="tr-TR" sz="1400" dirty="0">
                <a:latin typeface="Arial" panose="020B0604020202020204" pitchFamily="34" charset="0"/>
              </a:rPr>
              <a:t>) türünde tutulduğunu ve boş değerlere izin verildiğini göstermektedir.</a:t>
            </a:r>
            <a:endParaRPr kumimoji="0" lang="tr-TR" sz="1400" b="0" i="0" u="none" strike="noStrike" cap="none" normalizeH="0" baseline="0" noProof="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596308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9C05D22-2782-F118-5B33-EE742C509BB7}"/>
              </a:ext>
            </a:extLst>
          </p:cNvPr>
          <p:cNvSpPr txBox="1"/>
          <p:nvPr/>
        </p:nvSpPr>
        <p:spPr>
          <a:xfrm>
            <a:off x="0" y="538481"/>
            <a:ext cx="12192000" cy="523220"/>
          </a:xfrm>
          <a:prstGeom prst="rect">
            <a:avLst/>
          </a:prstGeom>
          <a:noFill/>
        </p:spPr>
        <p:txBody>
          <a:bodyPr wrap="square">
            <a:spAutoFit/>
          </a:bodyPr>
          <a:lstStyle/>
          <a:p>
            <a:pPr algn="ctr"/>
            <a:r>
              <a:rPr lang="tr-TR" sz="2800" noProof="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Satır Uzunluğu, Dil Yapısı ve Kelime Frekansları İncelemesi</a:t>
            </a:r>
          </a:p>
        </p:txBody>
      </p:sp>
      <p:pic>
        <p:nvPicPr>
          <p:cNvPr id="10" name="Picture 9">
            <a:extLst>
              <a:ext uri="{FF2B5EF4-FFF2-40B4-BE49-F238E27FC236}">
                <a16:creationId xmlns:a16="http://schemas.microsoft.com/office/drawing/2014/main" id="{ACC80DE0-3425-EBB6-7A6E-88875AEDA43F}"/>
              </a:ext>
            </a:extLst>
          </p:cNvPr>
          <p:cNvPicPr>
            <a:picLocks noChangeAspect="1"/>
          </p:cNvPicPr>
          <p:nvPr/>
        </p:nvPicPr>
        <p:blipFill>
          <a:blip r:embed="rId2"/>
          <a:srcRect t="4432" r="20265" b="9425"/>
          <a:stretch>
            <a:fillRect/>
          </a:stretch>
        </p:blipFill>
        <p:spPr>
          <a:xfrm>
            <a:off x="7936883" y="1532074"/>
            <a:ext cx="3105158" cy="2890624"/>
          </a:xfrm>
          <a:prstGeom prst="rect">
            <a:avLst/>
          </a:prstGeom>
        </p:spPr>
      </p:pic>
      <p:sp>
        <p:nvSpPr>
          <p:cNvPr id="14" name="TextBox 13">
            <a:extLst>
              <a:ext uri="{FF2B5EF4-FFF2-40B4-BE49-F238E27FC236}">
                <a16:creationId xmlns:a16="http://schemas.microsoft.com/office/drawing/2014/main" id="{C9895205-1B31-35BB-244E-C9A44433507B}"/>
              </a:ext>
            </a:extLst>
          </p:cNvPr>
          <p:cNvSpPr txBox="1"/>
          <p:nvPr/>
        </p:nvSpPr>
        <p:spPr>
          <a:xfrm>
            <a:off x="8065154" y="4400499"/>
            <a:ext cx="3250545" cy="269241"/>
          </a:xfrm>
          <a:prstGeom prst="rect">
            <a:avLst/>
          </a:prstGeom>
          <a:noFill/>
        </p:spPr>
        <p:txBody>
          <a:bodyPr wrap="square">
            <a:spAutoFit/>
          </a:bodyPr>
          <a:lstStyle/>
          <a:p>
            <a:pPr>
              <a:lnSpc>
                <a:spcPct val="114000"/>
              </a:lnSpc>
            </a:pPr>
            <a:r>
              <a:rPr lang="tr-TR" sz="1100" noProof="0" dirty="0">
                <a:latin typeface="Arial" panose="020B0604020202020204" pitchFamily="34" charset="0"/>
                <a:cs typeface="Arial" panose="020B0604020202020204" pitchFamily="34" charset="0"/>
              </a:rPr>
              <a:t>Ham Veri Kelime Frekansları (Top kelimeler)</a:t>
            </a:r>
          </a:p>
        </p:txBody>
      </p:sp>
      <p:sp>
        <p:nvSpPr>
          <p:cNvPr id="16" name="TextBox 15">
            <a:extLst>
              <a:ext uri="{FF2B5EF4-FFF2-40B4-BE49-F238E27FC236}">
                <a16:creationId xmlns:a16="http://schemas.microsoft.com/office/drawing/2014/main" id="{C6B2611D-15CD-912D-F5D4-6D43355B1509}"/>
              </a:ext>
            </a:extLst>
          </p:cNvPr>
          <p:cNvSpPr txBox="1"/>
          <p:nvPr/>
        </p:nvSpPr>
        <p:spPr>
          <a:xfrm>
            <a:off x="6231382" y="4303998"/>
            <a:ext cx="1588536" cy="462242"/>
          </a:xfrm>
          <a:prstGeom prst="rect">
            <a:avLst/>
          </a:prstGeom>
          <a:noFill/>
        </p:spPr>
        <p:txBody>
          <a:bodyPr wrap="square">
            <a:spAutoFit/>
          </a:bodyPr>
          <a:lstStyle/>
          <a:p>
            <a:pPr>
              <a:lnSpc>
                <a:spcPct val="114000"/>
              </a:lnSpc>
            </a:pPr>
            <a:r>
              <a:rPr lang="tr-TR" sz="1100" noProof="0" dirty="0">
                <a:latin typeface="Arial" panose="020B0604020202020204" pitchFamily="34" charset="0"/>
                <a:cs typeface="Arial" panose="020B0604020202020204" pitchFamily="34" charset="0"/>
              </a:rPr>
              <a:t>Türkçe Karakter İçeren Satır Sayısı</a:t>
            </a:r>
          </a:p>
        </p:txBody>
      </p:sp>
      <p:sp>
        <p:nvSpPr>
          <p:cNvPr id="19" name="Rectangle 1">
            <a:extLst>
              <a:ext uri="{FF2B5EF4-FFF2-40B4-BE49-F238E27FC236}">
                <a16:creationId xmlns:a16="http://schemas.microsoft.com/office/drawing/2014/main" id="{8451967C-588C-D3FB-2330-4B92DDBA1580}"/>
              </a:ext>
            </a:extLst>
          </p:cNvPr>
          <p:cNvSpPr>
            <a:spLocks noChangeArrowheads="1"/>
          </p:cNvSpPr>
          <p:nvPr/>
        </p:nvSpPr>
        <p:spPr bwMode="auto">
          <a:xfrm>
            <a:off x="776678" y="1370571"/>
            <a:ext cx="5089550" cy="301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b="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Ham veride metnin yapısal çeşitliliğini gözlemlemek amacıyla satırların karakter uzunlukları incelenmiştir.</a:t>
            </a:r>
          </a:p>
          <a:p>
            <a:pPr defTabSz="914400" eaLnBrk="0" fontAlgn="base" hangingPunct="0">
              <a:lnSpc>
                <a:spcPct val="114000"/>
              </a:lnSpc>
              <a:spcBef>
                <a:spcPct val="0"/>
              </a:spcBef>
              <a:spcAft>
                <a:spcPct val="0"/>
              </a:spcAft>
              <a:buFontTx/>
              <a:buChar char="•"/>
            </a:pPr>
            <a:r>
              <a:rPr kumimoji="0" lang="tr-TR" sz="1400" b="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Metnin dil yapısını tanımak amacıyla </a:t>
            </a:r>
            <a:r>
              <a:rPr lang="tr-TR" sz="1400" dirty="0">
                <a:latin typeface="Arial" panose="020B0604020202020204" pitchFamily="34" charset="0"/>
                <a:cs typeface="Arial" panose="020B0604020202020204" pitchFamily="34" charset="0"/>
              </a:rPr>
              <a:t>Türkçe karakterlerin varlığı kontrol edildiğinde,</a:t>
            </a:r>
            <a:r>
              <a:rPr kumimoji="0" lang="tr-TR" sz="1400" b="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 karakterlerin ve özel sembollerin varlığı </a:t>
            </a:r>
            <a:r>
              <a:rPr lang="tr-TR" sz="1400" dirty="0">
                <a:latin typeface="Arial" panose="020B0604020202020204" pitchFamily="34" charset="0"/>
                <a:cs typeface="Arial" panose="020B0604020202020204" pitchFamily="34" charset="0"/>
              </a:rPr>
              <a:t>ve yoğunluğu tespit edilmiştir.</a:t>
            </a:r>
          </a:p>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b="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Veri setinin satır bazında özet istatistikleri (</a:t>
            </a:r>
            <a:r>
              <a:rPr kumimoji="0" lang="tr-TR" sz="1400" b="0" i="0" u="none" strike="noStrike" cap="none" normalizeH="0" baseline="0" noProof="0" dirty="0" err="1">
                <a:ln>
                  <a:noFill/>
                </a:ln>
                <a:solidFill>
                  <a:schemeClr val="tx1"/>
                </a:solidFill>
                <a:effectLst/>
                <a:latin typeface="Arial" panose="020B0604020202020204" pitchFamily="34" charset="0"/>
                <a:cs typeface="Arial" panose="020B0604020202020204" pitchFamily="34" charset="0"/>
              </a:rPr>
              <a:t>count</a:t>
            </a:r>
            <a:r>
              <a:rPr kumimoji="0" lang="tr-TR" sz="1400" b="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 </a:t>
            </a:r>
            <a:r>
              <a:rPr kumimoji="0" lang="tr-TR" sz="1400" b="0" i="0" u="none" strike="noStrike" cap="none" normalizeH="0" baseline="0" noProof="0" dirty="0" err="1">
                <a:ln>
                  <a:noFill/>
                </a:ln>
                <a:solidFill>
                  <a:schemeClr val="tx1"/>
                </a:solidFill>
                <a:effectLst/>
                <a:latin typeface="Arial" panose="020B0604020202020204" pitchFamily="34" charset="0"/>
                <a:cs typeface="Arial" panose="020B0604020202020204" pitchFamily="34" charset="0"/>
              </a:rPr>
              <a:t>mean</a:t>
            </a:r>
            <a:r>
              <a:rPr kumimoji="0" lang="tr-TR" sz="1400" b="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 </a:t>
            </a:r>
            <a:r>
              <a:rPr kumimoji="0" lang="tr-TR" sz="1400" b="0" i="0" u="none" strike="noStrike" cap="none" normalizeH="0" baseline="0" noProof="0" dirty="0" err="1">
                <a:ln>
                  <a:noFill/>
                </a:ln>
                <a:solidFill>
                  <a:schemeClr val="tx1"/>
                </a:solidFill>
                <a:effectLst/>
                <a:latin typeface="Arial" panose="020B0604020202020204" pitchFamily="34" charset="0"/>
                <a:cs typeface="Arial" panose="020B0604020202020204" pitchFamily="34" charset="0"/>
              </a:rPr>
              <a:t>min</a:t>
            </a:r>
            <a:r>
              <a:rPr kumimoji="0" lang="tr-TR" sz="1400" b="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 </a:t>
            </a:r>
            <a:r>
              <a:rPr kumimoji="0" lang="tr-TR" sz="1400" b="0" i="0" u="none" strike="noStrike" cap="none" normalizeH="0" baseline="0" noProof="0" dirty="0" err="1">
                <a:ln>
                  <a:noFill/>
                </a:ln>
                <a:solidFill>
                  <a:schemeClr val="tx1"/>
                </a:solidFill>
                <a:effectLst/>
                <a:latin typeface="Arial" panose="020B0604020202020204" pitchFamily="34" charset="0"/>
                <a:cs typeface="Arial" panose="020B0604020202020204" pitchFamily="34" charset="0"/>
              </a:rPr>
              <a:t>max</a:t>
            </a:r>
            <a:r>
              <a:rPr kumimoji="0" lang="tr-TR" sz="1400" b="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 vb.) görüntülenmiştir.</a:t>
            </a:r>
          </a:p>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b="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Metin içerisinde ham veride en sık geçen kelimeler incelenerek tekrar yapısı gözlemlenmiştir.</a:t>
            </a:r>
          </a:p>
          <a:p>
            <a:pPr defTabSz="914400" eaLnBrk="0" fontAlgn="base" hangingPunct="0">
              <a:lnSpc>
                <a:spcPct val="114000"/>
              </a:lnSpc>
              <a:spcBef>
                <a:spcPct val="0"/>
              </a:spcBef>
              <a:spcAft>
                <a:spcPct val="0"/>
              </a:spcAft>
              <a:buFontTx/>
              <a:buChar char="•"/>
            </a:pPr>
            <a:r>
              <a:rPr lang="tr-TR" sz="1400" dirty="0">
                <a:latin typeface="Arial" panose="020B0604020202020204" pitchFamily="34" charset="0"/>
                <a:cs typeface="Arial" panose="020B0604020202020204" pitchFamily="34" charset="0"/>
              </a:rPr>
              <a:t>Metin içerisinde Türkçe karakterlerin varlığı ve yoğunluğu tespit edilmiştir.</a:t>
            </a:r>
          </a:p>
          <a:p>
            <a:pPr marL="0" marR="0" lvl="0" indent="0" algn="l" defTabSz="914400" rtl="0" eaLnBrk="0" fontAlgn="base" latinLnBrk="0" hangingPunct="0">
              <a:lnSpc>
                <a:spcPct val="114000"/>
              </a:lnSpc>
              <a:spcBef>
                <a:spcPct val="0"/>
              </a:spcBef>
              <a:spcAft>
                <a:spcPct val="0"/>
              </a:spcAft>
              <a:buClrTx/>
              <a:buSzTx/>
              <a:buFontTx/>
              <a:buChar char="•"/>
              <a:tabLst/>
            </a:pPr>
            <a:endParaRPr kumimoji="0" lang="tr-TR" sz="1400" b="0" i="0" u="none" strike="noStrike" cap="none" normalizeH="0" baseline="0" noProof="0" dirty="0">
              <a:ln>
                <a:noFill/>
              </a:ln>
              <a:solidFill>
                <a:schemeClr val="tx1"/>
              </a:solidFill>
              <a:effectLst/>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0853DB3D-3BA8-C82E-B554-E2EC59862203}"/>
              </a:ext>
            </a:extLst>
          </p:cNvPr>
          <p:cNvPicPr>
            <a:picLocks noChangeAspect="1"/>
          </p:cNvPicPr>
          <p:nvPr/>
        </p:nvPicPr>
        <p:blipFill>
          <a:blip r:embed="rId3"/>
          <a:stretch>
            <a:fillRect/>
          </a:stretch>
        </p:blipFill>
        <p:spPr>
          <a:xfrm>
            <a:off x="2246997" y="4068701"/>
            <a:ext cx="3248351" cy="1957131"/>
          </a:xfrm>
          <a:prstGeom prst="rect">
            <a:avLst/>
          </a:prstGeom>
        </p:spPr>
      </p:pic>
      <p:sp>
        <p:nvSpPr>
          <p:cNvPr id="21" name="TextBox 20">
            <a:extLst>
              <a:ext uri="{FF2B5EF4-FFF2-40B4-BE49-F238E27FC236}">
                <a16:creationId xmlns:a16="http://schemas.microsoft.com/office/drawing/2014/main" id="{1DC4A824-079C-E7F2-23C4-C7D6AC1E817D}"/>
              </a:ext>
            </a:extLst>
          </p:cNvPr>
          <p:cNvSpPr txBox="1"/>
          <p:nvPr/>
        </p:nvSpPr>
        <p:spPr>
          <a:xfrm>
            <a:off x="2310215" y="5895027"/>
            <a:ext cx="2734437" cy="261610"/>
          </a:xfrm>
          <a:prstGeom prst="rect">
            <a:avLst/>
          </a:prstGeom>
          <a:noFill/>
        </p:spPr>
        <p:txBody>
          <a:bodyPr wrap="square">
            <a:spAutoFit/>
          </a:bodyPr>
          <a:lstStyle/>
          <a:p>
            <a:r>
              <a:rPr lang="tr-TR" sz="1100" noProof="0" dirty="0">
                <a:latin typeface="Arial" panose="020B0604020202020204" pitchFamily="34" charset="0"/>
                <a:cs typeface="Arial" panose="020B0604020202020204" pitchFamily="34" charset="0"/>
              </a:rPr>
              <a:t>Türkçe Karakter Kontrolü ve sayısı</a:t>
            </a:r>
          </a:p>
        </p:txBody>
      </p:sp>
      <p:pic>
        <p:nvPicPr>
          <p:cNvPr id="24" name="Picture 23">
            <a:extLst>
              <a:ext uri="{FF2B5EF4-FFF2-40B4-BE49-F238E27FC236}">
                <a16:creationId xmlns:a16="http://schemas.microsoft.com/office/drawing/2014/main" id="{CD598149-794C-4CE1-E6BE-C06D0B9A21BB}"/>
              </a:ext>
            </a:extLst>
          </p:cNvPr>
          <p:cNvPicPr>
            <a:picLocks noChangeAspect="1"/>
          </p:cNvPicPr>
          <p:nvPr/>
        </p:nvPicPr>
        <p:blipFill>
          <a:blip r:embed="rId4"/>
          <a:srcRect t="3713" r="6605"/>
          <a:stretch>
            <a:fillRect/>
          </a:stretch>
        </p:blipFill>
        <p:spPr>
          <a:xfrm>
            <a:off x="6179616" y="1632902"/>
            <a:ext cx="1692069" cy="2760592"/>
          </a:xfrm>
          <a:prstGeom prst="rect">
            <a:avLst/>
          </a:prstGeom>
        </p:spPr>
      </p:pic>
    </p:spTree>
    <p:extLst>
      <p:ext uri="{BB962C8B-B14F-4D97-AF65-F5344CB8AC3E}">
        <p14:creationId xmlns:p14="http://schemas.microsoft.com/office/powerpoint/2010/main" val="40058757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5E781B42-B191-648A-B55A-4D8C561CF3DE}"/>
              </a:ext>
            </a:extLst>
          </p:cNvPr>
          <p:cNvPicPr>
            <a:picLocks noChangeAspect="1"/>
          </p:cNvPicPr>
          <p:nvPr/>
        </p:nvPicPr>
        <p:blipFill>
          <a:blip r:embed="rId2"/>
          <a:stretch>
            <a:fillRect/>
          </a:stretch>
        </p:blipFill>
        <p:spPr>
          <a:xfrm>
            <a:off x="7641492" y="1187834"/>
            <a:ext cx="2874108" cy="1401127"/>
          </a:xfrm>
          <a:prstGeom prst="rect">
            <a:avLst/>
          </a:prstGeom>
        </p:spPr>
      </p:pic>
      <p:pic>
        <p:nvPicPr>
          <p:cNvPr id="18" name="Picture 17">
            <a:extLst>
              <a:ext uri="{FF2B5EF4-FFF2-40B4-BE49-F238E27FC236}">
                <a16:creationId xmlns:a16="http://schemas.microsoft.com/office/drawing/2014/main" id="{FDC2DC03-89CB-DF5D-89F5-DE4FCCDAF8BC}"/>
              </a:ext>
            </a:extLst>
          </p:cNvPr>
          <p:cNvPicPr>
            <a:picLocks noChangeAspect="1"/>
          </p:cNvPicPr>
          <p:nvPr/>
        </p:nvPicPr>
        <p:blipFill>
          <a:blip r:embed="rId3"/>
          <a:srcRect l="2987" r="11106"/>
          <a:stretch>
            <a:fillRect/>
          </a:stretch>
        </p:blipFill>
        <p:spPr>
          <a:xfrm>
            <a:off x="7403608" y="3116476"/>
            <a:ext cx="3442583" cy="2759851"/>
          </a:xfrm>
          <a:prstGeom prst="rect">
            <a:avLst/>
          </a:prstGeom>
        </p:spPr>
      </p:pic>
      <p:sp>
        <p:nvSpPr>
          <p:cNvPr id="20" name="TextBox 19">
            <a:extLst>
              <a:ext uri="{FF2B5EF4-FFF2-40B4-BE49-F238E27FC236}">
                <a16:creationId xmlns:a16="http://schemas.microsoft.com/office/drawing/2014/main" id="{A611E81B-8A8E-116F-F168-D7A3EE1CF15A}"/>
              </a:ext>
            </a:extLst>
          </p:cNvPr>
          <p:cNvSpPr txBox="1"/>
          <p:nvPr/>
        </p:nvSpPr>
        <p:spPr>
          <a:xfrm>
            <a:off x="741379" y="1187834"/>
            <a:ext cx="6165857" cy="5048177"/>
          </a:xfrm>
          <a:prstGeom prst="rect">
            <a:avLst/>
          </a:prstGeom>
          <a:noFill/>
        </p:spPr>
        <p:txBody>
          <a:bodyPr wrap="square">
            <a:spAutoFit/>
          </a:bodyPr>
          <a:lstStyle/>
          <a:p>
            <a:pPr>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Nutuk metnindeki satırların karakter uzunlukları incelenmiştir.</a:t>
            </a:r>
          </a:p>
          <a:p>
            <a:pPr>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Amaç, ham metnin yapısal dağılımını analiz öncesinde tanımlamaktır.</a:t>
            </a:r>
          </a:p>
          <a:p>
            <a:pPr>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Satırlar uzunluklarına göre kategorilere ayrılmıştır.</a:t>
            </a:r>
          </a:p>
          <a:p>
            <a:pPr>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30 karakterden kısa satırlar “çok kısa”, 30–80 karakter arası satırlar “normal” olarak sınıflandırılmıştır.</a:t>
            </a:r>
            <a:r>
              <a:rPr lang="tr-TR" sz="1400" dirty="0">
                <a:latin typeface="Arial" panose="020B0604020202020204" pitchFamily="34" charset="0"/>
                <a:cs typeface="Arial" panose="020B0604020202020204" pitchFamily="34" charset="0"/>
              </a:rPr>
              <a:t> </a:t>
            </a:r>
          </a:p>
          <a:p>
            <a:pPr>
              <a:lnSpc>
                <a:spcPct val="114000"/>
              </a:lnSpc>
              <a:buFont typeface="Arial" panose="020B0604020202020204" pitchFamily="34" charset="0"/>
              <a:buChar char="•"/>
            </a:pPr>
            <a:r>
              <a:rPr lang="tr-TR" sz="1400" dirty="0">
                <a:latin typeface="Arial" panose="020B0604020202020204" pitchFamily="34" charset="0"/>
                <a:cs typeface="Arial" panose="020B0604020202020204" pitchFamily="34" charset="0"/>
              </a:rPr>
              <a:t>80 karakterden uzun satıra rastlanmamıştır.</a:t>
            </a:r>
          </a:p>
          <a:p>
            <a:pPr>
              <a:lnSpc>
                <a:spcPct val="114000"/>
              </a:lnSpc>
            </a:pPr>
            <a:r>
              <a:rPr lang="tr-TR" sz="1400" dirty="0">
                <a:latin typeface="Arial" panose="020B0604020202020204" pitchFamily="34" charset="0"/>
                <a:cs typeface="Arial" panose="020B0604020202020204" pitchFamily="34" charset="0"/>
              </a:rPr>
              <a:t>   Amaç, metnin analiz öncesi yapısal durumunu ve olası gürültü kaynaklarını tanımaktır.</a:t>
            </a:r>
            <a:endParaRPr lang="tr-TR" sz="1400" noProof="0" dirty="0">
              <a:latin typeface="Arial" panose="020B0604020202020204" pitchFamily="34" charset="0"/>
              <a:cs typeface="Arial" panose="020B0604020202020204" pitchFamily="34" charset="0"/>
            </a:endParaRPr>
          </a:p>
          <a:p>
            <a:pPr>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Metindeki satırların %32,88’i (14.104 satır) çok kısa satırlardan oluşmaktadır.</a:t>
            </a:r>
          </a:p>
          <a:p>
            <a:pPr>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Satırların %67,12’si (28.785 satır) normal uzunluktadır.</a:t>
            </a:r>
          </a:p>
          <a:p>
            <a:r>
              <a:rPr lang="tr-TR" sz="1400" dirty="0">
                <a:latin typeface="Arial" panose="020B0604020202020204" pitchFamily="34" charset="0"/>
                <a:cs typeface="Arial" panose="020B0604020202020204" pitchFamily="34" charset="0"/>
              </a:rPr>
              <a:t>   Amaç: Satırların yüzde olarak hangi uzunluk grubunda yoğunlaştığını görmek.</a:t>
            </a:r>
          </a:p>
          <a:p>
            <a:r>
              <a:rPr lang="tr-TR" sz="1400" dirty="0">
                <a:latin typeface="Arial" panose="020B0604020202020204" pitchFamily="34" charset="0"/>
                <a:cs typeface="Arial" panose="020B0604020202020204" pitchFamily="34" charset="0"/>
              </a:rPr>
              <a:t> Bu grafik neyi gösterir?</a:t>
            </a:r>
          </a:p>
          <a:p>
            <a:pPr lvl="1"/>
            <a:r>
              <a:rPr lang="tr-TR" sz="1400" dirty="0">
                <a:latin typeface="Arial" panose="020B0604020202020204" pitchFamily="34" charset="0"/>
                <a:cs typeface="Arial" panose="020B0604020202020204" pitchFamily="34" charset="0"/>
              </a:rPr>
              <a:t>Normal uzunluktaki satırların yüzdesi</a:t>
            </a:r>
          </a:p>
          <a:p>
            <a:pPr lvl="1"/>
            <a:r>
              <a:rPr lang="tr-TR" sz="1400" dirty="0">
                <a:latin typeface="Arial" panose="020B0604020202020204" pitchFamily="34" charset="0"/>
                <a:cs typeface="Arial" panose="020B0604020202020204" pitchFamily="34" charset="0"/>
              </a:rPr>
              <a:t>Çok kısa satırların yüzdesi</a:t>
            </a:r>
          </a:p>
          <a:p>
            <a:pPr lvl="1"/>
            <a:r>
              <a:rPr lang="tr-TR" sz="1400" dirty="0">
                <a:latin typeface="Arial" panose="020B0604020202020204" pitchFamily="34" charset="0"/>
                <a:cs typeface="Arial" panose="020B0604020202020204" pitchFamily="34" charset="0"/>
              </a:rPr>
              <a:t>Çok uzun satırların yüzdesi</a:t>
            </a:r>
          </a:p>
          <a:p>
            <a:pPr>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Bu dağılım, metnin satır uzunluğu çeşitliliğini ve analiz öncesi yapısal durumunu göstermektedir.</a:t>
            </a:r>
          </a:p>
          <a:p>
            <a:pPr>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Satır uzunluğu bilgileri, sonraki aşamalar için referans niteliği taşımaktadır.</a:t>
            </a:r>
          </a:p>
          <a:p>
            <a:pPr>
              <a:lnSpc>
                <a:spcPct val="114000"/>
              </a:lnSpc>
              <a:buFont typeface="Arial" panose="020B0604020202020204" pitchFamily="34" charset="0"/>
              <a:buChar char="•"/>
            </a:pPr>
            <a:endParaRPr lang="tr-TR" sz="1400" noProof="0" dirty="0">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F3D84C70-6D7A-E1B9-5876-A3654D74EE50}"/>
              </a:ext>
            </a:extLst>
          </p:cNvPr>
          <p:cNvSpPr txBox="1"/>
          <p:nvPr/>
        </p:nvSpPr>
        <p:spPr>
          <a:xfrm>
            <a:off x="0" y="446135"/>
            <a:ext cx="12192000" cy="584775"/>
          </a:xfrm>
          <a:prstGeom prst="rect">
            <a:avLst/>
          </a:prstGeom>
          <a:noFill/>
        </p:spPr>
        <p:txBody>
          <a:bodyPr wrap="square">
            <a:spAutoFit/>
          </a:bodyPr>
          <a:lstStyle/>
          <a:p>
            <a:pPr algn="ctr"/>
            <a:r>
              <a:rPr lang="tr-TR" sz="3200" noProof="0" dirty="0">
                <a:effectLst>
                  <a:outerShdw blurRad="38100" dist="38100" dir="2700000" algn="tl">
                    <a:srgbClr val="000000">
                      <a:alpha val="43137"/>
                    </a:srgbClr>
                  </a:outerShdw>
                </a:effectLst>
              </a:rPr>
              <a:t>Satır Uzunluğu Dağılımı  İncelemesi </a:t>
            </a:r>
          </a:p>
        </p:txBody>
      </p:sp>
      <p:sp>
        <p:nvSpPr>
          <p:cNvPr id="24" name="TextBox 23">
            <a:extLst>
              <a:ext uri="{FF2B5EF4-FFF2-40B4-BE49-F238E27FC236}">
                <a16:creationId xmlns:a16="http://schemas.microsoft.com/office/drawing/2014/main" id="{DE4B6F96-5F1E-6A77-FBDB-137D67310615}"/>
              </a:ext>
            </a:extLst>
          </p:cNvPr>
          <p:cNvSpPr txBox="1"/>
          <p:nvPr/>
        </p:nvSpPr>
        <p:spPr>
          <a:xfrm>
            <a:off x="7693761" y="2588962"/>
            <a:ext cx="2961249" cy="261610"/>
          </a:xfrm>
          <a:prstGeom prst="rect">
            <a:avLst/>
          </a:prstGeom>
          <a:noFill/>
        </p:spPr>
        <p:txBody>
          <a:bodyPr wrap="square">
            <a:spAutoFit/>
          </a:bodyPr>
          <a:lstStyle/>
          <a:p>
            <a:r>
              <a:rPr lang="en-US" sz="1100" dirty="0" err="1"/>
              <a:t>Satır</a:t>
            </a:r>
            <a:r>
              <a:rPr lang="en-US" sz="1100" dirty="0"/>
              <a:t> </a:t>
            </a:r>
            <a:r>
              <a:rPr lang="en-US" sz="1100" dirty="0" err="1"/>
              <a:t>Uzunluğu</a:t>
            </a:r>
            <a:r>
              <a:rPr lang="en-US" sz="1100" dirty="0"/>
              <a:t> </a:t>
            </a:r>
            <a:r>
              <a:rPr lang="en-US" sz="1100" dirty="0" err="1"/>
              <a:t>Kategorileri</a:t>
            </a:r>
            <a:r>
              <a:rPr lang="en-US" sz="1100" dirty="0"/>
              <a:t> </a:t>
            </a:r>
            <a:r>
              <a:rPr lang="en-US" sz="1100" dirty="0" err="1"/>
              <a:t>ve</a:t>
            </a:r>
            <a:r>
              <a:rPr lang="en-US" sz="1100" dirty="0"/>
              <a:t> </a:t>
            </a:r>
            <a:r>
              <a:rPr lang="en-US" sz="1100" dirty="0" err="1"/>
              <a:t>Yüzdesel</a:t>
            </a:r>
            <a:r>
              <a:rPr lang="en-US" sz="1100" dirty="0"/>
              <a:t> </a:t>
            </a:r>
            <a:r>
              <a:rPr lang="en-US" sz="1100" dirty="0" err="1"/>
              <a:t>Dağılım</a:t>
            </a:r>
            <a:r>
              <a:rPr lang="en-US" sz="1100" dirty="0"/>
              <a:t> </a:t>
            </a:r>
            <a:endParaRPr lang="tr-TR" sz="1100" dirty="0"/>
          </a:p>
        </p:txBody>
      </p:sp>
      <p:sp>
        <p:nvSpPr>
          <p:cNvPr id="26" name="TextBox 25">
            <a:extLst>
              <a:ext uri="{FF2B5EF4-FFF2-40B4-BE49-F238E27FC236}">
                <a16:creationId xmlns:a16="http://schemas.microsoft.com/office/drawing/2014/main" id="{9FF2320B-ECBD-2EF9-3884-09A9EB32E0E6}"/>
              </a:ext>
            </a:extLst>
          </p:cNvPr>
          <p:cNvSpPr txBox="1"/>
          <p:nvPr/>
        </p:nvSpPr>
        <p:spPr>
          <a:xfrm>
            <a:off x="7645792" y="5684123"/>
            <a:ext cx="3875648" cy="430887"/>
          </a:xfrm>
          <a:prstGeom prst="rect">
            <a:avLst/>
          </a:prstGeom>
          <a:noFill/>
        </p:spPr>
        <p:txBody>
          <a:bodyPr wrap="square">
            <a:spAutoFit/>
          </a:bodyPr>
          <a:lstStyle/>
          <a:p>
            <a:r>
              <a:rPr lang="en-US" sz="1100" dirty="0"/>
              <a:t>Ham </a:t>
            </a:r>
            <a:r>
              <a:rPr lang="en-US" sz="1100" dirty="0" err="1"/>
              <a:t>Metinde</a:t>
            </a:r>
            <a:r>
              <a:rPr lang="en-US" sz="1100" dirty="0"/>
              <a:t> </a:t>
            </a:r>
            <a:r>
              <a:rPr lang="en-US" sz="1100" dirty="0" err="1"/>
              <a:t>Satır</a:t>
            </a:r>
            <a:r>
              <a:rPr lang="en-US" sz="1100" dirty="0"/>
              <a:t> </a:t>
            </a:r>
            <a:r>
              <a:rPr lang="en-US" sz="1100" dirty="0" err="1"/>
              <a:t>Uzunluğu</a:t>
            </a:r>
            <a:r>
              <a:rPr lang="en-US" sz="1100" dirty="0"/>
              <a:t> </a:t>
            </a:r>
            <a:r>
              <a:rPr lang="en-US" sz="1100" dirty="0" err="1"/>
              <a:t>Kategorilerinin</a:t>
            </a:r>
            <a:r>
              <a:rPr lang="en-US" sz="1100" dirty="0"/>
              <a:t> </a:t>
            </a:r>
            <a:r>
              <a:rPr lang="en-US" sz="1100" dirty="0" err="1"/>
              <a:t>Oransal</a:t>
            </a:r>
            <a:r>
              <a:rPr lang="en-US" sz="1100" dirty="0"/>
              <a:t> </a:t>
            </a:r>
            <a:endParaRPr lang="tr-TR" sz="1100" dirty="0"/>
          </a:p>
          <a:p>
            <a:r>
              <a:rPr lang="en-US" sz="1100" dirty="0" err="1"/>
              <a:t>Dağılımı</a:t>
            </a:r>
            <a:r>
              <a:rPr lang="en-US" sz="1100" dirty="0"/>
              <a:t> (%)</a:t>
            </a:r>
            <a:endParaRPr lang="tr-TR" sz="1100" dirty="0"/>
          </a:p>
        </p:txBody>
      </p:sp>
    </p:spTree>
    <p:extLst>
      <p:ext uri="{BB962C8B-B14F-4D97-AF65-F5344CB8AC3E}">
        <p14:creationId xmlns:p14="http://schemas.microsoft.com/office/powerpoint/2010/main" val="2646916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934D416-B451-8461-351F-BD15A37E448B}"/>
              </a:ext>
            </a:extLst>
          </p:cNvPr>
          <p:cNvSpPr txBox="1"/>
          <p:nvPr/>
        </p:nvSpPr>
        <p:spPr>
          <a:xfrm>
            <a:off x="0" y="684013"/>
            <a:ext cx="12192000" cy="523220"/>
          </a:xfrm>
          <a:prstGeom prst="rect">
            <a:avLst/>
          </a:prstGeom>
          <a:noFill/>
        </p:spPr>
        <p:txBody>
          <a:bodyPr wrap="square">
            <a:spAutoFit/>
          </a:bodyPr>
          <a:lstStyle/>
          <a:p>
            <a:pPr algn="ctr"/>
            <a:r>
              <a:rPr lang="tr-TR" sz="2800" noProof="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Veri Temizleme ve Metin Analitiği Hazırlığı</a:t>
            </a:r>
          </a:p>
        </p:txBody>
      </p:sp>
      <p:sp>
        <p:nvSpPr>
          <p:cNvPr id="10" name="TextBox 9">
            <a:extLst>
              <a:ext uri="{FF2B5EF4-FFF2-40B4-BE49-F238E27FC236}">
                <a16:creationId xmlns:a16="http://schemas.microsoft.com/office/drawing/2014/main" id="{6983935F-1217-585F-F2BE-D6261FF96DF0}"/>
              </a:ext>
            </a:extLst>
          </p:cNvPr>
          <p:cNvSpPr txBox="1"/>
          <p:nvPr/>
        </p:nvSpPr>
        <p:spPr>
          <a:xfrm>
            <a:off x="439884" y="1272982"/>
            <a:ext cx="5718461" cy="1545295"/>
          </a:xfrm>
          <a:prstGeom prst="rect">
            <a:avLst/>
          </a:prstGeom>
          <a:noFill/>
        </p:spPr>
        <p:txBody>
          <a:bodyPr wrap="square">
            <a:spAutoFit/>
          </a:bodyPr>
          <a:lstStyle/>
          <a:p>
            <a:pPr>
              <a:lnSpc>
                <a:spcPct val="114000"/>
              </a:lnSpc>
              <a:buNone/>
            </a:pPr>
            <a:r>
              <a:rPr lang="tr-TR" sz="1400" b="1" dirty="0">
                <a:latin typeface="Arial" panose="020B0604020202020204" pitchFamily="34" charset="0"/>
                <a:cs typeface="Arial" panose="020B0604020202020204" pitchFamily="34" charset="0"/>
              </a:rPr>
              <a:t>Neden Veri Temizliği Yapılmalıdır?</a:t>
            </a:r>
          </a:p>
          <a:p>
            <a:pPr>
              <a:lnSpc>
                <a:spcPct val="114000"/>
              </a:lnSpc>
              <a:buFont typeface="Arial" panose="020B0604020202020204" pitchFamily="34" charset="0"/>
              <a:buChar char="•"/>
            </a:pPr>
            <a:r>
              <a:rPr lang="tr-TR" sz="1400" dirty="0">
                <a:latin typeface="Arial" panose="020B0604020202020204" pitchFamily="34" charset="0"/>
                <a:cs typeface="Arial" panose="020B0604020202020204" pitchFamily="34" charset="0"/>
              </a:rPr>
              <a:t>Ham metinde analizle ilgisi olmayan satırlar bulunabilir.</a:t>
            </a:r>
          </a:p>
          <a:p>
            <a:pPr>
              <a:lnSpc>
                <a:spcPct val="114000"/>
              </a:lnSpc>
              <a:buFont typeface="Arial" panose="020B0604020202020204" pitchFamily="34" charset="0"/>
              <a:buChar char="•"/>
            </a:pPr>
            <a:r>
              <a:rPr lang="tr-TR" sz="1400" dirty="0">
                <a:latin typeface="Arial" panose="020B0604020202020204" pitchFamily="34" charset="0"/>
                <a:cs typeface="Arial" panose="020B0604020202020204" pitchFamily="34" charset="0"/>
              </a:rPr>
              <a:t>Çok kısa veya boş satırlar, metnin gerçek yapısını yansıtmayabilir.</a:t>
            </a:r>
          </a:p>
          <a:p>
            <a:pPr>
              <a:lnSpc>
                <a:spcPct val="114000"/>
              </a:lnSpc>
              <a:buFont typeface="Arial" panose="020B0604020202020204" pitchFamily="34" charset="0"/>
              <a:buChar char="•"/>
            </a:pPr>
            <a:r>
              <a:rPr lang="tr-TR" sz="1400" dirty="0">
                <a:latin typeface="Arial" panose="020B0604020202020204" pitchFamily="34" charset="0"/>
                <a:cs typeface="Arial" panose="020B0604020202020204" pitchFamily="34" charset="0"/>
              </a:rPr>
              <a:t>Bu tür satırlar sonuçların yanlış yorumlanmasına yol açabilir.</a:t>
            </a:r>
          </a:p>
          <a:p>
            <a:pPr>
              <a:lnSpc>
                <a:spcPct val="114000"/>
              </a:lnSpc>
              <a:buFont typeface="Arial" panose="020B0604020202020204" pitchFamily="34" charset="0"/>
              <a:buChar char="•"/>
            </a:pPr>
            <a:r>
              <a:rPr lang="tr-TR" sz="1400" dirty="0">
                <a:latin typeface="Arial" panose="020B0604020202020204" pitchFamily="34" charset="0"/>
                <a:cs typeface="Arial" panose="020B0604020202020204" pitchFamily="34" charset="0"/>
              </a:rPr>
              <a:t>Metni daha düzenli ve anlaşılır hâle getirmek gerekir.</a:t>
            </a:r>
          </a:p>
          <a:p>
            <a:pPr>
              <a:lnSpc>
                <a:spcPct val="114000"/>
              </a:lnSpc>
              <a:buFont typeface="Arial" panose="020B0604020202020204" pitchFamily="34" charset="0"/>
              <a:buChar char="•"/>
            </a:pPr>
            <a:r>
              <a:rPr lang="tr-TR" sz="1400" dirty="0">
                <a:latin typeface="Arial" panose="020B0604020202020204" pitchFamily="34" charset="0"/>
                <a:cs typeface="Arial" panose="020B0604020202020204" pitchFamily="34" charset="0"/>
              </a:rPr>
              <a:t>Böylece yapılan incelemeler daha sağlıklı ve tutarlı olur.</a:t>
            </a:r>
          </a:p>
        </p:txBody>
      </p:sp>
      <p:sp>
        <p:nvSpPr>
          <p:cNvPr id="15" name="TextBox 14">
            <a:extLst>
              <a:ext uri="{FF2B5EF4-FFF2-40B4-BE49-F238E27FC236}">
                <a16:creationId xmlns:a16="http://schemas.microsoft.com/office/drawing/2014/main" id="{ED9AA249-0FA8-8972-5CF2-4E4ABAD236B3}"/>
              </a:ext>
            </a:extLst>
          </p:cNvPr>
          <p:cNvSpPr txBox="1"/>
          <p:nvPr/>
        </p:nvSpPr>
        <p:spPr>
          <a:xfrm>
            <a:off x="6210301" y="1272982"/>
            <a:ext cx="5205846" cy="4492255"/>
          </a:xfrm>
          <a:prstGeom prst="rect">
            <a:avLst/>
          </a:prstGeom>
          <a:noFill/>
        </p:spPr>
        <p:txBody>
          <a:bodyPr wrap="square">
            <a:spAutoFit/>
          </a:bodyPr>
          <a:lstStyle/>
          <a:p>
            <a:pPr>
              <a:lnSpc>
                <a:spcPct val="114000"/>
              </a:lnSpc>
              <a:buNone/>
            </a:pPr>
            <a:endParaRPr lang="tr-TR" sz="1400" noProof="0" dirty="0">
              <a:latin typeface="Arial" panose="020B0604020202020204" pitchFamily="34" charset="0"/>
              <a:cs typeface="Arial" panose="020B0604020202020204" pitchFamily="34" charset="0"/>
            </a:endParaRPr>
          </a:p>
          <a:p>
            <a:pPr>
              <a:lnSpc>
                <a:spcPct val="114000"/>
              </a:lnSpc>
              <a:buFont typeface="Arial" panose="020B0604020202020204" pitchFamily="34" charset="0"/>
              <a:buChar char="•"/>
            </a:pPr>
            <a:r>
              <a:rPr lang="tr-TR" sz="1400" u="sng" noProof="0" dirty="0">
                <a:latin typeface="Arial" panose="020B0604020202020204" pitchFamily="34" charset="0"/>
                <a:cs typeface="Arial" panose="020B0604020202020204" pitchFamily="34" charset="0"/>
              </a:rPr>
              <a:t>En Sık Geçen Kelimelerin İncelenmesi</a:t>
            </a:r>
            <a:r>
              <a:rPr lang="tr-TR" sz="1400" noProof="0" dirty="0">
                <a:latin typeface="Arial" panose="020B0604020202020204" pitchFamily="34" charset="0"/>
                <a:cs typeface="Arial" panose="020B0604020202020204" pitchFamily="34" charset="0"/>
              </a:rPr>
              <a:t>: Metinde baskın kelimeler gözlemlenmiştir.</a:t>
            </a:r>
          </a:p>
          <a:p>
            <a:pPr>
              <a:lnSpc>
                <a:spcPct val="114000"/>
              </a:lnSpc>
              <a:buFont typeface="Arial" panose="020B0604020202020204" pitchFamily="34" charset="0"/>
              <a:buChar char="•"/>
            </a:pPr>
            <a:r>
              <a:rPr lang="tr-TR" sz="1400" u="sng" noProof="0" dirty="0">
                <a:latin typeface="Arial" panose="020B0604020202020204" pitchFamily="34" charset="0"/>
                <a:cs typeface="Arial" panose="020B0604020202020204" pitchFamily="34" charset="0"/>
              </a:rPr>
              <a:t>Kelime Frekanslarının Görselleştirilmesi</a:t>
            </a:r>
            <a:r>
              <a:rPr lang="tr-TR" sz="1400" noProof="0" dirty="0">
                <a:latin typeface="Arial" panose="020B0604020202020204" pitchFamily="34" charset="0"/>
                <a:cs typeface="Arial" panose="020B0604020202020204" pitchFamily="34" charset="0"/>
              </a:rPr>
              <a:t>: Kelime dağılımları grafiklerle sunulmuştur.</a:t>
            </a:r>
          </a:p>
          <a:p>
            <a:pPr>
              <a:lnSpc>
                <a:spcPct val="114000"/>
              </a:lnSpc>
              <a:buFont typeface="Arial" panose="020B0604020202020204" pitchFamily="34" charset="0"/>
              <a:buChar char="•"/>
            </a:pPr>
            <a:r>
              <a:rPr lang="tr-TR" sz="1400" u="sng" noProof="0" dirty="0">
                <a:latin typeface="Arial" panose="020B0604020202020204" pitchFamily="34" charset="0"/>
                <a:cs typeface="Arial" panose="020B0604020202020204" pitchFamily="34" charset="0"/>
              </a:rPr>
              <a:t>Satır Uzunluğu Dağılımı</a:t>
            </a:r>
            <a:r>
              <a:rPr lang="tr-TR" sz="1400" noProof="0" dirty="0">
                <a:latin typeface="Arial" panose="020B0604020202020204" pitchFamily="34" charset="0"/>
                <a:cs typeface="Arial" panose="020B0604020202020204" pitchFamily="34" charset="0"/>
              </a:rPr>
              <a:t>: Satırların uzunluklarına göre genel dağılım incelenmiştir.</a:t>
            </a:r>
          </a:p>
          <a:p>
            <a:pPr>
              <a:lnSpc>
                <a:spcPct val="114000"/>
              </a:lnSpc>
              <a:buFont typeface="Arial" panose="020B0604020202020204" pitchFamily="34" charset="0"/>
              <a:buChar char="•"/>
            </a:pPr>
            <a:r>
              <a:rPr lang="tr-TR" sz="1400" u="sng" noProof="0" dirty="0">
                <a:latin typeface="Arial" panose="020B0604020202020204" pitchFamily="34" charset="0"/>
                <a:cs typeface="Arial" panose="020B0604020202020204" pitchFamily="34" charset="0"/>
              </a:rPr>
              <a:t>Satır Uzunluğuna Göre Örnek Satırlar</a:t>
            </a:r>
            <a:r>
              <a:rPr lang="tr-TR" sz="1400" noProof="0" dirty="0">
                <a:latin typeface="Arial" panose="020B0604020202020204" pitchFamily="34" charset="0"/>
                <a:cs typeface="Arial" panose="020B0604020202020204" pitchFamily="34" charset="0"/>
              </a:rPr>
              <a:t>: Farklı uzunluktaki satırlardan örnekler gösterilmiştir.</a:t>
            </a:r>
          </a:p>
          <a:p>
            <a:pPr>
              <a:lnSpc>
                <a:spcPct val="114000"/>
              </a:lnSpc>
              <a:buFont typeface="Arial" panose="020B0604020202020204" pitchFamily="34" charset="0"/>
              <a:buChar char="•"/>
            </a:pPr>
            <a:r>
              <a:rPr lang="tr-TR" sz="1400" u="sng" noProof="0" dirty="0">
                <a:latin typeface="Arial" panose="020B0604020202020204" pitchFamily="34" charset="0"/>
                <a:cs typeface="Arial" panose="020B0604020202020204" pitchFamily="34" charset="0"/>
              </a:rPr>
              <a:t>N-gram İncelemesi (</a:t>
            </a:r>
            <a:r>
              <a:rPr lang="tr-TR" sz="1400" u="sng" noProof="0" dirty="0" err="1">
                <a:latin typeface="Arial" panose="020B0604020202020204" pitchFamily="34" charset="0"/>
                <a:cs typeface="Arial" panose="020B0604020202020204" pitchFamily="34" charset="0"/>
              </a:rPr>
              <a:t>Bigram</a:t>
            </a:r>
            <a:r>
              <a:rPr lang="tr-TR" sz="1400" u="sng" noProof="0" dirty="0">
                <a:latin typeface="Arial" panose="020B0604020202020204" pitchFamily="34" charset="0"/>
                <a:cs typeface="Arial" panose="020B0604020202020204" pitchFamily="34" charset="0"/>
              </a:rPr>
              <a:t> / </a:t>
            </a:r>
            <a:r>
              <a:rPr lang="tr-TR" sz="1400" u="sng" noProof="0" dirty="0" err="1">
                <a:latin typeface="Arial" panose="020B0604020202020204" pitchFamily="34" charset="0"/>
                <a:cs typeface="Arial" panose="020B0604020202020204" pitchFamily="34" charset="0"/>
              </a:rPr>
              <a:t>Trigram</a:t>
            </a:r>
            <a:r>
              <a:rPr lang="tr-TR" sz="1400" u="sng" noProof="0" dirty="0">
                <a:latin typeface="Arial" panose="020B0604020202020204" pitchFamily="34" charset="0"/>
                <a:cs typeface="Arial" panose="020B0604020202020204" pitchFamily="34" charset="0"/>
              </a:rPr>
              <a:t>)</a:t>
            </a:r>
            <a:r>
              <a:rPr lang="tr-TR" sz="1400" noProof="0" dirty="0">
                <a:latin typeface="Arial" panose="020B0604020202020204" pitchFamily="34" charset="0"/>
                <a:cs typeface="Arial" panose="020B0604020202020204" pitchFamily="34" charset="0"/>
              </a:rPr>
              <a:t>: Birlikte kullanılan kelime grupları incelenmiştir.</a:t>
            </a:r>
          </a:p>
          <a:p>
            <a:pPr>
              <a:lnSpc>
                <a:spcPct val="114000"/>
              </a:lnSpc>
              <a:buFont typeface="Arial" panose="020B0604020202020204" pitchFamily="34" charset="0"/>
              <a:buChar char="•"/>
            </a:pPr>
            <a:r>
              <a:rPr lang="tr-TR" sz="1400" u="sng" noProof="0" dirty="0" err="1">
                <a:latin typeface="Arial" panose="020B0604020202020204" pitchFamily="34" charset="0"/>
                <a:cs typeface="Arial" panose="020B0604020202020204" pitchFamily="34" charset="0"/>
              </a:rPr>
              <a:t>Stopword</a:t>
            </a:r>
            <a:r>
              <a:rPr lang="tr-TR" sz="1400" u="sng" noProof="0" dirty="0">
                <a:latin typeface="Arial" panose="020B0604020202020204" pitchFamily="34" charset="0"/>
                <a:cs typeface="Arial" panose="020B0604020202020204" pitchFamily="34" charset="0"/>
              </a:rPr>
              <a:t> Etkisinin Gözlemsel İncelenmesi</a:t>
            </a:r>
            <a:r>
              <a:rPr lang="tr-TR" sz="1400" noProof="0" dirty="0">
                <a:latin typeface="Arial" panose="020B0604020202020204" pitchFamily="34" charset="0"/>
                <a:cs typeface="Arial" panose="020B0604020202020204" pitchFamily="34" charset="0"/>
              </a:rPr>
              <a:t>: Sık kullanılan kelimelerin metne etkisi gözlemlenmiştir.</a:t>
            </a:r>
          </a:p>
          <a:p>
            <a:pPr>
              <a:lnSpc>
                <a:spcPct val="114000"/>
              </a:lnSpc>
              <a:buFont typeface="Arial" panose="020B0604020202020204" pitchFamily="34" charset="0"/>
              <a:buChar char="•"/>
            </a:pPr>
            <a:r>
              <a:rPr lang="tr-TR" sz="1400" u="sng" noProof="0" dirty="0">
                <a:latin typeface="Arial" panose="020B0604020202020204" pitchFamily="34" charset="0"/>
                <a:cs typeface="Arial" panose="020B0604020202020204" pitchFamily="34" charset="0"/>
              </a:rPr>
              <a:t>Kelime Çeşitliliği (</a:t>
            </a:r>
            <a:r>
              <a:rPr lang="tr-TR" sz="1400" u="sng" noProof="0" dirty="0" err="1">
                <a:latin typeface="Arial" panose="020B0604020202020204" pitchFamily="34" charset="0"/>
                <a:cs typeface="Arial" panose="020B0604020202020204" pitchFamily="34" charset="0"/>
              </a:rPr>
              <a:t>Unique</a:t>
            </a:r>
            <a:r>
              <a:rPr lang="tr-TR" sz="1400" u="sng" noProof="0" dirty="0">
                <a:latin typeface="Arial" panose="020B0604020202020204" pitchFamily="34" charset="0"/>
                <a:cs typeface="Arial" panose="020B0604020202020204" pitchFamily="34" charset="0"/>
              </a:rPr>
              <a:t> Kelime Sayısı)</a:t>
            </a:r>
            <a:r>
              <a:rPr lang="tr-TR" sz="1400" noProof="0" dirty="0">
                <a:latin typeface="Arial" panose="020B0604020202020204" pitchFamily="34" charset="0"/>
                <a:cs typeface="Arial" panose="020B0604020202020204" pitchFamily="34" charset="0"/>
              </a:rPr>
              <a:t>: Metindeki farklı kelime sayısı hesaplanmıştır.</a:t>
            </a:r>
          </a:p>
          <a:p>
            <a:pPr>
              <a:lnSpc>
                <a:spcPct val="114000"/>
              </a:lnSpc>
              <a:buFont typeface="Arial" panose="020B0604020202020204" pitchFamily="34" charset="0"/>
              <a:buChar char="•"/>
            </a:pPr>
            <a:r>
              <a:rPr lang="tr-TR" sz="1400" u="sng" noProof="0" dirty="0" err="1">
                <a:latin typeface="Arial" panose="020B0604020202020204" pitchFamily="34" charset="0"/>
                <a:cs typeface="Arial" panose="020B0604020202020204" pitchFamily="34" charset="0"/>
              </a:rPr>
              <a:t>CountVectorizer</a:t>
            </a:r>
            <a:r>
              <a:rPr lang="tr-TR" sz="1400" noProof="0" dirty="0">
                <a:latin typeface="Arial" panose="020B0604020202020204" pitchFamily="34" charset="0"/>
                <a:cs typeface="Arial" panose="020B0604020202020204" pitchFamily="34" charset="0"/>
              </a:rPr>
              <a:t>: Metin sayısal temsile dönüştürülmüştür.</a:t>
            </a:r>
          </a:p>
          <a:p>
            <a:pPr>
              <a:lnSpc>
                <a:spcPct val="114000"/>
              </a:lnSpc>
              <a:buFont typeface="Arial" panose="020B0604020202020204" pitchFamily="34" charset="0"/>
              <a:buChar char="•"/>
            </a:pPr>
            <a:r>
              <a:rPr lang="tr-TR" sz="1400" u="sng" noProof="0" dirty="0">
                <a:latin typeface="Arial" panose="020B0604020202020204" pitchFamily="34" charset="0"/>
                <a:cs typeface="Arial" panose="020B0604020202020204" pitchFamily="34" charset="0"/>
              </a:rPr>
              <a:t>TF-IDF (Terim Ağırlıklandırma)</a:t>
            </a:r>
            <a:r>
              <a:rPr lang="tr-TR" sz="1400" noProof="0" dirty="0">
                <a:latin typeface="Arial" panose="020B0604020202020204" pitchFamily="34" charset="0"/>
                <a:cs typeface="Arial" panose="020B0604020202020204" pitchFamily="34" charset="0"/>
              </a:rPr>
              <a:t>: Kelimelerin metin içindeki ayırt ediciliği belirlenmiştir</a:t>
            </a:r>
            <a:r>
              <a:rPr lang="tr-TR" sz="1400" dirty="0">
                <a:latin typeface="Arial" panose="020B0604020202020204" pitchFamily="34" charset="0"/>
                <a:cs typeface="Arial" panose="020B0604020202020204" pitchFamily="34" charset="0"/>
              </a:rPr>
              <a:t>.</a:t>
            </a:r>
          </a:p>
        </p:txBody>
      </p:sp>
      <p:sp>
        <p:nvSpPr>
          <p:cNvPr id="16" name="TextBox 15">
            <a:extLst>
              <a:ext uri="{FF2B5EF4-FFF2-40B4-BE49-F238E27FC236}">
                <a16:creationId xmlns:a16="http://schemas.microsoft.com/office/drawing/2014/main" id="{50D7ACD7-6C97-CA9F-9F47-3FCD211F48F4}"/>
              </a:ext>
            </a:extLst>
          </p:cNvPr>
          <p:cNvSpPr txBox="1"/>
          <p:nvPr/>
        </p:nvSpPr>
        <p:spPr>
          <a:xfrm>
            <a:off x="439884" y="2909632"/>
            <a:ext cx="5541817" cy="3264355"/>
          </a:xfrm>
          <a:prstGeom prst="rect">
            <a:avLst/>
          </a:prstGeom>
          <a:noFill/>
        </p:spPr>
        <p:txBody>
          <a:bodyPr wrap="square">
            <a:spAutoFit/>
          </a:bodyPr>
          <a:lstStyle/>
          <a:p>
            <a:pPr>
              <a:lnSpc>
                <a:spcPct val="114000"/>
              </a:lnSpc>
              <a:buNone/>
            </a:pPr>
            <a:r>
              <a:rPr lang="tr-TR" sz="1400" b="1" noProof="0" dirty="0">
                <a:latin typeface="Arial" panose="020B0604020202020204" pitchFamily="34" charset="0"/>
                <a:cs typeface="Arial" panose="020B0604020202020204" pitchFamily="34" charset="0"/>
              </a:rPr>
              <a:t>Veri Temizleme ve Metin Analitiği Hazırlığı</a:t>
            </a:r>
            <a:endParaRPr lang="tr-TR" sz="1400" noProof="0" dirty="0">
              <a:latin typeface="Arial" panose="020B0604020202020204" pitchFamily="34" charset="0"/>
              <a:cs typeface="Arial" panose="020B0604020202020204" pitchFamily="34" charset="0"/>
            </a:endParaRPr>
          </a:p>
          <a:p>
            <a:pPr>
              <a:lnSpc>
                <a:spcPct val="114000"/>
              </a:lnSpc>
              <a:buFont typeface="Arial" panose="020B0604020202020204" pitchFamily="34" charset="0"/>
              <a:buChar char="•"/>
            </a:pPr>
            <a:r>
              <a:rPr lang="tr-TR" sz="1400" u="sng" noProof="0" dirty="0">
                <a:latin typeface="Arial" panose="020B0604020202020204" pitchFamily="34" charset="0"/>
                <a:cs typeface="Arial" panose="020B0604020202020204" pitchFamily="34" charset="0"/>
              </a:rPr>
              <a:t>Temizlik Kapsamının Tanımlanması </a:t>
            </a:r>
            <a:r>
              <a:rPr lang="tr-TR" sz="1400" noProof="0" dirty="0">
                <a:latin typeface="Arial" panose="020B0604020202020204" pitchFamily="34" charset="0"/>
                <a:cs typeface="Arial" panose="020B0604020202020204" pitchFamily="34" charset="0"/>
              </a:rPr>
              <a:t>: Metin üzerinde hangi satırların temizleneceği belirlenmiştir.</a:t>
            </a:r>
          </a:p>
          <a:p>
            <a:pPr>
              <a:lnSpc>
                <a:spcPct val="114000"/>
              </a:lnSpc>
              <a:buFont typeface="Arial" panose="020B0604020202020204" pitchFamily="34" charset="0"/>
              <a:buChar char="•"/>
            </a:pPr>
            <a:r>
              <a:rPr lang="tr-TR" sz="1400" u="sng" noProof="0" dirty="0">
                <a:latin typeface="Arial" panose="020B0604020202020204" pitchFamily="34" charset="0"/>
                <a:cs typeface="Arial" panose="020B0604020202020204" pitchFamily="34" charset="0"/>
              </a:rPr>
              <a:t>Boş Satırların Ele Alınması:</a:t>
            </a:r>
            <a:r>
              <a:rPr lang="tr-TR" sz="1400" noProof="0" dirty="0">
                <a:latin typeface="Arial" panose="020B0604020202020204" pitchFamily="34" charset="0"/>
                <a:cs typeface="Arial" panose="020B0604020202020204" pitchFamily="34" charset="0"/>
              </a:rPr>
              <a:t> İçerik içermeyen satırlar veri setinden çıkarılmıştır.</a:t>
            </a:r>
          </a:p>
          <a:p>
            <a:pPr>
              <a:lnSpc>
                <a:spcPct val="114000"/>
              </a:lnSpc>
              <a:buFont typeface="Arial" panose="020B0604020202020204" pitchFamily="34" charset="0"/>
              <a:buChar char="•"/>
            </a:pPr>
            <a:r>
              <a:rPr lang="tr-TR" sz="1400" u="sng" noProof="0" dirty="0">
                <a:latin typeface="Arial" panose="020B0604020202020204" pitchFamily="34" charset="0"/>
                <a:cs typeface="Arial" panose="020B0604020202020204" pitchFamily="34" charset="0"/>
              </a:rPr>
              <a:t>Çok Kısa Satırların Ele Alınması</a:t>
            </a:r>
            <a:r>
              <a:rPr lang="tr-TR" sz="1400" noProof="0" dirty="0">
                <a:latin typeface="Arial" panose="020B0604020202020204" pitchFamily="34" charset="0"/>
                <a:cs typeface="Arial" panose="020B0604020202020204" pitchFamily="34" charset="0"/>
              </a:rPr>
              <a:t>: Anlam taşımayan çok kısa satırlar temizlenmiştir.</a:t>
            </a:r>
          </a:p>
          <a:p>
            <a:pPr>
              <a:lnSpc>
                <a:spcPct val="114000"/>
              </a:lnSpc>
              <a:buFont typeface="Arial" panose="020B0604020202020204" pitchFamily="34" charset="0"/>
              <a:buChar char="•"/>
            </a:pPr>
            <a:r>
              <a:rPr lang="tr-TR" sz="1400" u="sng" noProof="0" dirty="0">
                <a:latin typeface="Arial" panose="020B0604020202020204" pitchFamily="34" charset="0"/>
                <a:cs typeface="Arial" panose="020B0604020202020204" pitchFamily="34" charset="0"/>
              </a:rPr>
              <a:t>Metnin Analize Hazır Hale Getirilmesi</a:t>
            </a:r>
            <a:r>
              <a:rPr lang="tr-TR" sz="1400" noProof="0" dirty="0">
                <a:latin typeface="Arial" panose="020B0604020202020204" pitchFamily="34" charset="0"/>
                <a:cs typeface="Arial" panose="020B0604020202020204" pitchFamily="34" charset="0"/>
              </a:rPr>
              <a:t>: Kalan metin, sonraki incelemeler için düzenlenmiştir.</a:t>
            </a:r>
          </a:p>
          <a:p>
            <a:pPr>
              <a:lnSpc>
                <a:spcPct val="114000"/>
              </a:lnSpc>
              <a:buFont typeface="Arial" panose="020B0604020202020204" pitchFamily="34" charset="0"/>
              <a:buChar char="•"/>
            </a:pPr>
            <a:r>
              <a:rPr lang="tr-TR" sz="1400" u="sng" noProof="0" dirty="0" err="1">
                <a:latin typeface="Arial" panose="020B0604020202020204" pitchFamily="34" charset="0"/>
                <a:cs typeface="Arial" panose="020B0604020202020204" pitchFamily="34" charset="0"/>
              </a:rPr>
              <a:t>Tokenizasyon</a:t>
            </a:r>
            <a:r>
              <a:rPr lang="tr-TR" sz="1400" u="sng" noProof="0" dirty="0">
                <a:latin typeface="Arial" panose="020B0604020202020204" pitchFamily="34" charset="0"/>
                <a:cs typeface="Arial" panose="020B0604020202020204" pitchFamily="34" charset="0"/>
              </a:rPr>
              <a:t> (Kelimeye Ayırma)</a:t>
            </a:r>
            <a:r>
              <a:rPr lang="tr-TR" sz="1400" noProof="0" dirty="0">
                <a:latin typeface="Arial" panose="020B0604020202020204" pitchFamily="34" charset="0"/>
                <a:cs typeface="Arial" panose="020B0604020202020204" pitchFamily="34" charset="0"/>
              </a:rPr>
              <a:t>: Metin kelime düzeyinde parçalanmıştır.</a:t>
            </a:r>
          </a:p>
          <a:p>
            <a:pPr>
              <a:lnSpc>
                <a:spcPct val="114000"/>
              </a:lnSpc>
              <a:buFont typeface="Arial" panose="020B0604020202020204" pitchFamily="34" charset="0"/>
              <a:buChar char="•"/>
            </a:pPr>
            <a:r>
              <a:rPr lang="tr-TR" sz="1400" u="sng" noProof="0" dirty="0">
                <a:latin typeface="Arial" panose="020B0604020202020204" pitchFamily="34" charset="0"/>
                <a:cs typeface="Arial" panose="020B0604020202020204" pitchFamily="34" charset="0"/>
              </a:rPr>
              <a:t>Kelime Frekanslarının Hesaplanması</a:t>
            </a:r>
            <a:r>
              <a:rPr lang="tr-TR" sz="1400" noProof="0" dirty="0">
                <a:latin typeface="Arial" panose="020B0604020202020204" pitchFamily="34" charset="0"/>
                <a:cs typeface="Arial" panose="020B0604020202020204" pitchFamily="34" charset="0"/>
              </a:rPr>
              <a:t>: Kelimelerin tekrar sayıları belirlenmiştir.</a:t>
            </a:r>
          </a:p>
        </p:txBody>
      </p:sp>
    </p:spTree>
    <p:extLst>
      <p:ext uri="{BB962C8B-B14F-4D97-AF65-F5344CB8AC3E}">
        <p14:creationId xmlns:p14="http://schemas.microsoft.com/office/powerpoint/2010/main" val="2950991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32C9B9A-7C3C-4267-2D0E-C9DFE07E1FE9}"/>
              </a:ext>
            </a:extLst>
          </p:cNvPr>
          <p:cNvSpPr txBox="1"/>
          <p:nvPr/>
        </p:nvSpPr>
        <p:spPr>
          <a:xfrm>
            <a:off x="928255" y="1367643"/>
            <a:ext cx="4822075" cy="4001095"/>
          </a:xfrm>
          <a:prstGeom prst="rect">
            <a:avLst/>
          </a:prstGeom>
          <a:noFill/>
        </p:spPr>
        <p:txBody>
          <a:bodyPr wrap="square">
            <a:spAutoFit/>
          </a:bodyPr>
          <a:lstStyle/>
          <a:p>
            <a:pPr>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Analiz öncesinde belirlenen kapsam doğrultusunda, boş ve çok kısa satırlar veri setinden çıkarılmıştır.</a:t>
            </a:r>
          </a:p>
          <a:p>
            <a:pPr>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Bu işlem, metnin anlamsal bütünlüğünü bozmadan daha sağlıklı sonuçlar elde etmeyi  ve analiz kalitesini arttırmak amaçlamaktadır.</a:t>
            </a:r>
          </a:p>
          <a:p>
            <a:pPr>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Temizlenmiş Nutuk metni, metin analitiği yöntemlerinin uygulanabilmesi için analiz ortamına hazır hâle getirilmiştir.</a:t>
            </a:r>
          </a:p>
          <a:p>
            <a:pPr>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Bu aşamada herhangi bir kelime çıkarımı veya modelleme yapılmamış, yalnızca temiz veri üzerinden kontrol sağlanmıştır.</a:t>
            </a:r>
          </a:p>
          <a:p>
            <a:pPr>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Ardından metin, kelime düzeyinde incelenebilmesi için </a:t>
            </a:r>
            <a:r>
              <a:rPr lang="tr-TR" sz="1400" noProof="0" dirty="0" err="1">
                <a:latin typeface="Arial" panose="020B0604020202020204" pitchFamily="34" charset="0"/>
                <a:cs typeface="Arial" panose="020B0604020202020204" pitchFamily="34" charset="0"/>
              </a:rPr>
              <a:t>tokenizasyon</a:t>
            </a:r>
            <a:r>
              <a:rPr lang="tr-TR" sz="1400" noProof="0" dirty="0">
                <a:latin typeface="Arial" panose="020B0604020202020204" pitchFamily="34" charset="0"/>
                <a:cs typeface="Arial" panose="020B0604020202020204" pitchFamily="34" charset="0"/>
              </a:rPr>
              <a:t> işlemine tabi tutulmuştur.</a:t>
            </a:r>
          </a:p>
          <a:p>
            <a:pPr>
              <a:lnSpc>
                <a:spcPct val="114000"/>
              </a:lnSpc>
              <a:buFont typeface="Arial" panose="020B0604020202020204" pitchFamily="34" charset="0"/>
              <a:buChar char="•"/>
            </a:pPr>
            <a:r>
              <a:rPr lang="tr-TR" sz="1400" noProof="0" dirty="0" err="1">
                <a:latin typeface="Arial" panose="020B0604020202020204" pitchFamily="34" charset="0"/>
                <a:cs typeface="Arial" panose="020B0604020202020204" pitchFamily="34" charset="0"/>
              </a:rPr>
              <a:t>Tokenizasyon</a:t>
            </a:r>
            <a:r>
              <a:rPr lang="tr-TR" sz="1400" noProof="0" dirty="0">
                <a:latin typeface="Arial" panose="020B0604020202020204" pitchFamily="34" charset="0"/>
                <a:cs typeface="Arial" panose="020B0604020202020204" pitchFamily="34" charset="0"/>
              </a:rPr>
              <a:t> sonucunda metin kelimelere ayrılmış, her satırda tek kelime olacak şekilde yapılandırılmıştır.</a:t>
            </a:r>
          </a:p>
          <a:p>
            <a:pPr>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Bu adım, kelime temelli analiz ve keşif çalışmalarına geçişi sağlamaktadır.</a:t>
            </a:r>
          </a:p>
        </p:txBody>
      </p:sp>
      <p:sp>
        <p:nvSpPr>
          <p:cNvPr id="8" name="TextBox 7">
            <a:extLst>
              <a:ext uri="{FF2B5EF4-FFF2-40B4-BE49-F238E27FC236}">
                <a16:creationId xmlns:a16="http://schemas.microsoft.com/office/drawing/2014/main" id="{1076F2A7-3AB3-FAFD-C56A-EC714C6655B4}"/>
              </a:ext>
            </a:extLst>
          </p:cNvPr>
          <p:cNvSpPr txBox="1"/>
          <p:nvPr/>
        </p:nvSpPr>
        <p:spPr>
          <a:xfrm>
            <a:off x="0" y="570406"/>
            <a:ext cx="12247418" cy="523220"/>
          </a:xfrm>
          <a:prstGeom prst="rect">
            <a:avLst/>
          </a:prstGeom>
          <a:noFill/>
        </p:spPr>
        <p:txBody>
          <a:bodyPr wrap="square">
            <a:spAutoFit/>
          </a:bodyPr>
          <a:lstStyle/>
          <a:p>
            <a:pPr algn="ctr"/>
            <a:r>
              <a:rPr lang="tr-TR" sz="2800" noProof="0" dirty="0">
                <a:effectLst>
                  <a:outerShdw blurRad="38100" dist="38100" dir="2700000" algn="tl">
                    <a:srgbClr val="000000">
                      <a:alpha val="43137"/>
                    </a:srgbClr>
                  </a:outerShdw>
                </a:effectLst>
              </a:rPr>
              <a:t>Temizlenmiş Metin Üzerinde Kelime </a:t>
            </a:r>
            <a:r>
              <a:rPr lang="tr-TR" sz="2800" noProof="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Temelli</a:t>
            </a:r>
            <a:r>
              <a:rPr lang="tr-TR" sz="2800" noProof="0" dirty="0">
                <a:effectLst>
                  <a:outerShdw blurRad="38100" dist="38100" dir="2700000" algn="tl">
                    <a:srgbClr val="000000">
                      <a:alpha val="43137"/>
                    </a:srgbClr>
                  </a:outerShdw>
                </a:effectLst>
              </a:rPr>
              <a:t> İnceleme</a:t>
            </a:r>
          </a:p>
        </p:txBody>
      </p:sp>
      <p:pic>
        <p:nvPicPr>
          <p:cNvPr id="9" name="Picture 8">
            <a:extLst>
              <a:ext uri="{FF2B5EF4-FFF2-40B4-BE49-F238E27FC236}">
                <a16:creationId xmlns:a16="http://schemas.microsoft.com/office/drawing/2014/main" id="{6272405B-C03A-F2B3-6A28-B8D09BB66A96}"/>
              </a:ext>
            </a:extLst>
          </p:cNvPr>
          <p:cNvPicPr>
            <a:picLocks noChangeAspect="1"/>
          </p:cNvPicPr>
          <p:nvPr/>
        </p:nvPicPr>
        <p:blipFill>
          <a:blip r:embed="rId2"/>
          <a:srcRect l="5339" t="3461" r="32653" b="77716"/>
          <a:stretch>
            <a:fillRect/>
          </a:stretch>
        </p:blipFill>
        <p:spPr>
          <a:xfrm>
            <a:off x="5926942" y="1463856"/>
            <a:ext cx="4144849" cy="648962"/>
          </a:xfrm>
          <a:prstGeom prst="rect">
            <a:avLst/>
          </a:prstGeom>
        </p:spPr>
      </p:pic>
      <p:pic>
        <p:nvPicPr>
          <p:cNvPr id="10" name="Picture 9">
            <a:extLst>
              <a:ext uri="{FF2B5EF4-FFF2-40B4-BE49-F238E27FC236}">
                <a16:creationId xmlns:a16="http://schemas.microsoft.com/office/drawing/2014/main" id="{DC5A9325-50E7-D148-2864-2EE65CEACCC3}"/>
              </a:ext>
            </a:extLst>
          </p:cNvPr>
          <p:cNvPicPr>
            <a:picLocks noChangeAspect="1"/>
          </p:cNvPicPr>
          <p:nvPr/>
        </p:nvPicPr>
        <p:blipFill>
          <a:blip r:embed="rId3"/>
          <a:srcRect l="3311" t="4250" r="48019" b="8600"/>
          <a:stretch>
            <a:fillRect/>
          </a:stretch>
        </p:blipFill>
        <p:spPr>
          <a:xfrm>
            <a:off x="9992980" y="1528106"/>
            <a:ext cx="1116611" cy="2702200"/>
          </a:xfrm>
          <a:prstGeom prst="rect">
            <a:avLst/>
          </a:prstGeom>
        </p:spPr>
      </p:pic>
      <p:pic>
        <p:nvPicPr>
          <p:cNvPr id="14" name="Picture 13">
            <a:extLst>
              <a:ext uri="{FF2B5EF4-FFF2-40B4-BE49-F238E27FC236}">
                <a16:creationId xmlns:a16="http://schemas.microsoft.com/office/drawing/2014/main" id="{17D0F648-EAAB-3EFE-A750-C785B6ABF929}"/>
              </a:ext>
            </a:extLst>
          </p:cNvPr>
          <p:cNvPicPr>
            <a:picLocks noChangeAspect="1"/>
          </p:cNvPicPr>
          <p:nvPr/>
        </p:nvPicPr>
        <p:blipFill>
          <a:blip r:embed="rId4"/>
          <a:srcRect t="7106" r="6978"/>
          <a:stretch>
            <a:fillRect/>
          </a:stretch>
        </p:blipFill>
        <p:spPr>
          <a:xfrm>
            <a:off x="5815749" y="2307031"/>
            <a:ext cx="4177231" cy="2020006"/>
          </a:xfrm>
          <a:prstGeom prst="rect">
            <a:avLst/>
          </a:prstGeom>
        </p:spPr>
      </p:pic>
    </p:spTree>
    <p:extLst>
      <p:ext uri="{BB962C8B-B14F-4D97-AF65-F5344CB8AC3E}">
        <p14:creationId xmlns:p14="http://schemas.microsoft.com/office/powerpoint/2010/main" val="15592170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EE64F53-690B-8666-62CF-4C73CC52486E}"/>
              </a:ext>
            </a:extLst>
          </p:cNvPr>
          <p:cNvSpPr txBox="1"/>
          <p:nvPr/>
        </p:nvSpPr>
        <p:spPr>
          <a:xfrm>
            <a:off x="666519" y="1275651"/>
            <a:ext cx="6827519" cy="4246675"/>
          </a:xfrm>
          <a:prstGeom prst="rect">
            <a:avLst/>
          </a:prstGeom>
          <a:noFill/>
        </p:spPr>
        <p:txBody>
          <a:bodyPr wrap="square">
            <a:spAutoFit/>
          </a:bodyPr>
          <a:lstStyle/>
          <a:p>
            <a:pPr>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Temizlik yapılmadan önce metindeki bağlaç ve işlev kelimesi baskısını gözlemlemek</a:t>
            </a:r>
          </a:p>
          <a:p>
            <a:pPr>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“Temizlik yapılmazsa analiz ne kadar anlam kaybeder?” sorusuna yanıt vermek</a:t>
            </a:r>
          </a:p>
          <a:p>
            <a:pPr>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En sık geçen kelimelerin </a:t>
            </a:r>
            <a:r>
              <a:rPr lang="tr-TR" sz="1400" noProof="0" dirty="0" err="1">
                <a:latin typeface="Arial" panose="020B0604020202020204" pitchFamily="34" charset="0"/>
                <a:cs typeface="Arial" panose="020B0604020202020204" pitchFamily="34" charset="0"/>
              </a:rPr>
              <a:t>stopword</a:t>
            </a:r>
            <a:r>
              <a:rPr lang="tr-TR" sz="1400" noProof="0" dirty="0">
                <a:latin typeface="Arial" panose="020B0604020202020204" pitchFamily="34" charset="0"/>
                <a:cs typeface="Arial" panose="020B0604020202020204" pitchFamily="34" charset="0"/>
              </a:rPr>
              <a:t> olup olmadığı</a:t>
            </a:r>
          </a:p>
          <a:p>
            <a:pPr>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Frekans listesinin anlamlı kelimeler mi yoksa bağlaçlar mı ürettiği</a:t>
            </a:r>
          </a:p>
          <a:p>
            <a:pPr>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“ve, bir, bu, ile, de” gibi kelimelerin üst sıralarda yer alması</a:t>
            </a:r>
          </a:p>
          <a:p>
            <a:pPr>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En yüksek frekanslı kelimeler bağlaç ve işlev kelimeleridir</a:t>
            </a:r>
          </a:p>
          <a:p>
            <a:pPr>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Anlam taşıyan içerik kelimeleri üst sıralarda yer almamaktadır</a:t>
            </a:r>
          </a:p>
          <a:p>
            <a:pPr>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Frekans dağılımı </a:t>
            </a:r>
            <a:r>
              <a:rPr lang="tr-TR" sz="1400" noProof="0" dirty="0" err="1">
                <a:latin typeface="Arial" panose="020B0604020202020204" pitchFamily="34" charset="0"/>
                <a:cs typeface="Arial" panose="020B0604020202020204" pitchFamily="34" charset="0"/>
              </a:rPr>
              <a:t>stopword’ler</a:t>
            </a:r>
            <a:r>
              <a:rPr lang="tr-TR" sz="1400" noProof="0" dirty="0">
                <a:latin typeface="Arial" panose="020B0604020202020204" pitchFamily="34" charset="0"/>
                <a:cs typeface="Arial" panose="020B0604020202020204" pitchFamily="34" charset="0"/>
              </a:rPr>
              <a:t> tarafından baskılanmaktadır</a:t>
            </a:r>
          </a:p>
          <a:p>
            <a:pPr>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Temizlik yapılmadan elde edilen kelime frekansları anlamsal bilgi üretmemektedir</a:t>
            </a:r>
          </a:p>
          <a:p>
            <a:pPr>
              <a:lnSpc>
                <a:spcPct val="114000"/>
              </a:lnSpc>
              <a:buFont typeface="Arial" panose="020B0604020202020204" pitchFamily="34" charset="0"/>
              <a:buChar char="•"/>
            </a:pPr>
            <a:r>
              <a:rPr lang="tr-TR" sz="1400" noProof="0" dirty="0" err="1">
                <a:latin typeface="Arial" panose="020B0604020202020204" pitchFamily="34" charset="0"/>
                <a:cs typeface="Arial" panose="020B0604020202020204" pitchFamily="34" charset="0"/>
              </a:rPr>
              <a:t>Stopword</a:t>
            </a:r>
            <a:r>
              <a:rPr lang="tr-TR" sz="1400" noProof="0" dirty="0">
                <a:latin typeface="Arial" panose="020B0604020202020204" pitchFamily="34" charset="0"/>
                <a:cs typeface="Arial" panose="020B0604020202020204" pitchFamily="34" charset="0"/>
              </a:rPr>
              <a:t> temizliği analiz öncesi zorunludur.</a:t>
            </a:r>
          </a:p>
          <a:p>
            <a:pPr>
              <a:lnSpc>
                <a:spcPct val="114000"/>
              </a:lnSpc>
              <a:buFont typeface="Arial" panose="020B0604020202020204" pitchFamily="34" charset="0"/>
              <a:buChar char="•"/>
            </a:pPr>
            <a:r>
              <a:rPr lang="tr-TR" sz="1400" dirty="0" err="1">
                <a:latin typeface="Arial" panose="020B0604020202020204" pitchFamily="34" charset="0"/>
                <a:cs typeface="Arial" panose="020B0604020202020204" pitchFamily="34" charset="0"/>
              </a:rPr>
              <a:t>Stopword</a:t>
            </a:r>
            <a:r>
              <a:rPr lang="tr-TR" sz="1400" dirty="0">
                <a:latin typeface="Arial" panose="020B0604020202020204" pitchFamily="34" charset="0"/>
                <a:cs typeface="Arial" panose="020B0604020202020204" pitchFamily="34" charset="0"/>
              </a:rPr>
              <a:t> temizliği öncesinde bağlaç ve işlev kelimeleri frekanslara hâkimdir.</a:t>
            </a:r>
            <a:br>
              <a:rPr lang="tr-TR" sz="1400" dirty="0">
                <a:latin typeface="Arial" panose="020B0604020202020204" pitchFamily="34" charset="0"/>
                <a:cs typeface="Arial" panose="020B0604020202020204" pitchFamily="34" charset="0"/>
              </a:rPr>
            </a:br>
            <a:r>
              <a:rPr lang="tr-TR" sz="1400" dirty="0">
                <a:latin typeface="Arial" panose="020B0604020202020204" pitchFamily="34" charset="0"/>
                <a:cs typeface="Arial" panose="020B0604020202020204" pitchFamily="34" charset="0"/>
              </a:rPr>
              <a:t>Temizlik sonrası anlam taşıyan kelimeler öne çıkmıştır.</a:t>
            </a:r>
          </a:p>
          <a:p>
            <a:pPr>
              <a:lnSpc>
                <a:spcPct val="114000"/>
              </a:lnSpc>
            </a:pPr>
            <a:endParaRPr lang="tr-TR" sz="1400" noProof="0" dirty="0">
              <a:latin typeface="Arial" panose="020B0604020202020204" pitchFamily="34" charset="0"/>
              <a:cs typeface="Arial" panose="020B0604020202020204" pitchFamily="34" charset="0"/>
            </a:endParaRPr>
          </a:p>
          <a:p>
            <a:pPr>
              <a:lnSpc>
                <a:spcPct val="114000"/>
              </a:lnSpc>
              <a:buNone/>
            </a:pPr>
            <a:r>
              <a:rPr lang="tr-TR" sz="1400" u="sng" noProof="0" dirty="0">
                <a:latin typeface="Arial" panose="020B0604020202020204" pitchFamily="34" charset="0"/>
                <a:cs typeface="Arial" panose="020B0604020202020204" pitchFamily="34" charset="0"/>
              </a:rPr>
              <a:t> </a:t>
            </a:r>
            <a:r>
              <a:rPr lang="tr-TR" sz="1400" u="sng" noProof="0" dirty="0" err="1">
                <a:latin typeface="Arial" panose="020B0604020202020204" pitchFamily="34" charset="0"/>
                <a:cs typeface="Arial" panose="020B0604020202020204" pitchFamily="34" charset="0"/>
              </a:rPr>
              <a:t>Stopword</a:t>
            </a:r>
            <a:r>
              <a:rPr lang="tr-TR" sz="1400" u="sng" noProof="0" dirty="0">
                <a:latin typeface="Arial" panose="020B0604020202020204" pitchFamily="34" charset="0"/>
                <a:cs typeface="Arial" panose="020B0604020202020204" pitchFamily="34" charset="0"/>
              </a:rPr>
              <a:t> Temizliği Sonrasında Kaldırılan Kelimeler:</a:t>
            </a:r>
          </a:p>
          <a:p>
            <a:pPr>
              <a:lnSpc>
                <a:spcPct val="114000"/>
              </a:lnSpc>
            </a:pPr>
            <a:r>
              <a:rPr lang="tr-TR" sz="1400" noProof="0" dirty="0">
                <a:latin typeface="Arial" panose="020B0604020202020204" pitchFamily="34" charset="0"/>
                <a:cs typeface="Arial" panose="020B0604020202020204" pitchFamily="34" charset="0"/>
              </a:rPr>
              <a:t>ve, bir, bu, ile, de / da, için, gibi, olan, olarak, mı / mi / mu / mü, ki</a:t>
            </a:r>
          </a:p>
          <a:p>
            <a:pPr>
              <a:lnSpc>
                <a:spcPct val="114000"/>
              </a:lnSpc>
              <a:buFont typeface="Arial" panose="020B0604020202020204" pitchFamily="34" charset="0"/>
              <a:buChar char="•"/>
            </a:pPr>
            <a:endParaRPr lang="tr-TR" sz="1400" noProof="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F2FE9B30-7926-32BB-80E6-5D47426944C8}"/>
              </a:ext>
            </a:extLst>
          </p:cNvPr>
          <p:cNvSpPr txBox="1"/>
          <p:nvPr/>
        </p:nvSpPr>
        <p:spPr>
          <a:xfrm>
            <a:off x="7621248" y="5094780"/>
            <a:ext cx="1570047" cy="261610"/>
          </a:xfrm>
          <a:prstGeom prst="rect">
            <a:avLst/>
          </a:prstGeom>
          <a:noFill/>
        </p:spPr>
        <p:txBody>
          <a:bodyPr wrap="square">
            <a:spAutoFit/>
          </a:bodyPr>
          <a:lstStyle/>
          <a:p>
            <a:r>
              <a:rPr lang="en-US" sz="1100" dirty="0" err="1">
                <a:latin typeface="Arial" panose="020B0604020202020204" pitchFamily="34" charset="0"/>
                <a:cs typeface="Arial" panose="020B0604020202020204" pitchFamily="34" charset="0"/>
              </a:rPr>
              <a:t>Stopword</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Öncesi</a:t>
            </a:r>
            <a:r>
              <a:rPr lang="tr-TR" sz="1100" dirty="0">
                <a:latin typeface="Arial" panose="020B0604020202020204" pitchFamily="34" charset="0"/>
                <a:cs typeface="Arial" panose="020B0604020202020204" pitchFamily="34" charset="0"/>
              </a:rPr>
              <a:t> </a:t>
            </a:r>
          </a:p>
        </p:txBody>
      </p:sp>
      <p:sp>
        <p:nvSpPr>
          <p:cNvPr id="15" name="TextBox 14">
            <a:extLst>
              <a:ext uri="{FF2B5EF4-FFF2-40B4-BE49-F238E27FC236}">
                <a16:creationId xmlns:a16="http://schemas.microsoft.com/office/drawing/2014/main" id="{CB97162C-A1C0-9220-97C8-072D255806D9}"/>
              </a:ext>
            </a:extLst>
          </p:cNvPr>
          <p:cNvSpPr txBox="1"/>
          <p:nvPr/>
        </p:nvSpPr>
        <p:spPr>
          <a:xfrm>
            <a:off x="7371955" y="5288475"/>
            <a:ext cx="3821561" cy="261610"/>
          </a:xfrm>
          <a:prstGeom prst="rect">
            <a:avLst/>
          </a:prstGeom>
          <a:noFill/>
        </p:spPr>
        <p:txBody>
          <a:bodyPr wrap="square">
            <a:spAutoFit/>
          </a:bodyPr>
          <a:lstStyle/>
          <a:p>
            <a:pPr algn="ctr"/>
            <a:r>
              <a:rPr lang="tr-TR" sz="1100" dirty="0">
                <a:latin typeface="Arial" panose="020B0604020202020204" pitchFamily="34" charset="0"/>
                <a:cs typeface="Arial" panose="020B0604020202020204" pitchFamily="34" charset="0"/>
              </a:rPr>
              <a:t>10 Kelimenin Frekansları</a:t>
            </a:r>
          </a:p>
        </p:txBody>
      </p:sp>
      <p:sp>
        <p:nvSpPr>
          <p:cNvPr id="16" name="TextBox 15">
            <a:extLst>
              <a:ext uri="{FF2B5EF4-FFF2-40B4-BE49-F238E27FC236}">
                <a16:creationId xmlns:a16="http://schemas.microsoft.com/office/drawing/2014/main" id="{87A611B2-E1D7-A623-38F7-50A8FE9C87EE}"/>
              </a:ext>
            </a:extLst>
          </p:cNvPr>
          <p:cNvSpPr txBox="1"/>
          <p:nvPr/>
        </p:nvSpPr>
        <p:spPr>
          <a:xfrm>
            <a:off x="9477505" y="5094780"/>
            <a:ext cx="1302627" cy="261610"/>
          </a:xfrm>
          <a:prstGeom prst="rect">
            <a:avLst/>
          </a:prstGeom>
          <a:noFill/>
        </p:spPr>
        <p:txBody>
          <a:bodyPr wrap="square">
            <a:spAutoFit/>
          </a:bodyPr>
          <a:lstStyle/>
          <a:p>
            <a:r>
              <a:rPr lang="en-US" sz="1100" dirty="0" err="1">
                <a:latin typeface="Arial" panose="020B0604020202020204" pitchFamily="34" charset="0"/>
                <a:cs typeface="Arial" panose="020B0604020202020204" pitchFamily="34" charset="0"/>
              </a:rPr>
              <a:t>Stopword</a:t>
            </a:r>
            <a:r>
              <a:rPr lang="en-US" sz="1100" dirty="0">
                <a:latin typeface="Arial" panose="020B0604020202020204" pitchFamily="34" charset="0"/>
                <a:cs typeface="Arial" panose="020B0604020202020204" pitchFamily="34" charset="0"/>
              </a:rPr>
              <a:t> </a:t>
            </a:r>
            <a:r>
              <a:rPr lang="tr-TR" sz="1100" dirty="0">
                <a:latin typeface="Arial" panose="020B0604020202020204" pitchFamily="34" charset="0"/>
                <a:cs typeface="Arial" panose="020B0604020202020204" pitchFamily="34" charset="0"/>
              </a:rPr>
              <a:t>Sonrası</a:t>
            </a:r>
          </a:p>
        </p:txBody>
      </p:sp>
      <p:sp>
        <p:nvSpPr>
          <p:cNvPr id="19" name="TextBox 18">
            <a:extLst>
              <a:ext uri="{FF2B5EF4-FFF2-40B4-BE49-F238E27FC236}">
                <a16:creationId xmlns:a16="http://schemas.microsoft.com/office/drawing/2014/main" id="{6E1F44F7-1AA2-D65F-4477-59F2B1AFEB1C}"/>
              </a:ext>
            </a:extLst>
          </p:cNvPr>
          <p:cNvSpPr txBox="1"/>
          <p:nvPr/>
        </p:nvSpPr>
        <p:spPr>
          <a:xfrm>
            <a:off x="0" y="598933"/>
            <a:ext cx="12192000" cy="523220"/>
          </a:xfrm>
          <a:prstGeom prst="rect">
            <a:avLst/>
          </a:prstGeom>
          <a:noFill/>
        </p:spPr>
        <p:txBody>
          <a:bodyPr wrap="square">
            <a:spAutoFit/>
          </a:bodyPr>
          <a:lstStyle/>
          <a:p>
            <a:pPr algn="ctr"/>
            <a:r>
              <a:rPr lang="tr-TR" sz="2800" noProof="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Analiz Aşamasında </a:t>
            </a:r>
            <a:r>
              <a:rPr lang="tr-TR" sz="2800" noProof="0" dirty="0" err="1">
                <a:effectLst>
                  <a:outerShdw blurRad="38100" dist="38100" dir="2700000" algn="tl">
                    <a:srgbClr val="000000">
                      <a:alpha val="43137"/>
                    </a:srgbClr>
                  </a:outerShdw>
                </a:effectLst>
                <a:latin typeface="Arial" panose="020B0604020202020204" pitchFamily="34" charset="0"/>
                <a:cs typeface="Arial" panose="020B0604020202020204" pitchFamily="34" charset="0"/>
              </a:rPr>
              <a:t>Stopword</a:t>
            </a:r>
            <a:r>
              <a:rPr lang="tr-TR" sz="2800" noProof="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Etkisi</a:t>
            </a:r>
          </a:p>
        </p:txBody>
      </p:sp>
      <p:pic>
        <p:nvPicPr>
          <p:cNvPr id="26" name="Picture 25">
            <a:extLst>
              <a:ext uri="{FF2B5EF4-FFF2-40B4-BE49-F238E27FC236}">
                <a16:creationId xmlns:a16="http://schemas.microsoft.com/office/drawing/2014/main" id="{2866510A-CDA2-4C23-6DC5-9B603773F82A}"/>
              </a:ext>
            </a:extLst>
          </p:cNvPr>
          <p:cNvPicPr>
            <a:picLocks noChangeAspect="1"/>
          </p:cNvPicPr>
          <p:nvPr/>
        </p:nvPicPr>
        <p:blipFill>
          <a:blip r:embed="rId2"/>
          <a:stretch>
            <a:fillRect/>
          </a:stretch>
        </p:blipFill>
        <p:spPr>
          <a:xfrm>
            <a:off x="7325920" y="1706071"/>
            <a:ext cx="1956815" cy="3459737"/>
          </a:xfrm>
          <a:prstGeom prst="rect">
            <a:avLst/>
          </a:prstGeom>
        </p:spPr>
      </p:pic>
      <p:pic>
        <p:nvPicPr>
          <p:cNvPr id="28" name="Picture 27">
            <a:extLst>
              <a:ext uri="{FF2B5EF4-FFF2-40B4-BE49-F238E27FC236}">
                <a16:creationId xmlns:a16="http://schemas.microsoft.com/office/drawing/2014/main" id="{169777A1-F65C-3956-7B25-547B8CD40DFD}"/>
              </a:ext>
            </a:extLst>
          </p:cNvPr>
          <p:cNvPicPr>
            <a:picLocks noChangeAspect="1"/>
          </p:cNvPicPr>
          <p:nvPr/>
        </p:nvPicPr>
        <p:blipFill>
          <a:blip r:embed="rId3"/>
          <a:srcRect l="7084"/>
          <a:stretch>
            <a:fillRect/>
          </a:stretch>
        </p:blipFill>
        <p:spPr>
          <a:xfrm>
            <a:off x="9191296" y="1692192"/>
            <a:ext cx="1906196" cy="3473616"/>
          </a:xfrm>
          <a:prstGeom prst="rect">
            <a:avLst/>
          </a:prstGeom>
        </p:spPr>
      </p:pic>
    </p:spTree>
    <p:extLst>
      <p:ext uri="{BB962C8B-B14F-4D97-AF65-F5344CB8AC3E}">
        <p14:creationId xmlns:p14="http://schemas.microsoft.com/office/powerpoint/2010/main" val="40664472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5D2DA3-FBBD-8E2A-1934-1A655F363E3C}"/>
              </a:ext>
            </a:extLst>
          </p:cNvPr>
          <p:cNvSpPr txBox="1"/>
          <p:nvPr/>
        </p:nvSpPr>
        <p:spPr>
          <a:xfrm>
            <a:off x="0" y="453008"/>
            <a:ext cx="12192000" cy="523220"/>
          </a:xfrm>
          <a:prstGeom prst="rect">
            <a:avLst/>
          </a:prstGeom>
          <a:noFill/>
        </p:spPr>
        <p:txBody>
          <a:bodyPr wrap="square">
            <a:spAutoFit/>
          </a:bodyPr>
          <a:lstStyle/>
          <a:p>
            <a:pPr algn="ctr">
              <a:spcBef>
                <a:spcPts val="907"/>
              </a:spcBef>
              <a:spcAft>
                <a:spcPts val="605"/>
              </a:spcAft>
              <a:buNone/>
            </a:pPr>
            <a:r>
              <a:rPr lang="tr-TR" sz="2800" b="0" i="0" noProof="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Satır Uzunluğuna Göre Örnek Satırlar</a:t>
            </a:r>
          </a:p>
        </p:txBody>
      </p:sp>
      <p:pic>
        <p:nvPicPr>
          <p:cNvPr id="4" name="Picture 3">
            <a:extLst>
              <a:ext uri="{FF2B5EF4-FFF2-40B4-BE49-F238E27FC236}">
                <a16:creationId xmlns:a16="http://schemas.microsoft.com/office/drawing/2014/main" id="{82F9913D-ED74-114E-BA3F-4F2F0D5E1611}"/>
              </a:ext>
            </a:extLst>
          </p:cNvPr>
          <p:cNvPicPr>
            <a:picLocks noChangeAspect="1"/>
          </p:cNvPicPr>
          <p:nvPr/>
        </p:nvPicPr>
        <p:blipFill>
          <a:blip r:embed="rId2"/>
          <a:srcRect b="3887"/>
          <a:stretch>
            <a:fillRect/>
          </a:stretch>
        </p:blipFill>
        <p:spPr>
          <a:xfrm>
            <a:off x="5942010" y="1349631"/>
            <a:ext cx="5259375" cy="4621679"/>
          </a:xfrm>
          <a:prstGeom prst="rect">
            <a:avLst/>
          </a:prstGeom>
        </p:spPr>
      </p:pic>
      <p:sp>
        <p:nvSpPr>
          <p:cNvPr id="2" name="Rectangle 1">
            <a:extLst>
              <a:ext uri="{FF2B5EF4-FFF2-40B4-BE49-F238E27FC236}">
                <a16:creationId xmlns:a16="http://schemas.microsoft.com/office/drawing/2014/main" id="{68E71A54-DE24-7965-2E18-C38153222A55}"/>
              </a:ext>
            </a:extLst>
          </p:cNvPr>
          <p:cNvSpPr>
            <a:spLocks noChangeArrowheads="1"/>
          </p:cNvSpPr>
          <p:nvPr/>
        </p:nvSpPr>
        <p:spPr bwMode="auto">
          <a:xfrm>
            <a:off x="1170724" y="1689331"/>
            <a:ext cx="4575631" cy="2282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i="0" u="none" strike="noStrike" cap="none" normalizeH="0" baseline="0" noProof="0" dirty="0">
                <a:ln>
                  <a:noFill/>
                </a:ln>
                <a:solidFill>
                  <a:schemeClr val="tx1"/>
                </a:solidFill>
                <a:effectLst/>
                <a:latin typeface="Arial" panose="020B0604020202020204" pitchFamily="34" charset="0"/>
              </a:rPr>
              <a:t>Satırlar, karakter uzunluklarına göre kısa, orta ve uzun olmak üzere gruplandırılmıştır</a:t>
            </a:r>
            <a:r>
              <a:rPr kumimoji="0" lang="tr-TR" sz="1400" b="0" i="0" u="none" strike="noStrike" cap="none" normalizeH="0" baseline="0" noProof="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b="0" i="0" u="none" strike="noStrike" cap="none" normalizeH="0" baseline="0" noProof="0" dirty="0">
                <a:ln>
                  <a:noFill/>
                </a:ln>
                <a:solidFill>
                  <a:schemeClr val="tx1"/>
                </a:solidFill>
                <a:effectLst/>
                <a:latin typeface="Arial" panose="020B0604020202020204" pitchFamily="34" charset="0"/>
              </a:rPr>
              <a:t>Her gruptan örnek satırlar seçilerek metnin yapısal çeşitliliği gösterilmiştir.</a:t>
            </a:r>
          </a:p>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b="0" i="0" u="none" strike="noStrike" cap="none" normalizeH="0" baseline="0" noProof="0" dirty="0">
                <a:ln>
                  <a:noFill/>
                </a:ln>
                <a:solidFill>
                  <a:schemeClr val="tx1"/>
                </a:solidFill>
                <a:effectLst/>
                <a:latin typeface="Arial" panose="020B0604020202020204" pitchFamily="34" charset="0"/>
              </a:rPr>
              <a:t>Kısa satırların sınırlı bilgi içerdiği, orta ve uzun satırların ise daha anlamlı bağlam sunduğu gözlemlenmiştir.</a:t>
            </a:r>
          </a:p>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b="0" i="0" u="none" strike="noStrike" cap="none" normalizeH="0" baseline="0" noProof="0" dirty="0">
                <a:ln>
                  <a:noFill/>
                </a:ln>
                <a:solidFill>
                  <a:schemeClr val="tx1"/>
                </a:solidFill>
                <a:effectLst/>
                <a:latin typeface="Arial" panose="020B0604020202020204" pitchFamily="34" charset="0"/>
              </a:rPr>
              <a:t>Bu inceleme, satır uzunluğuna dayalı temizlik kararlarının gerekçesini desteklemektedir.</a:t>
            </a:r>
          </a:p>
        </p:txBody>
      </p:sp>
    </p:spTree>
    <p:extLst>
      <p:ext uri="{BB962C8B-B14F-4D97-AF65-F5344CB8AC3E}">
        <p14:creationId xmlns:p14="http://schemas.microsoft.com/office/powerpoint/2010/main" val="19361246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38824E-1CA5-72D1-9CBD-7E7A8F524DF8}"/>
              </a:ext>
            </a:extLst>
          </p:cNvPr>
          <p:cNvSpPr txBox="1"/>
          <p:nvPr/>
        </p:nvSpPr>
        <p:spPr>
          <a:xfrm>
            <a:off x="-96982" y="739186"/>
            <a:ext cx="12191999" cy="523220"/>
          </a:xfrm>
          <a:prstGeom prst="rect">
            <a:avLst/>
          </a:prstGeom>
          <a:noFill/>
        </p:spPr>
        <p:txBody>
          <a:bodyPr wrap="square">
            <a:spAutoFit/>
          </a:bodyPr>
          <a:lstStyle/>
          <a:p>
            <a:pPr algn="ctr">
              <a:spcBef>
                <a:spcPts val="1306"/>
              </a:spcBef>
              <a:spcAft>
                <a:spcPts val="1742"/>
              </a:spcAft>
            </a:pPr>
            <a:r>
              <a:rPr lang="tr-TR" sz="2800" noProof="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Metnin Sayısal Temsile Dönüştürülmesi (</a:t>
            </a:r>
            <a:r>
              <a:rPr lang="tr-TR" sz="2800" noProof="0" dirty="0" err="1">
                <a:effectLst>
                  <a:outerShdw blurRad="38100" dist="38100" dir="2700000" algn="tl">
                    <a:srgbClr val="000000">
                      <a:alpha val="43137"/>
                    </a:srgbClr>
                  </a:outerShdw>
                </a:effectLst>
                <a:latin typeface="Arial" panose="020B0604020202020204" pitchFamily="34" charset="0"/>
                <a:cs typeface="Arial" panose="020B0604020202020204" pitchFamily="34" charset="0"/>
              </a:rPr>
              <a:t>CountVectorizer</a:t>
            </a:r>
            <a:r>
              <a:rPr lang="tr-TR" sz="2800" noProof="0" dirty="0"/>
              <a:t>)</a:t>
            </a:r>
            <a:endParaRPr lang="tr-TR" i="0" noProof="0" dirty="0">
              <a:effectLst/>
              <a:latin typeface="system-ui"/>
            </a:endParaRPr>
          </a:p>
        </p:txBody>
      </p:sp>
      <p:pic>
        <p:nvPicPr>
          <p:cNvPr id="4" name="Picture 3">
            <a:extLst>
              <a:ext uri="{FF2B5EF4-FFF2-40B4-BE49-F238E27FC236}">
                <a16:creationId xmlns:a16="http://schemas.microsoft.com/office/drawing/2014/main" id="{1629A274-2DA5-7A86-60BF-EC9C327D52A9}"/>
              </a:ext>
            </a:extLst>
          </p:cNvPr>
          <p:cNvPicPr>
            <a:picLocks noChangeAspect="1"/>
          </p:cNvPicPr>
          <p:nvPr/>
        </p:nvPicPr>
        <p:blipFill>
          <a:blip r:embed="rId2"/>
          <a:srcRect l="2601" t="6811" r="7801" b="9162"/>
          <a:stretch>
            <a:fillRect/>
          </a:stretch>
        </p:blipFill>
        <p:spPr>
          <a:xfrm>
            <a:off x="827020" y="4194089"/>
            <a:ext cx="5728757" cy="1794163"/>
          </a:xfrm>
          <a:prstGeom prst="rect">
            <a:avLst/>
          </a:prstGeom>
        </p:spPr>
      </p:pic>
      <p:sp>
        <p:nvSpPr>
          <p:cNvPr id="2" name="Rectangle 1">
            <a:extLst>
              <a:ext uri="{FF2B5EF4-FFF2-40B4-BE49-F238E27FC236}">
                <a16:creationId xmlns:a16="http://schemas.microsoft.com/office/drawing/2014/main" id="{CC17E43A-DA7E-5611-8DF4-8AB610C50C27}"/>
              </a:ext>
            </a:extLst>
          </p:cNvPr>
          <p:cNvSpPr>
            <a:spLocks noChangeArrowheads="1"/>
          </p:cNvSpPr>
          <p:nvPr/>
        </p:nvSpPr>
        <p:spPr bwMode="auto">
          <a:xfrm>
            <a:off x="789852" y="1341650"/>
            <a:ext cx="5562457" cy="2773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lnSpc>
                <a:spcPct val="114000"/>
              </a:lnSpc>
              <a:spcBef>
                <a:spcPct val="0"/>
              </a:spcBef>
              <a:spcAft>
                <a:spcPct val="0"/>
              </a:spcAft>
              <a:buFontTx/>
              <a:buChar char="•"/>
            </a:pPr>
            <a:r>
              <a:rPr kumimoji="0" lang="tr-TR" sz="140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Nutuk metni, kelime frekanslarına dayalı olarak sayısal vektörlere dönüştürülmüştür.</a:t>
            </a:r>
          </a:p>
          <a:p>
            <a:pPr lvl="0" defTabSz="914400" eaLnBrk="0" fontAlgn="base" hangingPunct="0">
              <a:lnSpc>
                <a:spcPct val="114000"/>
              </a:lnSpc>
              <a:spcBef>
                <a:spcPct val="0"/>
              </a:spcBef>
              <a:spcAft>
                <a:spcPct val="0"/>
              </a:spcAft>
              <a:buFontTx/>
              <a:buChar char="•"/>
            </a:pPr>
            <a:r>
              <a:rPr lang="tr-TR" sz="1400" noProof="0" dirty="0">
                <a:latin typeface="Arial" panose="020B0604020202020204" pitchFamily="34" charset="0"/>
                <a:cs typeface="Arial" panose="020B0604020202020204" pitchFamily="34" charset="0"/>
              </a:rPr>
              <a:t> Amaç, metnin makine öğrenmesi ve ileri metin analitiği yöntemlerine uygun bir temsile kavuşturulmasıdır. M</a:t>
            </a:r>
            <a:r>
              <a:rPr kumimoji="0" lang="tr-TR" sz="140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etni bilgisayar tarafından işlenebilir bir yapıya kavuşturmaktır.</a:t>
            </a:r>
          </a:p>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Bu dönüşüm, makine öğrenmesi ve ileri metin analizi için hazırlık niteliğindedir.</a:t>
            </a:r>
          </a:p>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Görseldeki </a:t>
            </a:r>
            <a:r>
              <a:rPr kumimoji="0" lang="tr-TR" sz="1400" i="0" u="none" strike="noStrike" cap="none" normalizeH="0" baseline="0" noProof="0" dirty="0" err="1">
                <a:ln>
                  <a:noFill/>
                </a:ln>
                <a:solidFill>
                  <a:schemeClr val="tx1"/>
                </a:solidFill>
                <a:effectLst/>
                <a:latin typeface="Arial" panose="020B0604020202020204" pitchFamily="34" charset="0"/>
                <a:cs typeface="Arial" panose="020B0604020202020204" pitchFamily="34" charset="0"/>
              </a:rPr>
              <a:t>rawFeatures</a:t>
            </a:r>
            <a:r>
              <a:rPr kumimoji="0" lang="tr-TR" sz="140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 sütunu, her satırın sayısal bir vektör olarak temsil edildiğini göstermektedir.</a:t>
            </a:r>
          </a:p>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Vektörlerdeki indeksler kelimeleri, 1.0 değerleri ise kelimenin ilgili satırda yer aldığını ifade etmektedir</a:t>
            </a:r>
            <a:r>
              <a:rPr kumimoji="0" lang="tr-TR" sz="1400" b="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a:t>
            </a:r>
          </a:p>
        </p:txBody>
      </p:sp>
      <p:sp>
        <p:nvSpPr>
          <p:cNvPr id="6" name="TextBox 5">
            <a:extLst>
              <a:ext uri="{FF2B5EF4-FFF2-40B4-BE49-F238E27FC236}">
                <a16:creationId xmlns:a16="http://schemas.microsoft.com/office/drawing/2014/main" id="{3C6FF4E8-4FDC-C727-2621-47B7883238B7}"/>
              </a:ext>
            </a:extLst>
          </p:cNvPr>
          <p:cNvSpPr txBox="1"/>
          <p:nvPr/>
        </p:nvSpPr>
        <p:spPr>
          <a:xfrm>
            <a:off x="6862968" y="1435585"/>
            <a:ext cx="4502012" cy="738664"/>
          </a:xfrm>
          <a:prstGeom prst="rect">
            <a:avLst/>
          </a:prstGeom>
          <a:noFill/>
        </p:spPr>
        <p:txBody>
          <a:bodyPr wrap="square">
            <a:spAutoFit/>
          </a:bodyPr>
          <a:lstStyle/>
          <a:p>
            <a:r>
              <a:rPr lang="tr-TR" sz="1400" u="sng" noProof="0" dirty="0">
                <a:latin typeface="Arial" panose="020B0604020202020204" pitchFamily="34" charset="0"/>
                <a:cs typeface="Arial" panose="020B0604020202020204" pitchFamily="34" charset="0"/>
              </a:rPr>
              <a:t>1.Satırın açıklaması</a:t>
            </a:r>
            <a:r>
              <a:rPr lang="tr-TR" sz="1400" noProof="0" dirty="0">
                <a:latin typeface="Arial" panose="020B0604020202020204" pitchFamily="34" charset="0"/>
                <a:cs typeface="Arial" panose="020B0604020202020204" pitchFamily="34" charset="0"/>
              </a:rPr>
              <a:t>: (35875,[0,1,192,1680,2841,26161,31020],[1.0,1.0,1.0,1.0,1.0,1.0,1.0])</a:t>
            </a:r>
            <a:endParaRPr lang="tr-TR" noProof="0" dirty="0"/>
          </a:p>
        </p:txBody>
      </p:sp>
      <p:sp>
        <p:nvSpPr>
          <p:cNvPr id="7" name="Rectangle 2">
            <a:extLst>
              <a:ext uri="{FF2B5EF4-FFF2-40B4-BE49-F238E27FC236}">
                <a16:creationId xmlns:a16="http://schemas.microsoft.com/office/drawing/2014/main" id="{B8E1CAD4-EB93-D7EF-2530-E26B87F2410A}"/>
              </a:ext>
            </a:extLst>
          </p:cNvPr>
          <p:cNvSpPr>
            <a:spLocks noChangeArrowheads="1"/>
          </p:cNvSpPr>
          <p:nvPr/>
        </p:nvSpPr>
        <p:spPr bwMode="auto">
          <a:xfrm>
            <a:off x="6862968" y="2253493"/>
            <a:ext cx="4502012" cy="3264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   35875 → Sözlükte (</a:t>
            </a:r>
            <a:r>
              <a:rPr kumimoji="0" lang="tr-TR" sz="1400" i="0" u="none" strike="noStrike" cap="none" normalizeH="0" baseline="0" noProof="0" dirty="0" err="1">
                <a:ln>
                  <a:noFill/>
                </a:ln>
                <a:solidFill>
                  <a:schemeClr val="tx1"/>
                </a:solidFill>
                <a:effectLst/>
                <a:latin typeface="Arial" panose="020B0604020202020204" pitchFamily="34" charset="0"/>
                <a:cs typeface="Arial" panose="020B0604020202020204" pitchFamily="34" charset="0"/>
              </a:rPr>
              <a:t>vocabulary</a:t>
            </a:r>
            <a:r>
              <a:rPr kumimoji="0" lang="tr-TR" sz="140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 toplam 35.875 farklı kelime bulunduğunu gösterir.</a:t>
            </a:r>
          </a:p>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    [0,1,192,1680,2841,26161,31020] → Bu satırda geçen kelimelerin sözlük indeksleridir (kelimenin kendisi değil, numarası).</a:t>
            </a:r>
          </a:p>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    [1.0, 1.0, 1.0, 1.0, 1.0, 1.0, 1.0] → Her kelimenin bu satırda 1 kez geçtiğini ifade eder.</a:t>
            </a:r>
          </a:p>
          <a:p>
            <a:pPr marL="285750" indent="-285750">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Bu satırda 7 farklı kelime vardır.</a:t>
            </a:r>
          </a:p>
          <a:p>
            <a:pPr marL="285750" indent="-285750">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Kelimeler isimleriyle değil, numaralarla temsil edilmiştir.</a:t>
            </a:r>
          </a:p>
          <a:p>
            <a:pPr marL="285750" indent="-285750">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Satır, metnin sayısal (vektörel) karşılığıdır ve analiz için hazırdır.</a:t>
            </a:r>
          </a:p>
          <a:p>
            <a:pPr marL="0" marR="0" lvl="0" indent="0" algn="l" defTabSz="914400" rtl="0" eaLnBrk="0" fontAlgn="base" latinLnBrk="0" hangingPunct="0">
              <a:lnSpc>
                <a:spcPct val="114000"/>
              </a:lnSpc>
              <a:spcBef>
                <a:spcPct val="0"/>
              </a:spcBef>
              <a:spcAft>
                <a:spcPct val="0"/>
              </a:spcAft>
              <a:buClrTx/>
              <a:buSzTx/>
              <a:buFontTx/>
              <a:buChar char="•"/>
              <a:tabLst/>
            </a:pPr>
            <a:endParaRPr kumimoji="0" lang="tr-TR" sz="1400" i="0" u="none" strike="noStrike" cap="none" normalizeH="0" baseline="0" noProof="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48391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442C9F5-E03A-D060-EE30-9C28EF126406}"/>
              </a:ext>
            </a:extLst>
          </p:cNvPr>
          <p:cNvPicPr>
            <a:picLocks noChangeAspect="1"/>
          </p:cNvPicPr>
          <p:nvPr/>
        </p:nvPicPr>
        <p:blipFill>
          <a:blip r:embed="rId2"/>
          <a:stretch>
            <a:fillRect/>
          </a:stretch>
        </p:blipFill>
        <p:spPr>
          <a:xfrm>
            <a:off x="3739087" y="2701636"/>
            <a:ext cx="1572908" cy="2988065"/>
          </a:xfrm>
          <a:prstGeom prst="rect">
            <a:avLst/>
          </a:prstGeom>
        </p:spPr>
      </p:pic>
      <p:pic>
        <p:nvPicPr>
          <p:cNvPr id="9" name="Picture 8">
            <a:extLst>
              <a:ext uri="{FF2B5EF4-FFF2-40B4-BE49-F238E27FC236}">
                <a16:creationId xmlns:a16="http://schemas.microsoft.com/office/drawing/2014/main" id="{007D94F8-11B8-697C-34A5-807874887AC5}"/>
              </a:ext>
            </a:extLst>
          </p:cNvPr>
          <p:cNvPicPr>
            <a:picLocks noChangeAspect="1"/>
          </p:cNvPicPr>
          <p:nvPr/>
        </p:nvPicPr>
        <p:blipFill>
          <a:blip r:embed="rId3"/>
          <a:srcRect l="3535" t="3144" r="2155" b="3127"/>
          <a:stretch>
            <a:fillRect/>
          </a:stretch>
        </p:blipFill>
        <p:spPr>
          <a:xfrm>
            <a:off x="5311995" y="2306782"/>
            <a:ext cx="5792423" cy="3768436"/>
          </a:xfrm>
          <a:prstGeom prst="rect">
            <a:avLst/>
          </a:prstGeom>
        </p:spPr>
      </p:pic>
      <p:sp>
        <p:nvSpPr>
          <p:cNvPr id="2" name="Rectangle 1">
            <a:extLst>
              <a:ext uri="{FF2B5EF4-FFF2-40B4-BE49-F238E27FC236}">
                <a16:creationId xmlns:a16="http://schemas.microsoft.com/office/drawing/2014/main" id="{39DC6992-13E2-6A1A-D97E-C08A55C08910}"/>
              </a:ext>
            </a:extLst>
          </p:cNvPr>
          <p:cNvSpPr>
            <a:spLocks noChangeArrowheads="1"/>
          </p:cNvSpPr>
          <p:nvPr/>
        </p:nvSpPr>
        <p:spPr bwMode="auto">
          <a:xfrm>
            <a:off x="637430" y="1191861"/>
            <a:ext cx="5698321" cy="20364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i="0" u="none" strike="noStrike" cap="none" normalizeH="0" baseline="0" noProof="0" dirty="0">
                <a:ln>
                  <a:noFill/>
                </a:ln>
                <a:solidFill>
                  <a:schemeClr val="tx1"/>
                </a:solidFill>
                <a:effectLst/>
                <a:latin typeface="Arial" panose="020B0604020202020204" pitchFamily="34" charset="0"/>
              </a:rPr>
              <a:t>Metindeki kelimelerin ardışık gruplar hâlinde ele alınmasıdır.</a:t>
            </a:r>
          </a:p>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i="0" u="none" strike="noStrike" cap="none" normalizeH="0" baseline="0" noProof="0" dirty="0">
                <a:ln>
                  <a:noFill/>
                </a:ln>
                <a:solidFill>
                  <a:schemeClr val="tx1"/>
                </a:solidFill>
                <a:effectLst/>
                <a:latin typeface="Arial" panose="020B0604020202020204" pitchFamily="34" charset="0"/>
              </a:rPr>
              <a:t>Tek kelime yerine birlikte kullanılan kelime kalıplarını incelemeyi sağlar.</a:t>
            </a:r>
          </a:p>
          <a:p>
            <a:pPr marL="0" marR="0" lvl="0" indent="0" algn="l" defTabSz="914400" rtl="0" eaLnBrk="0" fontAlgn="base" latinLnBrk="0" hangingPunct="0">
              <a:lnSpc>
                <a:spcPct val="114000"/>
              </a:lnSpc>
              <a:spcBef>
                <a:spcPct val="0"/>
              </a:spcBef>
              <a:spcAft>
                <a:spcPct val="0"/>
              </a:spcAft>
              <a:buClrTx/>
              <a:buSzTx/>
              <a:buFontTx/>
              <a:buNone/>
              <a:tabLst/>
            </a:pPr>
            <a:r>
              <a:rPr kumimoji="0" lang="tr-TR" sz="1400" i="0" u="sng" strike="noStrike" cap="none" normalizeH="0" baseline="0" noProof="0" dirty="0">
                <a:ln>
                  <a:noFill/>
                </a:ln>
                <a:solidFill>
                  <a:schemeClr val="tx1"/>
                </a:solidFill>
                <a:effectLst/>
                <a:latin typeface="Arial" panose="020B0604020202020204" pitchFamily="34" charset="0"/>
              </a:rPr>
              <a:t>N-gram Türleri:</a:t>
            </a:r>
          </a:p>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i="0" u="none" strike="noStrike" cap="none" normalizeH="0" baseline="0" noProof="0" dirty="0" err="1">
                <a:ln>
                  <a:noFill/>
                </a:ln>
                <a:solidFill>
                  <a:schemeClr val="tx1"/>
                </a:solidFill>
                <a:effectLst/>
                <a:latin typeface="Arial" panose="020B0604020202020204" pitchFamily="34" charset="0"/>
              </a:rPr>
              <a:t>Unigram</a:t>
            </a:r>
            <a:r>
              <a:rPr kumimoji="0" lang="tr-TR" sz="1400" i="0" u="none" strike="noStrike" cap="none" normalizeH="0" baseline="0" noProof="0" dirty="0">
                <a:ln>
                  <a:noFill/>
                </a:ln>
                <a:solidFill>
                  <a:schemeClr val="tx1"/>
                </a:solidFill>
                <a:effectLst/>
                <a:latin typeface="Arial" panose="020B0604020202020204" pitchFamily="34" charset="0"/>
              </a:rPr>
              <a:t>: Tek kelime (ör. </a:t>
            </a:r>
            <a:r>
              <a:rPr kumimoji="0" lang="tr-TR" sz="1400" i="1" u="none" strike="noStrike" cap="none" normalizeH="0" baseline="0" noProof="0" dirty="0">
                <a:ln>
                  <a:noFill/>
                </a:ln>
                <a:solidFill>
                  <a:schemeClr val="tx1"/>
                </a:solidFill>
                <a:effectLst/>
                <a:latin typeface="Arial" panose="020B0604020202020204" pitchFamily="34" charset="0"/>
              </a:rPr>
              <a:t>millet</a:t>
            </a:r>
            <a:r>
              <a:rPr kumimoji="0" lang="tr-TR" sz="1400" i="0" u="none" strike="noStrike" cap="none" normalizeH="0" baseline="0" noProof="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i="0" u="none" strike="noStrike" cap="none" normalizeH="0" baseline="0" noProof="0" dirty="0" err="1">
                <a:ln>
                  <a:noFill/>
                </a:ln>
                <a:solidFill>
                  <a:schemeClr val="tx1"/>
                </a:solidFill>
                <a:effectLst/>
                <a:latin typeface="Arial" panose="020B0604020202020204" pitchFamily="34" charset="0"/>
              </a:rPr>
              <a:t>Bigram</a:t>
            </a:r>
            <a:r>
              <a:rPr kumimoji="0" lang="tr-TR" sz="1400" i="0" u="none" strike="noStrike" cap="none" normalizeH="0" baseline="0" noProof="0" dirty="0">
                <a:ln>
                  <a:noFill/>
                </a:ln>
                <a:solidFill>
                  <a:schemeClr val="tx1"/>
                </a:solidFill>
                <a:effectLst/>
                <a:latin typeface="Arial" panose="020B0604020202020204" pitchFamily="34" charset="0"/>
              </a:rPr>
              <a:t>: İki kelimelik grup (ör. </a:t>
            </a:r>
            <a:r>
              <a:rPr kumimoji="0" lang="tr-TR" sz="1400" i="1" u="none" strike="noStrike" cap="none" normalizeH="0" baseline="0" noProof="0" dirty="0">
                <a:ln>
                  <a:noFill/>
                </a:ln>
                <a:solidFill>
                  <a:schemeClr val="tx1"/>
                </a:solidFill>
                <a:effectLst/>
                <a:latin typeface="Arial" panose="020B0604020202020204" pitchFamily="34" charset="0"/>
              </a:rPr>
              <a:t>Türk milleti</a:t>
            </a:r>
            <a:r>
              <a:rPr kumimoji="0" lang="tr-TR" sz="1400" i="0" u="none" strike="noStrike" cap="none" normalizeH="0" baseline="0" noProof="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i="0" u="none" strike="noStrike" cap="none" normalizeH="0" baseline="0" noProof="0" dirty="0" err="1">
                <a:ln>
                  <a:noFill/>
                </a:ln>
                <a:solidFill>
                  <a:schemeClr val="tx1"/>
                </a:solidFill>
                <a:effectLst/>
                <a:latin typeface="Arial" panose="020B0604020202020204" pitchFamily="34" charset="0"/>
              </a:rPr>
              <a:t>Trigram</a:t>
            </a:r>
            <a:r>
              <a:rPr kumimoji="0" lang="tr-TR" sz="1400" i="0" u="none" strike="noStrike" cap="none" normalizeH="0" baseline="0" noProof="0" dirty="0">
                <a:ln>
                  <a:noFill/>
                </a:ln>
                <a:solidFill>
                  <a:schemeClr val="tx1"/>
                </a:solidFill>
                <a:effectLst/>
                <a:latin typeface="Arial" panose="020B0604020202020204" pitchFamily="34" charset="0"/>
              </a:rPr>
              <a:t>: Üç kelimelik grup</a:t>
            </a:r>
          </a:p>
          <a:p>
            <a:pPr marL="0" marR="0" lvl="0" indent="0" algn="l" defTabSz="914400" rtl="0" eaLnBrk="0" fontAlgn="base" latinLnBrk="0" hangingPunct="0">
              <a:lnSpc>
                <a:spcPct val="114000"/>
              </a:lnSpc>
              <a:spcBef>
                <a:spcPct val="0"/>
              </a:spcBef>
              <a:spcAft>
                <a:spcPct val="0"/>
              </a:spcAft>
              <a:buClrTx/>
              <a:buSzTx/>
              <a:tabLst/>
            </a:pPr>
            <a:r>
              <a:rPr lang="tr-TR" sz="1400" dirty="0">
                <a:latin typeface="Arial" panose="020B0604020202020204" pitchFamily="34" charset="0"/>
              </a:rPr>
              <a:t>     </a:t>
            </a:r>
            <a:r>
              <a:rPr kumimoji="0" lang="tr-TR" sz="1400" i="0" u="none" strike="noStrike" cap="none" normalizeH="0" baseline="0" noProof="0" dirty="0">
                <a:ln>
                  <a:noFill/>
                </a:ln>
                <a:solidFill>
                  <a:schemeClr val="tx1"/>
                </a:solidFill>
                <a:effectLst/>
                <a:latin typeface="Arial" panose="020B0604020202020204" pitchFamily="34" charset="0"/>
              </a:rPr>
              <a:t> (ör. </a:t>
            </a:r>
            <a:r>
              <a:rPr kumimoji="0" lang="tr-TR" sz="1400" i="1" u="none" strike="noStrike" cap="none" normalizeH="0" baseline="0" noProof="0" dirty="0">
                <a:ln>
                  <a:noFill/>
                </a:ln>
                <a:solidFill>
                  <a:schemeClr val="tx1"/>
                </a:solidFill>
                <a:effectLst/>
                <a:latin typeface="Arial" panose="020B0604020202020204" pitchFamily="34" charset="0"/>
              </a:rPr>
              <a:t>Egemenlik kayıtsız şartsız</a:t>
            </a:r>
            <a:r>
              <a:rPr kumimoji="0" lang="tr-TR" sz="1400" i="0" u="none" strike="noStrike" cap="none" normalizeH="0" baseline="0" noProof="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FA0B5338-AB70-AD62-E58C-455DD2530373}"/>
              </a:ext>
            </a:extLst>
          </p:cNvPr>
          <p:cNvSpPr txBox="1"/>
          <p:nvPr/>
        </p:nvSpPr>
        <p:spPr>
          <a:xfrm>
            <a:off x="585412" y="3489962"/>
            <a:ext cx="3304188" cy="1545295"/>
          </a:xfrm>
          <a:prstGeom prst="rect">
            <a:avLst/>
          </a:prstGeom>
          <a:noFill/>
        </p:spPr>
        <p:txBody>
          <a:bodyPr wrap="square">
            <a:spAutoFit/>
          </a:bodyPr>
          <a:lstStyle/>
          <a:p>
            <a:pPr marL="0" marR="0" lvl="0" indent="0" algn="l" defTabSz="914400" rtl="0" eaLnBrk="0" fontAlgn="base" latinLnBrk="0" hangingPunct="0">
              <a:lnSpc>
                <a:spcPct val="114000"/>
              </a:lnSpc>
              <a:spcBef>
                <a:spcPct val="0"/>
              </a:spcBef>
              <a:spcAft>
                <a:spcPct val="0"/>
              </a:spcAft>
              <a:buClrTx/>
              <a:buSzTx/>
              <a:buFontTx/>
              <a:buNone/>
              <a:tabLst/>
            </a:pPr>
            <a:r>
              <a:rPr kumimoji="0" lang="tr-TR" sz="1400" i="0" u="sng" strike="noStrike" cap="none" normalizeH="0" baseline="0" noProof="0" dirty="0">
                <a:ln>
                  <a:noFill/>
                </a:ln>
                <a:solidFill>
                  <a:schemeClr val="tx1"/>
                </a:solidFill>
                <a:effectLst/>
                <a:latin typeface="Arial" panose="020B0604020202020204" pitchFamily="34" charset="0"/>
              </a:rPr>
              <a:t>N-gram Ne Gösterir</a:t>
            </a:r>
            <a:r>
              <a:rPr kumimoji="0" lang="tr-TR" sz="1400" i="0" u="none" strike="noStrike" cap="none" normalizeH="0" baseline="0" noProof="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i="0" u="none" strike="noStrike" cap="none" normalizeH="0" baseline="0" noProof="0" dirty="0">
                <a:ln>
                  <a:noFill/>
                </a:ln>
                <a:solidFill>
                  <a:schemeClr val="tx1"/>
                </a:solidFill>
                <a:effectLst/>
                <a:latin typeface="Arial" panose="020B0604020202020204" pitchFamily="34" charset="0"/>
              </a:rPr>
              <a:t>Metinde sık tekrar eden kalıp ifadeleri</a:t>
            </a:r>
          </a:p>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i="0" u="none" strike="noStrike" cap="none" normalizeH="0" baseline="0" noProof="0" dirty="0">
                <a:ln>
                  <a:noFill/>
                </a:ln>
                <a:solidFill>
                  <a:schemeClr val="tx1"/>
                </a:solidFill>
                <a:effectLst/>
                <a:latin typeface="Arial" panose="020B0604020202020204" pitchFamily="34" charset="0"/>
              </a:rPr>
              <a:t>Söylem yapısını ve ifade   alışkanlıklarını</a:t>
            </a:r>
          </a:p>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i="0" u="none" strike="noStrike" cap="none" normalizeH="0" baseline="0" noProof="0" dirty="0">
                <a:ln>
                  <a:noFill/>
                </a:ln>
                <a:solidFill>
                  <a:schemeClr val="tx1"/>
                </a:solidFill>
                <a:effectLst/>
                <a:latin typeface="Arial" panose="020B0604020202020204" pitchFamily="34" charset="0"/>
              </a:rPr>
              <a:t>Tek kelime analizinde görünmeyen anlamlı kelime birlikteliklerini</a:t>
            </a:r>
          </a:p>
        </p:txBody>
      </p:sp>
      <p:sp>
        <p:nvSpPr>
          <p:cNvPr id="13" name="TextBox 12">
            <a:extLst>
              <a:ext uri="{FF2B5EF4-FFF2-40B4-BE49-F238E27FC236}">
                <a16:creationId xmlns:a16="http://schemas.microsoft.com/office/drawing/2014/main" id="{1BE1EB69-BCA3-E182-F7BF-5A88830DEA21}"/>
              </a:ext>
            </a:extLst>
          </p:cNvPr>
          <p:cNvSpPr txBox="1"/>
          <p:nvPr/>
        </p:nvSpPr>
        <p:spPr>
          <a:xfrm>
            <a:off x="6096000" y="1314651"/>
            <a:ext cx="5210375" cy="1126847"/>
          </a:xfrm>
          <a:prstGeom prst="rect">
            <a:avLst/>
          </a:prstGeom>
          <a:noFill/>
        </p:spPr>
        <p:txBody>
          <a:bodyPr wrap="square">
            <a:spAutoFit/>
          </a:bodyPr>
          <a:lstStyle/>
          <a:p>
            <a:pPr>
              <a:lnSpc>
                <a:spcPct val="114000"/>
              </a:lnSpc>
            </a:pPr>
            <a:r>
              <a:rPr lang="tr-TR" sz="1400" noProof="0" dirty="0">
                <a:latin typeface="Arial" panose="020B0604020202020204" pitchFamily="34" charset="0"/>
                <a:cs typeface="Arial" panose="020B0604020202020204" pitchFamily="34" charset="0"/>
              </a:rPr>
              <a:t>Bu n-gram analizi, </a:t>
            </a:r>
            <a:r>
              <a:rPr lang="tr-TR" sz="1400" noProof="0" dirty="0" err="1">
                <a:latin typeface="Arial" panose="020B0604020202020204" pitchFamily="34" charset="0"/>
                <a:cs typeface="Arial" panose="020B0604020202020204" pitchFamily="34" charset="0"/>
              </a:rPr>
              <a:t>stopwords</a:t>
            </a:r>
            <a:r>
              <a:rPr lang="tr-TR" sz="1400" noProof="0" dirty="0">
                <a:latin typeface="Arial" panose="020B0604020202020204" pitchFamily="34" charset="0"/>
                <a:cs typeface="Arial" panose="020B0604020202020204" pitchFamily="34" charset="0"/>
              </a:rPr>
              <a:t> temizliği uygulanmadan önceki metin üzerinden gerçekleştirilmiştir. Bu nedenle sonuçlarda bağlaçlar ve yardımcı kelimeler yüksek frekansla yer almaktadır</a:t>
            </a:r>
            <a:r>
              <a:rPr lang="en-US" dirty="0"/>
              <a:t>.</a:t>
            </a:r>
            <a:endParaRPr lang="tr-TR" dirty="0"/>
          </a:p>
        </p:txBody>
      </p:sp>
      <p:sp>
        <p:nvSpPr>
          <p:cNvPr id="15" name="TextBox 14">
            <a:extLst>
              <a:ext uri="{FF2B5EF4-FFF2-40B4-BE49-F238E27FC236}">
                <a16:creationId xmlns:a16="http://schemas.microsoft.com/office/drawing/2014/main" id="{7540CCE7-7AC8-E6FD-D5F4-BA16DD9636DE}"/>
              </a:ext>
            </a:extLst>
          </p:cNvPr>
          <p:cNvSpPr txBox="1"/>
          <p:nvPr/>
        </p:nvSpPr>
        <p:spPr>
          <a:xfrm>
            <a:off x="0" y="572525"/>
            <a:ext cx="12192000" cy="523220"/>
          </a:xfrm>
          <a:prstGeom prst="rect">
            <a:avLst/>
          </a:prstGeom>
          <a:noFill/>
        </p:spPr>
        <p:txBody>
          <a:bodyPr wrap="square">
            <a:spAutoFit/>
          </a:bodyPr>
          <a:lstStyle/>
          <a:p>
            <a:pPr algn="ctr"/>
            <a:r>
              <a:rPr lang="tr-TR" sz="2800" noProof="0">
                <a:effectLst>
                  <a:outerShdw blurRad="38100" dist="38100" dir="2700000" algn="tl">
                    <a:srgbClr val="000000">
                      <a:alpha val="43137"/>
                    </a:srgbClr>
                  </a:outerShdw>
                </a:effectLst>
                <a:latin typeface="Arial" panose="020B0604020202020204" pitchFamily="34" charset="0"/>
                <a:cs typeface="Arial" panose="020B0604020202020204" pitchFamily="34" charset="0"/>
              </a:rPr>
              <a:t>Stopwords</a:t>
            </a:r>
            <a:r>
              <a:rPr lang="tr-TR" sz="2800" noProof="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Temizliği Öncesi N-gram (</a:t>
            </a:r>
            <a:r>
              <a:rPr lang="tr-TR" sz="2800" noProof="0" dirty="0" err="1">
                <a:effectLst>
                  <a:outerShdw blurRad="38100" dist="38100" dir="2700000" algn="tl">
                    <a:srgbClr val="000000">
                      <a:alpha val="43137"/>
                    </a:srgbClr>
                  </a:outerShdw>
                </a:effectLst>
                <a:latin typeface="Arial" panose="020B0604020202020204" pitchFamily="34" charset="0"/>
                <a:cs typeface="Arial" panose="020B0604020202020204" pitchFamily="34" charset="0"/>
              </a:rPr>
              <a:t>Bigram</a:t>
            </a:r>
            <a:r>
              <a:rPr lang="tr-TR" sz="2800" noProof="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Analizi</a:t>
            </a:r>
          </a:p>
        </p:txBody>
      </p:sp>
    </p:spTree>
    <p:extLst>
      <p:ext uri="{BB962C8B-B14F-4D97-AF65-F5344CB8AC3E}">
        <p14:creationId xmlns:p14="http://schemas.microsoft.com/office/powerpoint/2010/main" val="11199117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DBA3142-A674-75AB-829F-C65B1F7034C3}"/>
              </a:ext>
            </a:extLst>
          </p:cNvPr>
          <p:cNvPicPr>
            <a:picLocks noChangeAspect="1"/>
          </p:cNvPicPr>
          <p:nvPr/>
        </p:nvPicPr>
        <p:blipFill>
          <a:blip r:embed="rId2"/>
          <a:srcRect l="3959" t="2467" r="4762"/>
          <a:stretch>
            <a:fillRect/>
          </a:stretch>
        </p:blipFill>
        <p:spPr>
          <a:xfrm>
            <a:off x="5521036" y="1269745"/>
            <a:ext cx="3186546" cy="3576447"/>
          </a:xfrm>
          <a:prstGeom prst="rect">
            <a:avLst/>
          </a:prstGeom>
        </p:spPr>
      </p:pic>
      <p:sp>
        <p:nvSpPr>
          <p:cNvPr id="3" name="TextBox 2">
            <a:extLst>
              <a:ext uri="{FF2B5EF4-FFF2-40B4-BE49-F238E27FC236}">
                <a16:creationId xmlns:a16="http://schemas.microsoft.com/office/drawing/2014/main" id="{7B51E05A-B1BF-796F-0C57-3049DF7A07EC}"/>
              </a:ext>
            </a:extLst>
          </p:cNvPr>
          <p:cNvSpPr txBox="1"/>
          <p:nvPr/>
        </p:nvSpPr>
        <p:spPr>
          <a:xfrm>
            <a:off x="259686" y="1305791"/>
            <a:ext cx="5177876" cy="4957767"/>
          </a:xfrm>
          <a:prstGeom prst="rect">
            <a:avLst/>
          </a:prstGeom>
          <a:noFill/>
        </p:spPr>
        <p:txBody>
          <a:bodyPr wrap="square">
            <a:spAutoFit/>
          </a:bodyPr>
          <a:lstStyle/>
          <a:p>
            <a:pPr>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Ham veri ile temizlenmiş veri arasında satır uzunluğu dağılımı büyük ölçüde benzerdir.</a:t>
            </a:r>
          </a:p>
          <a:p>
            <a:pPr>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Medyan değer her iki durumda da yaklaşık 41 karakter civarındadır.</a:t>
            </a:r>
          </a:p>
          <a:p>
            <a:pPr>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Alt ve üst sınırlar (minimum 0, maksimum 56) değişmemiştir.</a:t>
            </a:r>
          </a:p>
          <a:p>
            <a:pPr>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Bu durum, </a:t>
            </a:r>
            <a:r>
              <a:rPr lang="tr-TR" sz="1400" noProof="0" dirty="0" err="1">
                <a:latin typeface="Arial" panose="020B0604020202020204" pitchFamily="34" charset="0"/>
                <a:cs typeface="Arial" panose="020B0604020202020204" pitchFamily="34" charset="0"/>
              </a:rPr>
              <a:t>stopwords</a:t>
            </a:r>
            <a:r>
              <a:rPr lang="tr-TR" sz="1400" noProof="0" dirty="0">
                <a:latin typeface="Arial" panose="020B0604020202020204" pitchFamily="34" charset="0"/>
                <a:cs typeface="Arial" panose="020B0604020202020204" pitchFamily="34" charset="0"/>
              </a:rPr>
              <a:t> temizliğinin satır bazlı uzunlukları belirgin şekilde etkilemediğini göstermektedir.</a:t>
            </a:r>
          </a:p>
          <a:p>
            <a:pPr>
              <a:lnSpc>
                <a:spcPct val="114000"/>
              </a:lnSpc>
              <a:buFont typeface="Arial" panose="020B0604020202020204" pitchFamily="34" charset="0"/>
              <a:buChar char="•"/>
            </a:pPr>
            <a:r>
              <a:rPr lang="tr-TR" sz="1400" noProof="0" dirty="0" err="1">
                <a:latin typeface="Arial" panose="020B0604020202020204" pitchFamily="34" charset="0"/>
                <a:cs typeface="Arial" panose="020B0604020202020204" pitchFamily="34" charset="0"/>
              </a:rPr>
              <a:t>Stopwords</a:t>
            </a:r>
            <a:r>
              <a:rPr lang="tr-TR" sz="1400" noProof="0" dirty="0">
                <a:latin typeface="Arial" panose="020B0604020202020204" pitchFamily="34" charset="0"/>
                <a:cs typeface="Arial" panose="020B0604020202020204" pitchFamily="34" charset="0"/>
              </a:rPr>
              <a:t> temizliği kelime düzeyinde etki yaratırken, </a:t>
            </a:r>
          </a:p>
          <a:p>
            <a:pPr>
              <a:lnSpc>
                <a:spcPct val="114000"/>
              </a:lnSpc>
            </a:pPr>
            <a:r>
              <a:rPr lang="tr-TR" sz="1400" noProof="0" dirty="0">
                <a:latin typeface="Arial" panose="020B0604020202020204" pitchFamily="34" charset="0"/>
                <a:cs typeface="Arial" panose="020B0604020202020204" pitchFamily="34" charset="0"/>
              </a:rPr>
              <a:t>satırın tamamı silinmediği sürece </a:t>
            </a:r>
          </a:p>
          <a:p>
            <a:pPr>
              <a:lnSpc>
                <a:spcPct val="114000"/>
              </a:lnSpc>
            </a:pPr>
            <a:r>
              <a:rPr lang="tr-TR" sz="1400" noProof="0" dirty="0">
                <a:latin typeface="Arial" panose="020B0604020202020204" pitchFamily="34" charset="0"/>
                <a:cs typeface="Arial" panose="020B0604020202020204" pitchFamily="34" charset="0"/>
              </a:rPr>
              <a:t>karakter sayısını radikal biçimde </a:t>
            </a:r>
          </a:p>
          <a:p>
            <a:pPr>
              <a:lnSpc>
                <a:spcPct val="114000"/>
              </a:lnSpc>
            </a:pPr>
            <a:r>
              <a:rPr lang="tr-TR" sz="1400" noProof="0" dirty="0">
                <a:latin typeface="Arial" panose="020B0604020202020204" pitchFamily="34" charset="0"/>
                <a:cs typeface="Arial" panose="020B0604020202020204" pitchFamily="34" charset="0"/>
              </a:rPr>
              <a:t>düşürmez.</a:t>
            </a:r>
          </a:p>
          <a:p>
            <a:pPr lvl="0" defTabSz="914400" eaLnBrk="0" fontAlgn="base" hangingPunct="0">
              <a:spcBef>
                <a:spcPct val="0"/>
              </a:spcBef>
              <a:spcAft>
                <a:spcPct val="0"/>
              </a:spcAft>
              <a:buFontTx/>
              <a:buChar char="•"/>
            </a:pPr>
            <a:r>
              <a:rPr lang="tr-TR" sz="1400" dirty="0">
                <a:latin typeface="Arial" panose="020B0604020202020204" pitchFamily="34" charset="0"/>
              </a:rPr>
              <a:t>Toplam 29.969 satır analiz edilmiştir.</a:t>
            </a:r>
          </a:p>
          <a:p>
            <a:pPr lvl="0" defTabSz="914400" eaLnBrk="0" fontAlgn="base" hangingPunct="0">
              <a:spcBef>
                <a:spcPct val="0"/>
              </a:spcBef>
              <a:spcAft>
                <a:spcPct val="0"/>
              </a:spcAft>
              <a:buFontTx/>
              <a:buChar char="•"/>
            </a:pPr>
            <a:r>
              <a:rPr lang="tr-TR" sz="1400" dirty="0">
                <a:latin typeface="Arial" panose="020B0604020202020204" pitchFamily="34" charset="0"/>
              </a:rPr>
              <a:t>Ortalama satır uzunluğu 42,7 </a:t>
            </a:r>
          </a:p>
          <a:p>
            <a:pPr lvl="0" defTabSz="914400" eaLnBrk="0" fontAlgn="base" hangingPunct="0">
              <a:spcBef>
                <a:spcPct val="0"/>
              </a:spcBef>
              <a:spcAft>
                <a:spcPct val="0"/>
              </a:spcAft>
            </a:pPr>
            <a:r>
              <a:rPr lang="tr-TR" sz="1400" dirty="0">
                <a:latin typeface="Arial" panose="020B0604020202020204" pitchFamily="34" charset="0"/>
              </a:rPr>
              <a:t> karakterdir.</a:t>
            </a:r>
          </a:p>
          <a:p>
            <a:pPr lvl="0" defTabSz="914400" eaLnBrk="0" fontAlgn="base" hangingPunct="0">
              <a:spcBef>
                <a:spcPct val="0"/>
              </a:spcBef>
              <a:spcAft>
                <a:spcPct val="0"/>
              </a:spcAft>
              <a:buFontTx/>
              <a:buChar char="•"/>
            </a:pPr>
            <a:r>
              <a:rPr lang="tr-TR" sz="1400" dirty="0">
                <a:latin typeface="Arial" panose="020B0604020202020204" pitchFamily="34" charset="0"/>
              </a:rPr>
              <a:t>Medyan değer 44 karakter </a:t>
            </a:r>
          </a:p>
          <a:p>
            <a:pPr lvl="0" defTabSz="914400" eaLnBrk="0" fontAlgn="base" hangingPunct="0">
              <a:spcBef>
                <a:spcPct val="0"/>
              </a:spcBef>
              <a:spcAft>
                <a:spcPct val="0"/>
              </a:spcAft>
            </a:pPr>
            <a:r>
              <a:rPr lang="tr-TR" sz="1400" dirty="0">
                <a:latin typeface="Arial" panose="020B0604020202020204" pitchFamily="34" charset="0"/>
              </a:rPr>
              <a:t> olarak hesaplanmıştır.</a:t>
            </a:r>
          </a:p>
          <a:p>
            <a:pPr lvl="0" defTabSz="914400" eaLnBrk="0" fontAlgn="base" hangingPunct="0">
              <a:spcBef>
                <a:spcPct val="0"/>
              </a:spcBef>
              <a:spcAft>
                <a:spcPct val="0"/>
              </a:spcAft>
              <a:buFontTx/>
              <a:buChar char="•"/>
            </a:pPr>
            <a:r>
              <a:rPr lang="tr-TR" sz="1400" dirty="0">
                <a:latin typeface="Arial" panose="020B0604020202020204" pitchFamily="34" charset="0"/>
              </a:rPr>
              <a:t>Satır uzunluklarının %50’si </a:t>
            </a:r>
          </a:p>
          <a:p>
            <a:pPr lvl="0" defTabSz="914400" eaLnBrk="0" fontAlgn="base" hangingPunct="0">
              <a:spcBef>
                <a:spcPct val="0"/>
              </a:spcBef>
              <a:spcAft>
                <a:spcPct val="0"/>
              </a:spcAft>
            </a:pPr>
            <a:r>
              <a:rPr lang="tr-TR" sz="1400" dirty="0">
                <a:latin typeface="Arial" panose="020B0604020202020204" pitchFamily="34" charset="0"/>
              </a:rPr>
              <a:t> 40–47 karakter aralığındadır.</a:t>
            </a:r>
          </a:p>
          <a:p>
            <a:pPr lvl="0" defTabSz="914400" eaLnBrk="0" fontAlgn="base" hangingPunct="0">
              <a:spcBef>
                <a:spcPct val="0"/>
              </a:spcBef>
              <a:spcAft>
                <a:spcPct val="0"/>
              </a:spcAft>
              <a:buFontTx/>
              <a:buChar char="•"/>
            </a:pPr>
            <a:r>
              <a:rPr lang="tr-TR" sz="1400" dirty="0">
                <a:latin typeface="Arial" panose="020B0604020202020204" pitchFamily="34" charset="0"/>
              </a:rPr>
              <a:t>En kısa satır 21, en uzun </a:t>
            </a:r>
          </a:p>
          <a:p>
            <a:pPr lvl="0" defTabSz="914400" eaLnBrk="0" fontAlgn="base" hangingPunct="0">
              <a:spcBef>
                <a:spcPct val="0"/>
              </a:spcBef>
              <a:spcAft>
                <a:spcPct val="0"/>
              </a:spcAft>
            </a:pPr>
            <a:r>
              <a:rPr lang="tr-TR" sz="1400" dirty="0">
                <a:latin typeface="Arial" panose="020B0604020202020204" pitchFamily="34" charset="0"/>
              </a:rPr>
              <a:t> satır 62 karakterdir</a:t>
            </a:r>
            <a:endParaRPr lang="tr-TR" sz="1400" noProof="0" dirty="0">
              <a:latin typeface="Arial" panose="020B0604020202020204" pitchFamily="34" charset="0"/>
              <a:cs typeface="Arial" panose="020B0604020202020204" pitchFamily="34" charset="0"/>
            </a:endParaRPr>
          </a:p>
          <a:p>
            <a:pPr>
              <a:lnSpc>
                <a:spcPct val="114000"/>
              </a:lnSpc>
            </a:pPr>
            <a:endParaRPr lang="tr-TR" sz="1400" noProof="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E051EB85-1154-FAA7-492F-F45E5BC98A3F}"/>
              </a:ext>
            </a:extLst>
          </p:cNvPr>
          <p:cNvPicPr>
            <a:picLocks noChangeAspect="1"/>
          </p:cNvPicPr>
          <p:nvPr/>
        </p:nvPicPr>
        <p:blipFill>
          <a:blip r:embed="rId3"/>
          <a:srcRect l="6987" t="3112" r="8659" b="5299"/>
          <a:stretch>
            <a:fillRect/>
          </a:stretch>
        </p:blipFill>
        <p:spPr>
          <a:xfrm>
            <a:off x="8811837" y="1321698"/>
            <a:ext cx="2429368" cy="3472539"/>
          </a:xfrm>
          <a:prstGeom prst="rect">
            <a:avLst/>
          </a:prstGeom>
        </p:spPr>
      </p:pic>
      <p:sp>
        <p:nvSpPr>
          <p:cNvPr id="7" name="TextBox 6">
            <a:extLst>
              <a:ext uri="{FF2B5EF4-FFF2-40B4-BE49-F238E27FC236}">
                <a16:creationId xmlns:a16="http://schemas.microsoft.com/office/drawing/2014/main" id="{64F220B2-9E60-C7C6-3F9B-1FFB87CC95C4}"/>
              </a:ext>
            </a:extLst>
          </p:cNvPr>
          <p:cNvSpPr txBox="1"/>
          <p:nvPr/>
        </p:nvSpPr>
        <p:spPr>
          <a:xfrm>
            <a:off x="-173182" y="647489"/>
            <a:ext cx="12192000" cy="523220"/>
          </a:xfrm>
          <a:prstGeom prst="rect">
            <a:avLst/>
          </a:prstGeom>
          <a:noFill/>
        </p:spPr>
        <p:txBody>
          <a:bodyPr wrap="square">
            <a:spAutoFit/>
          </a:bodyPr>
          <a:lstStyle/>
          <a:p>
            <a:pPr algn="ctr"/>
            <a:r>
              <a:rPr lang="tr-TR" sz="2800" noProof="0" dirty="0" err="1">
                <a:effectLst>
                  <a:outerShdw blurRad="38100" dist="38100" dir="2700000" algn="tl">
                    <a:srgbClr val="000000">
                      <a:alpha val="43137"/>
                    </a:srgbClr>
                  </a:outerShdw>
                </a:effectLst>
                <a:latin typeface="Arial" panose="020B0604020202020204" pitchFamily="34" charset="0"/>
                <a:cs typeface="Arial" panose="020B0604020202020204" pitchFamily="34" charset="0"/>
              </a:rPr>
              <a:t>Stopwords</a:t>
            </a:r>
            <a:r>
              <a:rPr lang="tr-TR" sz="2800" noProof="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Temizliğinin Satır Uzunluğu Üzerindeki Etkisi</a:t>
            </a:r>
          </a:p>
        </p:txBody>
      </p:sp>
      <p:pic>
        <p:nvPicPr>
          <p:cNvPr id="8" name="Picture 7">
            <a:extLst>
              <a:ext uri="{FF2B5EF4-FFF2-40B4-BE49-F238E27FC236}">
                <a16:creationId xmlns:a16="http://schemas.microsoft.com/office/drawing/2014/main" id="{D489B63F-33D5-73DA-FC72-60EC24B75248}"/>
              </a:ext>
            </a:extLst>
          </p:cNvPr>
          <p:cNvPicPr>
            <a:picLocks noChangeAspect="1"/>
          </p:cNvPicPr>
          <p:nvPr/>
        </p:nvPicPr>
        <p:blipFill>
          <a:blip r:embed="rId4"/>
          <a:srcRect l="3034" t="6362" r="9842"/>
          <a:stretch>
            <a:fillRect/>
          </a:stretch>
        </p:blipFill>
        <p:spPr>
          <a:xfrm>
            <a:off x="3325094" y="3381494"/>
            <a:ext cx="2486892" cy="2521527"/>
          </a:xfrm>
          <a:prstGeom prst="rect">
            <a:avLst/>
          </a:prstGeom>
        </p:spPr>
      </p:pic>
      <p:sp>
        <p:nvSpPr>
          <p:cNvPr id="10" name="TextBox 9">
            <a:extLst>
              <a:ext uri="{FF2B5EF4-FFF2-40B4-BE49-F238E27FC236}">
                <a16:creationId xmlns:a16="http://schemas.microsoft.com/office/drawing/2014/main" id="{E5493C8B-5F27-4C9B-E039-109B2DB32536}"/>
              </a:ext>
            </a:extLst>
          </p:cNvPr>
          <p:cNvSpPr txBox="1"/>
          <p:nvPr/>
        </p:nvSpPr>
        <p:spPr>
          <a:xfrm>
            <a:off x="5922818" y="4846192"/>
            <a:ext cx="5018808" cy="872931"/>
          </a:xfrm>
          <a:prstGeom prst="rect">
            <a:avLst/>
          </a:prstGeom>
          <a:noFill/>
        </p:spPr>
        <p:txBody>
          <a:bodyPr wrap="square">
            <a:spAutoFit/>
          </a:bodyPr>
          <a:lstStyle/>
          <a:p>
            <a:pPr>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Dolayısıyla yapılan temizlik, metnin yapısal bütünlüğünü koruyarak içerik odaklı analizlere (TF-IDF, kelime frekansı, n-gram) zemin hazırlamıştır</a:t>
            </a:r>
            <a:r>
              <a:rPr lang="tr-TR" sz="1800" noProof="0" dirty="0">
                <a:latin typeface="Arial" panose="020B0604020202020204" pitchFamily="34" charset="0"/>
                <a:cs typeface="Arial" panose="020B0604020202020204" pitchFamily="34" charset="0"/>
              </a:rPr>
              <a:t>.</a:t>
            </a:r>
          </a:p>
        </p:txBody>
      </p:sp>
      <p:sp>
        <p:nvSpPr>
          <p:cNvPr id="11" name="Rectangle 1">
            <a:extLst>
              <a:ext uri="{FF2B5EF4-FFF2-40B4-BE49-F238E27FC236}">
                <a16:creationId xmlns:a16="http://schemas.microsoft.com/office/drawing/2014/main" id="{F166DA9A-ADD8-798A-EC15-7BF34EC48041}"/>
              </a:ext>
            </a:extLst>
          </p:cNvPr>
          <p:cNvSpPr>
            <a:spLocks noChangeArrowheads="1"/>
          </p:cNvSpPr>
          <p:nvPr/>
        </p:nvSpPr>
        <p:spPr bwMode="auto">
          <a:xfrm>
            <a:off x="-467678" y="1121125"/>
            <a:ext cx="497040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42808179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1A0061E-B9B0-0429-2904-AC9658605124}"/>
              </a:ext>
            </a:extLst>
          </p:cNvPr>
          <p:cNvPicPr>
            <a:picLocks noChangeAspect="1"/>
          </p:cNvPicPr>
          <p:nvPr/>
        </p:nvPicPr>
        <p:blipFill>
          <a:blip r:embed="rId2"/>
          <a:srcRect l="5074" t="23554" r="16373" b="12473"/>
          <a:stretch>
            <a:fillRect/>
          </a:stretch>
        </p:blipFill>
        <p:spPr>
          <a:xfrm>
            <a:off x="6532417" y="1913550"/>
            <a:ext cx="4475018" cy="962891"/>
          </a:xfrm>
          <a:prstGeom prst="rect">
            <a:avLst/>
          </a:prstGeom>
        </p:spPr>
      </p:pic>
      <p:sp>
        <p:nvSpPr>
          <p:cNvPr id="2" name="Rectangle 1">
            <a:extLst>
              <a:ext uri="{FF2B5EF4-FFF2-40B4-BE49-F238E27FC236}">
                <a16:creationId xmlns:a16="http://schemas.microsoft.com/office/drawing/2014/main" id="{5615ECAF-2131-CDC5-90F4-2CEFFA704B90}"/>
              </a:ext>
            </a:extLst>
          </p:cNvPr>
          <p:cNvSpPr>
            <a:spLocks noChangeArrowheads="1"/>
          </p:cNvSpPr>
          <p:nvPr/>
        </p:nvSpPr>
        <p:spPr bwMode="auto">
          <a:xfrm>
            <a:off x="1184565" y="1609292"/>
            <a:ext cx="4911435" cy="40530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4000"/>
              </a:lnSpc>
              <a:spcBef>
                <a:spcPct val="0"/>
              </a:spcBef>
              <a:spcAft>
                <a:spcPct val="0"/>
              </a:spcAft>
              <a:buClrTx/>
              <a:buSzTx/>
              <a:buFontTx/>
              <a:buNone/>
              <a:tabLst/>
            </a:pPr>
            <a:r>
              <a:rPr kumimoji="0" lang="tr-TR" sz="1400" i="0" u="none" strike="noStrike" cap="none" normalizeH="0" baseline="0" noProof="0" dirty="0">
                <a:ln>
                  <a:noFill/>
                </a:ln>
                <a:solidFill>
                  <a:schemeClr val="tx1"/>
                </a:solidFill>
                <a:effectLst/>
                <a:latin typeface="Arial" panose="020B0604020202020204" pitchFamily="34" charset="0"/>
              </a:rPr>
              <a:t>  Bu adımda, Nutuk metnindeki toplam kelime sayısı ile benzersiz (</a:t>
            </a:r>
            <a:r>
              <a:rPr kumimoji="0" lang="tr-TR" sz="1400" i="0" u="none" strike="noStrike" cap="none" normalizeH="0" baseline="0" noProof="0" dirty="0" err="1">
                <a:ln>
                  <a:noFill/>
                </a:ln>
                <a:solidFill>
                  <a:schemeClr val="tx1"/>
                </a:solidFill>
                <a:effectLst/>
                <a:latin typeface="Arial" panose="020B0604020202020204" pitchFamily="34" charset="0"/>
              </a:rPr>
              <a:t>unique</a:t>
            </a:r>
            <a:r>
              <a:rPr kumimoji="0" lang="tr-TR" sz="1400" i="0" u="none" strike="noStrike" cap="none" normalizeH="0" baseline="0" noProof="0" dirty="0">
                <a:ln>
                  <a:noFill/>
                </a:ln>
                <a:solidFill>
                  <a:schemeClr val="tx1"/>
                </a:solidFill>
                <a:effectLst/>
                <a:latin typeface="Arial" panose="020B0604020202020204" pitchFamily="34" charset="0"/>
              </a:rPr>
              <a:t>) kelime sayısı hesaplanmıştır. </a:t>
            </a:r>
          </a:p>
          <a:p>
            <a:pPr marL="0" marR="0" lvl="0" indent="0" algn="l" defTabSz="914400" rtl="0" eaLnBrk="0" fontAlgn="base" latinLnBrk="0" hangingPunct="0">
              <a:lnSpc>
                <a:spcPct val="114000"/>
              </a:lnSpc>
              <a:spcBef>
                <a:spcPct val="0"/>
              </a:spcBef>
              <a:spcAft>
                <a:spcPct val="0"/>
              </a:spcAft>
              <a:buClrTx/>
              <a:buSzTx/>
              <a:buFontTx/>
              <a:buNone/>
              <a:tabLst/>
            </a:pPr>
            <a:r>
              <a:rPr lang="tr-TR" sz="1400" dirty="0">
                <a:latin typeface="Arial" panose="020B0604020202020204" pitchFamily="34" charset="0"/>
              </a:rPr>
              <a:t>  </a:t>
            </a:r>
            <a:r>
              <a:rPr kumimoji="0" lang="tr-TR" sz="1400" i="0" u="none" strike="noStrike" cap="none" normalizeH="0" baseline="0" noProof="0" dirty="0">
                <a:ln>
                  <a:noFill/>
                </a:ln>
                <a:solidFill>
                  <a:schemeClr val="tx1"/>
                </a:solidFill>
                <a:effectLst/>
                <a:latin typeface="Arial" panose="020B0604020202020204" pitchFamily="34" charset="0"/>
              </a:rPr>
              <a:t>Amaç, metnin tekrar yoğunluğunu ve sözcük çeşitliliğini nicel olarak değerlendirmektir.</a:t>
            </a:r>
          </a:p>
          <a:p>
            <a:pPr marL="0" marR="0" lvl="0" indent="0" algn="l" defTabSz="914400" rtl="0" eaLnBrk="0" fontAlgn="base" latinLnBrk="0" hangingPunct="0">
              <a:lnSpc>
                <a:spcPct val="114000"/>
              </a:lnSpc>
              <a:spcBef>
                <a:spcPct val="0"/>
              </a:spcBef>
              <a:spcAft>
                <a:spcPct val="0"/>
              </a:spcAft>
              <a:buClrTx/>
              <a:buSzTx/>
              <a:buFontTx/>
              <a:buNone/>
              <a:tabLst/>
            </a:pPr>
            <a:r>
              <a:rPr kumimoji="0" lang="tr-TR" sz="1400" i="0" u="sng" strike="noStrike" cap="none" normalizeH="0" baseline="0" noProof="0" dirty="0">
                <a:ln>
                  <a:noFill/>
                </a:ln>
                <a:solidFill>
                  <a:schemeClr val="tx1"/>
                </a:solidFill>
                <a:effectLst/>
                <a:latin typeface="Arial" panose="020B0604020202020204" pitchFamily="34" charset="0"/>
              </a:rPr>
              <a:t>Bu analiz neyi gösterir?</a:t>
            </a:r>
          </a:p>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i="0" u="none" strike="noStrike" cap="none" normalizeH="0" baseline="0" noProof="0" dirty="0">
                <a:ln>
                  <a:noFill/>
                </a:ln>
                <a:solidFill>
                  <a:schemeClr val="tx1"/>
                </a:solidFill>
                <a:effectLst/>
                <a:latin typeface="Arial" panose="020B0604020202020204" pitchFamily="34" charset="0"/>
              </a:rPr>
              <a:t>Metindeki kelime çeşitliliğinin düzeyini</a:t>
            </a:r>
          </a:p>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i="0" u="none" strike="noStrike" cap="none" normalizeH="0" baseline="0" noProof="0" dirty="0">
                <a:ln>
                  <a:noFill/>
                </a:ln>
                <a:solidFill>
                  <a:schemeClr val="tx1"/>
                </a:solidFill>
                <a:effectLst/>
                <a:latin typeface="Arial" panose="020B0604020202020204" pitchFamily="34" charset="0"/>
              </a:rPr>
              <a:t>Metnin tekrar ağırlıklı mı yoksa sözcük açısından zengin mi olduğunu</a:t>
            </a:r>
          </a:p>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i="0" u="none" strike="noStrike" cap="none" normalizeH="0" baseline="0" noProof="0" dirty="0" err="1">
                <a:ln>
                  <a:noFill/>
                </a:ln>
                <a:solidFill>
                  <a:schemeClr val="tx1"/>
                </a:solidFill>
                <a:effectLst/>
                <a:latin typeface="Arial" panose="020B0604020202020204" pitchFamily="34" charset="0"/>
              </a:rPr>
              <a:t>Stopwords</a:t>
            </a:r>
            <a:r>
              <a:rPr kumimoji="0" lang="tr-TR" sz="1400" i="0" u="none" strike="noStrike" cap="none" normalizeH="0" baseline="0" noProof="0" dirty="0">
                <a:ln>
                  <a:noFill/>
                </a:ln>
                <a:solidFill>
                  <a:schemeClr val="tx1"/>
                </a:solidFill>
                <a:effectLst/>
                <a:latin typeface="Arial" panose="020B0604020202020204" pitchFamily="34" charset="0"/>
              </a:rPr>
              <a:t> temizliğinin gerekliliğine dair nicel bir göstergeyi</a:t>
            </a:r>
          </a:p>
          <a:p>
            <a:pPr marL="0" marR="0" lvl="0" indent="0" algn="l" defTabSz="914400" rtl="0" eaLnBrk="0" fontAlgn="base" latinLnBrk="0" hangingPunct="0">
              <a:lnSpc>
                <a:spcPct val="114000"/>
              </a:lnSpc>
              <a:spcBef>
                <a:spcPct val="0"/>
              </a:spcBef>
              <a:spcAft>
                <a:spcPct val="0"/>
              </a:spcAft>
              <a:buClrTx/>
              <a:buSzTx/>
              <a:buFontTx/>
              <a:buNone/>
              <a:tabLst/>
            </a:pPr>
            <a:r>
              <a:rPr kumimoji="0" lang="tr-TR" sz="1400" i="0" u="sng" strike="noStrike" cap="none" normalizeH="0" baseline="0" noProof="0" dirty="0">
                <a:ln>
                  <a:noFill/>
                </a:ln>
                <a:solidFill>
                  <a:schemeClr val="tx1"/>
                </a:solidFill>
                <a:effectLst/>
                <a:latin typeface="Arial" panose="020B0604020202020204" pitchFamily="34" charset="0"/>
              </a:rPr>
              <a:t>Gözlemsel Notlar:</a:t>
            </a:r>
          </a:p>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i="0" u="none" strike="noStrike" cap="none" normalizeH="0" baseline="0" noProof="0" dirty="0">
                <a:ln>
                  <a:noFill/>
                </a:ln>
                <a:solidFill>
                  <a:schemeClr val="tx1"/>
                </a:solidFill>
                <a:effectLst/>
                <a:latin typeface="Arial" panose="020B0604020202020204" pitchFamily="34" charset="0"/>
              </a:rPr>
              <a:t>Mevcut durumda kelime çeşitliliği düşüktür, bu durum metinde tekrarın yüksek olduğunu göstermektedir.</a:t>
            </a:r>
          </a:p>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i="0" u="none" strike="noStrike" cap="none" normalizeH="0" baseline="0" noProof="0" dirty="0" err="1">
                <a:ln>
                  <a:noFill/>
                </a:ln>
                <a:solidFill>
                  <a:schemeClr val="tx1"/>
                </a:solidFill>
                <a:effectLst/>
                <a:latin typeface="Arial" panose="020B0604020202020204" pitchFamily="34" charset="0"/>
              </a:rPr>
              <a:t>Stopword’ler</a:t>
            </a:r>
            <a:r>
              <a:rPr kumimoji="0" lang="tr-TR" sz="1400" i="0" u="none" strike="noStrike" cap="none" normalizeH="0" baseline="0" noProof="0" dirty="0">
                <a:ln>
                  <a:noFill/>
                </a:ln>
                <a:solidFill>
                  <a:schemeClr val="tx1"/>
                </a:solidFill>
                <a:effectLst/>
                <a:latin typeface="Arial" panose="020B0604020202020204" pitchFamily="34" charset="0"/>
              </a:rPr>
              <a:t>, çeşitlilik oranını yapay olarak düşürmektedir.</a:t>
            </a:r>
          </a:p>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i="0" u="none" strike="noStrike" cap="none" normalizeH="0" baseline="0" noProof="0" dirty="0" err="1">
                <a:ln>
                  <a:noFill/>
                </a:ln>
                <a:solidFill>
                  <a:schemeClr val="tx1"/>
                </a:solidFill>
                <a:effectLst/>
                <a:latin typeface="Arial" panose="020B0604020202020204" pitchFamily="34" charset="0"/>
              </a:rPr>
              <a:t>Stopwords</a:t>
            </a:r>
            <a:r>
              <a:rPr kumimoji="0" lang="tr-TR" sz="1400" i="0" u="none" strike="noStrike" cap="none" normalizeH="0" baseline="0" noProof="0" dirty="0">
                <a:ln>
                  <a:noFill/>
                </a:ln>
                <a:solidFill>
                  <a:schemeClr val="tx1"/>
                </a:solidFill>
                <a:effectLst/>
                <a:latin typeface="Arial" panose="020B0604020202020204" pitchFamily="34" charset="0"/>
              </a:rPr>
              <a:t> temizliği sonrasında kelime çeşitliliği oranının anlamlı biçimde artması beklenmektedir.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2A969F3A-7AF1-10F6-2D22-BE5DF3C277D4}"/>
              </a:ext>
            </a:extLst>
          </p:cNvPr>
          <p:cNvSpPr txBox="1"/>
          <p:nvPr/>
        </p:nvSpPr>
        <p:spPr>
          <a:xfrm>
            <a:off x="6608616" y="3119588"/>
            <a:ext cx="4475018" cy="1299715"/>
          </a:xfrm>
          <a:prstGeom prst="rect">
            <a:avLst/>
          </a:prstGeom>
          <a:noFill/>
        </p:spPr>
        <p:txBody>
          <a:bodyPr wrap="square">
            <a:spAutoFit/>
          </a:bodyPr>
          <a:lstStyle/>
          <a:p>
            <a:pPr>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Metinde 193.297 kelime bulunmasına karşın, 33.422’si benzersizdir ve bu durum yüksek tekrar oranına işaret etmektedir.</a:t>
            </a:r>
          </a:p>
          <a:p>
            <a:pPr>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%17,29’luk kelime çeşitliliği, </a:t>
            </a:r>
            <a:r>
              <a:rPr lang="tr-TR" sz="1400" noProof="0" dirty="0" err="1">
                <a:latin typeface="Arial" panose="020B0604020202020204" pitchFamily="34" charset="0"/>
                <a:cs typeface="Arial" panose="020B0604020202020204" pitchFamily="34" charset="0"/>
              </a:rPr>
              <a:t>stopwords</a:t>
            </a:r>
            <a:r>
              <a:rPr lang="tr-TR" sz="1400" noProof="0" dirty="0">
                <a:latin typeface="Arial" panose="020B0604020202020204" pitchFamily="34" charset="0"/>
                <a:cs typeface="Arial" panose="020B0604020202020204" pitchFamily="34" charset="0"/>
              </a:rPr>
              <a:t> temizliğinin metin analizi için gerekli olduğunu göstermektedir.</a:t>
            </a:r>
          </a:p>
        </p:txBody>
      </p:sp>
      <p:sp>
        <p:nvSpPr>
          <p:cNvPr id="10" name="TextBox 9">
            <a:extLst>
              <a:ext uri="{FF2B5EF4-FFF2-40B4-BE49-F238E27FC236}">
                <a16:creationId xmlns:a16="http://schemas.microsoft.com/office/drawing/2014/main" id="{A6FD8E04-75EF-9C9A-DCA4-AE913F52897C}"/>
              </a:ext>
            </a:extLst>
          </p:cNvPr>
          <p:cNvSpPr txBox="1"/>
          <p:nvPr/>
        </p:nvSpPr>
        <p:spPr>
          <a:xfrm>
            <a:off x="0" y="980929"/>
            <a:ext cx="12192000" cy="523220"/>
          </a:xfrm>
          <a:prstGeom prst="rect">
            <a:avLst/>
          </a:prstGeom>
          <a:noFill/>
        </p:spPr>
        <p:txBody>
          <a:bodyPr wrap="square">
            <a:spAutoFit/>
          </a:bodyPr>
          <a:lstStyle/>
          <a:p>
            <a:pPr algn="ctr"/>
            <a:r>
              <a:rPr lang="tr-TR" sz="2800" noProof="0">
                <a:effectLst>
                  <a:outerShdw blurRad="38100" dist="38100" dir="2700000" algn="tl">
                    <a:srgbClr val="000000">
                      <a:alpha val="43137"/>
                    </a:srgbClr>
                  </a:outerShdw>
                </a:effectLst>
                <a:latin typeface="Arial" panose="020B0604020202020204" pitchFamily="34" charset="0"/>
                <a:cs typeface="Arial" panose="020B0604020202020204" pitchFamily="34" charset="0"/>
              </a:rPr>
              <a:t>Kelime Çeşitliliği ve Tekrar Yoğunluğu Analizi</a:t>
            </a:r>
          </a:p>
        </p:txBody>
      </p:sp>
    </p:spTree>
    <p:extLst>
      <p:ext uri="{BB962C8B-B14F-4D97-AF65-F5344CB8AC3E}">
        <p14:creationId xmlns:p14="http://schemas.microsoft.com/office/powerpoint/2010/main" val="42669283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B8476A-EE63-F47B-DF25-F57E50C22B5C}"/>
              </a:ext>
            </a:extLst>
          </p:cNvPr>
          <p:cNvSpPr txBox="1"/>
          <p:nvPr/>
        </p:nvSpPr>
        <p:spPr>
          <a:xfrm>
            <a:off x="685932" y="1173638"/>
            <a:ext cx="6172825" cy="4988545"/>
          </a:xfrm>
          <a:prstGeom prst="rect">
            <a:avLst/>
          </a:prstGeom>
          <a:noFill/>
        </p:spPr>
        <p:txBody>
          <a:bodyPr wrap="square">
            <a:spAutoFit/>
          </a:bodyPr>
          <a:lstStyle/>
          <a:p>
            <a:pPr>
              <a:lnSpc>
                <a:spcPct val="114000"/>
              </a:lnSpc>
            </a:pPr>
            <a:r>
              <a:rPr lang="tr-TR" sz="1400" noProof="0" dirty="0">
                <a:latin typeface="Arial" panose="020B0604020202020204" pitchFamily="34" charset="0"/>
                <a:cs typeface="Arial" panose="020B0604020202020204" pitchFamily="34" charset="0"/>
              </a:rPr>
              <a:t>   Bu aşamada küçük harfe dönüştürme, noktalama temizliği, </a:t>
            </a:r>
            <a:r>
              <a:rPr lang="tr-TR" sz="1400" noProof="0" dirty="0" err="1">
                <a:latin typeface="Arial" panose="020B0604020202020204" pitchFamily="34" charset="0"/>
                <a:cs typeface="Arial" panose="020B0604020202020204" pitchFamily="34" charset="0"/>
              </a:rPr>
              <a:t>stopwords</a:t>
            </a:r>
            <a:r>
              <a:rPr lang="tr-TR" sz="1400" noProof="0" dirty="0">
                <a:latin typeface="Arial" panose="020B0604020202020204" pitchFamily="34" charset="0"/>
                <a:cs typeface="Arial" panose="020B0604020202020204" pitchFamily="34" charset="0"/>
              </a:rPr>
              <a:t> çıkarma ve temiz metin oluşturma işlemleri birlikte uygulanmıştır.</a:t>
            </a:r>
          </a:p>
          <a:p>
            <a:pPr>
              <a:lnSpc>
                <a:spcPct val="114000"/>
              </a:lnSpc>
            </a:pPr>
            <a:r>
              <a:rPr lang="tr-TR" sz="1400" u="sng" noProof="0" dirty="0">
                <a:latin typeface="Arial" panose="020B0604020202020204" pitchFamily="34" charset="0"/>
                <a:cs typeface="Arial" panose="020B0604020202020204" pitchFamily="34" charset="0"/>
              </a:rPr>
              <a:t>Amaç:</a:t>
            </a:r>
          </a:p>
          <a:p>
            <a:pPr>
              <a:lnSpc>
                <a:spcPct val="114000"/>
              </a:lnSpc>
            </a:pPr>
            <a:r>
              <a:rPr lang="tr-TR" sz="1400" noProof="0" dirty="0">
                <a:latin typeface="Arial" panose="020B0604020202020204" pitchFamily="34" charset="0"/>
                <a:cs typeface="Arial" panose="020B0604020202020204" pitchFamily="34" charset="0"/>
              </a:rPr>
              <a:t>• Anlamsal katkısı düşük olan bağlaç ve işlev kelimelerini (</a:t>
            </a:r>
            <a:r>
              <a:rPr lang="tr-TR" sz="1400" noProof="0" dirty="0" err="1">
                <a:latin typeface="Arial" panose="020B0604020202020204" pitchFamily="34" charset="0"/>
                <a:cs typeface="Arial" panose="020B0604020202020204" pitchFamily="34" charset="0"/>
              </a:rPr>
              <a:t>stopwords</a:t>
            </a:r>
            <a:r>
              <a:rPr lang="tr-TR" sz="1400" noProof="0" dirty="0">
                <a:latin typeface="Arial" panose="020B0604020202020204" pitchFamily="34" charset="0"/>
                <a:cs typeface="Arial" panose="020B0604020202020204" pitchFamily="34" charset="0"/>
              </a:rPr>
              <a:t>) metinden çıkarmak.</a:t>
            </a:r>
          </a:p>
          <a:p>
            <a:pPr>
              <a:lnSpc>
                <a:spcPct val="114000"/>
              </a:lnSpc>
            </a:pPr>
            <a:r>
              <a:rPr lang="tr-TR" sz="1400" noProof="0" dirty="0">
                <a:latin typeface="Arial" panose="020B0604020202020204" pitchFamily="34" charset="0"/>
                <a:cs typeface="Arial" panose="020B0604020202020204" pitchFamily="34" charset="0"/>
              </a:rPr>
              <a:t>• Analize hazır, temiz metin elde etmek ve TF, TF-IDF gibi yöntemlerde doğrudan kullanılabilir bir yapı oluşturmak.</a:t>
            </a:r>
          </a:p>
          <a:p>
            <a:pPr>
              <a:lnSpc>
                <a:spcPct val="114000"/>
              </a:lnSpc>
            </a:pPr>
            <a:r>
              <a:rPr lang="tr-TR" sz="1400" u="sng" noProof="0" dirty="0">
                <a:latin typeface="Arial" panose="020B0604020202020204" pitchFamily="34" charset="0"/>
                <a:cs typeface="Arial" panose="020B0604020202020204" pitchFamily="34" charset="0"/>
              </a:rPr>
              <a:t>Yöntem:</a:t>
            </a:r>
          </a:p>
          <a:p>
            <a:pPr>
              <a:lnSpc>
                <a:spcPct val="114000"/>
              </a:lnSpc>
            </a:pPr>
            <a:r>
              <a:rPr lang="tr-TR" sz="1400" noProof="0" dirty="0">
                <a:latin typeface="Arial" panose="020B0604020202020204" pitchFamily="34" charset="0"/>
                <a:cs typeface="Arial" panose="020B0604020202020204" pitchFamily="34" charset="0"/>
              </a:rPr>
              <a:t>• </a:t>
            </a:r>
            <a:r>
              <a:rPr lang="tr-TR" sz="1400" noProof="0" dirty="0" err="1">
                <a:latin typeface="Arial" panose="020B0604020202020204" pitchFamily="34" charset="0"/>
                <a:cs typeface="Arial" panose="020B0604020202020204" pitchFamily="34" charset="0"/>
              </a:rPr>
              <a:t>PySpark</a:t>
            </a:r>
            <a:r>
              <a:rPr lang="tr-TR" sz="1400" noProof="0" dirty="0">
                <a:latin typeface="Arial" panose="020B0604020202020204" pitchFamily="34" charset="0"/>
                <a:cs typeface="Arial" panose="020B0604020202020204" pitchFamily="34" charset="0"/>
              </a:rPr>
              <a:t> </a:t>
            </a:r>
            <a:r>
              <a:rPr lang="tr-TR" sz="1400" noProof="0" dirty="0" err="1">
                <a:latin typeface="Arial" panose="020B0604020202020204" pitchFamily="34" charset="0"/>
                <a:cs typeface="Arial" panose="020B0604020202020204" pitchFamily="34" charset="0"/>
              </a:rPr>
              <a:t>StopWordsRemover</a:t>
            </a:r>
            <a:r>
              <a:rPr lang="tr-TR" sz="1400" noProof="0" dirty="0">
                <a:latin typeface="Arial" panose="020B0604020202020204" pitchFamily="34" charset="0"/>
                <a:cs typeface="Arial" panose="020B0604020202020204" pitchFamily="34" charset="0"/>
              </a:rPr>
              <a:t> kullanılarak kelime listeleri üzerinden </a:t>
            </a:r>
            <a:r>
              <a:rPr lang="tr-TR" sz="1400" noProof="0" dirty="0" err="1">
                <a:latin typeface="Arial" panose="020B0604020202020204" pitchFamily="34" charset="0"/>
                <a:cs typeface="Arial" panose="020B0604020202020204" pitchFamily="34" charset="0"/>
              </a:rPr>
              <a:t>stopwords</a:t>
            </a:r>
            <a:r>
              <a:rPr lang="tr-TR" sz="1400" noProof="0" dirty="0">
                <a:latin typeface="Arial" panose="020B0604020202020204" pitchFamily="34" charset="0"/>
                <a:cs typeface="Arial" panose="020B0604020202020204" pitchFamily="34" charset="0"/>
              </a:rPr>
              <a:t> temizlenmiştir.</a:t>
            </a:r>
          </a:p>
          <a:p>
            <a:pPr>
              <a:lnSpc>
                <a:spcPct val="114000"/>
              </a:lnSpc>
            </a:pPr>
            <a:r>
              <a:rPr lang="tr-TR" sz="1400" u="sng" noProof="0" dirty="0">
                <a:latin typeface="Arial" panose="020B0604020202020204" pitchFamily="34" charset="0"/>
                <a:cs typeface="Arial" panose="020B0604020202020204" pitchFamily="34" charset="0"/>
              </a:rPr>
              <a:t>Yapılan İşlemler:</a:t>
            </a:r>
          </a:p>
          <a:p>
            <a:pPr>
              <a:lnSpc>
                <a:spcPct val="114000"/>
              </a:lnSpc>
            </a:pPr>
            <a:r>
              <a:rPr lang="tr-TR" sz="1400" noProof="0" dirty="0">
                <a:latin typeface="Arial" panose="020B0604020202020204" pitchFamily="34" charset="0"/>
                <a:cs typeface="Arial" panose="020B0604020202020204" pitchFamily="34" charset="0"/>
              </a:rPr>
              <a:t>• Metinler küçük harfe dönüştürüldü (büyük/küçük harf farkı kaldırıldı).</a:t>
            </a:r>
          </a:p>
          <a:p>
            <a:pPr>
              <a:lnSpc>
                <a:spcPct val="114000"/>
              </a:lnSpc>
            </a:pPr>
            <a:r>
              <a:rPr lang="tr-TR" sz="1400" noProof="0" dirty="0">
                <a:latin typeface="Arial" panose="020B0604020202020204" pitchFamily="34" charset="0"/>
                <a:cs typeface="Arial" panose="020B0604020202020204" pitchFamily="34" charset="0"/>
              </a:rPr>
              <a:t>• Noktalama işaretleri ve özel karakterler temizlendi.</a:t>
            </a:r>
          </a:p>
          <a:p>
            <a:pPr>
              <a:lnSpc>
                <a:spcPct val="114000"/>
              </a:lnSpc>
            </a:pPr>
            <a:r>
              <a:rPr lang="tr-TR" sz="1400" noProof="0" dirty="0">
                <a:latin typeface="Arial" panose="020B0604020202020204" pitchFamily="34" charset="0"/>
                <a:cs typeface="Arial" panose="020B0604020202020204" pitchFamily="34" charset="0"/>
              </a:rPr>
              <a:t>• Metinler kelimelere ayrıldı.</a:t>
            </a:r>
          </a:p>
          <a:p>
            <a:pPr>
              <a:lnSpc>
                <a:spcPct val="114000"/>
              </a:lnSpc>
            </a:pPr>
            <a:r>
              <a:rPr lang="tr-TR" sz="1400" noProof="0" dirty="0">
                <a:latin typeface="Arial" panose="020B0604020202020204" pitchFamily="34" charset="0"/>
                <a:cs typeface="Arial" panose="020B0604020202020204" pitchFamily="34" charset="0"/>
              </a:rPr>
              <a:t>• Türkçe </a:t>
            </a:r>
            <a:r>
              <a:rPr lang="tr-TR" sz="1400" noProof="0" dirty="0" err="1">
                <a:latin typeface="Arial" panose="020B0604020202020204" pitchFamily="34" charset="0"/>
                <a:cs typeface="Arial" panose="020B0604020202020204" pitchFamily="34" charset="0"/>
              </a:rPr>
              <a:t>stopwords</a:t>
            </a:r>
            <a:r>
              <a:rPr lang="tr-TR" sz="1400" noProof="0" dirty="0">
                <a:latin typeface="Arial" panose="020B0604020202020204" pitchFamily="34" charset="0"/>
                <a:cs typeface="Arial" panose="020B0604020202020204" pitchFamily="34" charset="0"/>
              </a:rPr>
              <a:t> (ve, bir, bu, ile vb.) çıkarıldı.</a:t>
            </a:r>
          </a:p>
          <a:p>
            <a:pPr>
              <a:lnSpc>
                <a:spcPct val="114000"/>
              </a:lnSpc>
            </a:pPr>
            <a:r>
              <a:rPr lang="tr-TR" sz="1400" noProof="0" dirty="0">
                <a:latin typeface="Arial" panose="020B0604020202020204" pitchFamily="34" charset="0"/>
                <a:cs typeface="Arial" panose="020B0604020202020204" pitchFamily="34" charset="0"/>
              </a:rPr>
              <a:t>• Analize hazır, temiz kelime listeleri (</a:t>
            </a:r>
            <a:r>
              <a:rPr lang="tr-TR" sz="1400" noProof="0" dirty="0" err="1">
                <a:latin typeface="Arial" panose="020B0604020202020204" pitchFamily="34" charset="0"/>
                <a:cs typeface="Arial" panose="020B0604020202020204" pitchFamily="34" charset="0"/>
              </a:rPr>
              <a:t>words_clean</a:t>
            </a:r>
            <a:r>
              <a:rPr lang="tr-TR" sz="1400" noProof="0" dirty="0">
                <a:latin typeface="Arial" panose="020B0604020202020204" pitchFamily="34" charset="0"/>
                <a:cs typeface="Arial" panose="020B0604020202020204" pitchFamily="34" charset="0"/>
              </a:rPr>
              <a:t>) elde edildi.</a:t>
            </a:r>
          </a:p>
          <a:p>
            <a:pPr>
              <a:lnSpc>
                <a:spcPct val="114000"/>
              </a:lnSpc>
            </a:pPr>
            <a:r>
              <a:rPr lang="tr-TR" sz="1400" noProof="0" dirty="0">
                <a:latin typeface="Arial" panose="020B0604020202020204" pitchFamily="34" charset="0"/>
                <a:cs typeface="Arial" panose="020B0604020202020204" pitchFamily="34" charset="0"/>
              </a:rPr>
              <a:t>• </a:t>
            </a:r>
            <a:r>
              <a:rPr lang="tr-TR" sz="1400" noProof="0" dirty="0" err="1">
                <a:latin typeface="Arial" panose="020B0604020202020204" pitchFamily="34" charset="0"/>
                <a:cs typeface="Arial" panose="020B0604020202020204" pitchFamily="34" charset="0"/>
              </a:rPr>
              <a:t>Stopwords</a:t>
            </a:r>
            <a:r>
              <a:rPr lang="tr-TR" sz="1400" noProof="0" dirty="0">
                <a:latin typeface="Arial" panose="020B0604020202020204" pitchFamily="34" charset="0"/>
                <a:cs typeface="Arial" panose="020B0604020202020204" pitchFamily="34" charset="0"/>
              </a:rPr>
              <a:t> çıkarılmış kelime listeleri tekrar metin formatına dönüştürüldü.</a:t>
            </a:r>
          </a:p>
          <a:p>
            <a:pPr>
              <a:lnSpc>
                <a:spcPct val="114000"/>
              </a:lnSpc>
            </a:pPr>
            <a:r>
              <a:rPr lang="tr-TR" sz="1400" noProof="0" dirty="0">
                <a:latin typeface="Arial" panose="020B0604020202020204" pitchFamily="34" charset="0"/>
                <a:cs typeface="Arial" panose="020B0604020202020204" pitchFamily="34" charset="0"/>
              </a:rPr>
              <a:t>• Her satır, temizlenmiş tek bir metin hâline getirildi.</a:t>
            </a:r>
          </a:p>
          <a:p>
            <a:pPr>
              <a:lnSpc>
                <a:spcPct val="114000"/>
              </a:lnSpc>
            </a:pPr>
            <a:r>
              <a:rPr lang="tr-TR" sz="1400" noProof="0" dirty="0">
                <a:latin typeface="Arial" panose="020B0604020202020204" pitchFamily="34" charset="0"/>
                <a:cs typeface="Arial" panose="020B0604020202020204" pitchFamily="34" charset="0"/>
              </a:rPr>
              <a:t>• Çıktılar, okunabilirliği artırmak amacıyla satır araları çizgilerle ayrılarak gösterildi.</a:t>
            </a:r>
            <a:endParaRPr lang="tr-TR" dirty="0"/>
          </a:p>
        </p:txBody>
      </p:sp>
      <p:pic>
        <p:nvPicPr>
          <p:cNvPr id="4" name="Picture 3">
            <a:extLst>
              <a:ext uri="{FF2B5EF4-FFF2-40B4-BE49-F238E27FC236}">
                <a16:creationId xmlns:a16="http://schemas.microsoft.com/office/drawing/2014/main" id="{08E5D1E8-6647-38FE-2A8E-E12C926A9BB9}"/>
              </a:ext>
            </a:extLst>
          </p:cNvPr>
          <p:cNvPicPr>
            <a:picLocks noChangeAspect="1"/>
          </p:cNvPicPr>
          <p:nvPr/>
        </p:nvPicPr>
        <p:blipFill>
          <a:blip r:embed="rId2"/>
          <a:stretch>
            <a:fillRect/>
          </a:stretch>
        </p:blipFill>
        <p:spPr>
          <a:xfrm>
            <a:off x="6858757" y="1409801"/>
            <a:ext cx="4370352" cy="2258110"/>
          </a:xfrm>
          <a:prstGeom prst="rect">
            <a:avLst/>
          </a:prstGeom>
        </p:spPr>
      </p:pic>
      <p:sp>
        <p:nvSpPr>
          <p:cNvPr id="5" name="TextBox 4">
            <a:extLst>
              <a:ext uri="{FF2B5EF4-FFF2-40B4-BE49-F238E27FC236}">
                <a16:creationId xmlns:a16="http://schemas.microsoft.com/office/drawing/2014/main" id="{F940AB36-A92B-5C9B-A63B-59C7E4A3471D}"/>
              </a:ext>
            </a:extLst>
          </p:cNvPr>
          <p:cNvSpPr txBox="1"/>
          <p:nvPr/>
        </p:nvSpPr>
        <p:spPr>
          <a:xfrm>
            <a:off x="0" y="537315"/>
            <a:ext cx="12192000" cy="523220"/>
          </a:xfrm>
          <a:prstGeom prst="rect">
            <a:avLst/>
          </a:prstGeom>
          <a:noFill/>
        </p:spPr>
        <p:txBody>
          <a:bodyPr wrap="square">
            <a:spAutoFit/>
          </a:bodyPr>
          <a:lstStyle/>
          <a:p>
            <a:pPr algn="ctr">
              <a:spcBef>
                <a:spcPts val="1089"/>
              </a:spcBef>
              <a:spcAft>
                <a:spcPts val="1451"/>
              </a:spcAft>
              <a:buNone/>
            </a:pPr>
            <a:r>
              <a:rPr lang="tr-TR" sz="2800" b="0" i="0" noProof="0">
                <a:effectLst>
                  <a:outerShdw blurRad="38100" dist="38100" dir="2700000" algn="tl">
                    <a:srgbClr val="000000">
                      <a:alpha val="43137"/>
                    </a:srgbClr>
                  </a:outerShdw>
                </a:effectLst>
                <a:latin typeface="Arial" panose="020B0604020202020204" pitchFamily="34" charset="0"/>
                <a:cs typeface="Arial" panose="020B0604020202020204" pitchFamily="34" charset="0"/>
              </a:rPr>
              <a:t>Metin Temizleme ve </a:t>
            </a:r>
            <a:r>
              <a:rPr lang="tr-TR" sz="2800" b="0" i="0" noProof="0" dirty="0" err="1">
                <a:effectLst>
                  <a:outerShdw blurRad="38100" dist="38100" dir="2700000" algn="tl">
                    <a:srgbClr val="000000">
                      <a:alpha val="43137"/>
                    </a:srgbClr>
                  </a:outerShdw>
                </a:effectLst>
                <a:latin typeface="Arial" panose="020B0604020202020204" pitchFamily="34" charset="0"/>
                <a:cs typeface="Arial" panose="020B0604020202020204" pitchFamily="34" charset="0"/>
              </a:rPr>
              <a:t>Stopword’lerin</a:t>
            </a:r>
            <a:r>
              <a:rPr lang="tr-TR" sz="2800" b="0" i="0" noProof="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Çıkarılması</a:t>
            </a:r>
          </a:p>
        </p:txBody>
      </p:sp>
      <p:pic>
        <p:nvPicPr>
          <p:cNvPr id="6" name="Picture 5">
            <a:extLst>
              <a:ext uri="{FF2B5EF4-FFF2-40B4-BE49-F238E27FC236}">
                <a16:creationId xmlns:a16="http://schemas.microsoft.com/office/drawing/2014/main" id="{0D0FE3A8-1480-B1A8-E086-EA1B48B57745}"/>
              </a:ext>
            </a:extLst>
          </p:cNvPr>
          <p:cNvPicPr>
            <a:picLocks noChangeAspect="1"/>
          </p:cNvPicPr>
          <p:nvPr/>
        </p:nvPicPr>
        <p:blipFill>
          <a:blip r:embed="rId3"/>
          <a:srcRect t="4012"/>
          <a:stretch>
            <a:fillRect/>
          </a:stretch>
        </p:blipFill>
        <p:spPr>
          <a:xfrm>
            <a:off x="6705601" y="3553690"/>
            <a:ext cx="5152472" cy="2041999"/>
          </a:xfrm>
          <a:prstGeom prst="rect">
            <a:avLst/>
          </a:prstGeom>
        </p:spPr>
      </p:pic>
    </p:spTree>
    <p:extLst>
      <p:ext uri="{BB962C8B-B14F-4D97-AF65-F5344CB8AC3E}">
        <p14:creationId xmlns:p14="http://schemas.microsoft.com/office/powerpoint/2010/main" val="21094529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2237B8A-5506-A1CD-7D2E-7E2A4148AA77}"/>
              </a:ext>
            </a:extLst>
          </p:cNvPr>
          <p:cNvSpPr txBox="1"/>
          <p:nvPr/>
        </p:nvSpPr>
        <p:spPr>
          <a:xfrm>
            <a:off x="845127" y="1315094"/>
            <a:ext cx="5590309" cy="4737835"/>
          </a:xfrm>
          <a:prstGeom prst="rect">
            <a:avLst/>
          </a:prstGeom>
          <a:noFill/>
        </p:spPr>
        <p:txBody>
          <a:bodyPr wrap="square">
            <a:spAutoFit/>
          </a:bodyPr>
          <a:lstStyle/>
          <a:p>
            <a:pPr>
              <a:lnSpc>
                <a:spcPct val="114000"/>
              </a:lnSpc>
              <a:buNone/>
            </a:pPr>
            <a:r>
              <a:rPr lang="tr-TR" sz="1400" u="sng" noProof="0" dirty="0">
                <a:latin typeface="Arial" panose="020B0604020202020204" pitchFamily="34" charset="0"/>
                <a:cs typeface="Arial" panose="020B0604020202020204" pitchFamily="34" charset="0"/>
              </a:rPr>
              <a:t>Amaç:</a:t>
            </a:r>
          </a:p>
          <a:p>
            <a:pPr>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Temizlenmiş metinlerde en sık geçen kelimeleri belirleyerek metnin genel konu yapısı ve baskın kavramları hakkında ön</a:t>
            </a:r>
          </a:p>
          <a:p>
            <a:pPr>
              <a:lnSpc>
                <a:spcPct val="114000"/>
              </a:lnSpc>
            </a:pPr>
            <a:r>
              <a:rPr lang="tr-TR" sz="1400" noProof="0" dirty="0">
                <a:latin typeface="Arial" panose="020B0604020202020204" pitchFamily="34" charset="0"/>
                <a:cs typeface="Arial" panose="020B0604020202020204" pitchFamily="34" charset="0"/>
              </a:rPr>
              <a:t>bilgi elde etmek.</a:t>
            </a:r>
          </a:p>
          <a:p>
            <a:pPr>
              <a:lnSpc>
                <a:spcPct val="114000"/>
              </a:lnSpc>
              <a:buNone/>
            </a:pPr>
            <a:r>
              <a:rPr lang="tr-TR" sz="1400" u="sng" noProof="0" dirty="0">
                <a:latin typeface="Arial" panose="020B0604020202020204" pitchFamily="34" charset="0"/>
                <a:cs typeface="Arial" panose="020B0604020202020204" pitchFamily="34" charset="0"/>
              </a:rPr>
              <a:t>Yöntem:</a:t>
            </a:r>
          </a:p>
          <a:p>
            <a:pPr>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Temiz kelime listeleri (</a:t>
            </a:r>
            <a:r>
              <a:rPr lang="tr-TR" sz="1400" noProof="0" dirty="0" err="1">
                <a:latin typeface="Arial" panose="020B0604020202020204" pitchFamily="34" charset="0"/>
                <a:cs typeface="Arial" panose="020B0604020202020204" pitchFamily="34" charset="0"/>
              </a:rPr>
              <a:t>words_clean</a:t>
            </a:r>
            <a:r>
              <a:rPr lang="tr-TR" sz="1400" noProof="0" dirty="0">
                <a:latin typeface="Arial" panose="020B0604020202020204" pitchFamily="34" charset="0"/>
                <a:cs typeface="Arial" panose="020B0604020202020204" pitchFamily="34" charset="0"/>
              </a:rPr>
              <a:t>) kullanılarak kelimeler tekilleştirildi.</a:t>
            </a:r>
          </a:p>
          <a:p>
            <a:pPr>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Her kelimenin metin boyunca tekrar sayısı hesaplandı.</a:t>
            </a:r>
          </a:p>
          <a:p>
            <a:pPr>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Kelimeler frekanslarına göre azalan biçimde sıralandı.</a:t>
            </a:r>
          </a:p>
          <a:p>
            <a:pPr>
              <a:lnSpc>
                <a:spcPct val="114000"/>
              </a:lnSpc>
              <a:buNone/>
            </a:pPr>
            <a:r>
              <a:rPr lang="tr-TR" sz="1400" u="sng" dirty="0">
                <a:latin typeface="Arial" panose="020B0604020202020204" pitchFamily="34" charset="0"/>
                <a:cs typeface="Arial" panose="020B0604020202020204" pitchFamily="34" charset="0"/>
              </a:rPr>
              <a:t>Yapılan İşlemler:</a:t>
            </a:r>
          </a:p>
          <a:p>
            <a:pPr>
              <a:lnSpc>
                <a:spcPct val="114000"/>
              </a:lnSpc>
              <a:buNone/>
            </a:pPr>
            <a:r>
              <a:rPr lang="tr-TR" sz="1400" dirty="0">
                <a:latin typeface="Arial" panose="020B0604020202020204" pitchFamily="34" charset="0"/>
                <a:cs typeface="Arial" panose="020B0604020202020204" pitchFamily="34" charset="0"/>
              </a:rPr>
              <a:t>• Temizlenmiş kelime listeleri satır bazında ayrıştırılarak kelimeler gruplanmış ve frekansları (</a:t>
            </a:r>
            <a:r>
              <a:rPr lang="tr-TR" sz="1400" dirty="0" err="1">
                <a:latin typeface="Arial" panose="020B0604020202020204" pitchFamily="34" charset="0"/>
                <a:cs typeface="Arial" panose="020B0604020202020204" pitchFamily="34" charset="0"/>
              </a:rPr>
              <a:t>count</a:t>
            </a:r>
            <a:r>
              <a:rPr lang="tr-TR" sz="1400" dirty="0">
                <a:latin typeface="Arial" panose="020B0604020202020204" pitchFamily="34" charset="0"/>
                <a:cs typeface="Arial" panose="020B0604020202020204" pitchFamily="34" charset="0"/>
              </a:rPr>
              <a:t>) hesaplanmıştır.</a:t>
            </a:r>
          </a:p>
          <a:p>
            <a:pPr>
              <a:lnSpc>
                <a:spcPct val="114000"/>
              </a:lnSpc>
              <a:buNone/>
            </a:pPr>
            <a:r>
              <a:rPr lang="tr-TR" sz="1400" dirty="0">
                <a:latin typeface="Arial" panose="020B0604020202020204" pitchFamily="34" charset="0"/>
                <a:cs typeface="Arial" panose="020B0604020202020204" pitchFamily="34" charset="0"/>
              </a:rPr>
              <a:t>• En sık geçen ilk 10 kelime tablo formatında gösterilmiştir.</a:t>
            </a:r>
          </a:p>
          <a:p>
            <a:pPr>
              <a:lnSpc>
                <a:spcPct val="114000"/>
              </a:lnSpc>
              <a:buNone/>
            </a:pPr>
            <a:r>
              <a:rPr lang="tr-TR" sz="1400" u="sng" noProof="0" dirty="0">
                <a:latin typeface="Arial" panose="020B0604020202020204" pitchFamily="34" charset="0"/>
                <a:cs typeface="Arial" panose="020B0604020202020204" pitchFamily="34" charset="0"/>
              </a:rPr>
              <a:t>Çıktının Anlamı :</a:t>
            </a:r>
          </a:p>
          <a:p>
            <a:pPr>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Kelime: Metinde geçen anlamlı sözcükleri temsil eder.</a:t>
            </a:r>
          </a:p>
          <a:p>
            <a:pPr>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Frekans: İlgili kelimenin tüm metin boyunca kaç kez tekrarlandığını gösterir.</a:t>
            </a:r>
          </a:p>
          <a:p>
            <a:pPr>
              <a:lnSpc>
                <a:spcPct val="114000"/>
              </a:lnSpc>
              <a:buFont typeface="Arial" panose="020B0604020202020204" pitchFamily="34" charset="0"/>
              <a:buChar char="•"/>
            </a:pPr>
            <a:r>
              <a:rPr lang="tr-TR" sz="1400" noProof="0" dirty="0" err="1">
                <a:latin typeface="Arial" panose="020B0604020202020204" pitchFamily="34" charset="0"/>
                <a:cs typeface="Arial" panose="020B0604020202020204" pitchFamily="34" charset="0"/>
              </a:rPr>
              <a:t>Stopword’ler</a:t>
            </a:r>
            <a:r>
              <a:rPr lang="tr-TR" sz="1400" noProof="0" dirty="0">
                <a:latin typeface="Arial" panose="020B0604020202020204" pitchFamily="34" charset="0"/>
                <a:cs typeface="Arial" panose="020B0604020202020204" pitchFamily="34" charset="0"/>
              </a:rPr>
              <a:t> ve gereksiz karakterler temizlendiği için tabloda</a:t>
            </a:r>
          </a:p>
          <a:p>
            <a:pPr>
              <a:lnSpc>
                <a:spcPct val="114000"/>
              </a:lnSpc>
            </a:pPr>
            <a:r>
              <a:rPr lang="tr-TR" sz="1400" noProof="0" dirty="0">
                <a:latin typeface="Arial" panose="020B0604020202020204" pitchFamily="34" charset="0"/>
                <a:cs typeface="Arial" panose="020B0604020202020204" pitchFamily="34" charset="0"/>
              </a:rPr>
              <a:t> yer alan kelimeler, metnin içeriğini ve baskın temalarını yansıtır.</a:t>
            </a:r>
          </a:p>
        </p:txBody>
      </p:sp>
      <p:pic>
        <p:nvPicPr>
          <p:cNvPr id="6" name="Picture 5">
            <a:extLst>
              <a:ext uri="{FF2B5EF4-FFF2-40B4-BE49-F238E27FC236}">
                <a16:creationId xmlns:a16="http://schemas.microsoft.com/office/drawing/2014/main" id="{88650F6A-CA70-76F1-B486-86AE47FEF60B}"/>
              </a:ext>
            </a:extLst>
          </p:cNvPr>
          <p:cNvPicPr>
            <a:picLocks noChangeAspect="1"/>
          </p:cNvPicPr>
          <p:nvPr/>
        </p:nvPicPr>
        <p:blipFill>
          <a:blip r:embed="rId2"/>
          <a:stretch>
            <a:fillRect/>
          </a:stretch>
        </p:blipFill>
        <p:spPr>
          <a:xfrm>
            <a:off x="7561346" y="1574767"/>
            <a:ext cx="1745600" cy="2412204"/>
          </a:xfrm>
          <a:prstGeom prst="rect">
            <a:avLst/>
          </a:prstGeom>
        </p:spPr>
      </p:pic>
      <p:sp>
        <p:nvSpPr>
          <p:cNvPr id="8" name="TextBox 7">
            <a:extLst>
              <a:ext uri="{FF2B5EF4-FFF2-40B4-BE49-F238E27FC236}">
                <a16:creationId xmlns:a16="http://schemas.microsoft.com/office/drawing/2014/main" id="{34D16F50-1B7E-AEF1-2885-A2DCBCDE0FF0}"/>
              </a:ext>
            </a:extLst>
          </p:cNvPr>
          <p:cNvSpPr txBox="1"/>
          <p:nvPr/>
        </p:nvSpPr>
        <p:spPr>
          <a:xfrm>
            <a:off x="6359236" y="4158439"/>
            <a:ext cx="4987637" cy="2249590"/>
          </a:xfrm>
          <a:prstGeom prst="rect">
            <a:avLst/>
          </a:prstGeom>
          <a:noFill/>
        </p:spPr>
        <p:txBody>
          <a:bodyPr wrap="square">
            <a:spAutoFit/>
          </a:bodyPr>
          <a:lstStyle/>
          <a:p>
            <a:pPr>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“Paşa”, “bey” ve “efendiler” gibi hitap ve unvan ifadelerinin öne çıkması, metnin resmî ve hitap ağırlıklı bir anlatı yapısına sahip olduğunu göstermektedir.</a:t>
            </a:r>
          </a:p>
          <a:p>
            <a:pPr>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“Millet”, “bütün” ve “büyük” gibi kelimelerin yüksek frekansları, kolektif kimlik ve bütünlük vurgusunun metinde önemli bir yer tuttuğunu ortaya koymaktadır</a:t>
            </a:r>
            <a:r>
              <a:rPr lang="en-US" dirty="0"/>
              <a:t>.</a:t>
            </a:r>
            <a:endParaRPr lang="tr-TR" dirty="0"/>
          </a:p>
          <a:p>
            <a:pPr>
              <a:lnSpc>
                <a:spcPct val="114000"/>
              </a:lnSpc>
              <a:buFont typeface="Arial" panose="020B0604020202020204" pitchFamily="34" charset="0"/>
              <a:buChar char="•"/>
            </a:pPr>
            <a:r>
              <a:rPr lang="tr-TR" sz="1400" noProof="0" dirty="0">
                <a:latin typeface="Arial" panose="020B0604020202020204" pitchFamily="34" charset="0"/>
                <a:cs typeface="Arial" panose="020B0604020202020204" pitchFamily="34" charset="0"/>
              </a:rPr>
              <a:t>İlk satır boş değerlerin toplam frekansını göstermekte olup analiz kapsamı dışında bırakılmıştır</a:t>
            </a:r>
            <a:r>
              <a:rPr lang="en-US" dirty="0"/>
              <a:t>.</a:t>
            </a:r>
          </a:p>
        </p:txBody>
      </p:sp>
      <p:sp>
        <p:nvSpPr>
          <p:cNvPr id="10" name="TextBox 9">
            <a:extLst>
              <a:ext uri="{FF2B5EF4-FFF2-40B4-BE49-F238E27FC236}">
                <a16:creationId xmlns:a16="http://schemas.microsoft.com/office/drawing/2014/main" id="{2CB85F31-E72E-63EF-0A5E-604A97CA5F69}"/>
              </a:ext>
            </a:extLst>
          </p:cNvPr>
          <p:cNvSpPr txBox="1"/>
          <p:nvPr/>
        </p:nvSpPr>
        <p:spPr>
          <a:xfrm>
            <a:off x="0" y="620405"/>
            <a:ext cx="12192000" cy="523220"/>
          </a:xfrm>
          <a:prstGeom prst="rect">
            <a:avLst/>
          </a:prstGeom>
          <a:noFill/>
        </p:spPr>
        <p:txBody>
          <a:bodyPr wrap="square">
            <a:spAutoFit/>
          </a:bodyPr>
          <a:lstStyle/>
          <a:p>
            <a:pPr algn="ctr"/>
            <a:r>
              <a:rPr lang="tr-TR" sz="2800" noProof="0">
                <a:effectLst>
                  <a:outerShdw blurRad="38100" dist="38100" dir="2700000" algn="tl">
                    <a:srgbClr val="000000">
                      <a:alpha val="43137"/>
                    </a:srgbClr>
                  </a:outerShdw>
                </a:effectLst>
                <a:latin typeface="Arial" panose="020B0604020202020204" pitchFamily="34" charset="0"/>
                <a:cs typeface="Arial" panose="020B0604020202020204" pitchFamily="34" charset="0"/>
              </a:rPr>
              <a:t>Temizlenmiş Metinde En Sık Geçen Kelimeler</a:t>
            </a:r>
          </a:p>
        </p:txBody>
      </p:sp>
    </p:spTree>
    <p:extLst>
      <p:ext uri="{BB962C8B-B14F-4D97-AF65-F5344CB8AC3E}">
        <p14:creationId xmlns:p14="http://schemas.microsoft.com/office/powerpoint/2010/main" val="28079084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927023D1-B51A-3D1F-2F00-08B13E7AFA55}"/>
              </a:ext>
            </a:extLst>
          </p:cNvPr>
          <p:cNvPicPr>
            <a:picLocks noChangeAspect="1"/>
          </p:cNvPicPr>
          <p:nvPr/>
        </p:nvPicPr>
        <p:blipFill>
          <a:blip r:embed="rId2"/>
          <a:srcRect r="6933" b="4447"/>
          <a:stretch>
            <a:fillRect/>
          </a:stretch>
        </p:blipFill>
        <p:spPr>
          <a:xfrm>
            <a:off x="405971" y="3664148"/>
            <a:ext cx="3632123" cy="2321016"/>
          </a:xfrm>
          <a:prstGeom prst="rect">
            <a:avLst/>
          </a:prstGeom>
        </p:spPr>
      </p:pic>
      <p:pic>
        <p:nvPicPr>
          <p:cNvPr id="2" name="Picture 1">
            <a:extLst>
              <a:ext uri="{FF2B5EF4-FFF2-40B4-BE49-F238E27FC236}">
                <a16:creationId xmlns:a16="http://schemas.microsoft.com/office/drawing/2014/main" id="{83357B64-FD7E-FE2B-6302-230EDB27BCB5}"/>
              </a:ext>
            </a:extLst>
          </p:cNvPr>
          <p:cNvPicPr>
            <a:picLocks noChangeAspect="1"/>
          </p:cNvPicPr>
          <p:nvPr/>
        </p:nvPicPr>
        <p:blipFill>
          <a:blip r:embed="rId3"/>
          <a:srcRect l="2987" t="2441" r="11106"/>
          <a:stretch>
            <a:fillRect/>
          </a:stretch>
        </p:blipFill>
        <p:spPr>
          <a:xfrm>
            <a:off x="405971" y="1185744"/>
            <a:ext cx="3537741" cy="2527615"/>
          </a:xfrm>
          <a:prstGeom prst="rect">
            <a:avLst/>
          </a:prstGeom>
        </p:spPr>
      </p:pic>
      <p:sp>
        <p:nvSpPr>
          <p:cNvPr id="4" name="TextBox 3">
            <a:extLst>
              <a:ext uri="{FF2B5EF4-FFF2-40B4-BE49-F238E27FC236}">
                <a16:creationId xmlns:a16="http://schemas.microsoft.com/office/drawing/2014/main" id="{C946B341-C41E-9FD9-11CD-AB801D6F5647}"/>
              </a:ext>
            </a:extLst>
          </p:cNvPr>
          <p:cNvSpPr txBox="1"/>
          <p:nvPr/>
        </p:nvSpPr>
        <p:spPr>
          <a:xfrm>
            <a:off x="3914415" y="2779274"/>
            <a:ext cx="7556640" cy="2527615"/>
          </a:xfrm>
          <a:prstGeom prst="rect">
            <a:avLst/>
          </a:prstGeom>
          <a:noFill/>
        </p:spPr>
        <p:txBody>
          <a:bodyPr wrap="square">
            <a:spAutoFit/>
          </a:bodyPr>
          <a:lstStyle/>
          <a:p>
            <a:pPr>
              <a:lnSpc>
                <a:spcPct val="114000"/>
              </a:lnSpc>
              <a:buNone/>
            </a:pPr>
            <a:r>
              <a:rPr lang="tr-TR" sz="1400" noProof="0" dirty="0">
                <a:latin typeface="Arial" panose="020B0604020202020204" pitchFamily="34" charset="0"/>
                <a:cs typeface="Arial" panose="020B0604020202020204" pitchFamily="34" charset="0"/>
              </a:rPr>
              <a:t>     Bu durum, metnin tematik yapısının doğru biçimde ortaya konmasını zorlaştırmaktadır. </a:t>
            </a:r>
            <a:r>
              <a:rPr lang="tr-TR" sz="1400" noProof="0" dirty="0" err="1">
                <a:latin typeface="Arial" panose="020B0604020202020204" pitchFamily="34" charset="0"/>
                <a:cs typeface="Arial" panose="020B0604020202020204" pitchFamily="34" charset="0"/>
              </a:rPr>
              <a:t>Stopword</a:t>
            </a:r>
            <a:r>
              <a:rPr lang="tr-TR" sz="1400" noProof="0" dirty="0">
                <a:latin typeface="Arial" panose="020B0604020202020204" pitchFamily="34" charset="0"/>
                <a:cs typeface="Arial" panose="020B0604020202020204" pitchFamily="34" charset="0"/>
              </a:rPr>
              <a:t> temizliği sonrasında ise frekans dağılımının daha dengeli hâle geldiği ve metnin anlam taşıyan kelimelerinin ön plana çıktığı gözlemlenmektedir.</a:t>
            </a:r>
          </a:p>
          <a:p>
            <a:pPr>
              <a:lnSpc>
                <a:spcPct val="114000"/>
              </a:lnSpc>
              <a:buNone/>
            </a:pPr>
            <a:r>
              <a:rPr lang="tr-TR" sz="1400" noProof="0" dirty="0">
                <a:latin typeface="Arial" panose="020B0604020202020204" pitchFamily="34" charset="0"/>
                <a:cs typeface="Arial" panose="020B0604020202020204" pitchFamily="34" charset="0"/>
              </a:rPr>
              <a:t>      Benzer şekilde, satır uzunlukları açısından da ham veride belirgin bir dengesizlik bulunmaktadır. Çok kısa satırların yüksek oranı, metnin anlatım yapısını temsil etmekte yetersiz kalmakta ve analiz sonuçlarını yanıltabilmektedir. Temizlik sonrasında normal uzunluktaki satırların oranının belirgin biçimde artması, analiz için daha tutarlı ve temsil gücü yüksek bir veri yapısı oluşturulduğunu göstermektedir. Bu nedenle, hem kelime frekanslarının hem de satır uzunluklarının dengelenmesi, metin analizinin doğruluğu ve güvenilirliği açısından zorunludur.</a:t>
            </a:r>
          </a:p>
        </p:txBody>
      </p:sp>
      <p:pic>
        <p:nvPicPr>
          <p:cNvPr id="5" name="Picture 4">
            <a:extLst>
              <a:ext uri="{FF2B5EF4-FFF2-40B4-BE49-F238E27FC236}">
                <a16:creationId xmlns:a16="http://schemas.microsoft.com/office/drawing/2014/main" id="{097C54D6-28AA-9AE6-B12D-20143408D1C1}"/>
              </a:ext>
            </a:extLst>
          </p:cNvPr>
          <p:cNvPicPr>
            <a:picLocks noChangeAspect="1"/>
          </p:cNvPicPr>
          <p:nvPr/>
        </p:nvPicPr>
        <p:blipFill>
          <a:blip r:embed="rId4"/>
          <a:srcRect t="8050" r="55503" b="11095"/>
          <a:stretch>
            <a:fillRect/>
          </a:stretch>
        </p:blipFill>
        <p:spPr>
          <a:xfrm>
            <a:off x="4108379" y="1321388"/>
            <a:ext cx="1599693" cy="1417044"/>
          </a:xfrm>
          <a:prstGeom prst="rect">
            <a:avLst/>
          </a:prstGeom>
        </p:spPr>
      </p:pic>
      <p:sp>
        <p:nvSpPr>
          <p:cNvPr id="7" name="TextBox 6">
            <a:extLst>
              <a:ext uri="{FF2B5EF4-FFF2-40B4-BE49-F238E27FC236}">
                <a16:creationId xmlns:a16="http://schemas.microsoft.com/office/drawing/2014/main" id="{8C84D9F2-5B24-3E24-2061-973C8296BBBA}"/>
              </a:ext>
            </a:extLst>
          </p:cNvPr>
          <p:cNvSpPr txBox="1"/>
          <p:nvPr/>
        </p:nvSpPr>
        <p:spPr>
          <a:xfrm>
            <a:off x="5708072" y="1397875"/>
            <a:ext cx="5334001" cy="1299715"/>
          </a:xfrm>
          <a:prstGeom prst="rect">
            <a:avLst/>
          </a:prstGeom>
          <a:noFill/>
        </p:spPr>
        <p:txBody>
          <a:bodyPr wrap="square">
            <a:spAutoFit/>
          </a:bodyPr>
          <a:lstStyle/>
          <a:p>
            <a:pPr>
              <a:lnSpc>
                <a:spcPct val="114000"/>
              </a:lnSpc>
            </a:pPr>
            <a:r>
              <a:rPr lang="tr-TR" sz="1400" noProof="0" dirty="0">
                <a:latin typeface="Arial" panose="020B0604020202020204" pitchFamily="34" charset="0"/>
                <a:cs typeface="Arial" panose="020B0604020202020204" pitchFamily="34" charset="0"/>
              </a:rPr>
              <a:t>    Kelime frekansları incelendiğinde, ham veride belirli kelimelerin aşırı        baskın olduğu görülmektedir. Özellikle bağlaç ve işlev kelimeleri, içerik açısından sınırlı bilgi taşımalarına rağmen frekans listelerinin üst sıralarında yer almakta ve anlamlı kelimelerin görünürlüğünü azaltmaktadır. </a:t>
            </a:r>
          </a:p>
        </p:txBody>
      </p:sp>
      <p:sp>
        <p:nvSpPr>
          <p:cNvPr id="9" name="TextBox 8">
            <a:extLst>
              <a:ext uri="{FF2B5EF4-FFF2-40B4-BE49-F238E27FC236}">
                <a16:creationId xmlns:a16="http://schemas.microsoft.com/office/drawing/2014/main" id="{73BA576B-AC1B-C397-17F8-E91EF8C5D143}"/>
              </a:ext>
            </a:extLst>
          </p:cNvPr>
          <p:cNvSpPr txBox="1"/>
          <p:nvPr/>
        </p:nvSpPr>
        <p:spPr>
          <a:xfrm>
            <a:off x="0" y="458592"/>
            <a:ext cx="12192000" cy="523220"/>
          </a:xfrm>
          <a:prstGeom prst="rect">
            <a:avLst/>
          </a:prstGeom>
          <a:noFill/>
        </p:spPr>
        <p:txBody>
          <a:bodyPr wrap="square">
            <a:spAutoFit/>
          </a:bodyPr>
          <a:lstStyle/>
          <a:p>
            <a:pPr algn="ctr"/>
            <a:r>
              <a:rPr lang="tr-TR" sz="2800" noProof="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Metin Analizinde Veri Dengesizliği, Temizlik ve Yapısal Denge</a:t>
            </a:r>
          </a:p>
        </p:txBody>
      </p:sp>
      <p:sp>
        <p:nvSpPr>
          <p:cNvPr id="11" name="TextBox 10">
            <a:extLst>
              <a:ext uri="{FF2B5EF4-FFF2-40B4-BE49-F238E27FC236}">
                <a16:creationId xmlns:a16="http://schemas.microsoft.com/office/drawing/2014/main" id="{7E6F4005-3E4D-8341-447E-B8484DE12DB4}"/>
              </a:ext>
            </a:extLst>
          </p:cNvPr>
          <p:cNvSpPr txBox="1"/>
          <p:nvPr/>
        </p:nvSpPr>
        <p:spPr>
          <a:xfrm>
            <a:off x="3943712" y="5196775"/>
            <a:ext cx="7321621" cy="808555"/>
          </a:xfrm>
          <a:prstGeom prst="rect">
            <a:avLst/>
          </a:prstGeom>
          <a:noFill/>
        </p:spPr>
        <p:txBody>
          <a:bodyPr wrap="square">
            <a:spAutoFit/>
          </a:bodyPr>
          <a:lstStyle/>
          <a:p>
            <a:pPr>
              <a:lnSpc>
                <a:spcPct val="114000"/>
              </a:lnSpc>
            </a:pPr>
            <a:r>
              <a:rPr lang="tr-TR" sz="1400" noProof="0" dirty="0">
                <a:latin typeface="Arial" panose="020B0604020202020204" pitchFamily="34" charset="0"/>
                <a:cs typeface="Arial" panose="020B0604020202020204" pitchFamily="34" charset="0"/>
              </a:rPr>
              <a:t>  Bu süreçte </a:t>
            </a:r>
            <a:r>
              <a:rPr lang="tr-TR" sz="1400" noProof="0" dirty="0" err="1">
                <a:latin typeface="Arial" panose="020B0604020202020204" pitchFamily="34" charset="0"/>
                <a:cs typeface="Arial" panose="020B0604020202020204" pitchFamily="34" charset="0"/>
              </a:rPr>
              <a:t>stopword</a:t>
            </a:r>
            <a:r>
              <a:rPr lang="tr-TR" sz="1400" noProof="0" dirty="0">
                <a:latin typeface="Arial" panose="020B0604020202020204" pitchFamily="34" charset="0"/>
                <a:cs typeface="Arial" panose="020B0604020202020204" pitchFamily="34" charset="0"/>
              </a:rPr>
              <a:t> etkisinin azaltılması, aşırı kısa ve uzun satırların elenmesi ve anlam taşıyan kelimelerin korunması esas alınarak temizlenmiş ve dengelenmiş bir veri seti oluşturulmuştur.</a:t>
            </a:r>
          </a:p>
        </p:txBody>
      </p:sp>
    </p:spTree>
    <p:extLst>
      <p:ext uri="{BB962C8B-B14F-4D97-AF65-F5344CB8AC3E}">
        <p14:creationId xmlns:p14="http://schemas.microsoft.com/office/powerpoint/2010/main" val="14446055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2E3E0B67-543C-3997-6C4F-E0A4D0FBAE9F}"/>
              </a:ext>
            </a:extLst>
          </p:cNvPr>
          <p:cNvSpPr txBox="1"/>
          <p:nvPr/>
        </p:nvSpPr>
        <p:spPr>
          <a:xfrm>
            <a:off x="671946" y="1513666"/>
            <a:ext cx="5056909" cy="4742965"/>
          </a:xfrm>
          <a:prstGeom prst="rect">
            <a:avLst/>
          </a:prstGeom>
          <a:noFill/>
        </p:spPr>
        <p:txBody>
          <a:bodyPr wrap="square">
            <a:spAutoFit/>
          </a:bodyPr>
          <a:lstStyle/>
          <a:p>
            <a:pPr>
              <a:lnSpc>
                <a:spcPct val="114000"/>
              </a:lnSpc>
              <a:buNone/>
            </a:pPr>
            <a:r>
              <a:rPr lang="tr-TR" sz="1400" u="sng" noProof="0" dirty="0">
                <a:latin typeface="Arial" panose="020B0604020202020204" pitchFamily="34" charset="0"/>
                <a:cs typeface="Arial" panose="020B0604020202020204" pitchFamily="34" charset="0"/>
              </a:rPr>
              <a:t>Amaç:</a:t>
            </a:r>
          </a:p>
          <a:p>
            <a:pPr>
              <a:lnSpc>
                <a:spcPct val="114000"/>
              </a:lnSpc>
              <a:buNone/>
            </a:pPr>
            <a:r>
              <a:rPr lang="tr-TR" sz="1400" dirty="0">
                <a:latin typeface="Arial" panose="020B0604020202020204" pitchFamily="34" charset="0"/>
                <a:cs typeface="Arial" panose="020B0604020202020204" pitchFamily="34" charset="0"/>
              </a:rPr>
              <a:t>  Bu grafik, temizlenmiş ve dengelenmiş metinde en sık geçen kelimeleri görsel olarak sunmak ve metnin baskın kavramlarını daha kolay yorumlamayı amaçlamaktadır.</a:t>
            </a:r>
            <a:r>
              <a:rPr lang="tr-TR" sz="1400" noProof="0" dirty="0">
                <a:latin typeface="Arial" panose="020B0604020202020204" pitchFamily="34" charset="0"/>
                <a:cs typeface="Arial" panose="020B0604020202020204" pitchFamily="34" charset="0"/>
              </a:rPr>
              <a:t>.</a:t>
            </a:r>
          </a:p>
          <a:p>
            <a:pPr>
              <a:lnSpc>
                <a:spcPct val="114000"/>
              </a:lnSpc>
              <a:buNone/>
            </a:pPr>
            <a:r>
              <a:rPr lang="tr-TR" sz="1400" u="sng" noProof="0" dirty="0">
                <a:latin typeface="Arial" panose="020B0604020202020204" pitchFamily="34" charset="0"/>
                <a:cs typeface="Arial" panose="020B0604020202020204" pitchFamily="34" charset="0"/>
              </a:rPr>
              <a:t>Yöntem:</a:t>
            </a:r>
          </a:p>
          <a:p>
            <a:pPr lvl="0" defTabSz="914400" eaLnBrk="0" fontAlgn="base" hangingPunct="0">
              <a:lnSpc>
                <a:spcPct val="114000"/>
              </a:lnSpc>
              <a:spcBef>
                <a:spcPct val="0"/>
              </a:spcBef>
              <a:spcAft>
                <a:spcPct val="0"/>
              </a:spcAft>
              <a:buFontTx/>
              <a:buChar char="•"/>
            </a:pPr>
            <a:r>
              <a:rPr lang="tr-TR" sz="1400" dirty="0">
                <a:latin typeface="Arial" panose="020B0604020202020204" pitchFamily="34" charset="0"/>
                <a:cs typeface="Arial" panose="020B0604020202020204" pitchFamily="34" charset="0"/>
              </a:rPr>
              <a:t>Kelime frekans tablosu kullanılmıştır.</a:t>
            </a:r>
          </a:p>
          <a:p>
            <a:pPr lvl="0" defTabSz="914400" eaLnBrk="0" fontAlgn="base" hangingPunct="0">
              <a:lnSpc>
                <a:spcPct val="114000"/>
              </a:lnSpc>
              <a:spcBef>
                <a:spcPct val="0"/>
              </a:spcBef>
              <a:spcAft>
                <a:spcPct val="0"/>
              </a:spcAft>
              <a:buFontTx/>
              <a:buChar char="•"/>
            </a:pPr>
            <a:r>
              <a:rPr lang="tr-TR" sz="1400" dirty="0">
                <a:latin typeface="Arial" panose="020B0604020202020204" pitchFamily="34" charset="0"/>
                <a:cs typeface="Arial" panose="020B0604020202020204" pitchFamily="34" charset="0"/>
              </a:rPr>
              <a:t>En yüksek frekansa sahip ilk 10 kelime seçilmiştir.</a:t>
            </a:r>
          </a:p>
          <a:p>
            <a:pPr lvl="0" defTabSz="914400" eaLnBrk="0" fontAlgn="base" hangingPunct="0">
              <a:lnSpc>
                <a:spcPct val="114000"/>
              </a:lnSpc>
              <a:spcBef>
                <a:spcPct val="0"/>
              </a:spcBef>
              <a:spcAft>
                <a:spcPct val="0"/>
              </a:spcAft>
              <a:buFontTx/>
              <a:buChar char="•"/>
            </a:pPr>
            <a:r>
              <a:rPr lang="tr-TR" sz="1400" dirty="0">
                <a:latin typeface="Arial" panose="020B0604020202020204" pitchFamily="34" charset="0"/>
                <a:cs typeface="Arial" panose="020B0604020202020204" pitchFamily="34" charset="0"/>
              </a:rPr>
              <a:t>Bu kelimeler yatay çubuk grafik ile görselleştirilmiştir.</a:t>
            </a:r>
          </a:p>
          <a:p>
            <a:pPr>
              <a:lnSpc>
                <a:spcPct val="114000"/>
              </a:lnSpc>
              <a:buNone/>
            </a:pPr>
            <a:r>
              <a:rPr lang="tr-TR" sz="1400" u="sng" dirty="0">
                <a:latin typeface="Arial" panose="020B0604020202020204" pitchFamily="34" charset="0"/>
                <a:cs typeface="Arial" panose="020B0604020202020204" pitchFamily="34" charset="0"/>
              </a:rPr>
              <a:t>Grafik neyi göstermektedir?</a:t>
            </a:r>
          </a:p>
          <a:p>
            <a:pPr lvl="0" defTabSz="914400" eaLnBrk="0" fontAlgn="base" hangingPunct="0">
              <a:lnSpc>
                <a:spcPct val="114000"/>
              </a:lnSpc>
              <a:spcBef>
                <a:spcPct val="0"/>
              </a:spcBef>
              <a:spcAft>
                <a:spcPct val="0"/>
              </a:spcAft>
              <a:buFontTx/>
              <a:buChar char="•"/>
            </a:pPr>
            <a:r>
              <a:rPr lang="tr-TR" sz="1400" dirty="0">
                <a:latin typeface="Arial" panose="020B0604020202020204" pitchFamily="34" charset="0"/>
                <a:cs typeface="Arial" panose="020B0604020202020204" pitchFamily="34" charset="0"/>
              </a:rPr>
              <a:t>Grafikte, metinde en sık geçen 10 kelimenin frekansları görülmektedir.</a:t>
            </a:r>
          </a:p>
          <a:p>
            <a:pPr lvl="0" defTabSz="914400" eaLnBrk="0" fontAlgn="base" hangingPunct="0">
              <a:lnSpc>
                <a:spcPct val="114000"/>
              </a:lnSpc>
              <a:spcBef>
                <a:spcPct val="0"/>
              </a:spcBef>
              <a:spcAft>
                <a:spcPct val="0"/>
              </a:spcAft>
              <a:buFontTx/>
              <a:buChar char="•"/>
            </a:pPr>
            <a:r>
              <a:rPr lang="tr-TR" sz="1400" dirty="0">
                <a:latin typeface="Arial" panose="020B0604020202020204" pitchFamily="34" charset="0"/>
                <a:cs typeface="Arial" panose="020B0604020202020204" pitchFamily="34" charset="0"/>
              </a:rPr>
              <a:t>Çubuk uzunlukları, kelimeler arasındaki frekans farklarını açık biçimde göstermektedir.</a:t>
            </a:r>
          </a:p>
          <a:p>
            <a:pPr lvl="0" defTabSz="914400" eaLnBrk="0" fontAlgn="base" hangingPunct="0">
              <a:lnSpc>
                <a:spcPct val="114000"/>
              </a:lnSpc>
              <a:spcBef>
                <a:spcPct val="0"/>
              </a:spcBef>
              <a:spcAft>
                <a:spcPct val="0"/>
              </a:spcAft>
              <a:buFontTx/>
              <a:buChar char="•"/>
            </a:pPr>
            <a:r>
              <a:rPr lang="tr-TR" sz="1400" dirty="0">
                <a:latin typeface="Arial" panose="020B0604020202020204" pitchFamily="34" charset="0"/>
                <a:cs typeface="Arial" panose="020B0604020202020204" pitchFamily="34" charset="0"/>
              </a:rPr>
              <a:t>Temizleme ve dengeleme sonrası anlamlı kelimelerin öne çıktığı gözlemlenmektedir.</a:t>
            </a:r>
          </a:p>
          <a:p>
            <a:pPr>
              <a:lnSpc>
                <a:spcPct val="114000"/>
              </a:lnSpc>
              <a:buNone/>
            </a:pPr>
            <a:r>
              <a:rPr lang="tr-TR" sz="1400" u="sng" noProof="0" dirty="0">
                <a:latin typeface="Arial" panose="020B0604020202020204" pitchFamily="34" charset="0"/>
                <a:cs typeface="Arial" panose="020B0604020202020204" pitchFamily="34" charset="0"/>
              </a:rPr>
              <a:t>Sonuç:</a:t>
            </a:r>
          </a:p>
          <a:p>
            <a:pPr>
              <a:lnSpc>
                <a:spcPct val="114000"/>
              </a:lnSpc>
              <a:buNone/>
            </a:pPr>
            <a:r>
              <a:rPr lang="tr-TR" sz="1400" dirty="0">
                <a:latin typeface="Arial" panose="020B0604020202020204" pitchFamily="34" charset="0"/>
                <a:cs typeface="Arial" panose="020B0604020202020204" pitchFamily="34" charset="0"/>
              </a:rPr>
              <a:t>  Oluşturulan grafik, metinde öne çıkan kelimeleri ve bunların göreli önemini görsel olarak ortaya koyarak frekans analizinin yorumlanmasını kolaylaştırmaktadır</a:t>
            </a:r>
            <a:r>
              <a:rPr lang="en-US" sz="1400" dirty="0"/>
              <a:t>.</a:t>
            </a:r>
            <a:endParaRPr lang="tr-TR" sz="1400" noProof="0" dirty="0">
              <a:latin typeface="Arial" panose="020B0604020202020204" pitchFamily="34" charset="0"/>
              <a:cs typeface="Arial" panose="020B0604020202020204" pitchFamily="34" charset="0"/>
            </a:endParaRPr>
          </a:p>
        </p:txBody>
      </p:sp>
      <p:pic>
        <p:nvPicPr>
          <p:cNvPr id="13" name="Picture 12">
            <a:extLst>
              <a:ext uri="{FF2B5EF4-FFF2-40B4-BE49-F238E27FC236}">
                <a16:creationId xmlns:a16="http://schemas.microsoft.com/office/drawing/2014/main" id="{FA33E2E7-B0AE-FD81-22EB-2DE7BB96FC99}"/>
              </a:ext>
            </a:extLst>
          </p:cNvPr>
          <p:cNvPicPr>
            <a:picLocks noChangeAspect="1"/>
          </p:cNvPicPr>
          <p:nvPr/>
        </p:nvPicPr>
        <p:blipFill>
          <a:blip r:embed="rId2"/>
          <a:stretch>
            <a:fillRect/>
          </a:stretch>
        </p:blipFill>
        <p:spPr>
          <a:xfrm>
            <a:off x="5479472" y="1755264"/>
            <a:ext cx="6560127" cy="4056717"/>
          </a:xfrm>
          <a:prstGeom prst="rect">
            <a:avLst/>
          </a:prstGeom>
        </p:spPr>
      </p:pic>
      <p:sp>
        <p:nvSpPr>
          <p:cNvPr id="15" name="TextBox 14">
            <a:extLst>
              <a:ext uri="{FF2B5EF4-FFF2-40B4-BE49-F238E27FC236}">
                <a16:creationId xmlns:a16="http://schemas.microsoft.com/office/drawing/2014/main" id="{D5C80A74-19C2-2F4E-105F-0CC75237028F}"/>
              </a:ext>
            </a:extLst>
          </p:cNvPr>
          <p:cNvSpPr txBox="1"/>
          <p:nvPr/>
        </p:nvSpPr>
        <p:spPr>
          <a:xfrm>
            <a:off x="-6928" y="760697"/>
            <a:ext cx="12192000" cy="523220"/>
          </a:xfrm>
          <a:prstGeom prst="rect">
            <a:avLst/>
          </a:prstGeom>
          <a:noFill/>
        </p:spPr>
        <p:txBody>
          <a:bodyPr wrap="square">
            <a:spAutoFit/>
          </a:bodyPr>
          <a:lstStyle/>
          <a:p>
            <a:pPr algn="ctr"/>
            <a:r>
              <a:rPr lang="tr-TR" sz="2800" noProof="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Dengelenmiş Veri Setine Göre Kelime Frekanslarının Grafikte Gösterimi</a:t>
            </a:r>
          </a:p>
        </p:txBody>
      </p:sp>
    </p:spTree>
    <p:extLst>
      <p:ext uri="{BB962C8B-B14F-4D97-AF65-F5344CB8AC3E}">
        <p14:creationId xmlns:p14="http://schemas.microsoft.com/office/powerpoint/2010/main" val="17075242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29772A7-9271-1C92-92EA-C2858F91361B}"/>
              </a:ext>
            </a:extLst>
          </p:cNvPr>
          <p:cNvPicPr>
            <a:picLocks noChangeAspect="1"/>
          </p:cNvPicPr>
          <p:nvPr/>
        </p:nvPicPr>
        <p:blipFill>
          <a:blip r:embed="rId2"/>
          <a:srcRect t="3776" r="4706" b="2687"/>
          <a:stretch>
            <a:fillRect/>
          </a:stretch>
        </p:blipFill>
        <p:spPr>
          <a:xfrm>
            <a:off x="4675909" y="1330036"/>
            <a:ext cx="7322127" cy="4419600"/>
          </a:xfrm>
          <a:prstGeom prst="rect">
            <a:avLst/>
          </a:prstGeom>
        </p:spPr>
      </p:pic>
      <p:sp>
        <p:nvSpPr>
          <p:cNvPr id="5" name="TextBox 4">
            <a:extLst>
              <a:ext uri="{FF2B5EF4-FFF2-40B4-BE49-F238E27FC236}">
                <a16:creationId xmlns:a16="http://schemas.microsoft.com/office/drawing/2014/main" id="{0B9A1858-BBE8-8A05-4B9F-56772B8C566F}"/>
              </a:ext>
            </a:extLst>
          </p:cNvPr>
          <p:cNvSpPr txBox="1"/>
          <p:nvPr/>
        </p:nvSpPr>
        <p:spPr>
          <a:xfrm>
            <a:off x="491836" y="1330036"/>
            <a:ext cx="4239492" cy="4246675"/>
          </a:xfrm>
          <a:prstGeom prst="rect">
            <a:avLst/>
          </a:prstGeom>
          <a:noFill/>
        </p:spPr>
        <p:txBody>
          <a:bodyPr wrap="square">
            <a:spAutoFit/>
          </a:bodyPr>
          <a:lstStyle/>
          <a:p>
            <a:pPr>
              <a:lnSpc>
                <a:spcPct val="114000"/>
              </a:lnSpc>
              <a:buNone/>
            </a:pPr>
            <a:r>
              <a:rPr lang="tr-TR" sz="1400" noProof="0" dirty="0">
                <a:latin typeface="Arial" panose="020B0604020202020204" pitchFamily="34" charset="0"/>
                <a:cs typeface="Arial" panose="020B0604020202020204" pitchFamily="34" charset="0"/>
              </a:rPr>
              <a:t>   Bu grafik, veri setimize </a:t>
            </a:r>
            <a:r>
              <a:rPr lang="tr-TR" sz="1400" noProof="0" dirty="0" err="1">
                <a:latin typeface="Arial" panose="020B0604020202020204" pitchFamily="34" charset="0"/>
                <a:cs typeface="Arial" panose="020B0604020202020204" pitchFamily="34" charset="0"/>
              </a:rPr>
              <a:t>stopword</a:t>
            </a:r>
            <a:r>
              <a:rPr lang="tr-TR" sz="1400" noProof="0" dirty="0">
                <a:latin typeface="Arial" panose="020B0604020202020204" pitchFamily="34" charset="0"/>
                <a:cs typeface="Arial" panose="020B0604020202020204" pitchFamily="34" charset="0"/>
              </a:rPr>
              <a:t> temizliği ve dengeleme uygulandıktan sonra en sık geçen </a:t>
            </a:r>
            <a:r>
              <a:rPr lang="tr-TR" sz="1400" noProof="0" dirty="0" err="1">
                <a:latin typeface="Arial" panose="020B0604020202020204" pitchFamily="34" charset="0"/>
                <a:cs typeface="Arial" panose="020B0604020202020204" pitchFamily="34" charset="0"/>
              </a:rPr>
              <a:t>bigramları</a:t>
            </a:r>
            <a:r>
              <a:rPr lang="tr-TR" sz="1400" noProof="0" dirty="0">
                <a:latin typeface="Arial" panose="020B0604020202020204" pitchFamily="34" charset="0"/>
                <a:cs typeface="Arial" panose="020B0604020202020204" pitchFamily="34" charset="0"/>
              </a:rPr>
              <a:t> (iki kelimelik kalıpları) göstermektedir. Sonuçlar, tek tek kelimelerden ziyade metinde tekrar eden ifade kalıplarının öne çıktığını ortaya koymaktadır.</a:t>
            </a:r>
          </a:p>
          <a:p>
            <a:pPr>
              <a:lnSpc>
                <a:spcPct val="114000"/>
              </a:lnSpc>
              <a:buNone/>
            </a:pPr>
            <a:r>
              <a:rPr lang="tr-TR" sz="1400" noProof="0" dirty="0">
                <a:latin typeface="Arial" panose="020B0604020202020204" pitchFamily="34" charset="0"/>
                <a:cs typeface="Arial" panose="020B0604020202020204" pitchFamily="34" charset="0"/>
              </a:rPr>
              <a:t>   Özellikle “Büyük Millet”, “Millet Meclisi”, “Rauf Bey”, “Kâzım Karabekir” gibi </a:t>
            </a:r>
            <a:r>
              <a:rPr lang="tr-TR" sz="1400" noProof="0" dirty="0" err="1">
                <a:latin typeface="Arial" panose="020B0604020202020204" pitchFamily="34" charset="0"/>
                <a:cs typeface="Arial" panose="020B0604020202020204" pitchFamily="34" charset="0"/>
              </a:rPr>
              <a:t>bigramlar</a:t>
            </a:r>
            <a:r>
              <a:rPr lang="tr-TR" sz="1400" noProof="0" dirty="0">
                <a:latin typeface="Arial" panose="020B0604020202020204" pitchFamily="34" charset="0"/>
                <a:cs typeface="Arial" panose="020B0604020202020204" pitchFamily="34" charset="0"/>
              </a:rPr>
              <a:t>, metnin tarihsel ve siyasal bağlamının güçlü biçimde korunduğunu göstermektedir. Bunun yanında “büyük bir”, “söz konusu”, “başka bir” gibi yapılar, anlatımın açıklayıcı ve gerekçelendirmeye dayalı bir dil kullandığını işaret etmektedir.</a:t>
            </a:r>
          </a:p>
          <a:p>
            <a:pPr>
              <a:lnSpc>
                <a:spcPct val="114000"/>
              </a:lnSpc>
              <a:buNone/>
            </a:pPr>
            <a:r>
              <a:rPr lang="tr-TR" sz="1400" noProof="0" dirty="0">
                <a:latin typeface="Arial" panose="020B0604020202020204" pitchFamily="34" charset="0"/>
                <a:cs typeface="Arial" panose="020B0604020202020204" pitchFamily="34" charset="0"/>
              </a:rPr>
              <a:t>   Genel olarak </a:t>
            </a:r>
            <a:r>
              <a:rPr lang="tr-TR" sz="1400" noProof="0" dirty="0" err="1">
                <a:latin typeface="Arial" panose="020B0604020202020204" pitchFamily="34" charset="0"/>
                <a:cs typeface="Arial" panose="020B0604020202020204" pitchFamily="34" charset="0"/>
              </a:rPr>
              <a:t>bigram</a:t>
            </a:r>
            <a:r>
              <a:rPr lang="tr-TR" sz="1400" noProof="0" dirty="0">
                <a:latin typeface="Arial" panose="020B0604020202020204" pitchFamily="34" charset="0"/>
                <a:cs typeface="Arial" panose="020B0604020202020204" pitchFamily="34" charset="0"/>
              </a:rPr>
              <a:t> analizi, veri setimizin yalnızca kelime düzeyinde değil, söylem ve bağlam düzeyinde de tutarlı ve tematik bir yapı sergilediğini göstermektedir.</a:t>
            </a:r>
          </a:p>
        </p:txBody>
      </p:sp>
      <p:sp>
        <p:nvSpPr>
          <p:cNvPr id="7" name="TextBox 6">
            <a:extLst>
              <a:ext uri="{FF2B5EF4-FFF2-40B4-BE49-F238E27FC236}">
                <a16:creationId xmlns:a16="http://schemas.microsoft.com/office/drawing/2014/main" id="{CAF73E76-A27E-8822-928F-B9D035971FAF}"/>
              </a:ext>
            </a:extLst>
          </p:cNvPr>
          <p:cNvSpPr txBox="1"/>
          <p:nvPr/>
        </p:nvSpPr>
        <p:spPr>
          <a:xfrm>
            <a:off x="0" y="482916"/>
            <a:ext cx="12192000" cy="523220"/>
          </a:xfrm>
          <a:prstGeom prst="rect">
            <a:avLst/>
          </a:prstGeom>
          <a:noFill/>
        </p:spPr>
        <p:txBody>
          <a:bodyPr wrap="square">
            <a:spAutoFit/>
          </a:bodyPr>
          <a:lstStyle/>
          <a:p>
            <a:pPr algn="ctr"/>
            <a:r>
              <a:rPr lang="tr-TR" sz="2800" noProof="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İki Kelimelik Kalıpların (</a:t>
            </a:r>
            <a:r>
              <a:rPr lang="tr-TR" sz="2800" noProof="0" dirty="0" err="1">
                <a:effectLst>
                  <a:outerShdw blurRad="38100" dist="38100" dir="2700000" algn="tl">
                    <a:srgbClr val="000000">
                      <a:alpha val="43137"/>
                    </a:srgbClr>
                  </a:outerShdw>
                </a:effectLst>
                <a:latin typeface="Arial" panose="020B0604020202020204" pitchFamily="34" charset="0"/>
                <a:cs typeface="Arial" panose="020B0604020202020204" pitchFamily="34" charset="0"/>
              </a:rPr>
              <a:t>Bigram</a:t>
            </a:r>
            <a:r>
              <a:rPr lang="tr-TR" sz="2800" noProof="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Frekans Analizi</a:t>
            </a:r>
          </a:p>
        </p:txBody>
      </p:sp>
    </p:spTree>
    <p:extLst>
      <p:ext uri="{BB962C8B-B14F-4D97-AF65-F5344CB8AC3E}">
        <p14:creationId xmlns:p14="http://schemas.microsoft.com/office/powerpoint/2010/main" val="35867533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21D2FDC-1035-F731-F6FB-3A8974E0BBF3}"/>
              </a:ext>
            </a:extLst>
          </p:cNvPr>
          <p:cNvPicPr>
            <a:picLocks noChangeAspect="1"/>
          </p:cNvPicPr>
          <p:nvPr/>
        </p:nvPicPr>
        <p:blipFill>
          <a:blip r:embed="rId2"/>
          <a:srcRect l="5517" t="1654" r="8965"/>
          <a:stretch>
            <a:fillRect/>
          </a:stretch>
        </p:blipFill>
        <p:spPr>
          <a:xfrm>
            <a:off x="5689798" y="1609180"/>
            <a:ext cx="2576945" cy="3536982"/>
          </a:xfrm>
          <a:prstGeom prst="rect">
            <a:avLst/>
          </a:prstGeom>
        </p:spPr>
      </p:pic>
      <p:pic>
        <p:nvPicPr>
          <p:cNvPr id="5" name="Picture 4">
            <a:extLst>
              <a:ext uri="{FF2B5EF4-FFF2-40B4-BE49-F238E27FC236}">
                <a16:creationId xmlns:a16="http://schemas.microsoft.com/office/drawing/2014/main" id="{8FCA6426-E59F-FF42-28BE-A95257A77A1A}"/>
              </a:ext>
            </a:extLst>
          </p:cNvPr>
          <p:cNvPicPr>
            <a:picLocks noChangeAspect="1"/>
          </p:cNvPicPr>
          <p:nvPr/>
        </p:nvPicPr>
        <p:blipFill>
          <a:blip r:embed="rId3"/>
          <a:srcRect r="4959"/>
          <a:stretch>
            <a:fillRect/>
          </a:stretch>
        </p:blipFill>
        <p:spPr>
          <a:xfrm>
            <a:off x="7989652" y="2244369"/>
            <a:ext cx="3668948" cy="3477490"/>
          </a:xfrm>
          <a:prstGeom prst="rect">
            <a:avLst/>
          </a:prstGeom>
        </p:spPr>
      </p:pic>
      <p:sp>
        <p:nvSpPr>
          <p:cNvPr id="7" name="Rectangle 1">
            <a:extLst>
              <a:ext uri="{FF2B5EF4-FFF2-40B4-BE49-F238E27FC236}">
                <a16:creationId xmlns:a16="http://schemas.microsoft.com/office/drawing/2014/main" id="{D1000806-99B2-6224-1F72-F4978FB48687}"/>
              </a:ext>
            </a:extLst>
          </p:cNvPr>
          <p:cNvSpPr>
            <a:spLocks noChangeArrowheads="1"/>
          </p:cNvSpPr>
          <p:nvPr/>
        </p:nvSpPr>
        <p:spPr bwMode="auto">
          <a:xfrm>
            <a:off x="1052945" y="1587598"/>
            <a:ext cx="4572000" cy="3580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i="0" u="none" strike="noStrike" cap="none" normalizeH="0" baseline="0" noProof="0" dirty="0">
                <a:ln>
                  <a:noFill/>
                </a:ln>
                <a:solidFill>
                  <a:schemeClr val="tx1"/>
                </a:solidFill>
                <a:effectLst/>
                <a:latin typeface="Arial" panose="020B0604020202020204" pitchFamily="34" charset="0"/>
              </a:rPr>
              <a:t>Temizlenmiş ve dengelenmiş veri setinde satır uzunlukları belirli bir aralıkta toplanmıştır.</a:t>
            </a:r>
          </a:p>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i="0" u="none" strike="noStrike" cap="none" normalizeH="0" baseline="0" noProof="0" dirty="0">
                <a:ln>
                  <a:noFill/>
                </a:ln>
                <a:solidFill>
                  <a:schemeClr val="tx1"/>
                </a:solidFill>
                <a:effectLst/>
                <a:latin typeface="Arial" panose="020B0604020202020204" pitchFamily="34" charset="0"/>
              </a:rPr>
              <a:t>Satırların büyük bölümü 38–45 karakter aralığındadır.</a:t>
            </a:r>
          </a:p>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i="0" u="none" strike="noStrike" cap="none" normalizeH="0" baseline="0" noProof="0" dirty="0">
                <a:ln>
                  <a:noFill/>
                </a:ln>
                <a:solidFill>
                  <a:schemeClr val="tx1"/>
                </a:solidFill>
                <a:effectLst/>
                <a:latin typeface="Arial" panose="020B0604020202020204" pitchFamily="34" charset="0"/>
              </a:rPr>
              <a:t>Medyan değerin 41–42 karakter civarında olması dağılımın dengeli olduğunu göstermektedir.</a:t>
            </a:r>
          </a:p>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i="0" u="none" strike="noStrike" cap="none" normalizeH="0" baseline="0" noProof="0" dirty="0">
                <a:ln>
                  <a:noFill/>
                </a:ln>
                <a:solidFill>
                  <a:schemeClr val="tx1"/>
                </a:solidFill>
                <a:effectLst/>
                <a:latin typeface="Arial" panose="020B0604020202020204" pitchFamily="34" charset="0"/>
              </a:rPr>
              <a:t>Aşırı kısa ve aşırı uzun satırların etkisi azaltılmıştır.</a:t>
            </a:r>
          </a:p>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i="0" u="none" strike="noStrike" cap="none" normalizeH="0" baseline="0" noProof="0" dirty="0">
                <a:ln>
                  <a:noFill/>
                </a:ln>
                <a:solidFill>
                  <a:schemeClr val="tx1"/>
                </a:solidFill>
                <a:effectLst/>
                <a:latin typeface="Arial" panose="020B0604020202020204" pitchFamily="34" charset="0"/>
              </a:rPr>
              <a:t>Bu yapı, metin analizi ve büyük veri tabanlı makine öğrenmesi uygulamaları için uygun bir veri seti oluşturmaktadır</a:t>
            </a:r>
            <a:r>
              <a:rPr kumimoji="0" lang="en-US" altLang="en-US" sz="1800" b="0" i="0" u="none" strike="noStrike" cap="none" normalizeH="0" baseline="0" dirty="0">
                <a:ln>
                  <a:noFill/>
                </a:ln>
                <a:solidFill>
                  <a:schemeClr val="tx1"/>
                </a:solidFill>
                <a:effectLst/>
                <a:latin typeface="Arial" panose="020B0604020202020204" pitchFamily="34" charset="0"/>
              </a:rPr>
              <a:t>.</a:t>
            </a:r>
            <a:endParaRPr kumimoji="0" lang="tr-TR" altLang="en-US" sz="1800" b="0" i="0" u="none" strike="noStrike" cap="none" normalizeH="0" baseline="0" dirty="0">
              <a:ln>
                <a:noFill/>
              </a:ln>
              <a:solidFill>
                <a:schemeClr val="tx1"/>
              </a:solidFill>
              <a:effectLst/>
              <a:latin typeface="Arial" panose="020B0604020202020204" pitchFamily="34" charset="0"/>
            </a:endParaRPr>
          </a:p>
          <a:p>
            <a:pPr lvl="0" defTabSz="914400" eaLnBrk="0" fontAlgn="base" hangingPunct="0">
              <a:lnSpc>
                <a:spcPct val="114000"/>
              </a:lnSpc>
              <a:spcBef>
                <a:spcPct val="0"/>
              </a:spcBef>
              <a:spcAft>
                <a:spcPct val="0"/>
              </a:spcAft>
              <a:buFontTx/>
              <a:buChar char="•"/>
            </a:pPr>
            <a:r>
              <a:rPr lang="tr-TR" sz="1400" noProof="0" dirty="0">
                <a:latin typeface="Arial" panose="020B0604020202020204" pitchFamily="34" charset="0"/>
                <a:cs typeface="Arial" panose="020B0604020202020204" pitchFamily="34" charset="0"/>
              </a:rPr>
              <a:t>Bu karşılaştırma, uygulanan veri temizleme ve dengeleme adımlarının metnin yapısal özelliklerini daha homojen hâle getirdiğini ve sonraki metin analizi ile makine öğrenmesi uygulamaları için uygun bir girdi yapısı sağladığını ortaya koymaktadır.</a:t>
            </a:r>
            <a:endParaRPr kumimoji="0" lang="tr-TR" sz="1400" i="0" u="none" strike="noStrike" cap="none" normalizeH="0" baseline="0" noProof="0" dirty="0">
              <a:ln>
                <a:noFill/>
              </a:ln>
              <a:solidFill>
                <a:schemeClr val="tx1"/>
              </a:solidFill>
              <a:effectLst/>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8DF7AFBE-F06B-E1CD-E2D9-A36FB3A559AA}"/>
              </a:ext>
            </a:extLst>
          </p:cNvPr>
          <p:cNvSpPr txBox="1"/>
          <p:nvPr/>
        </p:nvSpPr>
        <p:spPr>
          <a:xfrm>
            <a:off x="0" y="748214"/>
            <a:ext cx="12192000" cy="523220"/>
          </a:xfrm>
          <a:prstGeom prst="rect">
            <a:avLst/>
          </a:prstGeom>
          <a:noFill/>
        </p:spPr>
        <p:txBody>
          <a:bodyPr wrap="square">
            <a:spAutoFit/>
          </a:bodyPr>
          <a:lstStyle/>
          <a:p>
            <a:pPr algn="ctr"/>
            <a:r>
              <a:rPr lang="tr-TR" sz="2800" noProof="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Satır Uzunluğu Dağılımı Karşılaştırması</a:t>
            </a:r>
          </a:p>
        </p:txBody>
      </p:sp>
    </p:spTree>
    <p:extLst>
      <p:ext uri="{BB962C8B-B14F-4D97-AF65-F5344CB8AC3E}">
        <p14:creationId xmlns:p14="http://schemas.microsoft.com/office/powerpoint/2010/main" val="28535745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3A91DB9-96BB-E5E2-514C-BFCBB4423439}"/>
              </a:ext>
            </a:extLst>
          </p:cNvPr>
          <p:cNvSpPr txBox="1"/>
          <p:nvPr/>
        </p:nvSpPr>
        <p:spPr>
          <a:xfrm>
            <a:off x="731544" y="1387467"/>
            <a:ext cx="6770692" cy="5246629"/>
          </a:xfrm>
          <a:prstGeom prst="rect">
            <a:avLst/>
          </a:prstGeom>
          <a:noFill/>
        </p:spPr>
        <p:txBody>
          <a:bodyPr wrap="square">
            <a:spAutoFit/>
          </a:bodyPr>
          <a:lstStyle/>
          <a:p>
            <a:pPr>
              <a:lnSpc>
                <a:spcPct val="114000"/>
              </a:lnSpc>
            </a:pPr>
            <a:r>
              <a:rPr lang="tr-TR" sz="1400" u="sng" noProof="0" dirty="0">
                <a:latin typeface="Arial" panose="020B0604020202020204" pitchFamily="34" charset="0"/>
                <a:cs typeface="Arial" panose="020B0604020202020204" pitchFamily="34" charset="0"/>
              </a:rPr>
              <a:t>Amaç:</a:t>
            </a:r>
            <a:br>
              <a:rPr lang="tr-TR" sz="1400" noProof="0" dirty="0">
                <a:latin typeface="Arial" panose="020B0604020202020204" pitchFamily="34" charset="0"/>
                <a:cs typeface="Arial" panose="020B0604020202020204" pitchFamily="34" charset="0"/>
              </a:rPr>
            </a:br>
            <a:r>
              <a:rPr lang="tr-TR" sz="1400" noProof="0" dirty="0">
                <a:latin typeface="Arial" panose="020B0604020202020204" pitchFamily="34" charset="0"/>
                <a:cs typeface="Arial" panose="020B0604020202020204" pitchFamily="34" charset="0"/>
              </a:rPr>
              <a:t>• Bu bölümde, yalnızca sık geçen kelimeler değil; metni diğer metinlerden ayırt eden ve ayırt ediciliği yüksek kelimelerin belirlenmesi amaçlanmaktadır.</a:t>
            </a:r>
            <a:br>
              <a:rPr lang="tr-TR" sz="1400" noProof="0" dirty="0">
                <a:latin typeface="Arial" panose="020B0604020202020204" pitchFamily="34" charset="0"/>
                <a:cs typeface="Arial" panose="020B0604020202020204" pitchFamily="34" charset="0"/>
              </a:rPr>
            </a:br>
            <a:r>
              <a:rPr lang="tr-TR" sz="1400" noProof="0" dirty="0">
                <a:latin typeface="Arial" panose="020B0604020202020204" pitchFamily="34" charset="0"/>
                <a:cs typeface="Arial" panose="020B0604020202020204" pitchFamily="34" charset="0"/>
              </a:rPr>
              <a:t>• TF-IDF yöntemi, kelimelerin hem metin içindeki kullanım sıklığını (TF) hem de tüm metinler arasındaki dağılımını (IDF) dikkate alarak daha anlamlı bir ağırlıklandırma sunar.</a:t>
            </a:r>
          </a:p>
          <a:p>
            <a:pPr>
              <a:lnSpc>
                <a:spcPct val="114000"/>
              </a:lnSpc>
            </a:pPr>
            <a:r>
              <a:rPr lang="tr-TR" sz="1400" u="sng" noProof="0" dirty="0">
                <a:latin typeface="Arial" panose="020B0604020202020204" pitchFamily="34" charset="0"/>
                <a:cs typeface="Arial" panose="020B0604020202020204" pitchFamily="34" charset="0"/>
              </a:rPr>
              <a:t>Yöntem:</a:t>
            </a:r>
            <a:br>
              <a:rPr lang="tr-TR" sz="1400" noProof="0" dirty="0">
                <a:latin typeface="Arial" panose="020B0604020202020204" pitchFamily="34" charset="0"/>
                <a:cs typeface="Arial" panose="020B0604020202020204" pitchFamily="34" charset="0"/>
              </a:rPr>
            </a:br>
            <a:r>
              <a:rPr lang="tr-TR" sz="1400" noProof="0" dirty="0">
                <a:latin typeface="Arial" panose="020B0604020202020204" pitchFamily="34" charset="0"/>
                <a:cs typeface="Arial" panose="020B0604020202020204" pitchFamily="34" charset="0"/>
              </a:rPr>
              <a:t>• Temizlenmiş metinler (</a:t>
            </a:r>
            <a:r>
              <a:rPr lang="tr-TR" sz="1400" noProof="0" dirty="0" err="1">
                <a:latin typeface="Arial" panose="020B0604020202020204" pitchFamily="34" charset="0"/>
                <a:cs typeface="Arial" panose="020B0604020202020204" pitchFamily="34" charset="0"/>
              </a:rPr>
              <a:t>clean_text</a:t>
            </a:r>
            <a:r>
              <a:rPr lang="tr-TR" sz="1400" noProof="0" dirty="0">
                <a:latin typeface="Arial" panose="020B0604020202020204" pitchFamily="34" charset="0"/>
                <a:cs typeface="Arial" panose="020B0604020202020204" pitchFamily="34" charset="0"/>
              </a:rPr>
              <a:t>) kullanılmıştır.</a:t>
            </a:r>
            <a:br>
              <a:rPr lang="tr-TR" sz="1400" noProof="0" dirty="0">
                <a:latin typeface="Arial" panose="020B0604020202020204" pitchFamily="34" charset="0"/>
                <a:cs typeface="Arial" panose="020B0604020202020204" pitchFamily="34" charset="0"/>
              </a:rPr>
            </a:br>
            <a:r>
              <a:rPr lang="tr-TR" sz="1400" noProof="0" dirty="0">
                <a:latin typeface="Arial" panose="020B0604020202020204" pitchFamily="34" charset="0"/>
                <a:cs typeface="Arial" panose="020B0604020202020204" pitchFamily="34" charset="0"/>
              </a:rPr>
              <a:t>• Metinler yeniden kelimelere ayrılmıştır.</a:t>
            </a:r>
            <a:br>
              <a:rPr lang="tr-TR" sz="1400" noProof="0" dirty="0">
                <a:latin typeface="Arial" panose="020B0604020202020204" pitchFamily="34" charset="0"/>
                <a:cs typeface="Arial" panose="020B0604020202020204" pitchFamily="34" charset="0"/>
              </a:rPr>
            </a:br>
            <a:r>
              <a:rPr lang="tr-TR" sz="1400" noProof="0" dirty="0">
                <a:latin typeface="Arial" panose="020B0604020202020204" pitchFamily="34" charset="0"/>
                <a:cs typeface="Arial" panose="020B0604020202020204" pitchFamily="34" charset="0"/>
              </a:rPr>
              <a:t>• </a:t>
            </a:r>
            <a:r>
              <a:rPr lang="tr-TR" sz="1400" noProof="0" dirty="0" err="1">
                <a:latin typeface="Arial" panose="020B0604020202020204" pitchFamily="34" charset="0"/>
                <a:cs typeface="Arial" panose="020B0604020202020204" pitchFamily="34" charset="0"/>
              </a:rPr>
              <a:t>CountVectorizer</a:t>
            </a:r>
            <a:r>
              <a:rPr lang="tr-TR" sz="1400" noProof="0" dirty="0">
                <a:latin typeface="Arial" panose="020B0604020202020204" pitchFamily="34" charset="0"/>
                <a:cs typeface="Arial" panose="020B0604020202020204" pitchFamily="34" charset="0"/>
              </a:rPr>
              <a:t> ile kelime frekans vektörleri (TF) oluşturulmuştur.</a:t>
            </a:r>
            <a:br>
              <a:rPr lang="tr-TR" sz="1400" noProof="0" dirty="0">
                <a:latin typeface="Arial" panose="020B0604020202020204" pitchFamily="34" charset="0"/>
                <a:cs typeface="Arial" panose="020B0604020202020204" pitchFamily="34" charset="0"/>
              </a:rPr>
            </a:br>
            <a:r>
              <a:rPr lang="tr-TR" sz="1400" noProof="0" dirty="0">
                <a:latin typeface="Arial" panose="020B0604020202020204" pitchFamily="34" charset="0"/>
                <a:cs typeface="Arial" panose="020B0604020202020204" pitchFamily="34" charset="0"/>
              </a:rPr>
              <a:t>• IDF modeli uygulanarak TF-IDF ağırlıkları hesaplanmıştır.</a:t>
            </a:r>
          </a:p>
          <a:p>
            <a:pPr>
              <a:lnSpc>
                <a:spcPct val="114000"/>
              </a:lnSpc>
            </a:pPr>
            <a:r>
              <a:rPr lang="tr-TR" sz="1400" u="sng" noProof="0" dirty="0">
                <a:latin typeface="Arial" panose="020B0604020202020204" pitchFamily="34" charset="0"/>
                <a:cs typeface="Arial" panose="020B0604020202020204" pitchFamily="34" charset="0"/>
              </a:rPr>
              <a:t>Çıktının Anlamı:</a:t>
            </a:r>
            <a:br>
              <a:rPr lang="tr-TR" sz="1400" noProof="0" dirty="0">
                <a:latin typeface="Arial" panose="020B0604020202020204" pitchFamily="34" charset="0"/>
                <a:cs typeface="Arial" panose="020B0604020202020204" pitchFamily="34" charset="0"/>
              </a:rPr>
            </a:br>
            <a:r>
              <a:rPr lang="en-US" dirty="0">
                <a:latin typeface="system-ui"/>
              </a:rPr>
              <a:t>• </a:t>
            </a:r>
            <a:r>
              <a:rPr lang="tr-TR" sz="1400" noProof="0" dirty="0">
                <a:latin typeface="Arial" panose="020B0604020202020204" pitchFamily="34" charset="0"/>
                <a:cs typeface="Arial" panose="020B0604020202020204" pitchFamily="34" charset="0"/>
              </a:rPr>
              <a:t>TF-IDF frekansı sütunu, her kelimenin TF-IDF yöntemiyle yapılan sayısal hesaplama sonucunda elde edilen ağırlık değerini göstermektedir.</a:t>
            </a:r>
          </a:p>
          <a:p>
            <a:pPr>
              <a:lnSpc>
                <a:spcPct val="114000"/>
              </a:lnSpc>
            </a:pPr>
            <a:r>
              <a:rPr lang="tr-TR" sz="1400" noProof="0" dirty="0">
                <a:latin typeface="Arial" panose="020B0604020202020204" pitchFamily="34" charset="0"/>
                <a:cs typeface="Arial" panose="020B0604020202020204" pitchFamily="34" charset="0"/>
              </a:rPr>
              <a:t>• Sıfırdan büyük ve yüksek TF-IDF değerine sahip kelimeler, metni diğer metinlerden ayırt etmede daha etkili olan sözcüklerdir.</a:t>
            </a:r>
          </a:p>
          <a:p>
            <a:pPr>
              <a:lnSpc>
                <a:spcPct val="114000"/>
              </a:lnSpc>
            </a:pPr>
            <a:r>
              <a:rPr lang="tr-TR" sz="1400" noProof="0" dirty="0">
                <a:latin typeface="Arial" panose="020B0604020202020204" pitchFamily="34" charset="0"/>
                <a:cs typeface="Arial" panose="020B0604020202020204" pitchFamily="34" charset="0"/>
              </a:rPr>
              <a:t>• Bu tabloda öne çıkan kelimeler, metnin ayırt edici tematik yapısını nicel olarak ortaya koymakta ve metnin hangi kavramlar etrafında şekillendiğini özetleyen sonuç niteliğinde bir çıktı sunmaktadır.</a:t>
            </a:r>
          </a:p>
          <a:p>
            <a:pPr algn="l">
              <a:spcBef>
                <a:spcPts val="1089"/>
              </a:spcBef>
              <a:spcAft>
                <a:spcPts val="1451"/>
              </a:spcAft>
              <a:buNone/>
            </a:pPr>
            <a:endParaRPr lang="en-US" b="0" i="0" dirty="0">
              <a:effectLst/>
              <a:latin typeface="system-ui"/>
            </a:endParaRPr>
          </a:p>
        </p:txBody>
      </p:sp>
      <p:sp>
        <p:nvSpPr>
          <p:cNvPr id="7" name="TextBox 6">
            <a:extLst>
              <a:ext uri="{FF2B5EF4-FFF2-40B4-BE49-F238E27FC236}">
                <a16:creationId xmlns:a16="http://schemas.microsoft.com/office/drawing/2014/main" id="{AB76FFCA-AE5C-F005-609E-4F9F5CA389F0}"/>
              </a:ext>
            </a:extLst>
          </p:cNvPr>
          <p:cNvSpPr txBox="1"/>
          <p:nvPr/>
        </p:nvSpPr>
        <p:spPr>
          <a:xfrm>
            <a:off x="-55418" y="667389"/>
            <a:ext cx="12247418" cy="523220"/>
          </a:xfrm>
          <a:prstGeom prst="rect">
            <a:avLst/>
          </a:prstGeom>
          <a:noFill/>
        </p:spPr>
        <p:txBody>
          <a:bodyPr wrap="square">
            <a:spAutoFit/>
          </a:bodyPr>
          <a:lstStyle/>
          <a:p>
            <a:pPr algn="ctr"/>
            <a:r>
              <a:rPr lang="tr-TR" sz="2800" noProof="0">
                <a:effectLst>
                  <a:outerShdw blurRad="38100" dist="38100" dir="2700000" algn="tl">
                    <a:srgbClr val="000000">
                      <a:alpha val="43137"/>
                    </a:srgbClr>
                  </a:outerShdw>
                </a:effectLst>
                <a:latin typeface="Arial" panose="020B0604020202020204" pitchFamily="34" charset="0"/>
                <a:cs typeface="Arial" panose="020B0604020202020204" pitchFamily="34" charset="0"/>
              </a:rPr>
              <a:t>TF-IDF Yöntemi ile Ayırt Edici Kelimelerin Belirlenmesi</a:t>
            </a:r>
          </a:p>
        </p:txBody>
      </p:sp>
      <p:pic>
        <p:nvPicPr>
          <p:cNvPr id="13" name="Picture 12">
            <a:extLst>
              <a:ext uri="{FF2B5EF4-FFF2-40B4-BE49-F238E27FC236}">
                <a16:creationId xmlns:a16="http://schemas.microsoft.com/office/drawing/2014/main" id="{92473ADF-99DF-2BCF-2EC6-4B17D6FA66F3}"/>
              </a:ext>
            </a:extLst>
          </p:cNvPr>
          <p:cNvPicPr>
            <a:picLocks noChangeAspect="1"/>
          </p:cNvPicPr>
          <p:nvPr/>
        </p:nvPicPr>
        <p:blipFill>
          <a:blip r:embed="rId2"/>
          <a:stretch>
            <a:fillRect/>
          </a:stretch>
        </p:blipFill>
        <p:spPr>
          <a:xfrm>
            <a:off x="7994675" y="1719976"/>
            <a:ext cx="2804941" cy="4001951"/>
          </a:xfrm>
          <a:prstGeom prst="rect">
            <a:avLst/>
          </a:prstGeom>
        </p:spPr>
      </p:pic>
    </p:spTree>
    <p:extLst>
      <p:ext uri="{BB962C8B-B14F-4D97-AF65-F5344CB8AC3E}">
        <p14:creationId xmlns:p14="http://schemas.microsoft.com/office/powerpoint/2010/main" val="7778436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CA81DA7-D03D-0D85-2E91-1468C5ADD81E}"/>
              </a:ext>
            </a:extLst>
          </p:cNvPr>
          <p:cNvPicPr>
            <a:picLocks noChangeAspect="1"/>
          </p:cNvPicPr>
          <p:nvPr/>
        </p:nvPicPr>
        <p:blipFill>
          <a:blip r:embed="rId2"/>
          <a:stretch>
            <a:fillRect/>
          </a:stretch>
        </p:blipFill>
        <p:spPr>
          <a:xfrm>
            <a:off x="5908964" y="1399309"/>
            <a:ext cx="5936672" cy="4231725"/>
          </a:xfrm>
          <a:prstGeom prst="rect">
            <a:avLst/>
          </a:prstGeom>
        </p:spPr>
      </p:pic>
      <p:sp>
        <p:nvSpPr>
          <p:cNvPr id="5" name="TextBox 4">
            <a:extLst>
              <a:ext uri="{FF2B5EF4-FFF2-40B4-BE49-F238E27FC236}">
                <a16:creationId xmlns:a16="http://schemas.microsoft.com/office/drawing/2014/main" id="{D0248202-B56C-5066-FF43-76D548CAA06A}"/>
              </a:ext>
            </a:extLst>
          </p:cNvPr>
          <p:cNvSpPr txBox="1"/>
          <p:nvPr/>
        </p:nvSpPr>
        <p:spPr>
          <a:xfrm>
            <a:off x="603363" y="1565562"/>
            <a:ext cx="5402582" cy="4065472"/>
          </a:xfrm>
          <a:prstGeom prst="rect">
            <a:avLst/>
          </a:prstGeom>
          <a:noFill/>
        </p:spPr>
        <p:txBody>
          <a:bodyPr wrap="square">
            <a:spAutoFit/>
          </a:bodyPr>
          <a:lstStyle/>
          <a:p>
            <a:pPr>
              <a:lnSpc>
                <a:spcPct val="114000"/>
              </a:lnSpc>
              <a:buNone/>
            </a:pPr>
            <a:r>
              <a:rPr lang="tr-TR" sz="1400" noProof="0" dirty="0">
                <a:latin typeface="Arial" panose="020B0604020202020204" pitchFamily="34" charset="0"/>
                <a:cs typeface="Arial" panose="020B0604020202020204" pitchFamily="34" charset="0"/>
              </a:rPr>
              <a:t>   Bu aşamada, veri setimize TF-IDF yöntemi uygulanarak en ayırt edici 15 kelime belirlenmiştir. Grafik, her bir kelimenin metin içerisindeki ayırt edicilik düzeyini TF-IDF skoru üzerinden göstermektedir. Amaç, yalnızca sık geçen kelimeleri değil; metni diğer metinlerden ayıran ve içerik açısından belirleyici olan kavramları ortaya koymaktır.</a:t>
            </a:r>
          </a:p>
          <a:p>
            <a:pPr>
              <a:lnSpc>
                <a:spcPct val="114000"/>
              </a:lnSpc>
              <a:buNone/>
            </a:pPr>
            <a:r>
              <a:rPr lang="tr-TR" sz="1400" noProof="0" dirty="0">
                <a:latin typeface="Arial" panose="020B0604020202020204" pitchFamily="34" charset="0"/>
                <a:cs typeface="Arial" panose="020B0604020202020204" pitchFamily="34" charset="0"/>
              </a:rPr>
              <a:t>   Elde edilen sonuçlar incelendiğinde, “ayrı”, “razı”, “Osman”, “askerlik”, “ihtiyaç” ve “kararsızlık” gibi kelimelerin öne çıktığı görülmektedir. Bu durum, analizde artık bağlaç ve işlev kelimelerinin değil, metnin tematik yapısını yansıtan anlamlı kavramların etkili olduğunu göstermektedir.</a:t>
            </a:r>
          </a:p>
          <a:p>
            <a:pPr>
              <a:lnSpc>
                <a:spcPct val="114000"/>
              </a:lnSpc>
              <a:buNone/>
            </a:pPr>
            <a:r>
              <a:rPr lang="tr-TR" sz="1400" noProof="0" dirty="0">
                <a:latin typeface="Arial" panose="020B0604020202020204" pitchFamily="34" charset="0"/>
                <a:cs typeface="Arial" panose="020B0604020202020204" pitchFamily="34" charset="0"/>
              </a:rPr>
              <a:t>   TF-IDF skorlarının birbirine yakın çıkması, bu kelimelerin veri seti içinde benzer ayırt edicilik düzeyine sahip olmasından kaynaklanmaktadır. Temizlik ve dengeleme sonrası metnin daha homojen bir yapıya kavuşması, ayırt edici kelimelerin önem düzeylerinin birbirine yaklaşmasına neden olmuştur</a:t>
            </a:r>
            <a:r>
              <a:rPr lang="en-US" dirty="0">
                <a:latin typeface="Arial" panose="020B0604020202020204" pitchFamily="34" charset="0"/>
                <a:cs typeface="Arial" panose="020B0604020202020204" pitchFamily="34" charset="0"/>
              </a:rPr>
              <a:t>.</a:t>
            </a:r>
          </a:p>
        </p:txBody>
      </p:sp>
      <p:sp>
        <p:nvSpPr>
          <p:cNvPr id="7" name="TextBox 6">
            <a:extLst>
              <a:ext uri="{FF2B5EF4-FFF2-40B4-BE49-F238E27FC236}">
                <a16:creationId xmlns:a16="http://schemas.microsoft.com/office/drawing/2014/main" id="{CE175131-FD2F-81B4-7D48-BF76EB6E2633}"/>
              </a:ext>
            </a:extLst>
          </p:cNvPr>
          <p:cNvSpPr txBox="1"/>
          <p:nvPr/>
        </p:nvSpPr>
        <p:spPr>
          <a:xfrm>
            <a:off x="0" y="706465"/>
            <a:ext cx="12192000" cy="523220"/>
          </a:xfrm>
          <a:prstGeom prst="rect">
            <a:avLst/>
          </a:prstGeom>
          <a:noFill/>
        </p:spPr>
        <p:txBody>
          <a:bodyPr wrap="square">
            <a:spAutoFit/>
          </a:bodyPr>
          <a:lstStyle/>
          <a:p>
            <a:pPr algn="ctr"/>
            <a:r>
              <a:rPr lang="tr-TR" sz="2800" noProof="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TF-IDF Analizi ile Ayırt Edici Kelimelerin Grafikle Gösterimi</a:t>
            </a:r>
          </a:p>
        </p:txBody>
      </p:sp>
    </p:spTree>
    <p:extLst>
      <p:ext uri="{BB962C8B-B14F-4D97-AF65-F5344CB8AC3E}">
        <p14:creationId xmlns:p14="http://schemas.microsoft.com/office/powerpoint/2010/main" val="21662327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57387C-DF49-6940-3951-47D8BF69DBE8}"/>
              </a:ext>
            </a:extLst>
          </p:cNvPr>
          <p:cNvPicPr>
            <a:picLocks noChangeAspect="1"/>
          </p:cNvPicPr>
          <p:nvPr/>
        </p:nvPicPr>
        <p:blipFill>
          <a:blip r:embed="rId2"/>
          <a:srcRect t="2336"/>
          <a:stretch>
            <a:fillRect/>
          </a:stretch>
        </p:blipFill>
        <p:spPr>
          <a:xfrm>
            <a:off x="5901438" y="1500409"/>
            <a:ext cx="5703637" cy="4066064"/>
          </a:xfrm>
          <a:prstGeom prst="rect">
            <a:avLst/>
          </a:prstGeom>
        </p:spPr>
      </p:pic>
      <p:sp>
        <p:nvSpPr>
          <p:cNvPr id="5" name="TextBox 4">
            <a:extLst>
              <a:ext uri="{FF2B5EF4-FFF2-40B4-BE49-F238E27FC236}">
                <a16:creationId xmlns:a16="http://schemas.microsoft.com/office/drawing/2014/main" id="{E00089F8-EB10-001D-81E9-F4B8AFF082A1}"/>
              </a:ext>
            </a:extLst>
          </p:cNvPr>
          <p:cNvSpPr txBox="1"/>
          <p:nvPr/>
        </p:nvSpPr>
        <p:spPr>
          <a:xfrm>
            <a:off x="983673" y="1565378"/>
            <a:ext cx="4883728" cy="4001095"/>
          </a:xfrm>
          <a:prstGeom prst="rect">
            <a:avLst/>
          </a:prstGeom>
          <a:noFill/>
        </p:spPr>
        <p:txBody>
          <a:bodyPr wrap="square">
            <a:spAutoFit/>
          </a:bodyPr>
          <a:lstStyle/>
          <a:p>
            <a:pPr>
              <a:lnSpc>
                <a:spcPct val="114000"/>
              </a:lnSpc>
            </a:pPr>
            <a:r>
              <a:rPr lang="tr-TR" sz="1400" noProof="0" dirty="0">
                <a:latin typeface="Arial" panose="020B0604020202020204" pitchFamily="34" charset="0"/>
                <a:cs typeface="Arial" panose="020B0604020202020204" pitchFamily="34" charset="0"/>
              </a:rPr>
              <a:t>TF-IDF kelime bulutu, </a:t>
            </a:r>
            <a:r>
              <a:rPr lang="tr-TR" sz="1400" noProof="0" dirty="0" err="1">
                <a:latin typeface="Arial" panose="020B0604020202020204" pitchFamily="34" charset="0"/>
                <a:cs typeface="Arial" panose="020B0604020202020204" pitchFamily="34" charset="0"/>
              </a:rPr>
              <a:t>stopword</a:t>
            </a:r>
            <a:r>
              <a:rPr lang="tr-TR" sz="1400" noProof="0" dirty="0">
                <a:latin typeface="Arial" panose="020B0604020202020204" pitchFamily="34" charset="0"/>
                <a:cs typeface="Arial" panose="020B0604020202020204" pitchFamily="34" charset="0"/>
              </a:rPr>
              <a:t> temizliği ve dengeleme sonrasında, metni diğer bölümlerden ayıran ve içerik açısından daha belirleyici olan kelimelerin öne çıktığını göstermektedir. “milli”, “Osman”, “kararsızlık”, “askerlik”, “komutan”, “karar”, “ihtiyaç” ve “düşüncelerini” gibi kelimelerin yüksek ağırlıkta görünmesi, analizde artık bağlaçların değil anlam taşıyan kavramların etkili olduğunu ortaya koymaktadır.</a:t>
            </a:r>
          </a:p>
          <a:p>
            <a:pPr>
              <a:lnSpc>
                <a:spcPct val="114000"/>
              </a:lnSpc>
            </a:pPr>
            <a:r>
              <a:rPr lang="tr-TR" sz="1400" noProof="0" dirty="0">
                <a:latin typeface="Arial" panose="020B0604020202020204" pitchFamily="34" charset="0"/>
                <a:cs typeface="Arial" panose="020B0604020202020204" pitchFamily="34" charset="0"/>
              </a:rPr>
              <a:t>TF-IDF yöntemi sayesinde sık geçen ancak ayırt edici olmayan kelimeler bastırılmış, metnin tematik yapısı daha net biçimde görünür hâle gelmiştir. Bu yaklaşım, yalnızca kelime sıklığını değil; metni diğer metinlerden ayıran içerik açısından belirleyici kavramları ön plana çıkarmaktadır. Görselde öne çıkan kelimeler, Nutuk’un söylemsel odağının milli kimlik, karar alma süreçleri, sorumluluk ve tarihsel bağlam etrafında yoğunlaştığını göstermektedir.</a:t>
            </a:r>
          </a:p>
        </p:txBody>
      </p:sp>
      <p:sp>
        <p:nvSpPr>
          <p:cNvPr id="8" name="TextBox 7">
            <a:extLst>
              <a:ext uri="{FF2B5EF4-FFF2-40B4-BE49-F238E27FC236}">
                <a16:creationId xmlns:a16="http://schemas.microsoft.com/office/drawing/2014/main" id="{DBA2830C-2194-042C-30C1-CE125684612C}"/>
              </a:ext>
            </a:extLst>
          </p:cNvPr>
          <p:cNvSpPr txBox="1"/>
          <p:nvPr/>
        </p:nvSpPr>
        <p:spPr>
          <a:xfrm>
            <a:off x="0" y="645104"/>
            <a:ext cx="12192000" cy="523220"/>
          </a:xfrm>
          <a:prstGeom prst="rect">
            <a:avLst/>
          </a:prstGeom>
          <a:noFill/>
        </p:spPr>
        <p:txBody>
          <a:bodyPr wrap="square">
            <a:spAutoFit/>
          </a:bodyPr>
          <a:lstStyle/>
          <a:p>
            <a:pPr algn="ctr"/>
            <a:r>
              <a:rPr lang="tr-TR" sz="2800" noProof="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TF-IDF Analizi ile Ayırt Edici Tematik Yapının Ortaya Konulması</a:t>
            </a:r>
          </a:p>
        </p:txBody>
      </p:sp>
    </p:spTree>
    <p:extLst>
      <p:ext uri="{BB962C8B-B14F-4D97-AF65-F5344CB8AC3E}">
        <p14:creationId xmlns:p14="http://schemas.microsoft.com/office/powerpoint/2010/main" val="7915609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D816879-D6EC-F095-35C3-008D27EBBF18}"/>
              </a:ext>
            </a:extLst>
          </p:cNvPr>
          <p:cNvSpPr txBox="1"/>
          <p:nvPr/>
        </p:nvSpPr>
        <p:spPr>
          <a:xfrm>
            <a:off x="644237" y="1446513"/>
            <a:ext cx="5257799" cy="4737835"/>
          </a:xfrm>
          <a:prstGeom prst="rect">
            <a:avLst/>
          </a:prstGeom>
          <a:noFill/>
        </p:spPr>
        <p:txBody>
          <a:bodyPr wrap="square">
            <a:spAutoFit/>
          </a:bodyPr>
          <a:lstStyle/>
          <a:p>
            <a:pPr>
              <a:lnSpc>
                <a:spcPct val="114000"/>
              </a:lnSpc>
            </a:pPr>
            <a:r>
              <a:rPr lang="tr-TR" sz="1400" noProof="0" dirty="0">
                <a:latin typeface="Arial" panose="020B0604020202020204" pitchFamily="34" charset="0"/>
                <a:cs typeface="Arial" panose="020B0604020202020204" pitchFamily="34" charset="0"/>
              </a:rPr>
              <a:t>Bu kelime bulutu, veri setimize uygulanan </a:t>
            </a:r>
            <a:r>
              <a:rPr lang="tr-TR" sz="1400" noProof="0" dirty="0" err="1">
                <a:latin typeface="Arial" panose="020B0604020202020204" pitchFamily="34" charset="0"/>
                <a:cs typeface="Arial" panose="020B0604020202020204" pitchFamily="34" charset="0"/>
              </a:rPr>
              <a:t>stopword</a:t>
            </a:r>
            <a:r>
              <a:rPr lang="tr-TR" sz="1400" noProof="0" dirty="0">
                <a:latin typeface="Arial" panose="020B0604020202020204" pitchFamily="34" charset="0"/>
                <a:cs typeface="Arial" panose="020B0604020202020204" pitchFamily="34" charset="0"/>
              </a:rPr>
              <a:t> temizliği ve dengeleme işlemleri sonrasında metinde öne çıkan kelimeleri görsel olarak sunmaktadır. Görselde “bir”, “olan”, “Bey”, “Paşa”, “millet”, “kadar” ve “bütün” gibi kelimelerin baskın olduğu görülmektedir. Bu durum, metnin anlatım yapısının kişi, kurum ve olay merkezli bir söylem etrafında şekillendiğini göstermektedir. Temizlik sonrası bağlaç ve işlev kelimelerinin etkisi azalmış, metnin anlam taşıyan kavramları daha görünür hâle gelmiştir. Kelime bulutu, metnin genel tematik yönelimini hızlı ve sezgisel biçimde ortaya koymaktadır.</a:t>
            </a:r>
          </a:p>
          <a:p>
            <a:pPr>
              <a:lnSpc>
                <a:spcPct val="114000"/>
              </a:lnSpc>
            </a:pPr>
            <a:endParaRPr lang="tr-TR" sz="1400" noProof="0" dirty="0">
              <a:latin typeface="Arial" panose="020B0604020202020204" pitchFamily="34" charset="0"/>
              <a:cs typeface="Arial" panose="020B0604020202020204" pitchFamily="34" charset="0"/>
            </a:endParaRPr>
          </a:p>
          <a:p>
            <a:pPr>
              <a:lnSpc>
                <a:spcPct val="114000"/>
              </a:lnSpc>
            </a:pPr>
            <a:r>
              <a:rPr lang="tr-TR" sz="1400" u="sng" dirty="0">
                <a:latin typeface="Arial" panose="020B0604020202020204" pitchFamily="34" charset="0"/>
                <a:cs typeface="Arial" panose="020B0604020202020204" pitchFamily="34" charset="0"/>
              </a:rPr>
              <a:t>Kelime Bulutu – TF-IDF Farkı :</a:t>
            </a:r>
          </a:p>
          <a:p>
            <a:pPr>
              <a:lnSpc>
                <a:spcPct val="114000"/>
              </a:lnSpc>
            </a:pPr>
            <a:r>
              <a:rPr lang="tr-TR" sz="1400" dirty="0">
                <a:latin typeface="Arial" panose="020B0604020202020204" pitchFamily="34" charset="0"/>
                <a:cs typeface="Arial" panose="020B0604020202020204" pitchFamily="34" charset="0"/>
              </a:rPr>
              <a:t>TF-IDF kelime bulutu, veri setimizi diğer metinlerden ayıran en ayırt edici kelimeleri öne çıkarırken; kelime bulutu metinde en sık geçen kelimelerin genel dağılımını göstermektedir. Bu nedenle TF-IDF analizi içerik açısından seçici bir yapı sunarken, kelime bulutu metnin genel dil ve söylem yapısını destekleyici niteliktedir.</a:t>
            </a:r>
          </a:p>
          <a:p>
            <a:pPr>
              <a:lnSpc>
                <a:spcPct val="114000"/>
              </a:lnSpc>
            </a:pPr>
            <a:endParaRPr lang="tr-TR" sz="1400" noProof="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1A6EDD90-EC91-E2BD-E26F-0873ED06F370}"/>
              </a:ext>
            </a:extLst>
          </p:cNvPr>
          <p:cNvSpPr txBox="1"/>
          <p:nvPr/>
        </p:nvSpPr>
        <p:spPr>
          <a:xfrm>
            <a:off x="0" y="673652"/>
            <a:ext cx="12191999" cy="523220"/>
          </a:xfrm>
          <a:prstGeom prst="rect">
            <a:avLst/>
          </a:prstGeom>
          <a:noFill/>
        </p:spPr>
        <p:txBody>
          <a:bodyPr wrap="square">
            <a:spAutoFit/>
          </a:bodyPr>
          <a:lstStyle/>
          <a:p>
            <a:pPr algn="ctr"/>
            <a:r>
              <a:rPr lang="tr-TR" sz="2800" noProof="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Kelime Bulutu Temelli Görselleştirme </a:t>
            </a:r>
          </a:p>
        </p:txBody>
      </p:sp>
      <p:pic>
        <p:nvPicPr>
          <p:cNvPr id="9" name="Picture 8">
            <a:extLst>
              <a:ext uri="{FF2B5EF4-FFF2-40B4-BE49-F238E27FC236}">
                <a16:creationId xmlns:a16="http://schemas.microsoft.com/office/drawing/2014/main" id="{1A7DA2A9-8C87-FE5D-2775-C948D09D589C}"/>
              </a:ext>
            </a:extLst>
          </p:cNvPr>
          <p:cNvPicPr>
            <a:picLocks noChangeAspect="1"/>
          </p:cNvPicPr>
          <p:nvPr/>
        </p:nvPicPr>
        <p:blipFill>
          <a:blip r:embed="rId2"/>
          <a:srcRect t="1706"/>
          <a:stretch>
            <a:fillRect/>
          </a:stretch>
        </p:blipFill>
        <p:spPr>
          <a:xfrm>
            <a:off x="6005944" y="1316183"/>
            <a:ext cx="5842191" cy="4485296"/>
          </a:xfrm>
          <a:prstGeom prst="rect">
            <a:avLst/>
          </a:prstGeom>
        </p:spPr>
      </p:pic>
    </p:spTree>
    <p:extLst>
      <p:ext uri="{BB962C8B-B14F-4D97-AF65-F5344CB8AC3E}">
        <p14:creationId xmlns:p14="http://schemas.microsoft.com/office/powerpoint/2010/main" val="7438516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7C5331-B3AE-EC20-A84C-5C1A4E4AF02F}"/>
              </a:ext>
            </a:extLst>
          </p:cNvPr>
          <p:cNvSpPr txBox="1"/>
          <p:nvPr/>
        </p:nvSpPr>
        <p:spPr>
          <a:xfrm>
            <a:off x="0" y="889061"/>
            <a:ext cx="12192000" cy="523220"/>
          </a:xfrm>
          <a:prstGeom prst="rect">
            <a:avLst/>
          </a:prstGeom>
          <a:noFill/>
        </p:spPr>
        <p:txBody>
          <a:bodyPr wrap="square">
            <a:spAutoFit/>
          </a:bodyPr>
          <a:lstStyle/>
          <a:p>
            <a:pPr algn="ctr"/>
            <a:r>
              <a:rPr lang="tr-TR" sz="2800" noProof="0">
                <a:effectLst>
                  <a:outerShdw blurRad="38100" dist="38100" dir="2700000" algn="tl">
                    <a:srgbClr val="000000">
                      <a:alpha val="43137"/>
                    </a:srgbClr>
                  </a:outerShdw>
                </a:effectLst>
                <a:latin typeface="Arial" panose="020B0604020202020204" pitchFamily="34" charset="0"/>
                <a:cs typeface="Arial" panose="020B0604020202020204" pitchFamily="34" charset="0"/>
              </a:rPr>
              <a:t>Metin Analizinden Makine Öğrenmesine Geçiş</a:t>
            </a:r>
          </a:p>
        </p:txBody>
      </p:sp>
      <p:sp>
        <p:nvSpPr>
          <p:cNvPr id="5" name="TextBox 4">
            <a:extLst>
              <a:ext uri="{FF2B5EF4-FFF2-40B4-BE49-F238E27FC236}">
                <a16:creationId xmlns:a16="http://schemas.microsoft.com/office/drawing/2014/main" id="{C8D54D98-AF32-88DF-18B8-23605E929035}"/>
              </a:ext>
            </a:extLst>
          </p:cNvPr>
          <p:cNvSpPr txBox="1"/>
          <p:nvPr/>
        </p:nvSpPr>
        <p:spPr>
          <a:xfrm>
            <a:off x="2507673" y="1674032"/>
            <a:ext cx="7308272" cy="3269485"/>
          </a:xfrm>
          <a:prstGeom prst="rect">
            <a:avLst/>
          </a:prstGeom>
          <a:noFill/>
        </p:spPr>
        <p:txBody>
          <a:bodyPr wrap="square">
            <a:spAutoFit/>
          </a:bodyPr>
          <a:lstStyle/>
          <a:p>
            <a:pPr>
              <a:lnSpc>
                <a:spcPct val="114000"/>
              </a:lnSpc>
            </a:pPr>
            <a:r>
              <a:rPr lang="tr-TR" sz="1400" noProof="0" dirty="0">
                <a:latin typeface="Arial" panose="020B0604020202020204" pitchFamily="34" charset="0"/>
                <a:cs typeface="Arial" panose="020B0604020202020204" pitchFamily="34" charset="0"/>
              </a:rPr>
              <a:t>   </a:t>
            </a:r>
            <a:r>
              <a:rPr lang="tr-TR" sz="1400" dirty="0">
                <a:latin typeface="Arial" panose="020B0604020202020204" pitchFamily="34" charset="0"/>
                <a:cs typeface="Arial" panose="020B0604020202020204" pitchFamily="34" charset="0"/>
              </a:rPr>
              <a:t>Bu çalışmada Nutuk metni, </a:t>
            </a:r>
            <a:r>
              <a:rPr lang="tr-TR" sz="1400" dirty="0" err="1">
                <a:latin typeface="Arial" panose="020B0604020202020204" pitchFamily="34" charset="0"/>
                <a:cs typeface="Arial" panose="020B0604020202020204" pitchFamily="34" charset="0"/>
              </a:rPr>
              <a:t>PySpark</a:t>
            </a:r>
            <a:r>
              <a:rPr lang="tr-TR" sz="1400" dirty="0">
                <a:latin typeface="Arial" panose="020B0604020202020204" pitchFamily="34" charset="0"/>
                <a:cs typeface="Arial" panose="020B0604020202020204" pitchFamily="34" charset="0"/>
              </a:rPr>
              <a:t> ortamında analiz öncesinde temizlik ve dengeleme adımlarından geçirilmiştir.</a:t>
            </a:r>
            <a:endParaRPr lang="tr-TR" sz="1400" noProof="0" dirty="0">
              <a:latin typeface="Arial" panose="020B0604020202020204" pitchFamily="34" charset="0"/>
              <a:cs typeface="Arial" panose="020B0604020202020204" pitchFamily="34" charset="0"/>
            </a:endParaRPr>
          </a:p>
          <a:p>
            <a:pPr>
              <a:lnSpc>
                <a:spcPct val="114000"/>
              </a:lnSpc>
            </a:pPr>
            <a:r>
              <a:rPr lang="tr-TR" sz="1400" dirty="0">
                <a:latin typeface="Arial" panose="020B0604020202020204" pitchFamily="34" charset="0"/>
                <a:cs typeface="Arial" panose="020B0604020202020204" pitchFamily="34" charset="0"/>
              </a:rPr>
              <a:t>   </a:t>
            </a:r>
            <a:r>
              <a:rPr lang="tr-TR" sz="1400" noProof="0" dirty="0" err="1">
                <a:latin typeface="Arial" panose="020B0604020202020204" pitchFamily="34" charset="0"/>
                <a:cs typeface="Arial" panose="020B0604020202020204" pitchFamily="34" charset="0"/>
              </a:rPr>
              <a:t>Stopword’lerin</a:t>
            </a:r>
            <a:r>
              <a:rPr lang="tr-TR" sz="1400" noProof="0" dirty="0">
                <a:latin typeface="Arial" panose="020B0604020202020204" pitchFamily="34" charset="0"/>
                <a:cs typeface="Arial" panose="020B0604020202020204" pitchFamily="34" charset="0"/>
              </a:rPr>
              <a:t> çıkarılması, noktalama işaretlerinin temizlenmesi ve metnin normalleştirilmesiyle analiz için daha tutarlı ve temsil gücü yüksek bir veri yapısı elde edilmiştir. Temizlenmiş veri üzerinden gerçekleştirilen kelime frekansı ve TF-IDF analizleri, metinde öne çıkan tematik yoğunlukları ve ayırt edici kavramları ortaya koymuştur. </a:t>
            </a:r>
          </a:p>
          <a:p>
            <a:pPr>
              <a:lnSpc>
                <a:spcPct val="114000"/>
              </a:lnSpc>
            </a:pPr>
            <a:r>
              <a:rPr lang="tr-TR" sz="1400" dirty="0">
                <a:latin typeface="Arial" panose="020B0604020202020204" pitchFamily="34" charset="0"/>
                <a:cs typeface="Arial" panose="020B0604020202020204" pitchFamily="34" charset="0"/>
              </a:rPr>
              <a:t>   </a:t>
            </a:r>
            <a:r>
              <a:rPr lang="tr-TR" sz="1400" noProof="0" dirty="0">
                <a:latin typeface="Arial" panose="020B0604020202020204" pitchFamily="34" charset="0"/>
                <a:cs typeface="Arial" panose="020B0604020202020204" pitchFamily="34" charset="0"/>
              </a:rPr>
              <a:t>Bu analizler sonucunda elde edilen sayısal temsiller, metnin makine öğrenmesi algoritmaları için uygun özelliklere dönüştürülmesini sağlamıştır.  </a:t>
            </a:r>
          </a:p>
          <a:p>
            <a:pPr>
              <a:lnSpc>
                <a:spcPct val="114000"/>
              </a:lnSpc>
            </a:pPr>
            <a:r>
              <a:rPr lang="tr-TR" sz="1400" noProof="0" dirty="0">
                <a:latin typeface="Arial" panose="020B0604020202020204" pitchFamily="34" charset="0"/>
                <a:cs typeface="Arial" panose="020B0604020202020204" pitchFamily="34" charset="0"/>
              </a:rPr>
              <a:t>    K-</a:t>
            </a:r>
            <a:r>
              <a:rPr lang="tr-TR" sz="1400" noProof="0" dirty="0" err="1">
                <a:latin typeface="Arial" panose="020B0604020202020204" pitchFamily="34" charset="0"/>
                <a:cs typeface="Arial" panose="020B0604020202020204" pitchFamily="34" charset="0"/>
              </a:rPr>
              <a:t>Means</a:t>
            </a:r>
            <a:r>
              <a:rPr lang="tr-TR" sz="1400" noProof="0" dirty="0">
                <a:latin typeface="Arial" panose="020B0604020202020204" pitchFamily="34" charset="0"/>
                <a:cs typeface="Arial" panose="020B0604020202020204" pitchFamily="34" charset="0"/>
              </a:rPr>
              <a:t> gibi denetimsiz öğrenme yöntemleri kullanılarak metin bölümleri benzer içerik yapılarına göre gruplandırılmış ve Nutuk içerisindeki tematik kırılmalar ile anlatım yoğunluğu değişimleri sayısal olarak gözlemlenmiştir.</a:t>
            </a:r>
          </a:p>
          <a:p>
            <a:pPr>
              <a:lnSpc>
                <a:spcPct val="114000"/>
              </a:lnSpc>
            </a:pPr>
            <a:r>
              <a:rPr lang="tr-TR" sz="1400" dirty="0">
                <a:latin typeface="Arial" panose="020B0604020202020204" pitchFamily="34" charset="0"/>
                <a:cs typeface="Arial" panose="020B0604020202020204" pitchFamily="34" charset="0"/>
              </a:rPr>
              <a:t> </a:t>
            </a:r>
            <a:r>
              <a:rPr lang="tr-TR" sz="1400" noProof="0" dirty="0">
                <a:latin typeface="Arial" panose="020B0604020202020204" pitchFamily="34" charset="0"/>
                <a:cs typeface="Arial" panose="020B0604020202020204" pitchFamily="34" charset="0"/>
              </a:rPr>
              <a:t>  Elde edilen sonuçlar, tarihsel metinlerin makine öğrenmesi yöntemleriyle </a:t>
            </a:r>
            <a:r>
              <a:rPr lang="tr-TR" sz="1400" dirty="0">
                <a:latin typeface="Arial" panose="020B0604020202020204" pitchFamily="34" charset="0"/>
                <a:cs typeface="Arial" panose="020B0604020202020204" pitchFamily="34" charset="0"/>
              </a:rPr>
              <a:t>anlamlı ve yorumlanabilir sonuçlar üretebileceğini göstermektedir.</a:t>
            </a:r>
            <a:endParaRPr lang="tr-TR" sz="1400" noProof="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636678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35E6867-E6F3-2EB0-6C5F-12FBE72B648C}"/>
              </a:ext>
            </a:extLst>
          </p:cNvPr>
          <p:cNvPicPr>
            <a:picLocks noChangeAspect="1"/>
          </p:cNvPicPr>
          <p:nvPr/>
        </p:nvPicPr>
        <p:blipFill>
          <a:blip r:embed="rId2"/>
          <a:srcRect b="14804"/>
          <a:stretch>
            <a:fillRect/>
          </a:stretch>
        </p:blipFill>
        <p:spPr>
          <a:xfrm>
            <a:off x="1586344" y="1651752"/>
            <a:ext cx="8760949" cy="846182"/>
          </a:xfrm>
          <a:prstGeom prst="rect">
            <a:avLst/>
          </a:prstGeom>
        </p:spPr>
      </p:pic>
      <p:sp>
        <p:nvSpPr>
          <p:cNvPr id="5" name="Rectangle 1">
            <a:extLst>
              <a:ext uri="{FF2B5EF4-FFF2-40B4-BE49-F238E27FC236}">
                <a16:creationId xmlns:a16="http://schemas.microsoft.com/office/drawing/2014/main" id="{7C4E099D-B703-4851-DA14-E9283C7CD1CA}"/>
              </a:ext>
            </a:extLst>
          </p:cNvPr>
          <p:cNvSpPr>
            <a:spLocks noChangeArrowheads="1"/>
          </p:cNvSpPr>
          <p:nvPr/>
        </p:nvSpPr>
        <p:spPr bwMode="auto">
          <a:xfrm>
            <a:off x="1586344" y="2615697"/>
            <a:ext cx="7592291" cy="2171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lnSpc>
                <a:spcPct val="114000"/>
              </a:lnSpc>
              <a:spcBef>
                <a:spcPct val="0"/>
              </a:spcBef>
              <a:spcAft>
                <a:spcPct val="0"/>
              </a:spcAft>
            </a:pPr>
            <a:r>
              <a:rPr lang="tr-TR" sz="1400" u="sng" noProof="0" dirty="0">
                <a:latin typeface="Arial" panose="020B0604020202020204" pitchFamily="34" charset="0"/>
                <a:cs typeface="Arial" panose="020B0604020202020204" pitchFamily="34" charset="0"/>
              </a:rPr>
              <a:t>TF-IDF Özellik Vektörü – Örnek Çıktı Yorumu</a:t>
            </a:r>
            <a:r>
              <a:rPr kumimoji="0" lang="tr-TR" sz="1400" i="0" u="sng" strike="noStrike" cap="none" normalizeH="0" baseline="0" noProof="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i="0" u="none" strike="noStrike" cap="none" normalizeH="0" baseline="0" noProof="0" dirty="0">
                <a:ln>
                  <a:noFill/>
                </a:ln>
                <a:solidFill>
                  <a:schemeClr val="tx1"/>
                </a:solidFill>
                <a:effectLst/>
                <a:latin typeface="Arial" panose="020B0604020202020204" pitchFamily="34" charset="0"/>
              </a:rPr>
              <a:t>4779, modelin kullandığı toplam kelime sayısını (</a:t>
            </a:r>
            <a:r>
              <a:rPr kumimoji="0" lang="tr-TR" sz="1400" i="0" u="none" strike="noStrike" cap="none" normalizeH="0" baseline="0" noProof="0" dirty="0" err="1">
                <a:ln>
                  <a:noFill/>
                </a:ln>
                <a:solidFill>
                  <a:schemeClr val="tx1"/>
                </a:solidFill>
                <a:effectLst/>
                <a:latin typeface="Arial" panose="020B0604020202020204" pitchFamily="34" charset="0"/>
              </a:rPr>
              <a:t>vocabulary</a:t>
            </a:r>
            <a:r>
              <a:rPr kumimoji="0" lang="tr-TR" sz="1400" i="0" u="none" strike="noStrike" cap="none" normalizeH="0" baseline="0" noProof="0" dirty="0">
                <a:ln>
                  <a:noFill/>
                </a:ln>
                <a:solidFill>
                  <a:schemeClr val="tx1"/>
                </a:solidFill>
                <a:effectLst/>
                <a:latin typeface="Arial" panose="020B0604020202020204" pitchFamily="34" charset="0"/>
              </a:rPr>
              <a:t> boyutunu) gösterir.</a:t>
            </a:r>
          </a:p>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i="0" u="none" strike="noStrike" cap="none" normalizeH="0" baseline="0" noProof="0" dirty="0">
                <a:ln>
                  <a:noFill/>
                </a:ln>
                <a:solidFill>
                  <a:schemeClr val="tx1"/>
                </a:solidFill>
                <a:effectLst/>
                <a:latin typeface="Arial" panose="020B0604020202020204" pitchFamily="34" charset="0"/>
              </a:rPr>
              <a:t>[0, 158, 1521, 1666], bu metin parçasında geçen kelimelerin sözlükteki indeksleridir.</a:t>
            </a:r>
          </a:p>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i="0" u="none" strike="noStrike" cap="none" normalizeH="0" baseline="0" noProof="0" dirty="0">
                <a:ln>
                  <a:noFill/>
                </a:ln>
                <a:solidFill>
                  <a:schemeClr val="tx1"/>
                </a:solidFill>
                <a:effectLst/>
                <a:latin typeface="Arial" panose="020B0604020202020204" pitchFamily="34" charset="0"/>
              </a:rPr>
              <a:t>[0.0, 5.69, 7.53, 7.59], bu kelimelere ait TF-IDF ağırlıklarıdır. TF-IDF değeri büyüdükçe, kelimenin bu metin parçası için ayırt ediciliği artar</a:t>
            </a:r>
            <a:r>
              <a:rPr kumimoji="0" lang="en-US" altLang="en-US" sz="1800" b="0" i="0" u="none" strike="noStrike" cap="none" normalizeH="0" baseline="0" dirty="0">
                <a:ln>
                  <a:noFill/>
                </a:ln>
                <a:solidFill>
                  <a:schemeClr val="tx1"/>
                </a:solidFill>
                <a:effectLst/>
                <a:latin typeface="Arial" panose="020B0604020202020204" pitchFamily="34" charset="0"/>
              </a:rPr>
              <a:t>.</a:t>
            </a:r>
            <a:endParaRPr kumimoji="0" lang="tr-TR" altLang="en-US" sz="1800" b="0" i="0" u="none" strike="noStrike" cap="none" normalizeH="0" baseline="0" dirty="0">
              <a:ln>
                <a:noFill/>
              </a:ln>
              <a:solidFill>
                <a:schemeClr val="tx1"/>
              </a:solidFill>
              <a:effectLst/>
              <a:latin typeface="Arial" panose="020B0604020202020204" pitchFamily="34" charset="0"/>
            </a:endParaRPr>
          </a:p>
          <a:p>
            <a:pPr defTabSz="914400" eaLnBrk="0" fontAlgn="base" hangingPunct="0">
              <a:lnSpc>
                <a:spcPct val="114000"/>
              </a:lnSpc>
              <a:spcBef>
                <a:spcPct val="0"/>
              </a:spcBef>
              <a:spcAft>
                <a:spcPct val="0"/>
              </a:spcAft>
              <a:buFontTx/>
              <a:buChar char="•"/>
            </a:pPr>
            <a:r>
              <a:rPr lang="tr-TR" sz="1400" dirty="0">
                <a:latin typeface="Arial" panose="020B0604020202020204" pitchFamily="34" charset="0"/>
                <a:cs typeface="Arial" panose="020B0604020202020204" pitchFamily="34" charset="0"/>
              </a:rPr>
              <a:t>Metin verisi yüksek boyutlu olduğu için </a:t>
            </a:r>
            <a:r>
              <a:rPr lang="tr-TR" sz="1400" noProof="0" dirty="0">
                <a:latin typeface="Arial" panose="020B0604020202020204" pitchFamily="34" charset="0"/>
                <a:cs typeface="Arial" panose="020B0604020202020204" pitchFamily="34" charset="0"/>
              </a:rPr>
              <a:t>TF-IDF çıktıları seyrek (</a:t>
            </a:r>
            <a:r>
              <a:rPr lang="tr-TR" sz="1400" noProof="0" dirty="0" err="1">
                <a:latin typeface="Arial" panose="020B0604020202020204" pitchFamily="34" charset="0"/>
                <a:cs typeface="Arial" panose="020B0604020202020204" pitchFamily="34" charset="0"/>
              </a:rPr>
              <a:t>sparse</a:t>
            </a:r>
            <a:r>
              <a:rPr lang="tr-TR" sz="1400" noProof="0" dirty="0">
                <a:latin typeface="Arial" panose="020B0604020202020204" pitchFamily="34" charset="0"/>
                <a:cs typeface="Arial" panose="020B0604020202020204" pitchFamily="34" charset="0"/>
              </a:rPr>
              <a:t>) vektör yapısındadır; yalnızca anlamlı (sıfır olmayan) değerler tutulur.</a:t>
            </a:r>
          </a:p>
          <a:p>
            <a:pPr marL="0" marR="0" lvl="0" indent="0" algn="l" defTabSz="914400" rtl="0" eaLnBrk="0" fontAlgn="base" latinLnBrk="0" hangingPunct="0">
              <a:lnSpc>
                <a:spcPct val="114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598743AF-FC53-0418-CE64-85945E0343EA}"/>
              </a:ext>
            </a:extLst>
          </p:cNvPr>
          <p:cNvSpPr txBox="1"/>
          <p:nvPr/>
        </p:nvSpPr>
        <p:spPr>
          <a:xfrm>
            <a:off x="0" y="793934"/>
            <a:ext cx="12192000" cy="523220"/>
          </a:xfrm>
          <a:prstGeom prst="rect">
            <a:avLst/>
          </a:prstGeom>
          <a:noFill/>
        </p:spPr>
        <p:txBody>
          <a:bodyPr wrap="square">
            <a:spAutoFit/>
          </a:bodyPr>
          <a:lstStyle/>
          <a:p>
            <a:pPr algn="ctr"/>
            <a:r>
              <a:rPr lang="tr-TR" sz="2800" noProof="0">
                <a:effectLst>
                  <a:outerShdw blurRad="38100" dist="38100" dir="2700000" algn="tl">
                    <a:srgbClr val="000000">
                      <a:alpha val="43137"/>
                    </a:srgbClr>
                  </a:outerShdw>
                </a:effectLst>
                <a:latin typeface="Arial" panose="020B0604020202020204" pitchFamily="34" charset="0"/>
                <a:cs typeface="Arial" panose="020B0604020202020204" pitchFamily="34" charset="0"/>
              </a:rPr>
              <a:t>TF-IDF Özellik Vektörü (</a:t>
            </a:r>
            <a:r>
              <a:rPr lang="tr-TR" sz="2800" noProof="0" dirty="0" err="1">
                <a:effectLst>
                  <a:outerShdw blurRad="38100" dist="38100" dir="2700000" algn="tl">
                    <a:srgbClr val="000000">
                      <a:alpha val="43137"/>
                    </a:srgbClr>
                  </a:outerShdw>
                </a:effectLst>
                <a:latin typeface="Arial" panose="020B0604020202020204" pitchFamily="34" charset="0"/>
                <a:cs typeface="Arial" panose="020B0604020202020204" pitchFamily="34" charset="0"/>
              </a:rPr>
              <a:t>features</a:t>
            </a:r>
            <a:r>
              <a:rPr lang="tr-TR" sz="2800" noProof="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Çıktısının Yorumlanması</a:t>
            </a:r>
          </a:p>
        </p:txBody>
      </p:sp>
    </p:spTree>
    <p:extLst>
      <p:ext uri="{BB962C8B-B14F-4D97-AF65-F5344CB8AC3E}">
        <p14:creationId xmlns:p14="http://schemas.microsoft.com/office/powerpoint/2010/main" val="38542669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D189557-9AE9-112F-7592-A2531A5E3397}"/>
              </a:ext>
            </a:extLst>
          </p:cNvPr>
          <p:cNvSpPr txBox="1"/>
          <p:nvPr/>
        </p:nvSpPr>
        <p:spPr>
          <a:xfrm>
            <a:off x="949037" y="1855722"/>
            <a:ext cx="5749636" cy="3509935"/>
          </a:xfrm>
          <a:prstGeom prst="rect">
            <a:avLst/>
          </a:prstGeom>
          <a:noFill/>
        </p:spPr>
        <p:txBody>
          <a:bodyPr wrap="square">
            <a:spAutoFit/>
          </a:bodyPr>
          <a:lstStyle/>
          <a:p>
            <a:pPr>
              <a:lnSpc>
                <a:spcPct val="114000"/>
              </a:lnSpc>
            </a:pPr>
            <a:r>
              <a:rPr lang="tr-TR" sz="1400" noProof="0" dirty="0">
                <a:latin typeface="Arial" panose="020B0604020202020204" pitchFamily="34" charset="0"/>
                <a:cs typeface="Arial" panose="020B0604020202020204" pitchFamily="34" charset="0"/>
              </a:rPr>
              <a:t>Bu sonuçlar, Nutuk metninin TF-IDF ile sayısallaştırılmasının ardından K-</a:t>
            </a:r>
            <a:r>
              <a:rPr lang="tr-TR" sz="1400" noProof="0" dirty="0" err="1">
                <a:latin typeface="Arial" panose="020B0604020202020204" pitchFamily="34" charset="0"/>
                <a:cs typeface="Arial" panose="020B0604020202020204" pitchFamily="34" charset="0"/>
              </a:rPr>
              <a:t>Means</a:t>
            </a:r>
            <a:r>
              <a:rPr lang="tr-TR" sz="1400" noProof="0" dirty="0">
                <a:latin typeface="Arial" panose="020B0604020202020204" pitchFamily="34" charset="0"/>
                <a:cs typeface="Arial" panose="020B0604020202020204" pitchFamily="34" charset="0"/>
              </a:rPr>
              <a:t> algoritması kullanılarak tematik olarak anlamlı kümelere ayrılabildiğini göstermektedir. Küme numaraları doğrudan anlamsal bir ifade taşımamakla birlikte, her kümede öne çıkan kelimeler incelendiğinde genel anlatı, siyasal kararlar, askerî süreçler ve tarihsel olaylar gibi belirgin temaların oluştuğu görülmüştür.</a:t>
            </a:r>
          </a:p>
          <a:p>
            <a:pPr>
              <a:lnSpc>
                <a:spcPct val="114000"/>
              </a:lnSpc>
            </a:pPr>
            <a:r>
              <a:rPr lang="tr-TR" sz="1400" noProof="0" dirty="0">
                <a:latin typeface="Arial" panose="020B0604020202020204" pitchFamily="34" charset="0"/>
                <a:cs typeface="Arial" panose="020B0604020202020204" pitchFamily="34" charset="0"/>
              </a:rPr>
              <a:t>Tabloda yer alan kelimelerin TF-IDF değerlerinin yüksek ve eşit olması, bu terimlerin metnin belirli bölümlerinde yoğunlaştığını ve bağlamsal olarak ayırt edici olduğunu göstermektedir. Özellikle “Trakya’yı”, “taşıt”, “davranışlarından” ve “</a:t>
            </a:r>
            <a:r>
              <a:rPr lang="tr-TR" sz="1400" noProof="0" dirty="0" err="1">
                <a:latin typeface="Arial" panose="020B0604020202020204" pitchFamily="34" charset="0"/>
                <a:cs typeface="Arial" panose="020B0604020202020204" pitchFamily="34" charset="0"/>
              </a:rPr>
              <a:t>iyiniyet</a:t>
            </a:r>
            <a:r>
              <a:rPr lang="tr-TR" sz="1400" noProof="0" dirty="0">
                <a:latin typeface="Arial" panose="020B0604020202020204" pitchFamily="34" charset="0"/>
                <a:cs typeface="Arial" panose="020B0604020202020204" pitchFamily="34" charset="0"/>
              </a:rPr>
              <a:t>” gibi kelimeler, ilgili bölümlerde tematik ayrışmayı destekleyen kavramlar olarak öne çıkmıştır. Bu durum, TF-IDF ile elde edilen özelliklerin K-</a:t>
            </a:r>
            <a:r>
              <a:rPr lang="tr-TR" sz="1400" noProof="0" dirty="0" err="1">
                <a:latin typeface="Arial" panose="020B0604020202020204" pitchFamily="34" charset="0"/>
                <a:cs typeface="Arial" panose="020B0604020202020204" pitchFamily="34" charset="0"/>
              </a:rPr>
              <a:t>Means</a:t>
            </a:r>
            <a:r>
              <a:rPr lang="tr-TR" sz="1400" noProof="0" dirty="0">
                <a:latin typeface="Arial" panose="020B0604020202020204" pitchFamily="34" charset="0"/>
                <a:cs typeface="Arial" panose="020B0604020202020204" pitchFamily="34" charset="0"/>
              </a:rPr>
              <a:t> kümeleme sürecinde metnin tematik yapısını güçlendirdiğini ortaya koymaktadır.</a:t>
            </a:r>
          </a:p>
          <a:p>
            <a:pPr>
              <a:lnSpc>
                <a:spcPct val="114000"/>
              </a:lnSpc>
            </a:pPr>
            <a:r>
              <a:rPr lang="tr-TR" sz="1400" noProof="0" dirty="0">
                <a:latin typeface="Arial" panose="020B0604020202020204" pitchFamily="34" charset="0"/>
                <a:cs typeface="Arial" panose="020B0604020202020204" pitchFamily="34" charset="0"/>
              </a:rPr>
              <a:t>.</a:t>
            </a:r>
          </a:p>
        </p:txBody>
      </p:sp>
      <p:sp>
        <p:nvSpPr>
          <p:cNvPr id="7" name="TextBox 6">
            <a:extLst>
              <a:ext uri="{FF2B5EF4-FFF2-40B4-BE49-F238E27FC236}">
                <a16:creationId xmlns:a16="http://schemas.microsoft.com/office/drawing/2014/main" id="{AA06FDA4-BF2C-5E66-0532-548B7F11AA99}"/>
              </a:ext>
            </a:extLst>
          </p:cNvPr>
          <p:cNvSpPr txBox="1"/>
          <p:nvPr/>
        </p:nvSpPr>
        <p:spPr>
          <a:xfrm>
            <a:off x="0" y="832847"/>
            <a:ext cx="12192000" cy="523220"/>
          </a:xfrm>
          <a:prstGeom prst="rect">
            <a:avLst/>
          </a:prstGeom>
          <a:noFill/>
        </p:spPr>
        <p:txBody>
          <a:bodyPr wrap="square">
            <a:spAutoFit/>
          </a:bodyPr>
          <a:lstStyle/>
          <a:p>
            <a:pPr algn="ctr"/>
            <a:r>
              <a:rPr lang="tr-TR" sz="2800" noProof="0">
                <a:effectLst>
                  <a:outerShdw blurRad="38100" dist="38100" dir="2700000" algn="tl">
                    <a:srgbClr val="000000">
                      <a:alpha val="43137"/>
                    </a:srgbClr>
                  </a:outerShdw>
                </a:effectLst>
                <a:latin typeface="Arial" panose="020B0604020202020204" pitchFamily="34" charset="0"/>
                <a:cs typeface="Arial" panose="020B0604020202020204" pitchFamily="34" charset="0"/>
              </a:rPr>
              <a:t>TF-IDF Tabanlı Ayırt Edici Kelimeler ve K-</a:t>
            </a:r>
            <a:r>
              <a:rPr lang="tr-TR" sz="2800" noProof="0" dirty="0" err="1">
                <a:effectLst>
                  <a:outerShdw blurRad="38100" dist="38100" dir="2700000" algn="tl">
                    <a:srgbClr val="000000">
                      <a:alpha val="43137"/>
                    </a:srgbClr>
                  </a:outerShdw>
                </a:effectLst>
                <a:latin typeface="Arial" panose="020B0604020202020204" pitchFamily="34" charset="0"/>
                <a:cs typeface="Arial" panose="020B0604020202020204" pitchFamily="34" charset="0"/>
              </a:rPr>
              <a:t>Means</a:t>
            </a:r>
            <a:r>
              <a:rPr lang="tr-TR" sz="2800" noProof="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Kümeleme Yorumu</a:t>
            </a:r>
          </a:p>
        </p:txBody>
      </p:sp>
      <p:pic>
        <p:nvPicPr>
          <p:cNvPr id="9" name="Picture 8">
            <a:extLst>
              <a:ext uri="{FF2B5EF4-FFF2-40B4-BE49-F238E27FC236}">
                <a16:creationId xmlns:a16="http://schemas.microsoft.com/office/drawing/2014/main" id="{A4239F7D-B7AE-1D2A-678E-4AD24E92E875}"/>
              </a:ext>
            </a:extLst>
          </p:cNvPr>
          <p:cNvPicPr>
            <a:picLocks noChangeAspect="1"/>
          </p:cNvPicPr>
          <p:nvPr/>
        </p:nvPicPr>
        <p:blipFill>
          <a:blip r:embed="rId2"/>
          <a:srcRect r="5509"/>
          <a:stretch>
            <a:fillRect/>
          </a:stretch>
        </p:blipFill>
        <p:spPr>
          <a:xfrm>
            <a:off x="6876759" y="1855722"/>
            <a:ext cx="4366204" cy="3706878"/>
          </a:xfrm>
          <a:prstGeom prst="rect">
            <a:avLst/>
          </a:prstGeom>
        </p:spPr>
      </p:pic>
    </p:spTree>
    <p:extLst>
      <p:ext uri="{BB962C8B-B14F-4D97-AF65-F5344CB8AC3E}">
        <p14:creationId xmlns:p14="http://schemas.microsoft.com/office/powerpoint/2010/main" val="34216844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4CEB32F-6F82-3D28-DBE9-20B3541B0CFA}"/>
              </a:ext>
            </a:extLst>
          </p:cNvPr>
          <p:cNvPicPr>
            <a:picLocks noChangeAspect="1"/>
          </p:cNvPicPr>
          <p:nvPr/>
        </p:nvPicPr>
        <p:blipFill>
          <a:blip r:embed="rId2"/>
          <a:stretch>
            <a:fillRect/>
          </a:stretch>
        </p:blipFill>
        <p:spPr>
          <a:xfrm>
            <a:off x="982207" y="2060925"/>
            <a:ext cx="2542902" cy="2619561"/>
          </a:xfrm>
          <a:prstGeom prst="rect">
            <a:avLst/>
          </a:prstGeom>
        </p:spPr>
      </p:pic>
      <p:sp>
        <p:nvSpPr>
          <p:cNvPr id="4" name="Rectangle 1">
            <a:extLst>
              <a:ext uri="{FF2B5EF4-FFF2-40B4-BE49-F238E27FC236}">
                <a16:creationId xmlns:a16="http://schemas.microsoft.com/office/drawing/2014/main" id="{D2070CB4-90C9-76FF-EE2B-187F5BCF117F}"/>
              </a:ext>
            </a:extLst>
          </p:cNvPr>
          <p:cNvSpPr>
            <a:spLocks noChangeArrowheads="1"/>
          </p:cNvSpPr>
          <p:nvPr/>
        </p:nvSpPr>
        <p:spPr bwMode="auto">
          <a:xfrm>
            <a:off x="3442855" y="1788920"/>
            <a:ext cx="7329054" cy="3509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lnSpc>
                <a:spcPct val="114000"/>
              </a:lnSpc>
              <a:spcBef>
                <a:spcPct val="0"/>
              </a:spcBef>
              <a:spcAft>
                <a:spcPct val="0"/>
              </a:spcAft>
            </a:pPr>
            <a:r>
              <a:rPr lang="tr-TR" sz="1400" noProof="0" dirty="0">
                <a:latin typeface="Arial" panose="020B0604020202020204" pitchFamily="34" charset="0"/>
                <a:cs typeface="Arial" panose="020B0604020202020204" pitchFamily="34" charset="0"/>
              </a:rPr>
              <a:t>K-</a:t>
            </a:r>
            <a:r>
              <a:rPr lang="tr-TR" sz="1400" noProof="0" dirty="0" err="1">
                <a:latin typeface="Arial" panose="020B0604020202020204" pitchFamily="34" charset="0"/>
                <a:cs typeface="Arial" panose="020B0604020202020204" pitchFamily="34" charset="0"/>
              </a:rPr>
              <a:t>Means</a:t>
            </a:r>
            <a:r>
              <a:rPr lang="tr-TR" sz="1400" noProof="0" dirty="0">
                <a:latin typeface="Arial" panose="020B0604020202020204" pitchFamily="34" charset="0"/>
                <a:cs typeface="Arial" panose="020B0604020202020204" pitchFamily="34" charset="0"/>
              </a:rPr>
              <a:t> algoritması tarafından üretilen küme numaraları doğrudan anlamsal bir ifade taşımamaktadır. Bu nedenle her küme, içerdiği metinler ve TF-IDF ağırlıkları dikkate alınarak tematik olarak yorumlanmıştır.</a:t>
            </a:r>
            <a:endParaRPr kumimoji="0" lang="tr-TR" sz="1400" i="0" u="none" strike="noStrike" cap="none" normalizeH="0" baseline="0" noProof="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Küme 0 (Frekans: 29.724): Nutuk metninin büyük bölümünü oluşturan bu küme, genel anlatı ve temel söylem yapısını temsil etmektedir. Metnin ana akışı ve ortak dili bu kümede yoğunlaşmıştır.</a:t>
            </a:r>
          </a:p>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Küme 1 (Frekans: 1): Çok düşük frekansı nedeniyle istisnai nitelikte olup, bağlamdan kopuk veya tekil bir metin parçasını temsil etmektedir.</a:t>
            </a:r>
          </a:p>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Küme 2 (Frekans: 121): Askerî süreçler, mücadele ve operasyonel anlatılar etrafında şekillenen metin bölümlerini içermektedir.</a:t>
            </a:r>
          </a:p>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Küme 3 (Frekans: 66): Tarihsel olaylar ve kronolojik anlatımların yoğunlaştığı metin parçalarını temsil etmektedir.</a:t>
            </a:r>
          </a:p>
          <a:p>
            <a:pPr marL="0" marR="0" lvl="0" indent="0" algn="l" defTabSz="914400" rtl="0" eaLnBrk="0" fontAlgn="base" latinLnBrk="0" hangingPunct="0">
              <a:lnSpc>
                <a:spcPct val="114000"/>
              </a:lnSpc>
              <a:spcBef>
                <a:spcPct val="0"/>
              </a:spcBef>
              <a:spcAft>
                <a:spcPct val="0"/>
              </a:spcAft>
              <a:buClrTx/>
              <a:buSzTx/>
              <a:buFontTx/>
              <a:buChar char="•"/>
              <a:tabLst/>
            </a:pPr>
            <a:r>
              <a:rPr kumimoji="0" lang="tr-TR" sz="140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Küme 4 (Frekans: 43): Özel kişiler, isimler ve bağlama özgü ifadelerin yer aldığı bölümlerden oluşmaktadır.</a:t>
            </a:r>
          </a:p>
        </p:txBody>
      </p:sp>
      <p:sp>
        <p:nvSpPr>
          <p:cNvPr id="6" name="TextBox 5">
            <a:extLst>
              <a:ext uri="{FF2B5EF4-FFF2-40B4-BE49-F238E27FC236}">
                <a16:creationId xmlns:a16="http://schemas.microsoft.com/office/drawing/2014/main" id="{DD54D2DC-AC82-B966-3528-8EC9CAB46491}"/>
              </a:ext>
            </a:extLst>
          </p:cNvPr>
          <p:cNvSpPr txBox="1"/>
          <p:nvPr/>
        </p:nvSpPr>
        <p:spPr>
          <a:xfrm>
            <a:off x="0" y="1035925"/>
            <a:ext cx="12192000" cy="523220"/>
          </a:xfrm>
          <a:prstGeom prst="rect">
            <a:avLst/>
          </a:prstGeom>
          <a:noFill/>
        </p:spPr>
        <p:txBody>
          <a:bodyPr wrap="square">
            <a:spAutoFit/>
          </a:bodyPr>
          <a:lstStyle/>
          <a:p>
            <a:pPr algn="ctr"/>
            <a:r>
              <a:rPr lang="tr-TR" sz="2800" noProof="0">
                <a:effectLst>
                  <a:outerShdw blurRad="38100" dist="38100" dir="2700000" algn="tl">
                    <a:srgbClr val="000000">
                      <a:alpha val="43137"/>
                    </a:srgbClr>
                  </a:outerShdw>
                </a:effectLst>
                <a:latin typeface="Arial" panose="020B0604020202020204" pitchFamily="34" charset="0"/>
                <a:cs typeface="Arial" panose="020B0604020202020204" pitchFamily="34" charset="0"/>
              </a:rPr>
              <a:t>K-</a:t>
            </a:r>
            <a:r>
              <a:rPr lang="tr-TR" sz="2800" noProof="0" dirty="0" err="1">
                <a:effectLst>
                  <a:outerShdw blurRad="38100" dist="38100" dir="2700000" algn="tl">
                    <a:srgbClr val="000000">
                      <a:alpha val="43137"/>
                    </a:srgbClr>
                  </a:outerShdw>
                </a:effectLst>
                <a:latin typeface="Arial" panose="020B0604020202020204" pitchFamily="34" charset="0"/>
                <a:cs typeface="Arial" panose="020B0604020202020204" pitchFamily="34" charset="0"/>
              </a:rPr>
              <a:t>Means</a:t>
            </a:r>
            <a:r>
              <a:rPr lang="tr-TR" sz="2800" noProof="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Küme Dağılımı ve Tematik Yorumlar</a:t>
            </a:r>
          </a:p>
        </p:txBody>
      </p:sp>
    </p:spTree>
    <p:extLst>
      <p:ext uri="{BB962C8B-B14F-4D97-AF65-F5344CB8AC3E}">
        <p14:creationId xmlns:p14="http://schemas.microsoft.com/office/powerpoint/2010/main" val="24375311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CED4761-07C2-64E2-3AB8-F4FE7B840FEC}"/>
              </a:ext>
            </a:extLst>
          </p:cNvPr>
          <p:cNvSpPr txBox="1"/>
          <p:nvPr/>
        </p:nvSpPr>
        <p:spPr>
          <a:xfrm>
            <a:off x="1790699" y="1565484"/>
            <a:ext cx="8610601" cy="4001095"/>
          </a:xfrm>
          <a:prstGeom prst="rect">
            <a:avLst/>
          </a:prstGeom>
          <a:noFill/>
        </p:spPr>
        <p:txBody>
          <a:bodyPr wrap="square">
            <a:spAutoFit/>
          </a:bodyPr>
          <a:lstStyle/>
          <a:p>
            <a:pPr>
              <a:lnSpc>
                <a:spcPct val="114000"/>
              </a:lnSpc>
              <a:buNone/>
            </a:pPr>
            <a:r>
              <a:rPr lang="tr-TR" sz="1400" noProof="0" dirty="0">
                <a:latin typeface="Arial" panose="020B0604020202020204" pitchFamily="34" charset="0"/>
                <a:cs typeface="Arial" panose="020B0604020202020204" pitchFamily="34" charset="0"/>
              </a:rPr>
              <a:t>Bu çalışma kapsamında Nutuk metni, </a:t>
            </a:r>
            <a:r>
              <a:rPr lang="tr-TR" sz="1400" noProof="0" dirty="0" err="1">
                <a:latin typeface="Arial" panose="020B0604020202020204" pitchFamily="34" charset="0"/>
                <a:cs typeface="Arial" panose="020B0604020202020204" pitchFamily="34" charset="0"/>
              </a:rPr>
              <a:t>PySpark</a:t>
            </a:r>
            <a:r>
              <a:rPr lang="tr-TR" sz="1400" noProof="0" dirty="0">
                <a:latin typeface="Arial" panose="020B0604020202020204" pitchFamily="34" charset="0"/>
                <a:cs typeface="Arial" panose="020B0604020202020204" pitchFamily="34" charset="0"/>
              </a:rPr>
              <a:t> tabanlı metin madenciliği ve denetimsiz makine öğrenmesi yöntemleri kullanılarak sistematik biçimde analiz edilmiştir. Analiz sürecinde metin; içerik dışı yapısal unsurlardan arındırılmış, </a:t>
            </a:r>
            <a:r>
              <a:rPr lang="tr-TR" sz="1400" noProof="0" dirty="0" err="1">
                <a:latin typeface="Arial" panose="020B0604020202020204" pitchFamily="34" charset="0"/>
                <a:cs typeface="Arial" panose="020B0604020202020204" pitchFamily="34" charset="0"/>
              </a:rPr>
              <a:t>stopword</a:t>
            </a:r>
            <a:r>
              <a:rPr lang="tr-TR" sz="1400" noProof="0" dirty="0">
                <a:latin typeface="Arial" panose="020B0604020202020204" pitchFamily="34" charset="0"/>
                <a:cs typeface="Arial" panose="020B0604020202020204" pitchFamily="34" charset="0"/>
              </a:rPr>
              <a:t> etkisi azaltılmış, aşırı kısa ve aşırı uzun satırlar elenmiş ve anlam taşıyan kelimeler korunarak temizlenmiş ve dengelenmiş bir veri seti oluşturulmuştur. Bu ön işlemler, metnin analiz edilebilirliğini artırmayı amaçlamıştır.</a:t>
            </a:r>
          </a:p>
          <a:p>
            <a:pPr>
              <a:lnSpc>
                <a:spcPct val="114000"/>
              </a:lnSpc>
              <a:buNone/>
            </a:pPr>
            <a:r>
              <a:rPr lang="tr-TR" sz="1400" noProof="0" dirty="0">
                <a:latin typeface="Arial" panose="020B0604020202020204" pitchFamily="34" charset="0"/>
                <a:cs typeface="Arial" panose="020B0604020202020204" pitchFamily="34" charset="0"/>
              </a:rPr>
              <a:t>Kelime frekansı ve TF-IDF analizleri, ham veri üzerinde bağlaç ve işlev kelimelerinin baskın olduğunu ve bu durumun metnin tematik yapısının görünürlüğünü azalttığını ortaya koymuştur. Temizlik ve dengeleme adımlarının ardından ise metinde anlam taşıyan kavramların daha belirgin hâle geldiği ve kelime ağırlıklarının daha dengeli bir dağılım sergilediği gözlemlenmiştir.</a:t>
            </a:r>
          </a:p>
          <a:p>
            <a:pPr>
              <a:lnSpc>
                <a:spcPct val="114000"/>
              </a:lnSpc>
              <a:buNone/>
            </a:pPr>
            <a:r>
              <a:rPr lang="tr-TR" sz="1400" noProof="0" dirty="0">
                <a:latin typeface="Arial" panose="020B0604020202020204" pitchFamily="34" charset="0"/>
                <a:cs typeface="Arial" panose="020B0604020202020204" pitchFamily="34" charset="0"/>
              </a:rPr>
              <a:t>TF-IDF ile elde edilen sayısal özellikler kullanılarak uygulanan K-</a:t>
            </a:r>
            <a:r>
              <a:rPr lang="tr-TR" sz="1400" noProof="0" dirty="0" err="1">
                <a:latin typeface="Arial" panose="020B0604020202020204" pitchFamily="34" charset="0"/>
                <a:cs typeface="Arial" panose="020B0604020202020204" pitchFamily="34" charset="0"/>
              </a:rPr>
              <a:t>Means</a:t>
            </a:r>
            <a:r>
              <a:rPr lang="tr-TR" sz="1400" noProof="0" dirty="0">
                <a:latin typeface="Arial" panose="020B0604020202020204" pitchFamily="34" charset="0"/>
                <a:cs typeface="Arial" panose="020B0604020202020204" pitchFamily="34" charset="0"/>
              </a:rPr>
              <a:t> kümeleme analizi sonucunda, Nutuk metninin tek tip bir anlatım yapısına sahip olmadığı belirlenmiştir. Küme dağılımları, metnin genel anlatı, siyasal kararlar, askerî süreçler ve tarihsel olaylar gibi farklı temalar etrafında şekillendiğini göstermiştir.</a:t>
            </a:r>
          </a:p>
          <a:p>
            <a:pPr>
              <a:lnSpc>
                <a:spcPct val="114000"/>
              </a:lnSpc>
              <a:buNone/>
            </a:pPr>
            <a:r>
              <a:rPr lang="tr-TR" sz="1400" noProof="0" dirty="0">
                <a:latin typeface="Arial" panose="020B0604020202020204" pitchFamily="34" charset="0"/>
                <a:cs typeface="Arial" panose="020B0604020202020204" pitchFamily="34" charset="0"/>
              </a:rPr>
              <a:t>Sonuç olarak, bu çalışmada uygulanan metin temizliği, TF-IDF ve kümeleme adımları; tarihsel ve uzun metinlerin sayısal yöntemlerle anlamlı, tutarlı ve yorumlanabilir biçimde analiz edilebileceğini ortaya koymaktadır.</a:t>
            </a:r>
          </a:p>
        </p:txBody>
      </p:sp>
      <p:sp>
        <p:nvSpPr>
          <p:cNvPr id="9" name="TextBox 8">
            <a:extLst>
              <a:ext uri="{FF2B5EF4-FFF2-40B4-BE49-F238E27FC236}">
                <a16:creationId xmlns:a16="http://schemas.microsoft.com/office/drawing/2014/main" id="{509717DC-1BD8-5D5E-58E2-4305A5C4DD94}"/>
              </a:ext>
            </a:extLst>
          </p:cNvPr>
          <p:cNvSpPr txBox="1"/>
          <p:nvPr/>
        </p:nvSpPr>
        <p:spPr>
          <a:xfrm>
            <a:off x="0" y="801296"/>
            <a:ext cx="12192000" cy="523220"/>
          </a:xfrm>
          <a:prstGeom prst="rect">
            <a:avLst/>
          </a:prstGeom>
          <a:noFill/>
        </p:spPr>
        <p:txBody>
          <a:bodyPr wrap="square">
            <a:spAutoFit/>
          </a:bodyPr>
          <a:lstStyle/>
          <a:p>
            <a:pPr algn="ctr">
              <a:buNone/>
            </a:pPr>
            <a:r>
              <a:rPr lang="en-US" sz="28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SONUÇ VE DEĞERLENDİRME</a:t>
            </a:r>
          </a:p>
        </p:txBody>
      </p:sp>
    </p:spTree>
    <p:extLst>
      <p:ext uri="{BB962C8B-B14F-4D97-AF65-F5344CB8AC3E}">
        <p14:creationId xmlns:p14="http://schemas.microsoft.com/office/powerpoint/2010/main" val="39478100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24EC99-0DB0-DB82-A0E3-57BBF86DBFDE}"/>
              </a:ext>
            </a:extLst>
          </p:cNvPr>
          <p:cNvPicPr>
            <a:picLocks noChangeAspect="1"/>
          </p:cNvPicPr>
          <p:nvPr/>
        </p:nvPicPr>
        <p:blipFill>
          <a:blip r:embed="rId2"/>
          <a:stretch>
            <a:fillRect/>
          </a:stretch>
        </p:blipFill>
        <p:spPr>
          <a:xfrm>
            <a:off x="807924" y="926212"/>
            <a:ext cx="2505261" cy="3604223"/>
          </a:xfrm>
          <a:prstGeom prst="rect">
            <a:avLst/>
          </a:prstGeom>
        </p:spPr>
      </p:pic>
      <p:sp>
        <p:nvSpPr>
          <p:cNvPr id="4" name="TextBox 3">
            <a:extLst>
              <a:ext uri="{FF2B5EF4-FFF2-40B4-BE49-F238E27FC236}">
                <a16:creationId xmlns:a16="http://schemas.microsoft.com/office/drawing/2014/main" id="{3F9F3E32-589E-BDA0-23B9-FF65C498EFD4}"/>
              </a:ext>
            </a:extLst>
          </p:cNvPr>
          <p:cNvSpPr txBox="1"/>
          <p:nvPr/>
        </p:nvSpPr>
        <p:spPr>
          <a:xfrm>
            <a:off x="4107872" y="2663536"/>
            <a:ext cx="6096000" cy="1350819"/>
          </a:xfrm>
          <a:prstGeom prst="rect">
            <a:avLst/>
          </a:prstGeom>
          <a:noFill/>
        </p:spPr>
        <p:txBody>
          <a:bodyPr wrap="square">
            <a:spAutoFit/>
          </a:bodyPr>
          <a:lstStyle/>
          <a:p>
            <a:pPr>
              <a:lnSpc>
                <a:spcPct val="115000"/>
              </a:lnSpc>
              <a:spcAft>
                <a:spcPts val="800"/>
              </a:spcAft>
              <a:buNone/>
            </a:pPr>
            <a:r>
              <a:rPr lang="tr-TR" sz="1800" u="sng" kern="100" dirty="0">
                <a:solidFill>
                  <a:srgbClr val="467886"/>
                </a:solidFill>
                <a:effectLst/>
                <a:latin typeface="Aptos" panose="020B0004020202020204" pitchFamily="34" charset="0"/>
                <a:ea typeface="Aptos" panose="020B0004020202020204" pitchFamily="34" charset="0"/>
                <a:cs typeface="Arial" panose="020B0604020202020204" pitchFamily="34" charset="0"/>
                <a:hlinkClick r:id="rId3"/>
              </a:rPr>
              <a:t>https://archive.org/stream/nutukmustafakemalataturkpdfdrive.com/Nutuk%20-%20Mustafa%20Kemal%20Atat%C3%BCrk%20%28%20PDFDrive.com%20%29_djvu.txt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6904BD68-2920-7562-34C0-A2871E8DFF30}"/>
              </a:ext>
            </a:extLst>
          </p:cNvPr>
          <p:cNvSpPr txBox="1"/>
          <p:nvPr/>
        </p:nvSpPr>
        <p:spPr>
          <a:xfrm>
            <a:off x="4301838" y="1295400"/>
            <a:ext cx="5172185" cy="523220"/>
          </a:xfrm>
          <a:prstGeom prst="rect">
            <a:avLst/>
          </a:prstGeom>
          <a:noFill/>
        </p:spPr>
        <p:txBody>
          <a:bodyPr wrap="none" rtlCol="0">
            <a:spAutoFit/>
          </a:bodyPr>
          <a:lstStyle/>
          <a:p>
            <a:r>
              <a:rPr lang="tr-TR" sz="2800" noProof="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KAYNAKÇA ve VERİ KAYNAĞI</a:t>
            </a:r>
          </a:p>
        </p:txBody>
      </p:sp>
    </p:spTree>
    <p:extLst>
      <p:ext uri="{BB962C8B-B14F-4D97-AF65-F5344CB8AC3E}">
        <p14:creationId xmlns:p14="http://schemas.microsoft.com/office/powerpoint/2010/main" val="39346429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FBCFA4-000B-3F87-9299-BFF6EB2E57FF}"/>
              </a:ext>
            </a:extLst>
          </p:cNvPr>
          <p:cNvSpPr txBox="1"/>
          <p:nvPr/>
        </p:nvSpPr>
        <p:spPr>
          <a:xfrm>
            <a:off x="339436" y="2227308"/>
            <a:ext cx="9164782" cy="1979205"/>
          </a:xfrm>
          <a:prstGeom prst="rect">
            <a:avLst/>
          </a:prstGeom>
          <a:noFill/>
        </p:spPr>
        <p:txBody>
          <a:bodyPr wrap="square" rtlCol="0">
            <a:spAutoFit/>
          </a:bodyPr>
          <a:lstStyle/>
          <a:p>
            <a:pPr algn="ctr">
              <a:lnSpc>
                <a:spcPct val="150000"/>
              </a:lnSpc>
            </a:pPr>
            <a:r>
              <a:rPr lang="tr-TR" sz="28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ÖNCE ATAM’A </a:t>
            </a:r>
          </a:p>
          <a:p>
            <a:pPr algn="ctr">
              <a:lnSpc>
                <a:spcPct val="150000"/>
              </a:lnSpc>
            </a:pPr>
            <a:r>
              <a:rPr lang="tr-TR" sz="28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SONRA SİZLERE </a:t>
            </a:r>
          </a:p>
          <a:p>
            <a:pPr algn="ctr">
              <a:lnSpc>
                <a:spcPct val="150000"/>
              </a:lnSpc>
            </a:pPr>
            <a:r>
              <a:rPr lang="tr-TR" sz="28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BENİ DİNLEDİĞİNİZ İÇİN TEŞEKKÜR EDERİM</a:t>
            </a:r>
            <a:r>
              <a:rPr lang="tr-TR" dirty="0"/>
              <a:t>.</a:t>
            </a:r>
          </a:p>
        </p:txBody>
      </p:sp>
      <p:pic>
        <p:nvPicPr>
          <p:cNvPr id="15" name="Picture 14">
            <a:extLst>
              <a:ext uri="{FF2B5EF4-FFF2-40B4-BE49-F238E27FC236}">
                <a16:creationId xmlns:a16="http://schemas.microsoft.com/office/drawing/2014/main" id="{2D72E7FA-FD81-301C-66B9-AB988AD963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20201" y="949347"/>
            <a:ext cx="2632363" cy="3257166"/>
          </a:xfrm>
          <a:prstGeom prst="rect">
            <a:avLst/>
          </a:prstGeom>
        </p:spPr>
      </p:pic>
    </p:spTree>
    <p:extLst>
      <p:ext uri="{BB962C8B-B14F-4D97-AF65-F5344CB8AC3E}">
        <p14:creationId xmlns:p14="http://schemas.microsoft.com/office/powerpoint/2010/main" val="3666174460"/>
      </p:ext>
    </p:extLst>
  </p:cSld>
  <p:clrMapOvr>
    <a:masterClrMapping/>
  </p:clrMapOvr>
</p:sld>
</file>

<file path=ppt/theme/theme1.xml><?xml version="1.0" encoding="utf-8"?>
<a:theme xmlns:a="http://schemas.openxmlformats.org/drawingml/2006/main" name="Retrospect">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2604</TotalTime>
  <Words>4519</Words>
  <Application>Microsoft Office PowerPoint</Application>
  <PresentationFormat>Widescreen</PresentationFormat>
  <Paragraphs>390</Paragraphs>
  <Slides>35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Aptos</vt:lpstr>
      <vt:lpstr>Arial</vt:lpstr>
      <vt:lpstr>Calibri</vt:lpstr>
      <vt:lpstr>Calibri Light</vt:lpstr>
      <vt:lpstr>system-ui</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Gülfiz POYRAZ</dc:creator>
  <cp:lastModifiedBy>Gülfiz POYRAZ</cp:lastModifiedBy>
  <cp:revision>69</cp:revision>
  <dcterms:created xsi:type="dcterms:W3CDTF">2026-01-01T16:01:57Z</dcterms:created>
  <dcterms:modified xsi:type="dcterms:W3CDTF">2026-01-09T13:34:01Z</dcterms:modified>
</cp:coreProperties>
</file>