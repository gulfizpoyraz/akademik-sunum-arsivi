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3.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4.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theme/themeOverride1.xml" ContentType="application/vnd.openxmlformats-officedocument.themeOverr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54" r:id="rId1"/>
  </p:sldMasterIdLst>
  <p:notesMasterIdLst>
    <p:notesMasterId r:id="rId33"/>
  </p:notesMasterIdLst>
  <p:sldIdLst>
    <p:sldId id="257" r:id="rId2"/>
    <p:sldId id="256" r:id="rId3"/>
    <p:sldId id="258" r:id="rId4"/>
    <p:sldId id="337" r:id="rId5"/>
    <p:sldId id="311" r:id="rId6"/>
    <p:sldId id="287" r:id="rId7"/>
    <p:sldId id="310" r:id="rId8"/>
    <p:sldId id="312" r:id="rId9"/>
    <p:sldId id="288" r:id="rId10"/>
    <p:sldId id="289" r:id="rId11"/>
    <p:sldId id="317" r:id="rId12"/>
    <p:sldId id="319" r:id="rId13"/>
    <p:sldId id="315" r:id="rId14"/>
    <p:sldId id="314" r:id="rId15"/>
    <p:sldId id="316" r:id="rId16"/>
    <p:sldId id="320" r:id="rId17"/>
    <p:sldId id="318" r:id="rId18"/>
    <p:sldId id="325" r:id="rId19"/>
    <p:sldId id="322" r:id="rId20"/>
    <p:sldId id="321" r:id="rId21"/>
    <p:sldId id="323" r:id="rId22"/>
    <p:sldId id="328" r:id="rId23"/>
    <p:sldId id="326" r:id="rId24"/>
    <p:sldId id="327" r:id="rId25"/>
    <p:sldId id="308" r:id="rId26"/>
    <p:sldId id="329" r:id="rId27"/>
    <p:sldId id="330" r:id="rId28"/>
    <p:sldId id="334" r:id="rId29"/>
    <p:sldId id="331" r:id="rId30"/>
    <p:sldId id="336" r:id="rId31"/>
    <p:sldId id="333" r:id="rId3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poyraz" initials="d" lastIdx="2" clrIdx="0">
    <p:extLst>
      <p:ext uri="{19B8F6BF-5375-455C-9EA6-DF929625EA0E}">
        <p15:presenceInfo xmlns:p15="http://schemas.microsoft.com/office/powerpoint/2012/main" userId="d1a37447a425062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A0000"/>
    <a:srgbClr val="CFE0EA"/>
    <a:srgbClr val="0066FF"/>
    <a:srgbClr val="FC085F"/>
    <a:srgbClr val="0C824F"/>
    <a:srgbClr val="E2AC00"/>
    <a:srgbClr val="A50C00"/>
    <a:srgbClr val="CC0000"/>
    <a:srgbClr val="FA6D5E"/>
    <a:srgbClr val="90061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6" autoAdjust="0"/>
    <p:restoredTop sz="94660"/>
  </p:normalViewPr>
  <p:slideViewPr>
    <p:cSldViewPr snapToGrid="0">
      <p:cViewPr varScale="1">
        <p:scale>
          <a:sx n="70" d="100"/>
          <a:sy n="70" d="100"/>
        </p:scale>
        <p:origin x="525"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commentAuthors" Target="commentAuthor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charts/_rels/chart1.xml.rels><?xml version="1.0" encoding="UTF-8" standalone="yes"?>
<Relationships xmlns="http://schemas.openxmlformats.org/package/2006/relationships"><Relationship Id="rId3" Type="http://schemas.openxmlformats.org/officeDocument/2006/relationships/oleObject" Target="file:///C:\Users\90533\Downloads\Coklu_Yuzdelik_Pasta_Grafigi_Verileri.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dPt>
            <c:idx val="0"/>
            <c:bubble3D val="0"/>
            <c:spPr>
              <a:solidFill>
                <a:srgbClr val="0070C0"/>
              </a:solidFill>
              <a:ln w="19050">
                <a:solidFill>
                  <a:srgbClr val="0070C0"/>
                </a:solidFill>
              </a:ln>
              <a:effectLst/>
            </c:spPr>
            <c:extLst>
              <c:ext xmlns:c16="http://schemas.microsoft.com/office/drawing/2014/chart" uri="{C3380CC4-5D6E-409C-BE32-E72D297353CC}">
                <c16:uniqueId val="{00000001-9439-4D93-8915-BCAB4895239D}"/>
              </c:ext>
            </c:extLst>
          </c:dPt>
          <c:dPt>
            <c:idx val="1"/>
            <c:bubble3D val="0"/>
            <c:spPr>
              <a:solidFill>
                <a:srgbClr val="C00000"/>
              </a:solidFill>
              <a:ln w="19050">
                <a:solidFill>
                  <a:srgbClr val="C00000"/>
                </a:solidFill>
              </a:ln>
              <a:effectLst/>
            </c:spPr>
            <c:extLst>
              <c:ext xmlns:c16="http://schemas.microsoft.com/office/drawing/2014/chart" uri="{C3380CC4-5D6E-409C-BE32-E72D297353CC}">
                <c16:uniqueId val="{00000003-9439-4D93-8915-BCAB4895239D}"/>
              </c:ext>
            </c:extLst>
          </c:dPt>
          <c:dPt>
            <c:idx val="2"/>
            <c:bubble3D val="0"/>
            <c:spPr>
              <a:solidFill>
                <a:srgbClr val="00B050"/>
              </a:solidFill>
              <a:ln w="19050">
                <a:solidFill>
                  <a:srgbClr val="00B050"/>
                </a:solidFill>
              </a:ln>
              <a:effectLst/>
            </c:spPr>
            <c:extLst>
              <c:ext xmlns:c16="http://schemas.microsoft.com/office/drawing/2014/chart" uri="{C3380CC4-5D6E-409C-BE32-E72D297353CC}">
                <c16:uniqueId val="{00000005-9439-4D93-8915-BCAB4895239D}"/>
              </c:ext>
            </c:extLst>
          </c:dPt>
          <c:dPt>
            <c:idx val="3"/>
            <c:bubble3D val="0"/>
            <c:spPr>
              <a:solidFill>
                <a:srgbClr val="7030A0"/>
              </a:solidFill>
              <a:ln w="19050">
                <a:solidFill>
                  <a:srgbClr val="7030A0"/>
                </a:solidFill>
              </a:ln>
              <a:effectLst/>
            </c:spPr>
            <c:extLst>
              <c:ext xmlns:c16="http://schemas.microsoft.com/office/drawing/2014/chart" uri="{C3380CC4-5D6E-409C-BE32-E72D297353CC}">
                <c16:uniqueId val="{00000007-9439-4D93-8915-BCAB4895239D}"/>
              </c:ext>
            </c:extLst>
          </c:dPt>
          <c:dPt>
            <c:idx val="4"/>
            <c:bubble3D val="0"/>
            <c:spPr>
              <a:solidFill>
                <a:srgbClr val="FFC000"/>
              </a:solidFill>
              <a:ln w="19050">
                <a:solidFill>
                  <a:srgbClr val="FFC000"/>
                </a:solidFill>
              </a:ln>
              <a:effectLst/>
            </c:spPr>
            <c:extLst>
              <c:ext xmlns:c16="http://schemas.microsoft.com/office/drawing/2014/chart" uri="{C3380CC4-5D6E-409C-BE32-E72D297353CC}">
                <c16:uniqueId val="{00000009-9439-4D93-8915-BCAB4895239D}"/>
              </c:ext>
            </c:extLst>
          </c:dPt>
          <c:dPt>
            <c:idx val="5"/>
            <c:bubble3D val="0"/>
            <c:spPr>
              <a:solidFill>
                <a:srgbClr val="92D050"/>
              </a:solidFill>
              <a:ln w="19050">
                <a:solidFill>
                  <a:srgbClr val="92D050"/>
                </a:solidFill>
              </a:ln>
              <a:effectLst/>
            </c:spPr>
            <c:extLst>
              <c:ext xmlns:c16="http://schemas.microsoft.com/office/drawing/2014/chart" uri="{C3380CC4-5D6E-409C-BE32-E72D297353CC}">
                <c16:uniqueId val="{0000000B-9439-4D93-8915-BCAB4895239D}"/>
              </c:ext>
            </c:extLst>
          </c:dPt>
          <c:cat>
            <c:strRef>
              <c:f>Sheet1!$A$2:$A$7</c:f>
              <c:strCache>
                <c:ptCount val="6"/>
                <c:pt idx="0">
                  <c:v>PII (Kişisel Bilgiler)</c:v>
                </c:pt>
                <c:pt idx="1">
                  <c:v>PHI (Sağlık Verileri)</c:v>
                </c:pt>
                <c:pt idx="2">
                  <c:v>IP (Fikri Mülkiyet)</c:v>
                </c:pt>
                <c:pt idx="3">
                  <c:v>Finansal Veriler</c:v>
                </c:pt>
                <c:pt idx="4">
                  <c:v>Operasyonel Veriler</c:v>
                </c:pt>
                <c:pt idx="5">
                  <c:v>İş Açısından Kritik Veriler</c:v>
                </c:pt>
              </c:strCache>
            </c:strRef>
          </c:cat>
          <c:val>
            <c:numRef>
              <c:f>Sheet1!$B$2:$B$7</c:f>
              <c:numCache>
                <c:formatCode>0</c:formatCode>
                <c:ptCount val="6"/>
                <c:pt idx="0">
                  <c:v>36.585365853658537</c:v>
                </c:pt>
                <c:pt idx="1">
                  <c:v>12.195121951219511</c:v>
                </c:pt>
                <c:pt idx="2">
                  <c:v>14.63414634146341</c:v>
                </c:pt>
                <c:pt idx="3">
                  <c:v>19.512195121951219</c:v>
                </c:pt>
                <c:pt idx="4">
                  <c:v>17.073170731707322</c:v>
                </c:pt>
                <c:pt idx="5">
                  <c:v>10.487804878048699</c:v>
                </c:pt>
              </c:numCache>
            </c:numRef>
          </c:val>
          <c:extLst>
            <c:ext xmlns:c16="http://schemas.microsoft.com/office/drawing/2014/chart" uri="{C3380CC4-5D6E-409C-BE32-E72D297353CC}">
              <c16:uniqueId val="{0000000C-9439-4D93-8915-BCAB4895239D}"/>
            </c:ext>
          </c:extLst>
        </c:ser>
        <c:ser>
          <c:idx val="1"/>
          <c:order val="1"/>
          <c:spPr>
            <a:solidFill>
              <a:srgbClr val="0070C0"/>
            </a:solidFill>
            <a:ln w="6350"/>
          </c:spPr>
          <c:dPt>
            <c:idx val="0"/>
            <c:bubble3D val="0"/>
            <c:spPr>
              <a:solidFill>
                <a:srgbClr val="0070C0"/>
              </a:solidFill>
              <a:ln w="6350">
                <a:solidFill>
                  <a:srgbClr val="0070C0"/>
                </a:solidFill>
              </a:ln>
              <a:effectLst/>
            </c:spPr>
            <c:extLst>
              <c:ext xmlns:c16="http://schemas.microsoft.com/office/drawing/2014/chart" uri="{C3380CC4-5D6E-409C-BE32-E72D297353CC}">
                <c16:uniqueId val="{0000000E-9439-4D93-8915-BCAB4895239D}"/>
              </c:ext>
            </c:extLst>
          </c:dPt>
          <c:dPt>
            <c:idx val="1"/>
            <c:bubble3D val="0"/>
            <c:spPr>
              <a:solidFill>
                <a:srgbClr val="C00000"/>
              </a:solidFill>
              <a:ln w="6350">
                <a:solidFill>
                  <a:srgbClr val="C00000"/>
                </a:solidFill>
              </a:ln>
              <a:effectLst/>
            </c:spPr>
            <c:extLst>
              <c:ext xmlns:c16="http://schemas.microsoft.com/office/drawing/2014/chart" uri="{C3380CC4-5D6E-409C-BE32-E72D297353CC}">
                <c16:uniqueId val="{00000010-9439-4D93-8915-BCAB4895239D}"/>
              </c:ext>
            </c:extLst>
          </c:dPt>
          <c:dPt>
            <c:idx val="2"/>
            <c:bubble3D val="0"/>
            <c:spPr>
              <a:solidFill>
                <a:srgbClr val="00B050"/>
              </a:solidFill>
              <a:ln w="6350">
                <a:solidFill>
                  <a:srgbClr val="00B050"/>
                </a:solidFill>
              </a:ln>
              <a:effectLst/>
            </c:spPr>
            <c:extLst>
              <c:ext xmlns:c16="http://schemas.microsoft.com/office/drawing/2014/chart" uri="{C3380CC4-5D6E-409C-BE32-E72D297353CC}">
                <c16:uniqueId val="{00000012-9439-4D93-8915-BCAB4895239D}"/>
              </c:ext>
            </c:extLst>
          </c:dPt>
          <c:dPt>
            <c:idx val="3"/>
            <c:bubble3D val="0"/>
            <c:spPr>
              <a:solidFill>
                <a:srgbClr val="7030A0"/>
              </a:solidFill>
              <a:ln w="6350">
                <a:solidFill>
                  <a:srgbClr val="7030A0"/>
                </a:solidFill>
              </a:ln>
              <a:effectLst/>
            </c:spPr>
            <c:extLst>
              <c:ext xmlns:c16="http://schemas.microsoft.com/office/drawing/2014/chart" uri="{C3380CC4-5D6E-409C-BE32-E72D297353CC}">
                <c16:uniqueId val="{00000014-9439-4D93-8915-BCAB4895239D}"/>
              </c:ext>
            </c:extLst>
          </c:dPt>
          <c:dPt>
            <c:idx val="4"/>
            <c:bubble3D val="0"/>
            <c:spPr>
              <a:solidFill>
                <a:srgbClr val="FFC000"/>
              </a:solidFill>
              <a:ln w="6350">
                <a:solidFill>
                  <a:srgbClr val="FFC000"/>
                </a:solidFill>
              </a:ln>
              <a:effectLst/>
            </c:spPr>
            <c:extLst>
              <c:ext xmlns:c16="http://schemas.microsoft.com/office/drawing/2014/chart" uri="{C3380CC4-5D6E-409C-BE32-E72D297353CC}">
                <c16:uniqueId val="{00000016-9439-4D93-8915-BCAB4895239D}"/>
              </c:ext>
            </c:extLst>
          </c:dPt>
          <c:dPt>
            <c:idx val="5"/>
            <c:bubble3D val="0"/>
            <c:spPr>
              <a:solidFill>
                <a:srgbClr val="92D050"/>
              </a:solidFill>
              <a:ln w="6350">
                <a:solidFill>
                  <a:srgbClr val="92D050"/>
                </a:solidFill>
              </a:ln>
              <a:effectLst/>
            </c:spPr>
            <c:extLst>
              <c:ext xmlns:c16="http://schemas.microsoft.com/office/drawing/2014/chart" uri="{C3380CC4-5D6E-409C-BE32-E72D297353CC}">
                <c16:uniqueId val="{00000018-9439-4D93-8915-BCAB4895239D}"/>
              </c:ext>
            </c:extLst>
          </c:dPt>
          <c:dLbls>
            <c:dLbl>
              <c:idx val="0"/>
              <c:layout>
                <c:manualLayout>
                  <c:x val="0.104311027298232"/>
                  <c:y val="-0.12424269631850626"/>
                </c:manualLayout>
              </c:layout>
              <c:spPr>
                <a:solidFill>
                  <a:srgbClr val="4BACC6">
                    <a:lumMod val="40000"/>
                    <a:lumOff val="60000"/>
                  </a:srgbClr>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noAutofit/>
                </a:bodyPr>
                <a:lstStyle/>
                <a:p>
                  <a:pPr>
                    <a:defRPr sz="900" b="0" i="0" u="none" strike="noStrike" kern="1200" baseline="0">
                      <a:solidFill>
                        <a:schemeClr val="dk1">
                          <a:lumMod val="65000"/>
                          <a:lumOff val="35000"/>
                        </a:schemeClr>
                      </a:solidFill>
                      <a:latin typeface="+mn-lt"/>
                      <a:ea typeface="+mn-ea"/>
                      <a:cs typeface="+mn-cs"/>
                    </a:defRPr>
                  </a:pPr>
                  <a:endParaRPr lang="tr-TR"/>
                </a:p>
              </c:txPr>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15:layout>
                    <c:manualLayout>
                      <c:w val="0.12836867829198273"/>
                      <c:h val="0.13587682439859197"/>
                    </c:manualLayout>
                  </c15:layout>
                </c:ext>
                <c:ext xmlns:c16="http://schemas.microsoft.com/office/drawing/2014/chart" uri="{C3380CC4-5D6E-409C-BE32-E72D297353CC}">
                  <c16:uniqueId val="{0000000E-9439-4D93-8915-BCAB4895239D}"/>
                </c:ext>
              </c:extLst>
            </c:dLbl>
            <c:dLbl>
              <c:idx val="1"/>
              <c:layout>
                <c:manualLayout>
                  <c:x val="0.16027531025069952"/>
                  <c:y val="3.3131465397298013E-2"/>
                </c:manualLayout>
              </c:layout>
              <c:spPr>
                <a:solidFill>
                  <a:srgbClr val="4BACC6">
                    <a:lumMod val="40000"/>
                    <a:lumOff val="60000"/>
                  </a:srgbClr>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noAutofit/>
                </a:bodyPr>
                <a:lstStyle/>
                <a:p>
                  <a:pPr>
                    <a:defRPr sz="900" b="0" i="0" u="none" strike="noStrike" kern="1200" baseline="0">
                      <a:solidFill>
                        <a:schemeClr val="dk1">
                          <a:lumMod val="65000"/>
                          <a:lumOff val="35000"/>
                        </a:schemeClr>
                      </a:solidFill>
                      <a:latin typeface="+mn-lt"/>
                      <a:ea typeface="+mn-ea"/>
                      <a:cs typeface="+mn-cs"/>
                    </a:defRPr>
                  </a:pPr>
                  <a:endParaRPr lang="tr-TR"/>
                </a:p>
              </c:txPr>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15:layout>
                    <c:manualLayout>
                      <c:w val="0.12609819570090797"/>
                      <c:h val="0.12759398522393664"/>
                    </c:manualLayout>
                  </c15:layout>
                </c:ext>
                <c:ext xmlns:c16="http://schemas.microsoft.com/office/drawing/2014/chart" uri="{C3380CC4-5D6E-409C-BE32-E72D297353CC}">
                  <c16:uniqueId val="{00000010-9439-4D93-8915-BCAB4895239D}"/>
                </c:ext>
              </c:extLst>
            </c:dLbl>
            <c:dLbl>
              <c:idx val="2"/>
              <c:layout>
                <c:manualLayout>
                  <c:x val="-0.29583906180321617"/>
                  <c:y val="5.2458090138160267E-2"/>
                </c:manualLayout>
              </c:layout>
              <c:spPr>
                <a:solidFill>
                  <a:srgbClr val="4BACC6">
                    <a:lumMod val="40000"/>
                    <a:lumOff val="60000"/>
                  </a:srgbClr>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noAutofit/>
                </a:bodyPr>
                <a:lstStyle/>
                <a:p>
                  <a:pPr>
                    <a:defRPr sz="900" b="0" i="0" u="none" strike="noStrike" kern="1200" baseline="0">
                      <a:solidFill>
                        <a:schemeClr val="dk1">
                          <a:lumMod val="65000"/>
                          <a:lumOff val="35000"/>
                        </a:schemeClr>
                      </a:solidFill>
                      <a:latin typeface="+mn-lt"/>
                      <a:ea typeface="+mn-ea"/>
                      <a:cs typeface="+mn-cs"/>
                    </a:defRPr>
                  </a:pPr>
                  <a:endParaRPr lang="tr-TR"/>
                </a:p>
              </c:txPr>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15:layout>
                    <c:manualLayout>
                      <c:w val="0.12721874563850311"/>
                      <c:h val="0.1552034491394543"/>
                    </c:manualLayout>
                  </c15:layout>
                </c:ext>
                <c:ext xmlns:c16="http://schemas.microsoft.com/office/drawing/2014/chart" uri="{C3380CC4-5D6E-409C-BE32-E72D297353CC}">
                  <c16:uniqueId val="{00000012-9439-4D93-8915-BCAB4895239D}"/>
                </c:ext>
              </c:extLst>
            </c:dLbl>
            <c:dLbl>
              <c:idx val="3"/>
              <c:layout>
                <c:manualLayout>
                  <c:x val="-0.17766886576947014"/>
                  <c:y val="1.3804731957758644E-3"/>
                </c:manualLayout>
              </c:layout>
              <c:spPr>
                <a:solidFill>
                  <a:srgbClr val="4BACC6">
                    <a:lumMod val="40000"/>
                    <a:lumOff val="60000"/>
                  </a:srgbClr>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noAutofit/>
                </a:bodyPr>
                <a:lstStyle/>
                <a:p>
                  <a:pPr>
                    <a:defRPr sz="900" b="0" i="0" u="none" strike="noStrike" kern="1200" baseline="0">
                      <a:solidFill>
                        <a:schemeClr val="dk1">
                          <a:lumMod val="65000"/>
                          <a:lumOff val="35000"/>
                        </a:schemeClr>
                      </a:solidFill>
                      <a:latin typeface="+mn-lt"/>
                      <a:ea typeface="+mn-ea"/>
                      <a:cs typeface="+mn-cs"/>
                    </a:defRPr>
                  </a:pPr>
                  <a:endParaRPr lang="tr-TR"/>
                </a:p>
              </c:txPr>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15:layout>
                    <c:manualLayout>
                      <c:w val="0.11825020584595844"/>
                      <c:h val="0.13311587800704017"/>
                    </c:manualLayout>
                  </c15:layout>
                </c:ext>
                <c:ext xmlns:c16="http://schemas.microsoft.com/office/drawing/2014/chart" uri="{C3380CC4-5D6E-409C-BE32-E72D297353CC}">
                  <c16:uniqueId val="{00000014-9439-4D93-8915-BCAB4895239D}"/>
                </c:ext>
              </c:extLst>
            </c:dLbl>
            <c:dLbl>
              <c:idx val="4"/>
              <c:layout>
                <c:manualLayout>
                  <c:x val="-0.21182985843056495"/>
                  <c:y val="-2.0706989237961455E-2"/>
                </c:manualLayout>
              </c:layout>
              <c:spPr>
                <a:solidFill>
                  <a:srgbClr val="4BACC6">
                    <a:lumMod val="40000"/>
                    <a:lumOff val="60000"/>
                  </a:srgbClr>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noAutofit/>
                </a:bodyPr>
                <a:lstStyle/>
                <a:p>
                  <a:pPr>
                    <a:defRPr sz="900" b="0" i="0" u="none" strike="noStrike" kern="1200" baseline="0">
                      <a:solidFill>
                        <a:schemeClr val="dk1">
                          <a:lumMod val="65000"/>
                          <a:lumOff val="35000"/>
                        </a:schemeClr>
                      </a:solidFill>
                      <a:latin typeface="+mn-lt"/>
                      <a:ea typeface="+mn-ea"/>
                      <a:cs typeface="+mn-cs"/>
                    </a:defRPr>
                  </a:pPr>
                  <a:endParaRPr lang="tr-TR"/>
                </a:p>
              </c:txPr>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15:layout>
                    <c:manualLayout>
                      <c:w val="0.12697380063426597"/>
                      <c:h val="0.13035493161548842"/>
                    </c:manualLayout>
                  </c15:layout>
                </c:ext>
                <c:ext xmlns:c16="http://schemas.microsoft.com/office/drawing/2014/chart" uri="{C3380CC4-5D6E-409C-BE32-E72D297353CC}">
                  <c16:uniqueId val="{00000016-9439-4D93-8915-BCAB4895239D}"/>
                </c:ext>
              </c:extLst>
            </c:dLbl>
            <c:dLbl>
              <c:idx val="5"/>
              <c:layout>
                <c:manualLayout>
                  <c:x val="-0.26013954118889149"/>
                  <c:y val="-6.2121293809914713E-2"/>
                </c:manualLayout>
              </c:layout>
              <c:spPr>
                <a:solidFill>
                  <a:srgbClr val="4BACC6">
                    <a:lumMod val="40000"/>
                    <a:lumOff val="60000"/>
                  </a:srgbClr>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noAutofit/>
                </a:bodyPr>
                <a:lstStyle/>
                <a:p>
                  <a:pPr>
                    <a:defRPr sz="900" b="0" i="0" u="none" strike="noStrike" kern="1200" baseline="0">
                      <a:solidFill>
                        <a:schemeClr val="dk1">
                          <a:lumMod val="65000"/>
                          <a:lumOff val="35000"/>
                        </a:schemeClr>
                      </a:solidFill>
                      <a:latin typeface="+mn-lt"/>
                      <a:ea typeface="+mn-ea"/>
                      <a:cs typeface="+mn-cs"/>
                    </a:defRPr>
                  </a:pPr>
                  <a:endParaRPr lang="tr-TR"/>
                </a:p>
              </c:txPr>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15:layout>
                    <c:manualLayout>
                      <c:w val="0.12613879727194838"/>
                      <c:h val="0.16650202440415734"/>
                    </c:manualLayout>
                  </c15:layout>
                </c:ext>
                <c:ext xmlns:c16="http://schemas.microsoft.com/office/drawing/2014/chart" uri="{C3380CC4-5D6E-409C-BE32-E72D297353CC}">
                  <c16:uniqueId val="{00000018-9439-4D93-8915-BCAB4895239D}"/>
                </c:ext>
              </c:extLst>
            </c:dLbl>
            <c:spPr>
              <a:solidFill>
                <a:schemeClr val="accent5">
                  <a:lumMod val="40000"/>
                  <a:lumOff val="60000"/>
                </a:schemeClr>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tr-TR"/>
              </a:p>
            </c:txPr>
            <c:showLegendKey val="0"/>
            <c:showVal val="0"/>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Sheet1!$A$2:$A$7</c:f>
              <c:strCache>
                <c:ptCount val="6"/>
                <c:pt idx="0">
                  <c:v>PII (Kişisel Bilgiler)</c:v>
                </c:pt>
                <c:pt idx="1">
                  <c:v>PHI (Sağlık Verileri)</c:v>
                </c:pt>
                <c:pt idx="2">
                  <c:v>IP (Fikri Mülkiyet)</c:v>
                </c:pt>
                <c:pt idx="3">
                  <c:v>Finansal Veriler</c:v>
                </c:pt>
                <c:pt idx="4">
                  <c:v>Operasyonel Veriler</c:v>
                </c:pt>
                <c:pt idx="5">
                  <c:v>İş Açısından Kritik Veriler</c:v>
                </c:pt>
              </c:strCache>
            </c:strRef>
          </c:cat>
          <c:val>
            <c:numRef>
              <c:f>Sheet1!$C$2:$C$7</c:f>
              <c:numCache>
                <c:formatCode>0</c:formatCode>
                <c:ptCount val="6"/>
                <c:pt idx="0">
                  <c:v>36.585365853658537</c:v>
                </c:pt>
                <c:pt idx="1">
                  <c:v>12.195121951219511</c:v>
                </c:pt>
                <c:pt idx="2">
                  <c:v>14.63414634146341</c:v>
                </c:pt>
                <c:pt idx="3">
                  <c:v>19.512195121951219</c:v>
                </c:pt>
                <c:pt idx="4">
                  <c:v>17.073170731707322</c:v>
                </c:pt>
                <c:pt idx="5">
                  <c:v>10.487804878048699</c:v>
                </c:pt>
              </c:numCache>
            </c:numRef>
          </c:val>
          <c:extLst>
            <c:ext xmlns:c16="http://schemas.microsoft.com/office/drawing/2014/chart" uri="{C3380CC4-5D6E-409C-BE32-E72D297353CC}">
              <c16:uniqueId val="{00000019-9439-4D93-8915-BCAB4895239D}"/>
            </c:ext>
          </c:extLst>
        </c:ser>
        <c:dLbls>
          <c:showLegendKey val="0"/>
          <c:showVal val="0"/>
          <c:showCatName val="0"/>
          <c:showSerName val="0"/>
          <c:showPercent val="0"/>
          <c:showBubbleSize val="0"/>
          <c:showLeaderLines val="1"/>
        </c:dLbls>
        <c:firstSliceAng val="0"/>
        <c:holeSize val="40"/>
      </c:doughnutChart>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tr-T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9525" cap="flat" cmpd="sng" algn="ctr">
      <a:noFill/>
      <a:round/>
    </a:ln>
    <a:effectLst/>
  </c:spPr>
  <c:txPr>
    <a:bodyPr/>
    <a:lstStyle/>
    <a:p>
      <a:pPr>
        <a:defRPr/>
      </a:pPr>
      <a:endParaRPr lang="tr-TR"/>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view3D>
      <c:rotX val="15"/>
      <c:rotY val="20"/>
      <c:depthPercent val="100"/>
      <c:rAngAx val="1"/>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bar3DChart>
        <c:barDir val="col"/>
        <c:grouping val="stacked"/>
        <c:varyColors val="0"/>
        <c:dLbls>
          <c:showLegendKey val="0"/>
          <c:showVal val="1"/>
          <c:showCatName val="0"/>
          <c:showSerName val="0"/>
          <c:showPercent val="0"/>
          <c:showBubbleSize val="0"/>
        </c:dLbls>
        <c:gapWidth val="150"/>
        <c:shape val="box"/>
        <c:axId val="1650074384"/>
        <c:axId val="1650074864"/>
        <c:axId val="0"/>
      </c:bar3DChart>
      <c:catAx>
        <c:axId val="1650074384"/>
        <c:scaling>
          <c:orientation val="minMax"/>
        </c:scaling>
        <c:delete val="0"/>
        <c:axPos val="b"/>
        <c:minorGridlines>
          <c:spPr>
            <a:ln>
              <a:solidFill>
                <a:schemeClr val="tx1">
                  <a:lumMod val="5000"/>
                  <a:lumOff val="95000"/>
                </a:schemeClr>
              </a:solidFill>
            </a:ln>
            <a:effectLst/>
          </c:spPr>
        </c:minorGridlines>
        <c:title>
          <c:tx>
            <c:rich>
              <a:bodyPr rot="0" spcFirstLastPara="1" vertOverflow="ellipsis" vert="horz" wrap="square" anchor="ctr" anchorCtr="1"/>
              <a:lstStyle/>
              <a:p>
                <a:pPr>
                  <a:defRPr sz="900" b="0" i="0" u="none" strike="noStrike" kern="1200" cap="all" baseline="0">
                    <a:solidFill>
                      <a:schemeClr val="tx1"/>
                    </a:solidFill>
                    <a:latin typeface="+mn-lt"/>
                    <a:ea typeface="+mn-ea"/>
                    <a:cs typeface="+mn-cs"/>
                  </a:defRPr>
                </a:pPr>
                <a:endParaRPr lang="tr-TR" sz="1200" dirty="0">
                  <a:solidFill>
                    <a:schemeClr val="tx1"/>
                  </a:solidFill>
                  <a:latin typeface="Arial" panose="020B0604020202020204" pitchFamily="34" charset="0"/>
                  <a:cs typeface="Arial" panose="020B0604020202020204" pitchFamily="34" charset="0"/>
                </a:endParaRPr>
              </a:p>
              <a:p>
                <a:pPr>
                  <a:defRPr>
                    <a:solidFill>
                      <a:schemeClr val="tx1"/>
                    </a:solidFill>
                  </a:defRPr>
                </a:pPr>
                <a:endParaRPr lang="tr-TR" sz="1200" dirty="0">
                  <a:solidFill>
                    <a:schemeClr val="tx1"/>
                  </a:solidFill>
                  <a:latin typeface="Arial" panose="020B0604020202020204" pitchFamily="34" charset="0"/>
                  <a:cs typeface="Arial" panose="020B0604020202020204" pitchFamily="34" charset="0"/>
                </a:endParaRPr>
              </a:p>
              <a:p>
                <a:pPr>
                  <a:defRPr>
                    <a:solidFill>
                      <a:schemeClr val="tx1"/>
                    </a:solidFill>
                  </a:defRPr>
                </a:pPr>
                <a:endParaRPr lang="tr-TR" sz="1200" dirty="0">
                  <a:solidFill>
                    <a:schemeClr val="tx1"/>
                  </a:solidFill>
                  <a:latin typeface="Arial" panose="020B0604020202020204" pitchFamily="34" charset="0"/>
                  <a:cs typeface="Arial" panose="020B0604020202020204" pitchFamily="34" charset="0"/>
                </a:endParaRPr>
              </a:p>
              <a:p>
                <a:pPr>
                  <a:defRPr>
                    <a:solidFill>
                      <a:schemeClr val="tx1"/>
                    </a:solidFill>
                  </a:defRPr>
                </a:pPr>
                <a:r>
                  <a:rPr lang="tr-TR" sz="1200" dirty="0">
                    <a:solidFill>
                      <a:schemeClr val="tx1"/>
                    </a:solidFill>
                    <a:latin typeface="Arial" panose="020B0604020202020204" pitchFamily="34" charset="0"/>
                    <a:cs typeface="Arial" panose="020B0604020202020204" pitchFamily="34" charset="0"/>
                  </a:rPr>
                  <a:t>İhlal</a:t>
                </a:r>
                <a:r>
                  <a:rPr lang="tr-TR" sz="1200" baseline="0" dirty="0">
                    <a:solidFill>
                      <a:schemeClr val="tx1"/>
                    </a:solidFill>
                    <a:latin typeface="Arial" panose="020B0604020202020204" pitchFamily="34" charset="0"/>
                    <a:cs typeface="Arial" panose="020B0604020202020204" pitchFamily="34" charset="0"/>
                  </a:rPr>
                  <a:t> sayısı</a:t>
                </a:r>
                <a:endParaRPr lang="en-US" sz="1200" dirty="0">
                  <a:solidFill>
                    <a:schemeClr val="tx1"/>
                  </a:solidFill>
                  <a:latin typeface="Arial" panose="020B0604020202020204" pitchFamily="34" charset="0"/>
                  <a:cs typeface="Arial" panose="020B0604020202020204" pitchFamily="34" charset="0"/>
                </a:endParaRPr>
              </a:p>
            </c:rich>
          </c:tx>
          <c:overlay val="0"/>
          <c:spPr>
            <a:noFill/>
            <a:ln>
              <a:noFill/>
            </a:ln>
            <a:effectLst/>
          </c:spPr>
          <c:txPr>
            <a:bodyPr rot="0" spcFirstLastPara="1" vertOverflow="ellipsis" vert="horz" wrap="square" anchor="ctr" anchorCtr="1"/>
            <a:lstStyle/>
            <a:p>
              <a:pPr>
                <a:defRPr sz="900" b="0" i="0" u="none" strike="noStrike" kern="1200" cap="all" baseline="0">
                  <a:solidFill>
                    <a:schemeClr val="tx1"/>
                  </a:solidFill>
                  <a:latin typeface="+mn-lt"/>
                  <a:ea typeface="+mn-ea"/>
                  <a:cs typeface="+mn-cs"/>
                </a:defRPr>
              </a:pPr>
              <a:endParaRPr lang="tr-TR"/>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50" b="0" i="0" u="none" strike="noStrike" kern="1200" baseline="0">
                <a:solidFill>
                  <a:srgbClr val="0070C0"/>
                </a:solidFill>
                <a:latin typeface="Arial" panose="020B0604020202020204" pitchFamily="34" charset="0"/>
                <a:ea typeface="+mn-ea"/>
                <a:cs typeface="Arial" panose="020B0604020202020204" pitchFamily="34" charset="0"/>
              </a:defRPr>
            </a:pPr>
            <a:endParaRPr lang="tr-TR"/>
          </a:p>
        </c:txPr>
        <c:crossAx val="1650074864"/>
        <c:crosses val="autoZero"/>
        <c:auto val="1"/>
        <c:lblAlgn val="ctr"/>
        <c:lblOffset val="100"/>
        <c:noMultiLvlLbl val="0"/>
      </c:catAx>
      <c:valAx>
        <c:axId val="165007486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50" b="0" i="0" u="none" strike="noStrike" kern="1200" baseline="0">
                <a:solidFill>
                  <a:srgbClr val="0070C0"/>
                </a:solidFill>
                <a:latin typeface="Arial" panose="020B0604020202020204" pitchFamily="34" charset="0"/>
                <a:ea typeface="+mn-ea"/>
                <a:cs typeface="Arial" panose="020B0604020202020204" pitchFamily="34" charset="0"/>
              </a:defRPr>
            </a:pPr>
            <a:endParaRPr lang="tr-TR"/>
          </a:p>
        </c:txPr>
        <c:crossAx val="165007438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9525" cap="flat" cmpd="sng" algn="ctr">
      <a:noFill/>
      <a:round/>
    </a:ln>
    <a:effectLst/>
  </c:spPr>
  <c:txPr>
    <a:bodyPr/>
    <a:lstStyle/>
    <a:p>
      <a:pPr>
        <a:defRPr>
          <a:solidFill>
            <a:srgbClr val="00B0F0"/>
          </a:solidFill>
        </a:defRPr>
      </a:pPr>
      <a:endParaRPr lang="tr-TR"/>
    </a:p>
  </c:txPr>
  <c:externalData r:id="rId4">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89">
  <cs:axisTitle>
    <cs:lnRef idx="0"/>
    <cs:fillRef idx="0"/>
    <cs:effectRef idx="0"/>
    <cs:fontRef idx="minor">
      <a:schemeClr val="tx1">
        <a:lumMod val="50000"/>
        <a:lumOff val="50000"/>
      </a:schemeClr>
    </cs:fontRef>
    <cs:defRPr sz="900" kern="1200" cap="all"/>
  </cs:axisTitle>
  <cs:categoryAxis>
    <cs:lnRef idx="0"/>
    <cs:fillRef idx="0"/>
    <cs:effectRef idx="0"/>
    <cs:fontRef idx="minor">
      <a:schemeClr val="tx1">
        <a:lumMod val="50000"/>
        <a:lumOff val="50000"/>
      </a:schemeClr>
    </cs:fontRef>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50000"/>
        <a:lumOff val="50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
  <cs:dataPoint3D>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3D>
  <cs:dataPointLine>
    <cs:lnRef idx="0">
      <cs:styleClr val="auto"/>
    </cs:lnRef>
    <cs:fillRef idx="2">
      <cs:styleClr val="auto"/>
    </cs:fillRef>
    <cs:effectRef idx="1"/>
    <cs:fontRef idx="minor">
      <a:schemeClr val="dk1"/>
    </cs:fontRef>
    <cs:spPr>
      <a:ln w="15875" cap="rnd">
        <a:solidFill>
          <a:schemeClr val="phClr"/>
        </a:solidFill>
        <a:round/>
      </a:ln>
    </cs:spPr>
  </cs:dataPointLine>
  <cs:dataPointMarker>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Marker>
  <cs:dataPointMarkerLayout symbol="circle" size="4"/>
  <cs:dataPointWireframe>
    <cs:lnRef idx="0">
      <cs:styleClr val="auto"/>
    </cs:lnRef>
    <cs:fillRef idx="2"/>
    <cs:effectRef idx="0"/>
    <cs:fontRef idx="minor">
      <a:schemeClr val="dk1"/>
    </cs:fontRef>
    <cs:spPr>
      <a:ln w="9525" cap="rnd">
        <a:solidFill>
          <a:schemeClr val="phClr"/>
        </a:solidFill>
        <a:round/>
      </a:ln>
    </cs:spPr>
  </cs:dataPointWireframe>
  <cs:dataTable>
    <cs:lnRef idx="0"/>
    <cs:fillRef idx="0"/>
    <cs:effectRef idx="0"/>
    <cs:fontRef idx="minor">
      <a:schemeClr val="tx1">
        <a:lumMod val="50000"/>
        <a:lumOff val="50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35000"/>
            <a:lumOff val="65000"/>
          </a:schemeClr>
        </a:solidFill>
        <a:prstDash val="dash"/>
      </a:ln>
    </cs:spPr>
  </cs:dropLine>
  <cs:errorBar>
    <cs:lnRef idx="0"/>
    <cs:fillRef idx="0"/>
    <cs:effectRef idx="0"/>
    <cs:fontRef idx="minor">
      <a:schemeClr val="dk1"/>
    </cs:fontRef>
    <cs:spPr>
      <a:ln w="9525">
        <a:solidFill>
          <a:schemeClr val="tx1">
            <a:lumMod val="50000"/>
            <a:lumOff val="50000"/>
          </a:schemeClr>
        </a:solidFill>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prstDash val="dash"/>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50000"/>
        <a:lumOff val="50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50000"/>
        <a:lumOff val="50000"/>
      </a:schemeClr>
    </cs:fontRef>
    <cs:defRPr sz="900" kern="1200"/>
  </cs:seriesAxis>
  <cs:seriesLine>
    <cs:lnRef idx="0"/>
    <cs:fillRef idx="0"/>
    <cs:effectRef idx="0"/>
    <cs:fontRef idx="minor">
      <a:schemeClr val="dk1"/>
    </cs:fontRef>
    <cs:spPr>
      <a:ln w="9525">
        <a:solidFill>
          <a:schemeClr val="tx1">
            <a:lumMod val="35000"/>
            <a:lumOff val="65000"/>
          </a:schemeClr>
        </a:solidFill>
        <a:prstDash val="dash"/>
      </a:ln>
    </cs:spPr>
  </cs:seriesLine>
  <cs:title>
    <cs:lnRef idx="0"/>
    <cs:fillRef idx="0"/>
    <cs:effectRef idx="0"/>
    <cs:fontRef idx="minor">
      <a:schemeClr val="tx1">
        <a:lumMod val="50000"/>
        <a:lumOff val="50000"/>
      </a:schemeClr>
    </cs:fontRef>
    <cs:defRPr sz="1400" kern="1200" cap="none" spc="20" baseline="0"/>
  </cs:title>
  <cs:trendline>
    <cs:lnRef idx="0">
      <cs:styleClr val="auto"/>
    </cs:lnRef>
    <cs:fillRef idx="2"/>
    <cs:effectRef idx="0"/>
    <cs:fontRef idx="minor">
      <a:schemeClr val="dk1"/>
    </cs:fontRef>
    <cs:spPr>
      <a:ln w="9525" cap="rnd">
        <a:solidFill>
          <a:schemeClr val="phClr"/>
        </a:solidFill>
      </a:ln>
    </cs:spPr>
  </cs:trendline>
  <cs:trendlineLabel>
    <cs:lnRef idx="0"/>
    <cs:fillRef idx="0"/>
    <cs:effectRef idx="0"/>
    <cs:fontRef idx="minor">
      <a:schemeClr val="tx1">
        <a:lumMod val="50000"/>
        <a:lumOff val="50000"/>
      </a:schemeClr>
    </cs:fontRef>
    <cs:defRPr sz="900"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50000"/>
        <a:lumOff val="50000"/>
      </a:schemeClr>
    </cs:fontRef>
    <cs:defRPr sz="900" kern="1200"/>
  </cs:valueAxis>
  <cs:wall>
    <cs:lnRef idx="0"/>
    <cs:fillRef idx="0"/>
    <cs:effectRef idx="0"/>
    <cs:fontRef idx="minor">
      <a:schemeClr val="dk1"/>
    </cs:fontRef>
  </cs:wall>
</cs:chartStyle>
</file>

<file path=ppt/diagrams/_rels/data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image" Target="../media/image5.png"/></Relationships>
</file>

<file path=ppt/diagrams/_rels/data2.xml.rels><?xml version="1.0" encoding="UTF-8" standalone="yes"?>
<Relationships xmlns="http://schemas.openxmlformats.org/package/2006/relationships"><Relationship Id="rId1" Type="http://schemas.openxmlformats.org/officeDocument/2006/relationships/image" Target="../media/image7.png"/></Relationships>
</file>

<file path=ppt/diagrams/_rels/data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image" Target="../media/image9.png"/></Relationships>
</file>

<file path=ppt/diagrams/_rels/data4.xml.rels><?xml version="1.0" encoding="UTF-8" standalone="yes"?>
<Relationships xmlns="http://schemas.openxmlformats.org/package/2006/relationships"><Relationship Id="rId1" Type="http://schemas.openxmlformats.org/officeDocument/2006/relationships/image" Target="../media/image11.png"/></Relationships>
</file>

<file path=ppt/diagrams/_rels/data5.xml.rels><?xml version="1.0" encoding="UTF-8" standalone="yes"?>
<Relationships xmlns="http://schemas.openxmlformats.org/package/2006/relationships"><Relationship Id="rId1" Type="http://schemas.openxmlformats.org/officeDocument/2006/relationships/image" Target="../media/image13.png"/></Relationships>
</file>

<file path=ppt/diagrams/_rels/data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image" Target="../media/image15.png"/></Relationships>
</file>

<file path=ppt/diagrams/_rels/data7.xml.rels><?xml version="1.0" encoding="UTF-8" standalone="yes"?>
<Relationships xmlns="http://schemas.openxmlformats.org/package/2006/relationships"><Relationship Id="rId1" Type="http://schemas.openxmlformats.org/officeDocument/2006/relationships/image" Target="../media/image17.png"/></Relationships>
</file>

<file path=ppt/diagrams/_rels/data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image" Target="../media/image18.png"/></Relationships>
</file>

<file path=ppt/diagrams/_rels/data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image" Target="../media/image20.png"/></Relationships>
</file>

<file path=ppt/diagrams/_rels/data1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image" Target="../media/image22.png"/></Relationships>
</file>

<file path=ppt/diagrams/_rels/drawing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image" Target="../media/image5.png"/></Relationships>
</file>

<file path=ppt/diagrams/_rels/drawing2.xml.rels><?xml version="1.0" encoding="UTF-8" standalone="yes"?>
<Relationships xmlns="http://schemas.openxmlformats.org/package/2006/relationships"><Relationship Id="rId1" Type="http://schemas.openxmlformats.org/officeDocument/2006/relationships/image" Target="../media/image7.png"/></Relationships>
</file>

<file path=ppt/diagrams/_rels/drawing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image" Target="../media/image9.png"/></Relationships>
</file>

<file path=ppt/diagrams/_rels/drawing4.xml.rels><?xml version="1.0" encoding="UTF-8" standalone="yes"?>
<Relationships xmlns="http://schemas.openxmlformats.org/package/2006/relationships"><Relationship Id="rId1" Type="http://schemas.openxmlformats.org/officeDocument/2006/relationships/image" Target="../media/image11.png"/></Relationships>
</file>

<file path=ppt/diagrams/_rels/drawing5.xml.rels><?xml version="1.0" encoding="UTF-8" standalone="yes"?>
<Relationships xmlns="http://schemas.openxmlformats.org/package/2006/relationships"><Relationship Id="rId1" Type="http://schemas.openxmlformats.org/officeDocument/2006/relationships/image" Target="../media/image13.png"/></Relationships>
</file>

<file path=ppt/diagrams/_rels/drawing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image" Target="../media/image15.png"/></Relationships>
</file>

<file path=ppt/diagrams/_rels/drawing7.xml.rels><?xml version="1.0" encoding="UTF-8" standalone="yes"?>
<Relationships xmlns="http://schemas.openxmlformats.org/package/2006/relationships"><Relationship Id="rId1" Type="http://schemas.openxmlformats.org/officeDocument/2006/relationships/image" Target="../media/image17.png"/></Relationships>
</file>

<file path=ppt/diagrams/_rels/drawing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image" Target="../media/image18.png"/></Relationships>
</file>

<file path=ppt/diagrams/_rels/drawing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image" Target="../media/image20.png"/></Relationships>
</file>

<file path=ppt/diagrams/_rels/drawing1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image" Target="../media/image22.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F490691-F551-4FC6-8532-6E8A74968F1A}" type="doc">
      <dgm:prSet loTypeId="urn:microsoft.com/office/officeart/2005/8/layout/chevron2" loCatId="list" qsTypeId="urn:microsoft.com/office/officeart/2005/8/quickstyle/3d6" qsCatId="3D" csTypeId="urn:microsoft.com/office/officeart/2005/8/colors/accent1_2" csCatId="accent1" phldr="1"/>
      <dgm:spPr/>
      <dgm:t>
        <a:bodyPr/>
        <a:lstStyle/>
        <a:p>
          <a:endParaRPr lang="en-US"/>
        </a:p>
      </dgm:t>
    </dgm:pt>
    <dgm:pt modelId="{479AC4B5-D046-42C0-B1D1-5663AA724A6F}">
      <dgm:prSet phldrT="[Text]" phldr="0" custT="1"/>
      <dgm:spPr/>
      <dgm:t>
        <a:bodyPr/>
        <a:lstStyle/>
        <a:p>
          <a:r>
            <a:rPr lang="sv-SE" sz="1800" b="1" dirty="0">
              <a:solidFill>
                <a:schemeClr val="tx1"/>
              </a:solidFill>
              <a:latin typeface="Arial" panose="020B0604020202020204" pitchFamily="34" charset="0"/>
              <a:cs typeface="Arial" panose="020B0604020202020204" pitchFamily="34" charset="0"/>
            </a:rPr>
            <a:t>Twitter Hack</a:t>
          </a:r>
          <a:r>
            <a:rPr lang="tr-TR" sz="1800" b="1" dirty="0">
              <a:solidFill>
                <a:schemeClr val="tx1"/>
              </a:solidFill>
              <a:latin typeface="Arial" panose="020B0604020202020204" pitchFamily="34" charset="0"/>
              <a:cs typeface="Arial" panose="020B0604020202020204" pitchFamily="34" charset="0"/>
            </a:rPr>
            <a:t> -</a:t>
          </a:r>
          <a:r>
            <a:rPr lang="sv-SE" sz="1800" b="1" dirty="0">
              <a:solidFill>
                <a:schemeClr val="tx1"/>
              </a:solidFill>
              <a:latin typeface="Arial" panose="020B0604020202020204" pitchFamily="34" charset="0"/>
              <a:cs typeface="Arial" panose="020B0604020202020204" pitchFamily="34" charset="0"/>
            </a:rPr>
            <a:t>ABD</a:t>
          </a:r>
          <a:endParaRPr lang="en-US" sz="1800" b="1" dirty="0">
            <a:solidFill>
              <a:schemeClr val="tx1"/>
            </a:solidFill>
          </a:endParaRPr>
        </a:p>
      </dgm:t>
    </dgm:pt>
    <dgm:pt modelId="{0A2B0212-940E-410E-A998-E2618A820594}" type="parTrans" cxnId="{E558252C-4F41-4DD4-BF63-DB7B756EA8C3}">
      <dgm:prSet/>
      <dgm:spPr/>
      <dgm:t>
        <a:bodyPr/>
        <a:lstStyle/>
        <a:p>
          <a:endParaRPr lang="en-US"/>
        </a:p>
      </dgm:t>
    </dgm:pt>
    <dgm:pt modelId="{A46FFFFC-DCE7-4F83-9201-A0C66B8AA3E9}" type="sibTrans" cxnId="{E558252C-4F41-4DD4-BF63-DB7B756EA8C3}">
      <dgm:prSet/>
      <dgm:spPr/>
      <dgm:t>
        <a:bodyPr/>
        <a:lstStyle/>
        <a:p>
          <a:endParaRPr lang="en-US"/>
        </a:p>
      </dgm:t>
    </dgm:pt>
    <dgm:pt modelId="{FDC5D85E-ABE4-450C-9759-0E0694C9F72C}">
      <dgm:prSet phldrT="[Text]" phldr="0" custT="1"/>
      <dgm:spPr/>
      <dgm:t>
        <a:bodyPr/>
        <a:lstStyle/>
        <a:p>
          <a:r>
            <a:rPr lang="sv-SE" sz="1800" b="1" dirty="0">
              <a:solidFill>
                <a:schemeClr val="tx1"/>
              </a:solidFill>
              <a:latin typeface="Arial" panose="020B0604020202020204" pitchFamily="34" charset="0"/>
              <a:cs typeface="Arial" panose="020B0604020202020204" pitchFamily="34" charset="0"/>
            </a:rPr>
            <a:t>SolarWinds Hack – ABD</a:t>
          </a:r>
          <a:r>
            <a:rPr lang="tr-TR" sz="1800" b="1" dirty="0">
              <a:solidFill>
                <a:schemeClr val="tx1"/>
              </a:solidFill>
              <a:latin typeface="Arial" panose="020B0604020202020204" pitchFamily="34" charset="0"/>
              <a:cs typeface="Arial" panose="020B0604020202020204" pitchFamily="34" charset="0"/>
            </a:rPr>
            <a:t> </a:t>
          </a:r>
          <a:endParaRPr lang="en-US" sz="1800" dirty="0">
            <a:solidFill>
              <a:schemeClr val="tx1"/>
            </a:solidFill>
          </a:endParaRPr>
        </a:p>
      </dgm:t>
    </dgm:pt>
    <dgm:pt modelId="{37ADA5EB-B7D6-4D81-A79B-2B740D8F4688}" type="parTrans" cxnId="{6F3D2A62-1A8D-4660-A14E-E2EBD2F28B95}">
      <dgm:prSet/>
      <dgm:spPr/>
      <dgm:t>
        <a:bodyPr/>
        <a:lstStyle/>
        <a:p>
          <a:endParaRPr lang="en-US"/>
        </a:p>
      </dgm:t>
    </dgm:pt>
    <dgm:pt modelId="{FA985B87-98C0-4BAE-AB88-6864EC802DB9}" type="sibTrans" cxnId="{6F3D2A62-1A8D-4660-A14E-E2EBD2F28B95}">
      <dgm:prSet/>
      <dgm:spPr/>
      <dgm:t>
        <a:bodyPr/>
        <a:lstStyle/>
        <a:p>
          <a:endParaRPr lang="en-US"/>
        </a:p>
      </dgm:t>
    </dgm:pt>
    <dgm:pt modelId="{91BE4E5F-AF0E-4BFF-B264-1DF1F3B9471B}" type="pres">
      <dgm:prSet presAssocID="{0F490691-F551-4FC6-8532-6E8A74968F1A}" presName="linearFlow" presStyleCnt="0">
        <dgm:presLayoutVars>
          <dgm:dir/>
          <dgm:animLvl val="lvl"/>
          <dgm:resizeHandles val="exact"/>
        </dgm:presLayoutVars>
      </dgm:prSet>
      <dgm:spPr/>
    </dgm:pt>
    <dgm:pt modelId="{388C372D-B167-40E7-B92F-70E9831F4C5C}" type="pres">
      <dgm:prSet presAssocID="{479AC4B5-D046-42C0-B1D1-5663AA724A6F}" presName="composite" presStyleCnt="0"/>
      <dgm:spPr/>
    </dgm:pt>
    <dgm:pt modelId="{A7D9BCEE-845B-4DD0-800A-B44821F7F3AA}" type="pres">
      <dgm:prSet presAssocID="{479AC4B5-D046-42C0-B1D1-5663AA724A6F}" presName="parentText" presStyleLbl="alignNode1" presStyleIdx="0" presStyleCnt="2">
        <dgm:presLayoutVars>
          <dgm:chMax val="1"/>
          <dgm:bulletEnabled val="1"/>
        </dgm:presLayoutVars>
      </dgm:prSet>
      <dgm:spPr/>
    </dgm:pt>
    <dgm:pt modelId="{E62CB10D-AA4D-4F05-8C2D-E40E0F11BB9E}" type="pres">
      <dgm:prSet presAssocID="{479AC4B5-D046-42C0-B1D1-5663AA724A6F}" presName="descendantText" presStyleLbl="alignAcc1" presStyleIdx="0" presStyleCnt="2" custLinFactNeighborX="1032" custLinFactNeighborY="-928">
        <dgm:presLayoutVars>
          <dgm:bulletEnabled val="1"/>
        </dgm:presLayoutVars>
      </dgm:prSet>
      <dgm:spPr>
        <a:blipFill rotWithShape="0">
          <a:blip xmlns:r="http://schemas.openxmlformats.org/officeDocument/2006/relationships" r:embed="rId1"/>
          <a:srcRect/>
          <a:stretch>
            <a:fillRect l="-13000" r="-13000"/>
          </a:stretch>
        </a:blipFill>
      </dgm:spPr>
    </dgm:pt>
    <dgm:pt modelId="{53AABA8E-C82D-4A53-9B5F-B69189482E31}" type="pres">
      <dgm:prSet presAssocID="{A46FFFFC-DCE7-4F83-9201-A0C66B8AA3E9}" presName="sp" presStyleCnt="0"/>
      <dgm:spPr/>
    </dgm:pt>
    <dgm:pt modelId="{A81486C3-4767-4CA7-9F23-51C2AF24F73B}" type="pres">
      <dgm:prSet presAssocID="{FDC5D85E-ABE4-450C-9759-0E0694C9F72C}" presName="composite" presStyleCnt="0"/>
      <dgm:spPr/>
    </dgm:pt>
    <dgm:pt modelId="{7E88B71A-8FC2-44B9-9956-4DC1698EAD36}" type="pres">
      <dgm:prSet presAssocID="{FDC5D85E-ABE4-450C-9759-0E0694C9F72C}" presName="parentText" presStyleLbl="alignNode1" presStyleIdx="1" presStyleCnt="2" custLinFactNeighborY="-6624">
        <dgm:presLayoutVars>
          <dgm:chMax val="1"/>
          <dgm:bulletEnabled val="1"/>
        </dgm:presLayoutVars>
      </dgm:prSet>
      <dgm:spPr/>
    </dgm:pt>
    <dgm:pt modelId="{91318DA1-FDC0-4AD0-85E6-9666E28C3D14}" type="pres">
      <dgm:prSet presAssocID="{FDC5D85E-ABE4-450C-9759-0E0694C9F72C}" presName="descendantText" presStyleLbl="alignAcc1" presStyleIdx="1" presStyleCnt="2" custLinFactNeighborY="-6693">
        <dgm:presLayoutVars>
          <dgm:bulletEnabled val="1"/>
        </dgm:presLayoutVars>
      </dgm:prSet>
      <dgm:spPr>
        <a:blipFill rotWithShape="0">
          <a:blip xmlns:r="http://schemas.openxmlformats.org/officeDocument/2006/relationships" r:embed="rId2"/>
          <a:srcRect/>
          <a:stretch>
            <a:fillRect l="-17000" r="-17000"/>
          </a:stretch>
        </a:blipFill>
      </dgm:spPr>
    </dgm:pt>
  </dgm:ptLst>
  <dgm:cxnLst>
    <dgm:cxn modelId="{B1FA3E0A-6EB5-4BDA-A1B9-F1FE86C31D53}" type="presOf" srcId="{479AC4B5-D046-42C0-B1D1-5663AA724A6F}" destId="{A7D9BCEE-845B-4DD0-800A-B44821F7F3AA}" srcOrd="0" destOrd="0" presId="urn:microsoft.com/office/officeart/2005/8/layout/chevron2"/>
    <dgm:cxn modelId="{E558252C-4F41-4DD4-BF63-DB7B756EA8C3}" srcId="{0F490691-F551-4FC6-8532-6E8A74968F1A}" destId="{479AC4B5-D046-42C0-B1D1-5663AA724A6F}" srcOrd="0" destOrd="0" parTransId="{0A2B0212-940E-410E-A998-E2618A820594}" sibTransId="{A46FFFFC-DCE7-4F83-9201-A0C66B8AA3E9}"/>
    <dgm:cxn modelId="{6F3D2A62-1A8D-4660-A14E-E2EBD2F28B95}" srcId="{0F490691-F551-4FC6-8532-6E8A74968F1A}" destId="{FDC5D85E-ABE4-450C-9759-0E0694C9F72C}" srcOrd="1" destOrd="0" parTransId="{37ADA5EB-B7D6-4D81-A79B-2B740D8F4688}" sibTransId="{FA985B87-98C0-4BAE-AB88-6864EC802DB9}"/>
    <dgm:cxn modelId="{9D98E847-65DE-4060-8B11-0B6C0F88C78F}" type="presOf" srcId="{FDC5D85E-ABE4-450C-9759-0E0694C9F72C}" destId="{7E88B71A-8FC2-44B9-9956-4DC1698EAD36}" srcOrd="0" destOrd="0" presId="urn:microsoft.com/office/officeart/2005/8/layout/chevron2"/>
    <dgm:cxn modelId="{2A00BE87-A974-4482-93DA-9A4EB3A033DD}" type="presOf" srcId="{0F490691-F551-4FC6-8532-6E8A74968F1A}" destId="{91BE4E5F-AF0E-4BFF-B264-1DF1F3B9471B}" srcOrd="0" destOrd="0" presId="urn:microsoft.com/office/officeart/2005/8/layout/chevron2"/>
    <dgm:cxn modelId="{33D665F2-4602-4063-8A46-76E10CB48402}" type="presParOf" srcId="{91BE4E5F-AF0E-4BFF-B264-1DF1F3B9471B}" destId="{388C372D-B167-40E7-B92F-70E9831F4C5C}" srcOrd="0" destOrd="0" presId="urn:microsoft.com/office/officeart/2005/8/layout/chevron2"/>
    <dgm:cxn modelId="{21AE499D-53A4-4FF4-BBBA-3BCBA9DFB6E2}" type="presParOf" srcId="{388C372D-B167-40E7-B92F-70E9831F4C5C}" destId="{A7D9BCEE-845B-4DD0-800A-B44821F7F3AA}" srcOrd="0" destOrd="0" presId="urn:microsoft.com/office/officeart/2005/8/layout/chevron2"/>
    <dgm:cxn modelId="{118E4666-1294-4ECE-98DC-782E65638F7B}" type="presParOf" srcId="{388C372D-B167-40E7-B92F-70E9831F4C5C}" destId="{E62CB10D-AA4D-4F05-8C2D-E40E0F11BB9E}" srcOrd="1" destOrd="0" presId="urn:microsoft.com/office/officeart/2005/8/layout/chevron2"/>
    <dgm:cxn modelId="{D855260C-93C4-457A-85D7-74515A693336}" type="presParOf" srcId="{91BE4E5F-AF0E-4BFF-B264-1DF1F3B9471B}" destId="{53AABA8E-C82D-4A53-9B5F-B69189482E31}" srcOrd="1" destOrd="0" presId="urn:microsoft.com/office/officeart/2005/8/layout/chevron2"/>
    <dgm:cxn modelId="{4364C91D-1255-4974-A287-E3B19BE4EA79}" type="presParOf" srcId="{91BE4E5F-AF0E-4BFF-B264-1DF1F3B9471B}" destId="{A81486C3-4767-4CA7-9F23-51C2AF24F73B}" srcOrd="2" destOrd="0" presId="urn:microsoft.com/office/officeart/2005/8/layout/chevron2"/>
    <dgm:cxn modelId="{36116C5B-DD7F-43A8-98F3-BA9795BEADE5}" type="presParOf" srcId="{A81486C3-4767-4CA7-9F23-51C2AF24F73B}" destId="{7E88B71A-8FC2-44B9-9956-4DC1698EAD36}" srcOrd="0" destOrd="0" presId="urn:microsoft.com/office/officeart/2005/8/layout/chevron2"/>
    <dgm:cxn modelId="{5EC892FA-96EF-41B5-962D-D5402A5DB291}" type="presParOf" srcId="{A81486C3-4767-4CA7-9F23-51C2AF24F73B}" destId="{91318DA1-FDC0-4AD0-85E6-9666E28C3D14}"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F490691-F551-4FC6-8532-6E8A74968F1A}" type="doc">
      <dgm:prSet loTypeId="urn:microsoft.com/office/officeart/2005/8/layout/chevron2" loCatId="list" qsTypeId="urn:microsoft.com/office/officeart/2005/8/quickstyle/3d6" qsCatId="3D" csTypeId="urn:microsoft.com/office/officeart/2005/8/colors/accent1_2" csCatId="accent1" phldr="1"/>
      <dgm:spPr/>
      <dgm:t>
        <a:bodyPr/>
        <a:lstStyle/>
        <a:p>
          <a:endParaRPr lang="en-US"/>
        </a:p>
      </dgm:t>
    </dgm:pt>
    <dgm:pt modelId="{479AC4B5-D046-42C0-B1D1-5663AA724A6F}">
      <dgm:prSet phldrT="[Text]" phldr="0" custT="1"/>
      <dgm:spPr/>
      <dgm:t>
        <a:bodyPr/>
        <a:lstStyle/>
        <a:p>
          <a:r>
            <a:rPr lang="en-US" sz="1800" b="1" dirty="0">
              <a:solidFill>
                <a:schemeClr val="tx1"/>
              </a:solidFill>
              <a:latin typeface="Arial" panose="020B0604020202020204" pitchFamily="34" charset="0"/>
              <a:cs typeface="Arial" panose="020B0604020202020204" pitchFamily="34" charset="0"/>
            </a:rPr>
            <a:t>Gratis Veri </a:t>
          </a:r>
          <a:r>
            <a:rPr lang="en-US" sz="1800" b="1" dirty="0" err="1">
              <a:solidFill>
                <a:schemeClr val="tx1"/>
              </a:solidFill>
              <a:latin typeface="Arial" panose="020B0604020202020204" pitchFamily="34" charset="0"/>
              <a:cs typeface="Arial" panose="020B0604020202020204" pitchFamily="34" charset="0"/>
            </a:rPr>
            <a:t>İhlali</a:t>
          </a:r>
          <a:r>
            <a:rPr lang="en-US" sz="1800" b="1" dirty="0">
              <a:solidFill>
                <a:schemeClr val="tx1"/>
              </a:solidFill>
              <a:latin typeface="Arial" panose="020B0604020202020204" pitchFamily="34" charset="0"/>
              <a:cs typeface="Arial" panose="020B0604020202020204" pitchFamily="34" charset="0"/>
            </a:rPr>
            <a:t> – Türkiye</a:t>
          </a:r>
          <a:r>
            <a:rPr lang="tr-TR" sz="1800" b="1" dirty="0">
              <a:solidFill>
                <a:schemeClr val="tx1"/>
              </a:solidFill>
              <a:latin typeface="Arial" panose="020B0604020202020204" pitchFamily="34" charset="0"/>
              <a:cs typeface="Arial" panose="020B0604020202020204" pitchFamily="34" charset="0"/>
            </a:rPr>
            <a:t> </a:t>
          </a:r>
          <a:endParaRPr lang="en-US" sz="1800" b="1" dirty="0">
            <a:solidFill>
              <a:schemeClr val="tx1"/>
            </a:solidFill>
          </a:endParaRPr>
        </a:p>
      </dgm:t>
    </dgm:pt>
    <dgm:pt modelId="{0A2B0212-940E-410E-A998-E2618A820594}" type="parTrans" cxnId="{E558252C-4F41-4DD4-BF63-DB7B756EA8C3}">
      <dgm:prSet/>
      <dgm:spPr/>
      <dgm:t>
        <a:bodyPr/>
        <a:lstStyle/>
        <a:p>
          <a:endParaRPr lang="en-US"/>
        </a:p>
      </dgm:t>
    </dgm:pt>
    <dgm:pt modelId="{A46FFFFC-DCE7-4F83-9201-A0C66B8AA3E9}" type="sibTrans" cxnId="{E558252C-4F41-4DD4-BF63-DB7B756EA8C3}">
      <dgm:prSet/>
      <dgm:spPr/>
      <dgm:t>
        <a:bodyPr/>
        <a:lstStyle/>
        <a:p>
          <a:endParaRPr lang="en-US"/>
        </a:p>
      </dgm:t>
    </dgm:pt>
    <dgm:pt modelId="{FDC5D85E-ABE4-450C-9759-0E0694C9F72C}">
      <dgm:prSet phldrT="[Text]" phldr="0" custT="1"/>
      <dgm:spPr/>
      <dgm:t>
        <a:bodyPr/>
        <a:lstStyle/>
        <a:p>
          <a:r>
            <a:rPr lang="en-US" sz="1800" b="1" dirty="0" err="1">
              <a:solidFill>
                <a:schemeClr val="tx1"/>
              </a:solidFill>
              <a:latin typeface="Arial" panose="020B0604020202020204" pitchFamily="34" charset="0"/>
              <a:cs typeface="Arial" panose="020B0604020202020204" pitchFamily="34" charset="0"/>
            </a:rPr>
            <a:t>Vastaamo</a:t>
          </a:r>
          <a:r>
            <a:rPr lang="en-US" sz="1800" b="1" dirty="0">
              <a:solidFill>
                <a:schemeClr val="tx1"/>
              </a:solidFill>
              <a:latin typeface="Arial" panose="020B0604020202020204" pitchFamily="34" charset="0"/>
              <a:cs typeface="Arial" panose="020B0604020202020204" pitchFamily="34" charset="0"/>
            </a:rPr>
            <a:t> Data Breach – </a:t>
          </a:r>
          <a:r>
            <a:rPr lang="en-US" sz="1800" b="1" dirty="0" err="1">
              <a:solidFill>
                <a:schemeClr val="tx1"/>
              </a:solidFill>
              <a:latin typeface="Arial" panose="020B0604020202020204" pitchFamily="34" charset="0"/>
              <a:cs typeface="Arial" panose="020B0604020202020204" pitchFamily="34" charset="0"/>
            </a:rPr>
            <a:t>Finlandiya</a:t>
          </a:r>
          <a:endParaRPr lang="en-US" sz="1800" dirty="0">
            <a:solidFill>
              <a:schemeClr val="tx1"/>
            </a:solidFill>
          </a:endParaRPr>
        </a:p>
      </dgm:t>
    </dgm:pt>
    <dgm:pt modelId="{37ADA5EB-B7D6-4D81-A79B-2B740D8F4688}" type="parTrans" cxnId="{6F3D2A62-1A8D-4660-A14E-E2EBD2F28B95}">
      <dgm:prSet/>
      <dgm:spPr/>
      <dgm:t>
        <a:bodyPr/>
        <a:lstStyle/>
        <a:p>
          <a:endParaRPr lang="en-US"/>
        </a:p>
      </dgm:t>
    </dgm:pt>
    <dgm:pt modelId="{FA985B87-98C0-4BAE-AB88-6864EC802DB9}" type="sibTrans" cxnId="{6F3D2A62-1A8D-4660-A14E-E2EBD2F28B95}">
      <dgm:prSet/>
      <dgm:spPr/>
      <dgm:t>
        <a:bodyPr/>
        <a:lstStyle/>
        <a:p>
          <a:endParaRPr lang="en-US"/>
        </a:p>
      </dgm:t>
    </dgm:pt>
    <dgm:pt modelId="{91BE4E5F-AF0E-4BFF-B264-1DF1F3B9471B}" type="pres">
      <dgm:prSet presAssocID="{0F490691-F551-4FC6-8532-6E8A74968F1A}" presName="linearFlow" presStyleCnt="0">
        <dgm:presLayoutVars>
          <dgm:dir/>
          <dgm:animLvl val="lvl"/>
          <dgm:resizeHandles val="exact"/>
        </dgm:presLayoutVars>
      </dgm:prSet>
      <dgm:spPr/>
    </dgm:pt>
    <dgm:pt modelId="{388C372D-B167-40E7-B92F-70E9831F4C5C}" type="pres">
      <dgm:prSet presAssocID="{479AC4B5-D046-42C0-B1D1-5663AA724A6F}" presName="composite" presStyleCnt="0"/>
      <dgm:spPr/>
    </dgm:pt>
    <dgm:pt modelId="{A7D9BCEE-845B-4DD0-800A-B44821F7F3AA}" type="pres">
      <dgm:prSet presAssocID="{479AC4B5-D046-42C0-B1D1-5663AA724A6F}" presName="parentText" presStyleLbl="alignNode1" presStyleIdx="0" presStyleCnt="2" custLinFactNeighborY="1105">
        <dgm:presLayoutVars>
          <dgm:chMax val="1"/>
          <dgm:bulletEnabled val="1"/>
        </dgm:presLayoutVars>
      </dgm:prSet>
      <dgm:spPr/>
    </dgm:pt>
    <dgm:pt modelId="{E62CB10D-AA4D-4F05-8C2D-E40E0F11BB9E}" type="pres">
      <dgm:prSet presAssocID="{479AC4B5-D046-42C0-B1D1-5663AA724A6F}" presName="descendantText" presStyleLbl="alignAcc1" presStyleIdx="0" presStyleCnt="2" custLinFactNeighborY="1231">
        <dgm:presLayoutVars>
          <dgm:bulletEnabled val="1"/>
        </dgm:presLayoutVars>
      </dgm:prSet>
      <dgm:spPr>
        <a:blipFill rotWithShape="0">
          <a:blip xmlns:r="http://schemas.openxmlformats.org/officeDocument/2006/relationships" r:embed="rId1"/>
          <a:srcRect/>
          <a:stretch>
            <a:fillRect l="-10000" r="-10000"/>
          </a:stretch>
        </a:blipFill>
      </dgm:spPr>
    </dgm:pt>
    <dgm:pt modelId="{53AABA8E-C82D-4A53-9B5F-B69189482E31}" type="pres">
      <dgm:prSet presAssocID="{A46FFFFC-DCE7-4F83-9201-A0C66B8AA3E9}" presName="sp" presStyleCnt="0"/>
      <dgm:spPr/>
    </dgm:pt>
    <dgm:pt modelId="{A81486C3-4767-4CA7-9F23-51C2AF24F73B}" type="pres">
      <dgm:prSet presAssocID="{FDC5D85E-ABE4-450C-9759-0E0694C9F72C}" presName="composite" presStyleCnt="0"/>
      <dgm:spPr/>
    </dgm:pt>
    <dgm:pt modelId="{7E88B71A-8FC2-44B9-9956-4DC1698EAD36}" type="pres">
      <dgm:prSet presAssocID="{FDC5D85E-ABE4-450C-9759-0E0694C9F72C}" presName="parentText" presStyleLbl="alignNode1" presStyleIdx="1" presStyleCnt="2" custLinFactNeighborX="1912" custLinFactNeighborY="-5746">
        <dgm:presLayoutVars>
          <dgm:chMax val="1"/>
          <dgm:bulletEnabled val="1"/>
        </dgm:presLayoutVars>
      </dgm:prSet>
      <dgm:spPr/>
    </dgm:pt>
    <dgm:pt modelId="{91318DA1-FDC0-4AD0-85E6-9666E28C3D14}" type="pres">
      <dgm:prSet presAssocID="{FDC5D85E-ABE4-450C-9759-0E0694C9F72C}" presName="descendantText" presStyleLbl="alignAcc1" presStyleIdx="1" presStyleCnt="2" custLinFactNeighborY="-5738">
        <dgm:presLayoutVars>
          <dgm:bulletEnabled val="1"/>
        </dgm:presLayoutVars>
      </dgm:prSet>
      <dgm:spPr/>
    </dgm:pt>
  </dgm:ptLst>
  <dgm:cxnLst>
    <dgm:cxn modelId="{B1FA3E0A-6EB5-4BDA-A1B9-F1FE86C31D53}" type="presOf" srcId="{479AC4B5-D046-42C0-B1D1-5663AA724A6F}" destId="{A7D9BCEE-845B-4DD0-800A-B44821F7F3AA}" srcOrd="0" destOrd="0" presId="urn:microsoft.com/office/officeart/2005/8/layout/chevron2"/>
    <dgm:cxn modelId="{E558252C-4F41-4DD4-BF63-DB7B756EA8C3}" srcId="{0F490691-F551-4FC6-8532-6E8A74968F1A}" destId="{479AC4B5-D046-42C0-B1D1-5663AA724A6F}" srcOrd="0" destOrd="0" parTransId="{0A2B0212-940E-410E-A998-E2618A820594}" sibTransId="{A46FFFFC-DCE7-4F83-9201-A0C66B8AA3E9}"/>
    <dgm:cxn modelId="{6F3D2A62-1A8D-4660-A14E-E2EBD2F28B95}" srcId="{0F490691-F551-4FC6-8532-6E8A74968F1A}" destId="{FDC5D85E-ABE4-450C-9759-0E0694C9F72C}" srcOrd="1" destOrd="0" parTransId="{37ADA5EB-B7D6-4D81-A79B-2B740D8F4688}" sibTransId="{FA985B87-98C0-4BAE-AB88-6864EC802DB9}"/>
    <dgm:cxn modelId="{9D98E847-65DE-4060-8B11-0B6C0F88C78F}" type="presOf" srcId="{FDC5D85E-ABE4-450C-9759-0E0694C9F72C}" destId="{7E88B71A-8FC2-44B9-9956-4DC1698EAD36}" srcOrd="0" destOrd="0" presId="urn:microsoft.com/office/officeart/2005/8/layout/chevron2"/>
    <dgm:cxn modelId="{2A00BE87-A974-4482-93DA-9A4EB3A033DD}" type="presOf" srcId="{0F490691-F551-4FC6-8532-6E8A74968F1A}" destId="{91BE4E5F-AF0E-4BFF-B264-1DF1F3B9471B}" srcOrd="0" destOrd="0" presId="urn:microsoft.com/office/officeart/2005/8/layout/chevron2"/>
    <dgm:cxn modelId="{33D665F2-4602-4063-8A46-76E10CB48402}" type="presParOf" srcId="{91BE4E5F-AF0E-4BFF-B264-1DF1F3B9471B}" destId="{388C372D-B167-40E7-B92F-70E9831F4C5C}" srcOrd="0" destOrd="0" presId="urn:microsoft.com/office/officeart/2005/8/layout/chevron2"/>
    <dgm:cxn modelId="{21AE499D-53A4-4FF4-BBBA-3BCBA9DFB6E2}" type="presParOf" srcId="{388C372D-B167-40E7-B92F-70E9831F4C5C}" destId="{A7D9BCEE-845B-4DD0-800A-B44821F7F3AA}" srcOrd="0" destOrd="0" presId="urn:microsoft.com/office/officeart/2005/8/layout/chevron2"/>
    <dgm:cxn modelId="{118E4666-1294-4ECE-98DC-782E65638F7B}" type="presParOf" srcId="{388C372D-B167-40E7-B92F-70E9831F4C5C}" destId="{E62CB10D-AA4D-4F05-8C2D-E40E0F11BB9E}" srcOrd="1" destOrd="0" presId="urn:microsoft.com/office/officeart/2005/8/layout/chevron2"/>
    <dgm:cxn modelId="{D855260C-93C4-457A-85D7-74515A693336}" type="presParOf" srcId="{91BE4E5F-AF0E-4BFF-B264-1DF1F3B9471B}" destId="{53AABA8E-C82D-4A53-9B5F-B69189482E31}" srcOrd="1" destOrd="0" presId="urn:microsoft.com/office/officeart/2005/8/layout/chevron2"/>
    <dgm:cxn modelId="{4364C91D-1255-4974-A287-E3B19BE4EA79}" type="presParOf" srcId="{91BE4E5F-AF0E-4BFF-B264-1DF1F3B9471B}" destId="{A81486C3-4767-4CA7-9F23-51C2AF24F73B}" srcOrd="2" destOrd="0" presId="urn:microsoft.com/office/officeart/2005/8/layout/chevron2"/>
    <dgm:cxn modelId="{36116C5B-DD7F-43A8-98F3-BA9795BEADE5}" type="presParOf" srcId="{A81486C3-4767-4CA7-9F23-51C2AF24F73B}" destId="{7E88B71A-8FC2-44B9-9956-4DC1698EAD36}" srcOrd="0" destOrd="0" presId="urn:microsoft.com/office/officeart/2005/8/layout/chevron2"/>
    <dgm:cxn modelId="{5EC892FA-96EF-41B5-962D-D5402A5DB291}" type="presParOf" srcId="{A81486C3-4767-4CA7-9F23-51C2AF24F73B}" destId="{91318DA1-FDC0-4AD0-85E6-9666E28C3D14}"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0F490691-F551-4FC6-8532-6E8A74968F1A}" type="doc">
      <dgm:prSet loTypeId="urn:microsoft.com/office/officeart/2005/8/layout/chevron2" loCatId="list" qsTypeId="urn:microsoft.com/office/officeart/2005/8/quickstyle/3d6" qsCatId="3D" csTypeId="urn:microsoft.com/office/officeart/2005/8/colors/accent1_2" csCatId="accent1" phldr="1"/>
      <dgm:spPr/>
      <dgm:t>
        <a:bodyPr/>
        <a:lstStyle/>
        <a:p>
          <a:endParaRPr lang="en-US"/>
        </a:p>
      </dgm:t>
    </dgm:pt>
    <dgm:pt modelId="{479AC4B5-D046-42C0-B1D1-5663AA724A6F}">
      <dgm:prSet phldrT="[Text]" phldr="0" custT="1"/>
      <dgm:spPr/>
      <dgm:t>
        <a:bodyPr/>
        <a:lstStyle/>
        <a:p>
          <a:pPr algn="ctr"/>
          <a:r>
            <a:rPr lang="en-US" sz="1800" b="1" dirty="0">
              <a:solidFill>
                <a:schemeClr val="tx1"/>
              </a:solidFill>
              <a:latin typeface="Arial" panose="020B0604020202020204" pitchFamily="34" charset="0"/>
              <a:cs typeface="Arial" panose="020B0604020202020204" pitchFamily="34" charset="0"/>
            </a:rPr>
            <a:t>HSE Ransomware – İrlanda</a:t>
          </a:r>
        </a:p>
      </dgm:t>
    </dgm:pt>
    <dgm:pt modelId="{0A2B0212-940E-410E-A998-E2618A820594}" type="parTrans" cxnId="{E558252C-4F41-4DD4-BF63-DB7B756EA8C3}">
      <dgm:prSet/>
      <dgm:spPr/>
      <dgm:t>
        <a:bodyPr/>
        <a:lstStyle/>
        <a:p>
          <a:endParaRPr lang="en-US"/>
        </a:p>
      </dgm:t>
    </dgm:pt>
    <dgm:pt modelId="{A46FFFFC-DCE7-4F83-9201-A0C66B8AA3E9}" type="sibTrans" cxnId="{E558252C-4F41-4DD4-BF63-DB7B756EA8C3}">
      <dgm:prSet/>
      <dgm:spPr/>
      <dgm:t>
        <a:bodyPr/>
        <a:lstStyle/>
        <a:p>
          <a:endParaRPr lang="en-US"/>
        </a:p>
      </dgm:t>
    </dgm:pt>
    <dgm:pt modelId="{FDC5D85E-ABE4-450C-9759-0E0694C9F72C}">
      <dgm:prSet phldrT="[Text]" phldr="0" custT="1"/>
      <dgm:spPr/>
      <dgm:t>
        <a:bodyPr/>
        <a:lstStyle/>
        <a:p>
          <a:r>
            <a:rPr lang="en-US" sz="1800" b="1" dirty="0" err="1">
              <a:solidFill>
                <a:schemeClr val="tx1"/>
              </a:solidFill>
              <a:effectLst/>
              <a:latin typeface="Arial" panose="020B0604020202020204" pitchFamily="34" charset="0"/>
              <a:cs typeface="Arial" panose="020B0604020202020204" pitchFamily="34" charset="0"/>
            </a:rPr>
            <a:t>Sağlık</a:t>
          </a:r>
          <a:r>
            <a:rPr lang="en-US" sz="1800" b="1" dirty="0">
              <a:solidFill>
                <a:schemeClr val="tx1"/>
              </a:solidFill>
              <a:effectLst/>
              <a:latin typeface="Arial" panose="020B0604020202020204" pitchFamily="34" charset="0"/>
              <a:cs typeface="Arial" panose="020B0604020202020204" pitchFamily="34" charset="0"/>
            </a:rPr>
            <a:t> </a:t>
          </a:r>
          <a:r>
            <a:rPr lang="en-US" sz="1800" b="1" dirty="0" err="1">
              <a:solidFill>
                <a:schemeClr val="tx1"/>
              </a:solidFill>
              <a:effectLst/>
              <a:latin typeface="Arial" panose="020B0604020202020204" pitchFamily="34" charset="0"/>
              <a:cs typeface="Arial" panose="020B0604020202020204" pitchFamily="34" charset="0"/>
            </a:rPr>
            <a:t>Bakanlığı</a:t>
          </a:r>
          <a:r>
            <a:rPr lang="en-US" sz="1800" b="1" dirty="0">
              <a:solidFill>
                <a:schemeClr val="tx1"/>
              </a:solidFill>
              <a:effectLst/>
              <a:latin typeface="Arial" panose="020B0604020202020204" pitchFamily="34" charset="0"/>
              <a:cs typeface="Arial" panose="020B0604020202020204" pitchFamily="34" charset="0"/>
            </a:rPr>
            <a:t> </a:t>
          </a:r>
          <a:r>
            <a:rPr lang="en-US" sz="1800" b="1" dirty="0" err="1">
              <a:solidFill>
                <a:schemeClr val="tx1"/>
              </a:solidFill>
              <a:effectLst/>
              <a:latin typeface="Arial" panose="020B0604020202020204" pitchFamily="34" charset="0"/>
              <a:cs typeface="Arial" panose="020B0604020202020204" pitchFamily="34" charset="0"/>
            </a:rPr>
            <a:t>Sistemi</a:t>
          </a:r>
          <a:r>
            <a:rPr lang="en-US" sz="1800" b="1" dirty="0">
              <a:solidFill>
                <a:schemeClr val="tx1"/>
              </a:solidFill>
              <a:effectLst/>
              <a:latin typeface="Arial" panose="020B0604020202020204" pitchFamily="34" charset="0"/>
              <a:cs typeface="Arial" panose="020B0604020202020204" pitchFamily="34" charset="0"/>
            </a:rPr>
            <a:t> </a:t>
          </a:r>
          <a:r>
            <a:rPr lang="en-US" sz="1800" b="1" dirty="0" err="1">
              <a:solidFill>
                <a:schemeClr val="tx1"/>
              </a:solidFill>
              <a:effectLst/>
              <a:latin typeface="Arial" panose="020B0604020202020204" pitchFamily="34" charset="0"/>
              <a:cs typeface="Arial" panose="020B0604020202020204" pitchFamily="34" charset="0"/>
            </a:rPr>
            <a:t>Saldırısı</a:t>
          </a:r>
          <a:r>
            <a:rPr lang="en-US" sz="1800" b="1" dirty="0">
              <a:solidFill>
                <a:schemeClr val="tx1"/>
              </a:solidFill>
              <a:effectLst/>
              <a:latin typeface="Arial" panose="020B0604020202020204" pitchFamily="34" charset="0"/>
              <a:cs typeface="Arial" panose="020B0604020202020204" pitchFamily="34" charset="0"/>
            </a:rPr>
            <a:t> – Türkiye</a:t>
          </a:r>
        </a:p>
      </dgm:t>
    </dgm:pt>
    <dgm:pt modelId="{37ADA5EB-B7D6-4D81-A79B-2B740D8F4688}" type="parTrans" cxnId="{6F3D2A62-1A8D-4660-A14E-E2EBD2F28B95}">
      <dgm:prSet/>
      <dgm:spPr/>
      <dgm:t>
        <a:bodyPr/>
        <a:lstStyle/>
        <a:p>
          <a:endParaRPr lang="en-US"/>
        </a:p>
      </dgm:t>
    </dgm:pt>
    <dgm:pt modelId="{FA985B87-98C0-4BAE-AB88-6864EC802DB9}" type="sibTrans" cxnId="{6F3D2A62-1A8D-4660-A14E-E2EBD2F28B95}">
      <dgm:prSet/>
      <dgm:spPr/>
      <dgm:t>
        <a:bodyPr/>
        <a:lstStyle/>
        <a:p>
          <a:endParaRPr lang="en-US"/>
        </a:p>
      </dgm:t>
    </dgm:pt>
    <dgm:pt modelId="{91BE4E5F-AF0E-4BFF-B264-1DF1F3B9471B}" type="pres">
      <dgm:prSet presAssocID="{0F490691-F551-4FC6-8532-6E8A74968F1A}" presName="linearFlow" presStyleCnt="0">
        <dgm:presLayoutVars>
          <dgm:dir/>
          <dgm:animLvl val="lvl"/>
          <dgm:resizeHandles val="exact"/>
        </dgm:presLayoutVars>
      </dgm:prSet>
      <dgm:spPr/>
    </dgm:pt>
    <dgm:pt modelId="{388C372D-B167-40E7-B92F-70E9831F4C5C}" type="pres">
      <dgm:prSet presAssocID="{479AC4B5-D046-42C0-B1D1-5663AA724A6F}" presName="composite" presStyleCnt="0"/>
      <dgm:spPr/>
    </dgm:pt>
    <dgm:pt modelId="{A7D9BCEE-845B-4DD0-800A-B44821F7F3AA}" type="pres">
      <dgm:prSet presAssocID="{479AC4B5-D046-42C0-B1D1-5663AA724A6F}" presName="parentText" presStyleLbl="alignNode1" presStyleIdx="0" presStyleCnt="2" custLinFactNeighborX="-7739" custLinFactNeighborY="-119">
        <dgm:presLayoutVars>
          <dgm:chMax val="1"/>
          <dgm:bulletEnabled val="1"/>
        </dgm:presLayoutVars>
      </dgm:prSet>
      <dgm:spPr/>
    </dgm:pt>
    <dgm:pt modelId="{E62CB10D-AA4D-4F05-8C2D-E40E0F11BB9E}" type="pres">
      <dgm:prSet presAssocID="{479AC4B5-D046-42C0-B1D1-5663AA724A6F}" presName="descendantText" presStyleLbl="alignAcc1" presStyleIdx="0" presStyleCnt="2" custLinFactNeighborX="0" custLinFactNeighborY="-926">
        <dgm:presLayoutVars>
          <dgm:bulletEnabled val="1"/>
        </dgm:presLayoutVars>
      </dgm:prSet>
      <dgm:spPr>
        <a:blipFill rotWithShape="0">
          <a:blip xmlns:r="http://schemas.openxmlformats.org/officeDocument/2006/relationships" r:embed="rId1"/>
          <a:srcRect/>
          <a:stretch>
            <a:fillRect l="-3000" r="-3000"/>
          </a:stretch>
        </a:blipFill>
      </dgm:spPr>
    </dgm:pt>
    <dgm:pt modelId="{53AABA8E-C82D-4A53-9B5F-B69189482E31}" type="pres">
      <dgm:prSet presAssocID="{A46FFFFC-DCE7-4F83-9201-A0C66B8AA3E9}" presName="sp" presStyleCnt="0"/>
      <dgm:spPr/>
    </dgm:pt>
    <dgm:pt modelId="{A81486C3-4767-4CA7-9F23-51C2AF24F73B}" type="pres">
      <dgm:prSet presAssocID="{FDC5D85E-ABE4-450C-9759-0E0694C9F72C}" presName="composite" presStyleCnt="0"/>
      <dgm:spPr/>
    </dgm:pt>
    <dgm:pt modelId="{7E88B71A-8FC2-44B9-9956-4DC1698EAD36}" type="pres">
      <dgm:prSet presAssocID="{FDC5D85E-ABE4-450C-9759-0E0694C9F72C}" presName="parentText" presStyleLbl="alignNode1" presStyleIdx="1" presStyleCnt="2" custLinFactNeighborX="1494" custLinFactNeighborY="-6441">
        <dgm:presLayoutVars>
          <dgm:chMax val="1"/>
          <dgm:bulletEnabled val="1"/>
        </dgm:presLayoutVars>
      </dgm:prSet>
      <dgm:spPr/>
    </dgm:pt>
    <dgm:pt modelId="{91318DA1-FDC0-4AD0-85E6-9666E28C3D14}" type="pres">
      <dgm:prSet presAssocID="{FDC5D85E-ABE4-450C-9759-0E0694C9F72C}" presName="descendantText" presStyleLbl="alignAcc1" presStyleIdx="1" presStyleCnt="2" custLinFactNeighborY="-5600">
        <dgm:presLayoutVars>
          <dgm:bulletEnabled val="1"/>
        </dgm:presLayoutVars>
      </dgm:prSet>
      <dgm:spPr>
        <a:blipFill rotWithShape="0">
          <a:blip xmlns:r="http://schemas.openxmlformats.org/officeDocument/2006/relationships" r:embed="rId2"/>
          <a:srcRect/>
          <a:stretch>
            <a:fillRect l="-28000" r="-28000"/>
          </a:stretch>
        </a:blipFill>
      </dgm:spPr>
    </dgm:pt>
  </dgm:ptLst>
  <dgm:cxnLst>
    <dgm:cxn modelId="{B1FA3E0A-6EB5-4BDA-A1B9-F1FE86C31D53}" type="presOf" srcId="{479AC4B5-D046-42C0-B1D1-5663AA724A6F}" destId="{A7D9BCEE-845B-4DD0-800A-B44821F7F3AA}" srcOrd="0" destOrd="0" presId="urn:microsoft.com/office/officeart/2005/8/layout/chevron2"/>
    <dgm:cxn modelId="{E558252C-4F41-4DD4-BF63-DB7B756EA8C3}" srcId="{0F490691-F551-4FC6-8532-6E8A74968F1A}" destId="{479AC4B5-D046-42C0-B1D1-5663AA724A6F}" srcOrd="0" destOrd="0" parTransId="{0A2B0212-940E-410E-A998-E2618A820594}" sibTransId="{A46FFFFC-DCE7-4F83-9201-A0C66B8AA3E9}"/>
    <dgm:cxn modelId="{6F3D2A62-1A8D-4660-A14E-E2EBD2F28B95}" srcId="{0F490691-F551-4FC6-8532-6E8A74968F1A}" destId="{FDC5D85E-ABE4-450C-9759-0E0694C9F72C}" srcOrd="1" destOrd="0" parTransId="{37ADA5EB-B7D6-4D81-A79B-2B740D8F4688}" sibTransId="{FA985B87-98C0-4BAE-AB88-6864EC802DB9}"/>
    <dgm:cxn modelId="{9D98E847-65DE-4060-8B11-0B6C0F88C78F}" type="presOf" srcId="{FDC5D85E-ABE4-450C-9759-0E0694C9F72C}" destId="{7E88B71A-8FC2-44B9-9956-4DC1698EAD36}" srcOrd="0" destOrd="0" presId="urn:microsoft.com/office/officeart/2005/8/layout/chevron2"/>
    <dgm:cxn modelId="{2A00BE87-A974-4482-93DA-9A4EB3A033DD}" type="presOf" srcId="{0F490691-F551-4FC6-8532-6E8A74968F1A}" destId="{91BE4E5F-AF0E-4BFF-B264-1DF1F3B9471B}" srcOrd="0" destOrd="0" presId="urn:microsoft.com/office/officeart/2005/8/layout/chevron2"/>
    <dgm:cxn modelId="{33D665F2-4602-4063-8A46-76E10CB48402}" type="presParOf" srcId="{91BE4E5F-AF0E-4BFF-B264-1DF1F3B9471B}" destId="{388C372D-B167-40E7-B92F-70E9831F4C5C}" srcOrd="0" destOrd="0" presId="urn:microsoft.com/office/officeart/2005/8/layout/chevron2"/>
    <dgm:cxn modelId="{21AE499D-53A4-4FF4-BBBA-3BCBA9DFB6E2}" type="presParOf" srcId="{388C372D-B167-40E7-B92F-70E9831F4C5C}" destId="{A7D9BCEE-845B-4DD0-800A-B44821F7F3AA}" srcOrd="0" destOrd="0" presId="urn:microsoft.com/office/officeart/2005/8/layout/chevron2"/>
    <dgm:cxn modelId="{118E4666-1294-4ECE-98DC-782E65638F7B}" type="presParOf" srcId="{388C372D-B167-40E7-B92F-70E9831F4C5C}" destId="{E62CB10D-AA4D-4F05-8C2D-E40E0F11BB9E}" srcOrd="1" destOrd="0" presId="urn:microsoft.com/office/officeart/2005/8/layout/chevron2"/>
    <dgm:cxn modelId="{D855260C-93C4-457A-85D7-74515A693336}" type="presParOf" srcId="{91BE4E5F-AF0E-4BFF-B264-1DF1F3B9471B}" destId="{53AABA8E-C82D-4A53-9B5F-B69189482E31}" srcOrd="1" destOrd="0" presId="urn:microsoft.com/office/officeart/2005/8/layout/chevron2"/>
    <dgm:cxn modelId="{4364C91D-1255-4974-A287-E3B19BE4EA79}" type="presParOf" srcId="{91BE4E5F-AF0E-4BFF-B264-1DF1F3B9471B}" destId="{A81486C3-4767-4CA7-9F23-51C2AF24F73B}" srcOrd="2" destOrd="0" presId="urn:microsoft.com/office/officeart/2005/8/layout/chevron2"/>
    <dgm:cxn modelId="{36116C5B-DD7F-43A8-98F3-BA9795BEADE5}" type="presParOf" srcId="{A81486C3-4767-4CA7-9F23-51C2AF24F73B}" destId="{7E88B71A-8FC2-44B9-9956-4DC1698EAD36}" srcOrd="0" destOrd="0" presId="urn:microsoft.com/office/officeart/2005/8/layout/chevron2"/>
    <dgm:cxn modelId="{5EC892FA-96EF-41B5-962D-D5402A5DB291}" type="presParOf" srcId="{A81486C3-4767-4CA7-9F23-51C2AF24F73B}" destId="{91318DA1-FDC0-4AD0-85E6-9666E28C3D14}" srcOrd="1" destOrd="0" presId="urn:microsoft.com/office/officeart/2005/8/layout/chevro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0F490691-F551-4FC6-8532-6E8A74968F1A}" type="doc">
      <dgm:prSet loTypeId="urn:microsoft.com/office/officeart/2005/8/layout/chevron2" loCatId="list" qsTypeId="urn:microsoft.com/office/officeart/2005/8/quickstyle/3d6" qsCatId="3D" csTypeId="urn:microsoft.com/office/officeart/2005/8/colors/accent1_2" csCatId="accent1" phldr="1"/>
      <dgm:spPr/>
      <dgm:t>
        <a:bodyPr/>
        <a:lstStyle/>
        <a:p>
          <a:endParaRPr lang="en-US"/>
        </a:p>
      </dgm:t>
    </dgm:pt>
    <dgm:pt modelId="{479AC4B5-D046-42C0-B1D1-5663AA724A6F}">
      <dgm:prSet phldrT="[Text]" phldr="0" custT="1"/>
      <dgm:spPr/>
      <dgm:t>
        <a:bodyPr/>
        <a:lstStyle/>
        <a:p>
          <a:r>
            <a:rPr lang="en-US" sz="2000" b="1" dirty="0">
              <a:solidFill>
                <a:schemeClr val="tx1"/>
              </a:solidFill>
              <a:latin typeface="Arial" panose="020B0604020202020204" pitchFamily="34" charset="0"/>
              <a:cs typeface="Arial" panose="020B0604020202020204" pitchFamily="34" charset="0"/>
            </a:rPr>
            <a:t>Microsoft Exchange Server Attack – Global</a:t>
          </a:r>
        </a:p>
      </dgm:t>
    </dgm:pt>
    <dgm:pt modelId="{0A2B0212-940E-410E-A998-E2618A820594}" type="parTrans" cxnId="{E558252C-4F41-4DD4-BF63-DB7B756EA8C3}">
      <dgm:prSet/>
      <dgm:spPr/>
      <dgm:t>
        <a:bodyPr/>
        <a:lstStyle/>
        <a:p>
          <a:endParaRPr lang="en-US"/>
        </a:p>
      </dgm:t>
    </dgm:pt>
    <dgm:pt modelId="{A46FFFFC-DCE7-4F83-9201-A0C66B8AA3E9}" type="sibTrans" cxnId="{E558252C-4F41-4DD4-BF63-DB7B756EA8C3}">
      <dgm:prSet/>
      <dgm:spPr/>
      <dgm:t>
        <a:bodyPr/>
        <a:lstStyle/>
        <a:p>
          <a:endParaRPr lang="en-US"/>
        </a:p>
      </dgm:t>
    </dgm:pt>
    <dgm:pt modelId="{FDC5D85E-ABE4-450C-9759-0E0694C9F72C}">
      <dgm:prSet phldrT="[Text]" phldr="0" custT="1"/>
      <dgm:spPr/>
      <dgm:t>
        <a:bodyPr/>
        <a:lstStyle/>
        <a:p>
          <a:r>
            <a:rPr lang="en-US" sz="2000" b="1" dirty="0">
              <a:solidFill>
                <a:schemeClr val="tx1"/>
              </a:solidFill>
              <a:latin typeface="Arial" panose="020B0604020202020204" pitchFamily="34" charset="0"/>
              <a:cs typeface="Arial" panose="020B0604020202020204" pitchFamily="34" charset="0"/>
            </a:rPr>
            <a:t>Twitch Veri </a:t>
          </a:r>
          <a:r>
            <a:rPr lang="en-US" sz="2000" b="1" dirty="0" err="1">
              <a:solidFill>
                <a:schemeClr val="tx1"/>
              </a:solidFill>
              <a:latin typeface="Arial" panose="020B0604020202020204" pitchFamily="34" charset="0"/>
              <a:cs typeface="Arial" panose="020B0604020202020204" pitchFamily="34" charset="0"/>
            </a:rPr>
            <a:t>İhlali</a:t>
          </a:r>
          <a:r>
            <a:rPr lang="en-US" sz="2000" b="1" dirty="0">
              <a:solidFill>
                <a:schemeClr val="tx1"/>
              </a:solidFill>
              <a:latin typeface="Arial" panose="020B0604020202020204" pitchFamily="34" charset="0"/>
              <a:cs typeface="Arial" panose="020B0604020202020204" pitchFamily="34" charset="0"/>
            </a:rPr>
            <a:t> – Türkiye </a:t>
          </a:r>
        </a:p>
      </dgm:t>
    </dgm:pt>
    <dgm:pt modelId="{37ADA5EB-B7D6-4D81-A79B-2B740D8F4688}" type="parTrans" cxnId="{6F3D2A62-1A8D-4660-A14E-E2EBD2F28B95}">
      <dgm:prSet/>
      <dgm:spPr/>
      <dgm:t>
        <a:bodyPr/>
        <a:lstStyle/>
        <a:p>
          <a:endParaRPr lang="en-US"/>
        </a:p>
      </dgm:t>
    </dgm:pt>
    <dgm:pt modelId="{FA985B87-98C0-4BAE-AB88-6864EC802DB9}" type="sibTrans" cxnId="{6F3D2A62-1A8D-4660-A14E-E2EBD2F28B95}">
      <dgm:prSet/>
      <dgm:spPr/>
      <dgm:t>
        <a:bodyPr/>
        <a:lstStyle/>
        <a:p>
          <a:endParaRPr lang="en-US"/>
        </a:p>
      </dgm:t>
    </dgm:pt>
    <dgm:pt modelId="{91BE4E5F-AF0E-4BFF-B264-1DF1F3B9471B}" type="pres">
      <dgm:prSet presAssocID="{0F490691-F551-4FC6-8532-6E8A74968F1A}" presName="linearFlow" presStyleCnt="0">
        <dgm:presLayoutVars>
          <dgm:dir/>
          <dgm:animLvl val="lvl"/>
          <dgm:resizeHandles val="exact"/>
        </dgm:presLayoutVars>
      </dgm:prSet>
      <dgm:spPr/>
    </dgm:pt>
    <dgm:pt modelId="{388C372D-B167-40E7-B92F-70E9831F4C5C}" type="pres">
      <dgm:prSet presAssocID="{479AC4B5-D046-42C0-B1D1-5663AA724A6F}" presName="composite" presStyleCnt="0"/>
      <dgm:spPr/>
    </dgm:pt>
    <dgm:pt modelId="{A7D9BCEE-845B-4DD0-800A-B44821F7F3AA}" type="pres">
      <dgm:prSet presAssocID="{479AC4B5-D046-42C0-B1D1-5663AA724A6F}" presName="parentText" presStyleLbl="alignNode1" presStyleIdx="0" presStyleCnt="2" custLinFactNeighborX="2313" custLinFactNeighborY="-20">
        <dgm:presLayoutVars>
          <dgm:chMax val="1"/>
          <dgm:bulletEnabled val="1"/>
        </dgm:presLayoutVars>
      </dgm:prSet>
      <dgm:spPr/>
    </dgm:pt>
    <dgm:pt modelId="{E62CB10D-AA4D-4F05-8C2D-E40E0F11BB9E}" type="pres">
      <dgm:prSet presAssocID="{479AC4B5-D046-42C0-B1D1-5663AA724A6F}" presName="descendantText" presStyleLbl="alignAcc1" presStyleIdx="0" presStyleCnt="2" custLinFactNeighborX="2998" custLinFactNeighborY="974">
        <dgm:presLayoutVars>
          <dgm:bulletEnabled val="1"/>
        </dgm:presLayoutVars>
      </dgm:prSet>
      <dgm:spPr/>
    </dgm:pt>
    <dgm:pt modelId="{53AABA8E-C82D-4A53-9B5F-B69189482E31}" type="pres">
      <dgm:prSet presAssocID="{A46FFFFC-DCE7-4F83-9201-A0C66B8AA3E9}" presName="sp" presStyleCnt="0"/>
      <dgm:spPr/>
    </dgm:pt>
    <dgm:pt modelId="{A81486C3-4767-4CA7-9F23-51C2AF24F73B}" type="pres">
      <dgm:prSet presAssocID="{FDC5D85E-ABE4-450C-9759-0E0694C9F72C}" presName="composite" presStyleCnt="0"/>
      <dgm:spPr/>
    </dgm:pt>
    <dgm:pt modelId="{7E88B71A-8FC2-44B9-9956-4DC1698EAD36}" type="pres">
      <dgm:prSet presAssocID="{FDC5D85E-ABE4-450C-9759-0E0694C9F72C}" presName="parentText" presStyleLbl="alignNode1" presStyleIdx="1" presStyleCnt="2" custLinFactNeighborX="2778" custLinFactNeighborY="-8011">
        <dgm:presLayoutVars>
          <dgm:chMax val="1"/>
          <dgm:bulletEnabled val="1"/>
        </dgm:presLayoutVars>
      </dgm:prSet>
      <dgm:spPr/>
    </dgm:pt>
    <dgm:pt modelId="{91318DA1-FDC0-4AD0-85E6-9666E28C3D14}" type="pres">
      <dgm:prSet presAssocID="{FDC5D85E-ABE4-450C-9759-0E0694C9F72C}" presName="descendantText" presStyleLbl="alignAcc1" presStyleIdx="1" presStyleCnt="2" custLinFactNeighborY="-8576">
        <dgm:presLayoutVars>
          <dgm:bulletEnabled val="1"/>
        </dgm:presLayoutVars>
      </dgm:prSet>
      <dgm:spPr>
        <a:blipFill rotWithShape="0">
          <a:blip xmlns:r="http://schemas.openxmlformats.org/officeDocument/2006/relationships" r:embed="rId1"/>
          <a:srcRect/>
          <a:stretch>
            <a:fillRect l="-28000" r="-28000"/>
          </a:stretch>
        </a:blipFill>
      </dgm:spPr>
    </dgm:pt>
  </dgm:ptLst>
  <dgm:cxnLst>
    <dgm:cxn modelId="{B1FA3E0A-6EB5-4BDA-A1B9-F1FE86C31D53}" type="presOf" srcId="{479AC4B5-D046-42C0-B1D1-5663AA724A6F}" destId="{A7D9BCEE-845B-4DD0-800A-B44821F7F3AA}" srcOrd="0" destOrd="0" presId="urn:microsoft.com/office/officeart/2005/8/layout/chevron2"/>
    <dgm:cxn modelId="{E558252C-4F41-4DD4-BF63-DB7B756EA8C3}" srcId="{0F490691-F551-4FC6-8532-6E8A74968F1A}" destId="{479AC4B5-D046-42C0-B1D1-5663AA724A6F}" srcOrd="0" destOrd="0" parTransId="{0A2B0212-940E-410E-A998-E2618A820594}" sibTransId="{A46FFFFC-DCE7-4F83-9201-A0C66B8AA3E9}"/>
    <dgm:cxn modelId="{6F3D2A62-1A8D-4660-A14E-E2EBD2F28B95}" srcId="{0F490691-F551-4FC6-8532-6E8A74968F1A}" destId="{FDC5D85E-ABE4-450C-9759-0E0694C9F72C}" srcOrd="1" destOrd="0" parTransId="{37ADA5EB-B7D6-4D81-A79B-2B740D8F4688}" sibTransId="{FA985B87-98C0-4BAE-AB88-6864EC802DB9}"/>
    <dgm:cxn modelId="{9D98E847-65DE-4060-8B11-0B6C0F88C78F}" type="presOf" srcId="{FDC5D85E-ABE4-450C-9759-0E0694C9F72C}" destId="{7E88B71A-8FC2-44B9-9956-4DC1698EAD36}" srcOrd="0" destOrd="0" presId="urn:microsoft.com/office/officeart/2005/8/layout/chevron2"/>
    <dgm:cxn modelId="{2A00BE87-A974-4482-93DA-9A4EB3A033DD}" type="presOf" srcId="{0F490691-F551-4FC6-8532-6E8A74968F1A}" destId="{91BE4E5F-AF0E-4BFF-B264-1DF1F3B9471B}" srcOrd="0" destOrd="0" presId="urn:microsoft.com/office/officeart/2005/8/layout/chevron2"/>
    <dgm:cxn modelId="{33D665F2-4602-4063-8A46-76E10CB48402}" type="presParOf" srcId="{91BE4E5F-AF0E-4BFF-B264-1DF1F3B9471B}" destId="{388C372D-B167-40E7-B92F-70E9831F4C5C}" srcOrd="0" destOrd="0" presId="urn:microsoft.com/office/officeart/2005/8/layout/chevron2"/>
    <dgm:cxn modelId="{21AE499D-53A4-4FF4-BBBA-3BCBA9DFB6E2}" type="presParOf" srcId="{388C372D-B167-40E7-B92F-70E9831F4C5C}" destId="{A7D9BCEE-845B-4DD0-800A-B44821F7F3AA}" srcOrd="0" destOrd="0" presId="urn:microsoft.com/office/officeart/2005/8/layout/chevron2"/>
    <dgm:cxn modelId="{118E4666-1294-4ECE-98DC-782E65638F7B}" type="presParOf" srcId="{388C372D-B167-40E7-B92F-70E9831F4C5C}" destId="{E62CB10D-AA4D-4F05-8C2D-E40E0F11BB9E}" srcOrd="1" destOrd="0" presId="urn:microsoft.com/office/officeart/2005/8/layout/chevron2"/>
    <dgm:cxn modelId="{D855260C-93C4-457A-85D7-74515A693336}" type="presParOf" srcId="{91BE4E5F-AF0E-4BFF-B264-1DF1F3B9471B}" destId="{53AABA8E-C82D-4A53-9B5F-B69189482E31}" srcOrd="1" destOrd="0" presId="urn:microsoft.com/office/officeart/2005/8/layout/chevron2"/>
    <dgm:cxn modelId="{4364C91D-1255-4974-A287-E3B19BE4EA79}" type="presParOf" srcId="{91BE4E5F-AF0E-4BFF-B264-1DF1F3B9471B}" destId="{A81486C3-4767-4CA7-9F23-51C2AF24F73B}" srcOrd="2" destOrd="0" presId="urn:microsoft.com/office/officeart/2005/8/layout/chevron2"/>
    <dgm:cxn modelId="{36116C5B-DD7F-43A8-98F3-BA9795BEADE5}" type="presParOf" srcId="{A81486C3-4767-4CA7-9F23-51C2AF24F73B}" destId="{7E88B71A-8FC2-44B9-9956-4DC1698EAD36}" srcOrd="0" destOrd="0" presId="urn:microsoft.com/office/officeart/2005/8/layout/chevron2"/>
    <dgm:cxn modelId="{5EC892FA-96EF-41B5-962D-D5402A5DB291}" type="presParOf" srcId="{A81486C3-4767-4CA7-9F23-51C2AF24F73B}" destId="{91318DA1-FDC0-4AD0-85E6-9666E28C3D14}"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0F490691-F551-4FC6-8532-6E8A74968F1A}" type="doc">
      <dgm:prSet loTypeId="urn:microsoft.com/office/officeart/2005/8/layout/chevron2" loCatId="list" qsTypeId="urn:microsoft.com/office/officeart/2005/8/quickstyle/3d6" qsCatId="3D" csTypeId="urn:microsoft.com/office/officeart/2005/8/colors/accent1_2" csCatId="accent1" phldr="1"/>
      <dgm:spPr/>
      <dgm:t>
        <a:bodyPr/>
        <a:lstStyle/>
        <a:p>
          <a:endParaRPr lang="en-US"/>
        </a:p>
      </dgm:t>
    </dgm:pt>
    <dgm:pt modelId="{479AC4B5-D046-42C0-B1D1-5663AA724A6F}">
      <dgm:prSet phldrT="[Text]" phldr="0" custT="1"/>
      <dgm:spPr/>
      <dgm:t>
        <a:bodyPr/>
        <a:lstStyle/>
        <a:p>
          <a:r>
            <a:rPr lang="en-US" sz="2000" b="1" dirty="0">
              <a:solidFill>
                <a:schemeClr val="tx1"/>
              </a:solidFill>
              <a:latin typeface="Arial" panose="020B0604020202020204" pitchFamily="34" charset="0"/>
              <a:cs typeface="Arial" panose="020B0604020202020204" pitchFamily="34" charset="0"/>
            </a:rPr>
            <a:t>RedCross Data Breach – </a:t>
          </a:r>
          <a:r>
            <a:rPr lang="en-US" sz="2000" b="1" dirty="0" err="1">
              <a:solidFill>
                <a:schemeClr val="tx1"/>
              </a:solidFill>
              <a:latin typeface="Arial" panose="020B0604020202020204" pitchFamily="34" charset="0"/>
              <a:cs typeface="Arial" panose="020B0604020202020204" pitchFamily="34" charset="0"/>
            </a:rPr>
            <a:t>İsviçre</a:t>
          </a:r>
          <a:endParaRPr lang="en-US" sz="2000" b="1" dirty="0">
            <a:solidFill>
              <a:schemeClr val="tx1"/>
            </a:solidFill>
            <a:latin typeface="Arial" panose="020B0604020202020204" pitchFamily="34" charset="0"/>
            <a:cs typeface="Arial" panose="020B0604020202020204" pitchFamily="34" charset="0"/>
          </a:endParaRPr>
        </a:p>
      </dgm:t>
    </dgm:pt>
    <dgm:pt modelId="{0A2B0212-940E-410E-A998-E2618A820594}" type="parTrans" cxnId="{E558252C-4F41-4DD4-BF63-DB7B756EA8C3}">
      <dgm:prSet/>
      <dgm:spPr/>
      <dgm:t>
        <a:bodyPr/>
        <a:lstStyle/>
        <a:p>
          <a:endParaRPr lang="en-US"/>
        </a:p>
      </dgm:t>
    </dgm:pt>
    <dgm:pt modelId="{A46FFFFC-DCE7-4F83-9201-A0C66B8AA3E9}" type="sibTrans" cxnId="{E558252C-4F41-4DD4-BF63-DB7B756EA8C3}">
      <dgm:prSet/>
      <dgm:spPr/>
      <dgm:t>
        <a:bodyPr/>
        <a:lstStyle/>
        <a:p>
          <a:endParaRPr lang="en-US"/>
        </a:p>
      </dgm:t>
    </dgm:pt>
    <dgm:pt modelId="{FDC5D85E-ABE4-450C-9759-0E0694C9F72C}">
      <dgm:prSet phldrT="[Text]" phldr="0" custT="1"/>
      <dgm:spPr/>
      <dgm:t>
        <a:bodyPr/>
        <a:lstStyle/>
        <a:p>
          <a:r>
            <a:rPr lang="en-US" sz="2000" b="1" dirty="0">
              <a:solidFill>
                <a:schemeClr val="tx1"/>
              </a:solidFill>
              <a:latin typeface="Arial" panose="020B0604020202020204" pitchFamily="34" charset="0"/>
              <a:cs typeface="Arial" panose="020B0604020202020204" pitchFamily="34" charset="0"/>
            </a:rPr>
            <a:t>Toyota Supplier Hack – </a:t>
          </a:r>
          <a:r>
            <a:rPr lang="en-US" sz="2000" b="1" dirty="0" err="1">
              <a:solidFill>
                <a:schemeClr val="tx1"/>
              </a:solidFill>
              <a:latin typeface="Arial" panose="020B0604020202020204" pitchFamily="34" charset="0"/>
              <a:cs typeface="Arial" panose="020B0604020202020204" pitchFamily="34" charset="0"/>
            </a:rPr>
            <a:t>Japonya</a:t>
          </a:r>
          <a:endParaRPr lang="en-US" sz="2000" b="1" dirty="0">
            <a:solidFill>
              <a:schemeClr val="tx1"/>
            </a:solidFill>
            <a:latin typeface="Arial" panose="020B0604020202020204" pitchFamily="34" charset="0"/>
            <a:cs typeface="Arial" panose="020B0604020202020204" pitchFamily="34" charset="0"/>
          </a:endParaRPr>
        </a:p>
      </dgm:t>
    </dgm:pt>
    <dgm:pt modelId="{37ADA5EB-B7D6-4D81-A79B-2B740D8F4688}" type="parTrans" cxnId="{6F3D2A62-1A8D-4660-A14E-E2EBD2F28B95}">
      <dgm:prSet/>
      <dgm:spPr/>
      <dgm:t>
        <a:bodyPr/>
        <a:lstStyle/>
        <a:p>
          <a:endParaRPr lang="en-US"/>
        </a:p>
      </dgm:t>
    </dgm:pt>
    <dgm:pt modelId="{FA985B87-98C0-4BAE-AB88-6864EC802DB9}" type="sibTrans" cxnId="{6F3D2A62-1A8D-4660-A14E-E2EBD2F28B95}">
      <dgm:prSet/>
      <dgm:spPr/>
      <dgm:t>
        <a:bodyPr/>
        <a:lstStyle/>
        <a:p>
          <a:endParaRPr lang="en-US"/>
        </a:p>
      </dgm:t>
    </dgm:pt>
    <dgm:pt modelId="{91BE4E5F-AF0E-4BFF-B264-1DF1F3B9471B}" type="pres">
      <dgm:prSet presAssocID="{0F490691-F551-4FC6-8532-6E8A74968F1A}" presName="linearFlow" presStyleCnt="0">
        <dgm:presLayoutVars>
          <dgm:dir/>
          <dgm:animLvl val="lvl"/>
          <dgm:resizeHandles val="exact"/>
        </dgm:presLayoutVars>
      </dgm:prSet>
      <dgm:spPr/>
    </dgm:pt>
    <dgm:pt modelId="{388C372D-B167-40E7-B92F-70E9831F4C5C}" type="pres">
      <dgm:prSet presAssocID="{479AC4B5-D046-42C0-B1D1-5663AA724A6F}" presName="composite" presStyleCnt="0"/>
      <dgm:spPr/>
    </dgm:pt>
    <dgm:pt modelId="{A7D9BCEE-845B-4DD0-800A-B44821F7F3AA}" type="pres">
      <dgm:prSet presAssocID="{479AC4B5-D046-42C0-B1D1-5663AA724A6F}" presName="parentText" presStyleLbl="alignNode1" presStyleIdx="0" presStyleCnt="2">
        <dgm:presLayoutVars>
          <dgm:chMax val="1"/>
          <dgm:bulletEnabled val="1"/>
        </dgm:presLayoutVars>
      </dgm:prSet>
      <dgm:spPr/>
    </dgm:pt>
    <dgm:pt modelId="{E62CB10D-AA4D-4F05-8C2D-E40E0F11BB9E}" type="pres">
      <dgm:prSet presAssocID="{479AC4B5-D046-42C0-B1D1-5663AA724A6F}" presName="descendantText" presStyleLbl="alignAcc1" presStyleIdx="0" presStyleCnt="2" custLinFactNeighborY="2444">
        <dgm:presLayoutVars>
          <dgm:bulletEnabled val="1"/>
        </dgm:presLayoutVars>
      </dgm:prSet>
      <dgm:spPr>
        <a:blipFill rotWithShape="0">
          <a:blip xmlns:r="http://schemas.openxmlformats.org/officeDocument/2006/relationships" r:embed="rId1"/>
          <a:srcRect/>
          <a:stretch>
            <a:fillRect l="-26000" r="-26000"/>
          </a:stretch>
        </a:blipFill>
      </dgm:spPr>
    </dgm:pt>
    <dgm:pt modelId="{53AABA8E-C82D-4A53-9B5F-B69189482E31}" type="pres">
      <dgm:prSet presAssocID="{A46FFFFC-DCE7-4F83-9201-A0C66B8AA3E9}" presName="sp" presStyleCnt="0"/>
      <dgm:spPr/>
    </dgm:pt>
    <dgm:pt modelId="{A81486C3-4767-4CA7-9F23-51C2AF24F73B}" type="pres">
      <dgm:prSet presAssocID="{FDC5D85E-ABE4-450C-9759-0E0694C9F72C}" presName="composite" presStyleCnt="0"/>
      <dgm:spPr/>
    </dgm:pt>
    <dgm:pt modelId="{7E88B71A-8FC2-44B9-9956-4DC1698EAD36}" type="pres">
      <dgm:prSet presAssocID="{FDC5D85E-ABE4-450C-9759-0E0694C9F72C}" presName="parentText" presStyleLbl="alignNode1" presStyleIdx="1" presStyleCnt="2" custLinFactNeighborY="-3570">
        <dgm:presLayoutVars>
          <dgm:chMax val="1"/>
          <dgm:bulletEnabled val="1"/>
        </dgm:presLayoutVars>
      </dgm:prSet>
      <dgm:spPr/>
    </dgm:pt>
    <dgm:pt modelId="{91318DA1-FDC0-4AD0-85E6-9666E28C3D14}" type="pres">
      <dgm:prSet presAssocID="{FDC5D85E-ABE4-450C-9759-0E0694C9F72C}" presName="descendantText" presStyleLbl="alignAcc1" presStyleIdx="1" presStyleCnt="2" custLinFactNeighborX="-1510" custLinFactNeighborY="-2753">
        <dgm:presLayoutVars>
          <dgm:bulletEnabled val="1"/>
        </dgm:presLayoutVars>
      </dgm:prSet>
      <dgm:spPr/>
    </dgm:pt>
  </dgm:ptLst>
  <dgm:cxnLst>
    <dgm:cxn modelId="{B1FA3E0A-6EB5-4BDA-A1B9-F1FE86C31D53}" type="presOf" srcId="{479AC4B5-D046-42C0-B1D1-5663AA724A6F}" destId="{A7D9BCEE-845B-4DD0-800A-B44821F7F3AA}" srcOrd="0" destOrd="0" presId="urn:microsoft.com/office/officeart/2005/8/layout/chevron2"/>
    <dgm:cxn modelId="{E558252C-4F41-4DD4-BF63-DB7B756EA8C3}" srcId="{0F490691-F551-4FC6-8532-6E8A74968F1A}" destId="{479AC4B5-D046-42C0-B1D1-5663AA724A6F}" srcOrd="0" destOrd="0" parTransId="{0A2B0212-940E-410E-A998-E2618A820594}" sibTransId="{A46FFFFC-DCE7-4F83-9201-A0C66B8AA3E9}"/>
    <dgm:cxn modelId="{6F3D2A62-1A8D-4660-A14E-E2EBD2F28B95}" srcId="{0F490691-F551-4FC6-8532-6E8A74968F1A}" destId="{FDC5D85E-ABE4-450C-9759-0E0694C9F72C}" srcOrd="1" destOrd="0" parTransId="{37ADA5EB-B7D6-4D81-A79B-2B740D8F4688}" sibTransId="{FA985B87-98C0-4BAE-AB88-6864EC802DB9}"/>
    <dgm:cxn modelId="{9D98E847-65DE-4060-8B11-0B6C0F88C78F}" type="presOf" srcId="{FDC5D85E-ABE4-450C-9759-0E0694C9F72C}" destId="{7E88B71A-8FC2-44B9-9956-4DC1698EAD36}" srcOrd="0" destOrd="0" presId="urn:microsoft.com/office/officeart/2005/8/layout/chevron2"/>
    <dgm:cxn modelId="{2A00BE87-A974-4482-93DA-9A4EB3A033DD}" type="presOf" srcId="{0F490691-F551-4FC6-8532-6E8A74968F1A}" destId="{91BE4E5F-AF0E-4BFF-B264-1DF1F3B9471B}" srcOrd="0" destOrd="0" presId="urn:microsoft.com/office/officeart/2005/8/layout/chevron2"/>
    <dgm:cxn modelId="{33D665F2-4602-4063-8A46-76E10CB48402}" type="presParOf" srcId="{91BE4E5F-AF0E-4BFF-B264-1DF1F3B9471B}" destId="{388C372D-B167-40E7-B92F-70E9831F4C5C}" srcOrd="0" destOrd="0" presId="urn:microsoft.com/office/officeart/2005/8/layout/chevron2"/>
    <dgm:cxn modelId="{21AE499D-53A4-4FF4-BBBA-3BCBA9DFB6E2}" type="presParOf" srcId="{388C372D-B167-40E7-B92F-70E9831F4C5C}" destId="{A7D9BCEE-845B-4DD0-800A-B44821F7F3AA}" srcOrd="0" destOrd="0" presId="urn:microsoft.com/office/officeart/2005/8/layout/chevron2"/>
    <dgm:cxn modelId="{118E4666-1294-4ECE-98DC-782E65638F7B}" type="presParOf" srcId="{388C372D-B167-40E7-B92F-70E9831F4C5C}" destId="{E62CB10D-AA4D-4F05-8C2D-E40E0F11BB9E}" srcOrd="1" destOrd="0" presId="urn:microsoft.com/office/officeart/2005/8/layout/chevron2"/>
    <dgm:cxn modelId="{D855260C-93C4-457A-85D7-74515A693336}" type="presParOf" srcId="{91BE4E5F-AF0E-4BFF-B264-1DF1F3B9471B}" destId="{53AABA8E-C82D-4A53-9B5F-B69189482E31}" srcOrd="1" destOrd="0" presId="urn:microsoft.com/office/officeart/2005/8/layout/chevron2"/>
    <dgm:cxn modelId="{4364C91D-1255-4974-A287-E3B19BE4EA79}" type="presParOf" srcId="{91BE4E5F-AF0E-4BFF-B264-1DF1F3B9471B}" destId="{A81486C3-4767-4CA7-9F23-51C2AF24F73B}" srcOrd="2" destOrd="0" presId="urn:microsoft.com/office/officeart/2005/8/layout/chevron2"/>
    <dgm:cxn modelId="{36116C5B-DD7F-43A8-98F3-BA9795BEADE5}" type="presParOf" srcId="{A81486C3-4767-4CA7-9F23-51C2AF24F73B}" destId="{7E88B71A-8FC2-44B9-9956-4DC1698EAD36}" srcOrd="0" destOrd="0" presId="urn:microsoft.com/office/officeart/2005/8/layout/chevron2"/>
    <dgm:cxn modelId="{5EC892FA-96EF-41B5-962D-D5402A5DB291}" type="presParOf" srcId="{A81486C3-4767-4CA7-9F23-51C2AF24F73B}" destId="{91318DA1-FDC0-4AD0-85E6-9666E28C3D14}"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0F490691-F551-4FC6-8532-6E8A74968F1A}" type="doc">
      <dgm:prSet loTypeId="urn:microsoft.com/office/officeart/2005/8/layout/chevron2" loCatId="list" qsTypeId="urn:microsoft.com/office/officeart/2005/8/quickstyle/3d6" qsCatId="3D" csTypeId="urn:microsoft.com/office/officeart/2005/8/colors/accent1_2" csCatId="accent1" phldr="1"/>
      <dgm:spPr/>
      <dgm:t>
        <a:bodyPr/>
        <a:lstStyle/>
        <a:p>
          <a:endParaRPr lang="en-US"/>
        </a:p>
      </dgm:t>
    </dgm:pt>
    <dgm:pt modelId="{479AC4B5-D046-42C0-B1D1-5663AA724A6F}">
      <dgm:prSet phldrT="[Text]" phldr="0" custT="1"/>
      <dgm:spPr/>
      <dgm:t>
        <a:bodyPr/>
        <a:lstStyle/>
        <a:p>
          <a:r>
            <a:rPr lang="en-US" sz="2000" b="1" dirty="0">
              <a:solidFill>
                <a:schemeClr val="tx1"/>
              </a:solidFill>
              <a:latin typeface="Arial" panose="020B0604020202020204" pitchFamily="34" charset="0"/>
              <a:cs typeface="Arial" panose="020B0604020202020204" pitchFamily="34" charset="0"/>
            </a:rPr>
            <a:t>T-Mobile Breach – ABD</a:t>
          </a:r>
        </a:p>
      </dgm:t>
    </dgm:pt>
    <dgm:pt modelId="{0A2B0212-940E-410E-A998-E2618A820594}" type="parTrans" cxnId="{E558252C-4F41-4DD4-BF63-DB7B756EA8C3}">
      <dgm:prSet/>
      <dgm:spPr/>
      <dgm:t>
        <a:bodyPr/>
        <a:lstStyle/>
        <a:p>
          <a:endParaRPr lang="en-US"/>
        </a:p>
      </dgm:t>
    </dgm:pt>
    <dgm:pt modelId="{A46FFFFC-DCE7-4F83-9201-A0C66B8AA3E9}" type="sibTrans" cxnId="{E558252C-4F41-4DD4-BF63-DB7B756EA8C3}">
      <dgm:prSet/>
      <dgm:spPr/>
      <dgm:t>
        <a:bodyPr/>
        <a:lstStyle/>
        <a:p>
          <a:endParaRPr lang="en-US"/>
        </a:p>
      </dgm:t>
    </dgm:pt>
    <dgm:pt modelId="{FDC5D85E-ABE4-450C-9759-0E0694C9F72C}">
      <dgm:prSet phldrT="[Text]" phldr="0" custT="1"/>
      <dgm:spPr/>
      <dgm:t>
        <a:bodyPr/>
        <a:lstStyle/>
        <a:p>
          <a:r>
            <a:rPr lang="en-US" sz="2000" b="1" dirty="0" err="1">
              <a:solidFill>
                <a:schemeClr val="tx1"/>
              </a:solidFill>
              <a:latin typeface="Arial" panose="020B0604020202020204" pitchFamily="34" charset="0"/>
              <a:cs typeface="Arial" panose="020B0604020202020204" pitchFamily="34" charset="0"/>
            </a:rPr>
            <a:t>MOVEit</a:t>
          </a:r>
          <a:r>
            <a:rPr lang="en-US" sz="2000" b="1" dirty="0">
              <a:solidFill>
                <a:schemeClr val="tx1"/>
              </a:solidFill>
              <a:latin typeface="Arial" panose="020B0604020202020204" pitchFamily="34" charset="0"/>
              <a:cs typeface="Arial" panose="020B0604020202020204" pitchFamily="34" charset="0"/>
            </a:rPr>
            <a:t> Exploit</a:t>
          </a:r>
          <a:r>
            <a:rPr lang="tr-TR" sz="2000" b="1" dirty="0">
              <a:solidFill>
                <a:schemeClr val="tx1"/>
              </a:solidFill>
              <a:latin typeface="Arial" panose="020B0604020202020204" pitchFamily="34" charset="0"/>
              <a:cs typeface="Arial" panose="020B0604020202020204" pitchFamily="34" charset="0"/>
            </a:rPr>
            <a:t>-</a:t>
          </a:r>
          <a:r>
            <a:rPr lang="en-US" sz="2000" b="1" dirty="0">
              <a:solidFill>
                <a:schemeClr val="tx1"/>
              </a:solidFill>
              <a:latin typeface="Arial" panose="020B0604020202020204" pitchFamily="34" charset="0"/>
              <a:cs typeface="Arial" panose="020B0604020202020204" pitchFamily="34" charset="0"/>
            </a:rPr>
            <a:t>  Global </a:t>
          </a:r>
        </a:p>
      </dgm:t>
    </dgm:pt>
    <dgm:pt modelId="{37ADA5EB-B7D6-4D81-A79B-2B740D8F4688}" type="parTrans" cxnId="{6F3D2A62-1A8D-4660-A14E-E2EBD2F28B95}">
      <dgm:prSet/>
      <dgm:spPr/>
      <dgm:t>
        <a:bodyPr/>
        <a:lstStyle/>
        <a:p>
          <a:endParaRPr lang="en-US"/>
        </a:p>
      </dgm:t>
    </dgm:pt>
    <dgm:pt modelId="{FA985B87-98C0-4BAE-AB88-6864EC802DB9}" type="sibTrans" cxnId="{6F3D2A62-1A8D-4660-A14E-E2EBD2F28B95}">
      <dgm:prSet/>
      <dgm:spPr/>
      <dgm:t>
        <a:bodyPr/>
        <a:lstStyle/>
        <a:p>
          <a:endParaRPr lang="en-US"/>
        </a:p>
      </dgm:t>
    </dgm:pt>
    <dgm:pt modelId="{91BE4E5F-AF0E-4BFF-B264-1DF1F3B9471B}" type="pres">
      <dgm:prSet presAssocID="{0F490691-F551-4FC6-8532-6E8A74968F1A}" presName="linearFlow" presStyleCnt="0">
        <dgm:presLayoutVars>
          <dgm:dir/>
          <dgm:animLvl val="lvl"/>
          <dgm:resizeHandles val="exact"/>
        </dgm:presLayoutVars>
      </dgm:prSet>
      <dgm:spPr/>
    </dgm:pt>
    <dgm:pt modelId="{388C372D-B167-40E7-B92F-70E9831F4C5C}" type="pres">
      <dgm:prSet presAssocID="{479AC4B5-D046-42C0-B1D1-5663AA724A6F}" presName="composite" presStyleCnt="0"/>
      <dgm:spPr/>
    </dgm:pt>
    <dgm:pt modelId="{A7D9BCEE-845B-4DD0-800A-B44821F7F3AA}" type="pres">
      <dgm:prSet presAssocID="{479AC4B5-D046-42C0-B1D1-5663AA724A6F}" presName="parentText" presStyleLbl="alignNode1" presStyleIdx="0" presStyleCnt="2">
        <dgm:presLayoutVars>
          <dgm:chMax val="1"/>
          <dgm:bulletEnabled val="1"/>
        </dgm:presLayoutVars>
      </dgm:prSet>
      <dgm:spPr/>
    </dgm:pt>
    <dgm:pt modelId="{E62CB10D-AA4D-4F05-8C2D-E40E0F11BB9E}" type="pres">
      <dgm:prSet presAssocID="{479AC4B5-D046-42C0-B1D1-5663AA724A6F}" presName="descendantText" presStyleLbl="alignAcc1" presStyleIdx="0" presStyleCnt="2" custLinFactNeighborY="1678">
        <dgm:presLayoutVars>
          <dgm:bulletEnabled val="1"/>
        </dgm:presLayoutVars>
      </dgm:prSet>
      <dgm:spPr>
        <a:blipFill rotWithShape="0">
          <a:blip xmlns:r="http://schemas.openxmlformats.org/officeDocument/2006/relationships" r:embed="rId1"/>
          <a:srcRect/>
          <a:stretch>
            <a:fillRect l="-64000" r="-64000"/>
          </a:stretch>
        </a:blipFill>
      </dgm:spPr>
    </dgm:pt>
    <dgm:pt modelId="{53AABA8E-C82D-4A53-9B5F-B69189482E31}" type="pres">
      <dgm:prSet presAssocID="{A46FFFFC-DCE7-4F83-9201-A0C66B8AA3E9}" presName="sp" presStyleCnt="0"/>
      <dgm:spPr/>
    </dgm:pt>
    <dgm:pt modelId="{A81486C3-4767-4CA7-9F23-51C2AF24F73B}" type="pres">
      <dgm:prSet presAssocID="{FDC5D85E-ABE4-450C-9759-0E0694C9F72C}" presName="composite" presStyleCnt="0"/>
      <dgm:spPr/>
    </dgm:pt>
    <dgm:pt modelId="{7E88B71A-8FC2-44B9-9956-4DC1698EAD36}" type="pres">
      <dgm:prSet presAssocID="{FDC5D85E-ABE4-450C-9759-0E0694C9F72C}" presName="parentText" presStyleLbl="alignNode1" presStyleIdx="1" presStyleCnt="2" custLinFactNeighborY="-3423">
        <dgm:presLayoutVars>
          <dgm:chMax val="1"/>
          <dgm:bulletEnabled val="1"/>
        </dgm:presLayoutVars>
      </dgm:prSet>
      <dgm:spPr/>
    </dgm:pt>
    <dgm:pt modelId="{91318DA1-FDC0-4AD0-85E6-9666E28C3D14}" type="pres">
      <dgm:prSet presAssocID="{FDC5D85E-ABE4-450C-9759-0E0694C9F72C}" presName="descendantText" presStyleLbl="alignAcc1" presStyleIdx="1" presStyleCnt="2" custLinFactNeighborY="-2292">
        <dgm:presLayoutVars>
          <dgm:bulletEnabled val="1"/>
        </dgm:presLayoutVars>
      </dgm:prSet>
      <dgm:spPr>
        <a:blipFill rotWithShape="0">
          <a:blip xmlns:r="http://schemas.openxmlformats.org/officeDocument/2006/relationships" r:embed="rId2"/>
          <a:srcRect/>
          <a:stretch>
            <a:fillRect l="-48000" r="-48000"/>
          </a:stretch>
        </a:blipFill>
      </dgm:spPr>
    </dgm:pt>
  </dgm:ptLst>
  <dgm:cxnLst>
    <dgm:cxn modelId="{B1FA3E0A-6EB5-4BDA-A1B9-F1FE86C31D53}" type="presOf" srcId="{479AC4B5-D046-42C0-B1D1-5663AA724A6F}" destId="{A7D9BCEE-845B-4DD0-800A-B44821F7F3AA}" srcOrd="0" destOrd="0" presId="urn:microsoft.com/office/officeart/2005/8/layout/chevron2"/>
    <dgm:cxn modelId="{E558252C-4F41-4DD4-BF63-DB7B756EA8C3}" srcId="{0F490691-F551-4FC6-8532-6E8A74968F1A}" destId="{479AC4B5-D046-42C0-B1D1-5663AA724A6F}" srcOrd="0" destOrd="0" parTransId="{0A2B0212-940E-410E-A998-E2618A820594}" sibTransId="{A46FFFFC-DCE7-4F83-9201-A0C66B8AA3E9}"/>
    <dgm:cxn modelId="{6F3D2A62-1A8D-4660-A14E-E2EBD2F28B95}" srcId="{0F490691-F551-4FC6-8532-6E8A74968F1A}" destId="{FDC5D85E-ABE4-450C-9759-0E0694C9F72C}" srcOrd="1" destOrd="0" parTransId="{37ADA5EB-B7D6-4D81-A79B-2B740D8F4688}" sibTransId="{FA985B87-98C0-4BAE-AB88-6864EC802DB9}"/>
    <dgm:cxn modelId="{9D98E847-65DE-4060-8B11-0B6C0F88C78F}" type="presOf" srcId="{FDC5D85E-ABE4-450C-9759-0E0694C9F72C}" destId="{7E88B71A-8FC2-44B9-9956-4DC1698EAD36}" srcOrd="0" destOrd="0" presId="urn:microsoft.com/office/officeart/2005/8/layout/chevron2"/>
    <dgm:cxn modelId="{2A00BE87-A974-4482-93DA-9A4EB3A033DD}" type="presOf" srcId="{0F490691-F551-4FC6-8532-6E8A74968F1A}" destId="{91BE4E5F-AF0E-4BFF-B264-1DF1F3B9471B}" srcOrd="0" destOrd="0" presId="urn:microsoft.com/office/officeart/2005/8/layout/chevron2"/>
    <dgm:cxn modelId="{33D665F2-4602-4063-8A46-76E10CB48402}" type="presParOf" srcId="{91BE4E5F-AF0E-4BFF-B264-1DF1F3B9471B}" destId="{388C372D-B167-40E7-B92F-70E9831F4C5C}" srcOrd="0" destOrd="0" presId="urn:microsoft.com/office/officeart/2005/8/layout/chevron2"/>
    <dgm:cxn modelId="{21AE499D-53A4-4FF4-BBBA-3BCBA9DFB6E2}" type="presParOf" srcId="{388C372D-B167-40E7-B92F-70E9831F4C5C}" destId="{A7D9BCEE-845B-4DD0-800A-B44821F7F3AA}" srcOrd="0" destOrd="0" presId="urn:microsoft.com/office/officeart/2005/8/layout/chevron2"/>
    <dgm:cxn modelId="{118E4666-1294-4ECE-98DC-782E65638F7B}" type="presParOf" srcId="{388C372D-B167-40E7-B92F-70E9831F4C5C}" destId="{E62CB10D-AA4D-4F05-8C2D-E40E0F11BB9E}" srcOrd="1" destOrd="0" presId="urn:microsoft.com/office/officeart/2005/8/layout/chevron2"/>
    <dgm:cxn modelId="{D855260C-93C4-457A-85D7-74515A693336}" type="presParOf" srcId="{91BE4E5F-AF0E-4BFF-B264-1DF1F3B9471B}" destId="{53AABA8E-C82D-4A53-9B5F-B69189482E31}" srcOrd="1" destOrd="0" presId="urn:microsoft.com/office/officeart/2005/8/layout/chevron2"/>
    <dgm:cxn modelId="{4364C91D-1255-4974-A287-E3B19BE4EA79}" type="presParOf" srcId="{91BE4E5F-AF0E-4BFF-B264-1DF1F3B9471B}" destId="{A81486C3-4767-4CA7-9F23-51C2AF24F73B}" srcOrd="2" destOrd="0" presId="urn:microsoft.com/office/officeart/2005/8/layout/chevron2"/>
    <dgm:cxn modelId="{36116C5B-DD7F-43A8-98F3-BA9795BEADE5}" type="presParOf" srcId="{A81486C3-4767-4CA7-9F23-51C2AF24F73B}" destId="{7E88B71A-8FC2-44B9-9956-4DC1698EAD36}" srcOrd="0" destOrd="0" presId="urn:microsoft.com/office/officeart/2005/8/layout/chevron2"/>
    <dgm:cxn modelId="{5EC892FA-96EF-41B5-962D-D5402A5DB291}" type="presParOf" srcId="{A81486C3-4767-4CA7-9F23-51C2AF24F73B}" destId="{91318DA1-FDC0-4AD0-85E6-9666E28C3D14}"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0F490691-F551-4FC6-8532-6E8A74968F1A}" type="doc">
      <dgm:prSet loTypeId="urn:microsoft.com/office/officeart/2005/8/layout/chevron2" loCatId="list" qsTypeId="urn:microsoft.com/office/officeart/2005/8/quickstyle/3d6" qsCatId="3D" csTypeId="urn:microsoft.com/office/officeart/2005/8/colors/accent1_2" csCatId="accent1" phldr="1"/>
      <dgm:spPr/>
      <dgm:t>
        <a:bodyPr/>
        <a:lstStyle/>
        <a:p>
          <a:endParaRPr lang="en-US"/>
        </a:p>
      </dgm:t>
    </dgm:pt>
    <dgm:pt modelId="{FDC5D85E-ABE4-450C-9759-0E0694C9F72C}">
      <dgm:prSet phldrT="[Text]" phldr="0" custT="1"/>
      <dgm:spPr/>
      <dgm:t>
        <a:bodyPr/>
        <a:lstStyle/>
        <a:p>
          <a:r>
            <a:rPr lang="en-US" sz="2000" b="1" dirty="0">
              <a:solidFill>
                <a:schemeClr val="tx1"/>
              </a:solidFill>
              <a:latin typeface="Arial" panose="020B0604020202020204" pitchFamily="34" charset="0"/>
              <a:cs typeface="Arial" panose="020B0604020202020204" pitchFamily="34" charset="0"/>
            </a:rPr>
            <a:t>British Airways IT Outage – </a:t>
          </a:r>
          <a:r>
            <a:rPr lang="en-US" sz="2000" b="1" dirty="0" err="1">
              <a:solidFill>
                <a:schemeClr val="tx1"/>
              </a:solidFill>
              <a:latin typeface="Arial" panose="020B0604020202020204" pitchFamily="34" charset="0"/>
              <a:cs typeface="Arial" panose="020B0604020202020204" pitchFamily="34" charset="0"/>
            </a:rPr>
            <a:t>İngiltere</a:t>
          </a:r>
          <a:endParaRPr lang="en-US" sz="2000" b="1" dirty="0">
            <a:solidFill>
              <a:schemeClr val="tx1"/>
            </a:solidFill>
            <a:latin typeface="Arial" panose="020B0604020202020204" pitchFamily="34" charset="0"/>
            <a:cs typeface="Arial" panose="020B0604020202020204" pitchFamily="34" charset="0"/>
          </a:endParaRPr>
        </a:p>
      </dgm:t>
    </dgm:pt>
    <dgm:pt modelId="{37ADA5EB-B7D6-4D81-A79B-2B740D8F4688}" type="parTrans" cxnId="{6F3D2A62-1A8D-4660-A14E-E2EBD2F28B95}">
      <dgm:prSet/>
      <dgm:spPr/>
      <dgm:t>
        <a:bodyPr/>
        <a:lstStyle/>
        <a:p>
          <a:endParaRPr lang="en-US"/>
        </a:p>
      </dgm:t>
    </dgm:pt>
    <dgm:pt modelId="{FA985B87-98C0-4BAE-AB88-6864EC802DB9}" type="sibTrans" cxnId="{6F3D2A62-1A8D-4660-A14E-E2EBD2F28B95}">
      <dgm:prSet/>
      <dgm:spPr/>
      <dgm:t>
        <a:bodyPr/>
        <a:lstStyle/>
        <a:p>
          <a:endParaRPr lang="en-US"/>
        </a:p>
      </dgm:t>
    </dgm:pt>
    <dgm:pt modelId="{91BE4E5F-AF0E-4BFF-B264-1DF1F3B9471B}" type="pres">
      <dgm:prSet presAssocID="{0F490691-F551-4FC6-8532-6E8A74968F1A}" presName="linearFlow" presStyleCnt="0">
        <dgm:presLayoutVars>
          <dgm:dir/>
          <dgm:animLvl val="lvl"/>
          <dgm:resizeHandles val="exact"/>
        </dgm:presLayoutVars>
      </dgm:prSet>
      <dgm:spPr/>
    </dgm:pt>
    <dgm:pt modelId="{A81486C3-4767-4CA7-9F23-51C2AF24F73B}" type="pres">
      <dgm:prSet presAssocID="{FDC5D85E-ABE4-450C-9759-0E0694C9F72C}" presName="composite" presStyleCnt="0"/>
      <dgm:spPr/>
    </dgm:pt>
    <dgm:pt modelId="{7E88B71A-8FC2-44B9-9956-4DC1698EAD36}" type="pres">
      <dgm:prSet presAssocID="{FDC5D85E-ABE4-450C-9759-0E0694C9F72C}" presName="parentText" presStyleLbl="alignNode1" presStyleIdx="0" presStyleCnt="1" custLinFactNeighborX="4900" custLinFactNeighborY="-11849">
        <dgm:presLayoutVars>
          <dgm:chMax val="1"/>
          <dgm:bulletEnabled val="1"/>
        </dgm:presLayoutVars>
      </dgm:prSet>
      <dgm:spPr/>
    </dgm:pt>
    <dgm:pt modelId="{91318DA1-FDC0-4AD0-85E6-9666E28C3D14}" type="pres">
      <dgm:prSet presAssocID="{FDC5D85E-ABE4-450C-9759-0E0694C9F72C}" presName="descendantText" presStyleLbl="alignAcc1" presStyleIdx="0" presStyleCnt="1" custLinFactNeighborX="303" custLinFactNeighborY="1739">
        <dgm:presLayoutVars>
          <dgm:bulletEnabled val="1"/>
        </dgm:presLayoutVars>
      </dgm:prSet>
      <dgm:spPr>
        <a:blipFill rotWithShape="0">
          <a:blip xmlns:r="http://schemas.openxmlformats.org/officeDocument/2006/relationships" r:embed="rId1"/>
          <a:srcRect/>
          <a:stretch>
            <a:fillRect l="-86000" r="-86000"/>
          </a:stretch>
        </a:blipFill>
      </dgm:spPr>
    </dgm:pt>
  </dgm:ptLst>
  <dgm:cxnLst>
    <dgm:cxn modelId="{6F3D2A62-1A8D-4660-A14E-E2EBD2F28B95}" srcId="{0F490691-F551-4FC6-8532-6E8A74968F1A}" destId="{FDC5D85E-ABE4-450C-9759-0E0694C9F72C}" srcOrd="0" destOrd="0" parTransId="{37ADA5EB-B7D6-4D81-A79B-2B740D8F4688}" sibTransId="{FA985B87-98C0-4BAE-AB88-6864EC802DB9}"/>
    <dgm:cxn modelId="{9D98E847-65DE-4060-8B11-0B6C0F88C78F}" type="presOf" srcId="{FDC5D85E-ABE4-450C-9759-0E0694C9F72C}" destId="{7E88B71A-8FC2-44B9-9956-4DC1698EAD36}" srcOrd="0" destOrd="0" presId="urn:microsoft.com/office/officeart/2005/8/layout/chevron2"/>
    <dgm:cxn modelId="{2A00BE87-A974-4482-93DA-9A4EB3A033DD}" type="presOf" srcId="{0F490691-F551-4FC6-8532-6E8A74968F1A}" destId="{91BE4E5F-AF0E-4BFF-B264-1DF1F3B9471B}" srcOrd="0" destOrd="0" presId="urn:microsoft.com/office/officeart/2005/8/layout/chevron2"/>
    <dgm:cxn modelId="{4364C91D-1255-4974-A287-E3B19BE4EA79}" type="presParOf" srcId="{91BE4E5F-AF0E-4BFF-B264-1DF1F3B9471B}" destId="{A81486C3-4767-4CA7-9F23-51C2AF24F73B}" srcOrd="0" destOrd="0" presId="urn:microsoft.com/office/officeart/2005/8/layout/chevron2"/>
    <dgm:cxn modelId="{36116C5B-DD7F-43A8-98F3-BA9795BEADE5}" type="presParOf" srcId="{A81486C3-4767-4CA7-9F23-51C2AF24F73B}" destId="{7E88B71A-8FC2-44B9-9956-4DC1698EAD36}" srcOrd="0" destOrd="0" presId="urn:microsoft.com/office/officeart/2005/8/layout/chevron2"/>
    <dgm:cxn modelId="{5EC892FA-96EF-41B5-962D-D5402A5DB291}" type="presParOf" srcId="{A81486C3-4767-4CA7-9F23-51C2AF24F73B}" destId="{91318DA1-FDC0-4AD0-85E6-9666E28C3D14}"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0F490691-F551-4FC6-8532-6E8A74968F1A}" type="doc">
      <dgm:prSet loTypeId="urn:microsoft.com/office/officeart/2005/8/layout/chevron2" loCatId="list" qsTypeId="urn:microsoft.com/office/officeart/2005/8/quickstyle/3d6" qsCatId="3D" csTypeId="urn:microsoft.com/office/officeart/2005/8/colors/accent1_2" csCatId="accent1" phldr="1"/>
      <dgm:spPr/>
      <dgm:t>
        <a:bodyPr/>
        <a:lstStyle/>
        <a:p>
          <a:endParaRPr lang="en-US"/>
        </a:p>
      </dgm:t>
    </dgm:pt>
    <dgm:pt modelId="{479AC4B5-D046-42C0-B1D1-5663AA724A6F}">
      <dgm:prSet phldrT="[Text]" phldr="0" custT="1"/>
      <dgm:spPr/>
      <dgm:t>
        <a:bodyPr/>
        <a:lstStyle/>
        <a:p>
          <a:r>
            <a:rPr lang="en-US" sz="1800" b="1" dirty="0">
              <a:solidFill>
                <a:schemeClr val="tx1"/>
              </a:solidFill>
              <a:latin typeface="Arial" panose="020B0604020202020204" pitchFamily="34" charset="0"/>
              <a:cs typeface="Arial" panose="020B0604020202020204" pitchFamily="34" charset="0"/>
            </a:rPr>
            <a:t>Santander Bank Leak </a:t>
          </a:r>
          <a:r>
            <a:rPr lang="tr-TR" sz="1800" b="1" dirty="0">
              <a:solidFill>
                <a:schemeClr val="tx1"/>
              </a:solidFill>
              <a:latin typeface="Arial" panose="020B0604020202020204" pitchFamily="34" charset="0"/>
              <a:cs typeface="Arial" panose="020B0604020202020204" pitchFamily="34" charset="0"/>
            </a:rPr>
            <a:t>-</a:t>
          </a:r>
          <a:r>
            <a:rPr lang="en-US" sz="1800" b="1" dirty="0">
              <a:solidFill>
                <a:schemeClr val="tx1"/>
              </a:solidFill>
              <a:latin typeface="Arial" panose="020B0604020202020204" pitchFamily="34" charset="0"/>
              <a:cs typeface="Arial" panose="020B0604020202020204" pitchFamily="34" charset="0"/>
            </a:rPr>
            <a:t>  </a:t>
          </a:r>
          <a:r>
            <a:rPr lang="en-US" sz="1800" b="1" dirty="0" err="1">
              <a:solidFill>
                <a:schemeClr val="tx1"/>
              </a:solidFill>
              <a:latin typeface="Arial" panose="020B0604020202020204" pitchFamily="34" charset="0"/>
              <a:cs typeface="Arial" panose="020B0604020202020204" pitchFamily="34" charset="0"/>
            </a:rPr>
            <a:t>İspanya</a:t>
          </a:r>
          <a:r>
            <a:rPr lang="en-US" sz="1800" b="1" dirty="0">
              <a:solidFill>
                <a:schemeClr val="tx1"/>
              </a:solidFill>
              <a:latin typeface="Arial" panose="020B0604020202020204" pitchFamily="34" charset="0"/>
              <a:cs typeface="Arial" panose="020B0604020202020204" pitchFamily="34" charset="0"/>
            </a:rPr>
            <a:t> </a:t>
          </a:r>
          <a:endParaRPr lang="en-US" sz="1800" b="1" dirty="0">
            <a:solidFill>
              <a:schemeClr val="tx1"/>
            </a:solidFill>
          </a:endParaRPr>
        </a:p>
      </dgm:t>
    </dgm:pt>
    <dgm:pt modelId="{0A2B0212-940E-410E-A998-E2618A820594}" type="parTrans" cxnId="{E558252C-4F41-4DD4-BF63-DB7B756EA8C3}">
      <dgm:prSet/>
      <dgm:spPr/>
      <dgm:t>
        <a:bodyPr/>
        <a:lstStyle/>
        <a:p>
          <a:endParaRPr lang="en-US"/>
        </a:p>
      </dgm:t>
    </dgm:pt>
    <dgm:pt modelId="{A46FFFFC-DCE7-4F83-9201-A0C66B8AA3E9}" type="sibTrans" cxnId="{E558252C-4F41-4DD4-BF63-DB7B756EA8C3}">
      <dgm:prSet/>
      <dgm:spPr/>
      <dgm:t>
        <a:bodyPr/>
        <a:lstStyle/>
        <a:p>
          <a:endParaRPr lang="en-US"/>
        </a:p>
      </dgm:t>
    </dgm:pt>
    <dgm:pt modelId="{FDC5D85E-ABE4-450C-9759-0E0694C9F72C}">
      <dgm:prSet phldrT="[Text]" phldr="0" custT="1"/>
      <dgm:spPr/>
      <dgm:t>
        <a:bodyPr/>
        <a:lstStyle/>
        <a:p>
          <a:r>
            <a:rPr lang="en-US" sz="2000" b="1" i="0" u="none" dirty="0" err="1">
              <a:solidFill>
                <a:schemeClr val="tx1"/>
              </a:solidFill>
              <a:latin typeface="Arial" panose="020B0604020202020204" pitchFamily="34" charset="0"/>
              <a:cs typeface="Arial" panose="020B0604020202020204" pitchFamily="34" charset="0"/>
            </a:rPr>
            <a:t>Niconico</a:t>
          </a:r>
          <a:r>
            <a:rPr lang="en-US" sz="2000" b="1" i="0" u="none" dirty="0">
              <a:solidFill>
                <a:schemeClr val="tx1"/>
              </a:solidFill>
              <a:latin typeface="Arial" panose="020B0604020202020204" pitchFamily="34" charset="0"/>
              <a:cs typeface="Arial" panose="020B0604020202020204" pitchFamily="34" charset="0"/>
            </a:rPr>
            <a:t> / Kadokawa Attack – </a:t>
          </a:r>
          <a:r>
            <a:rPr lang="en-US" sz="2000" b="1" i="0" u="none" dirty="0" err="1">
              <a:solidFill>
                <a:schemeClr val="tx1"/>
              </a:solidFill>
              <a:latin typeface="Arial" panose="020B0604020202020204" pitchFamily="34" charset="0"/>
              <a:cs typeface="Arial" panose="020B0604020202020204" pitchFamily="34" charset="0"/>
            </a:rPr>
            <a:t>Japonya</a:t>
          </a:r>
          <a:endParaRPr lang="en-US" sz="2000" b="1" dirty="0">
            <a:solidFill>
              <a:schemeClr val="tx1"/>
            </a:solidFill>
            <a:latin typeface="Arial" panose="020B0604020202020204" pitchFamily="34" charset="0"/>
            <a:cs typeface="Arial" panose="020B0604020202020204" pitchFamily="34" charset="0"/>
          </a:endParaRPr>
        </a:p>
      </dgm:t>
    </dgm:pt>
    <dgm:pt modelId="{37ADA5EB-B7D6-4D81-A79B-2B740D8F4688}" type="parTrans" cxnId="{6F3D2A62-1A8D-4660-A14E-E2EBD2F28B95}">
      <dgm:prSet/>
      <dgm:spPr/>
      <dgm:t>
        <a:bodyPr/>
        <a:lstStyle/>
        <a:p>
          <a:endParaRPr lang="en-US"/>
        </a:p>
      </dgm:t>
    </dgm:pt>
    <dgm:pt modelId="{FA985B87-98C0-4BAE-AB88-6864EC802DB9}" type="sibTrans" cxnId="{6F3D2A62-1A8D-4660-A14E-E2EBD2F28B95}">
      <dgm:prSet/>
      <dgm:spPr/>
      <dgm:t>
        <a:bodyPr/>
        <a:lstStyle/>
        <a:p>
          <a:endParaRPr lang="en-US"/>
        </a:p>
      </dgm:t>
    </dgm:pt>
    <dgm:pt modelId="{91BE4E5F-AF0E-4BFF-B264-1DF1F3B9471B}" type="pres">
      <dgm:prSet presAssocID="{0F490691-F551-4FC6-8532-6E8A74968F1A}" presName="linearFlow" presStyleCnt="0">
        <dgm:presLayoutVars>
          <dgm:dir/>
          <dgm:animLvl val="lvl"/>
          <dgm:resizeHandles val="exact"/>
        </dgm:presLayoutVars>
      </dgm:prSet>
      <dgm:spPr/>
    </dgm:pt>
    <dgm:pt modelId="{388C372D-B167-40E7-B92F-70E9831F4C5C}" type="pres">
      <dgm:prSet presAssocID="{479AC4B5-D046-42C0-B1D1-5663AA724A6F}" presName="composite" presStyleCnt="0"/>
      <dgm:spPr/>
    </dgm:pt>
    <dgm:pt modelId="{A7D9BCEE-845B-4DD0-800A-B44821F7F3AA}" type="pres">
      <dgm:prSet presAssocID="{479AC4B5-D046-42C0-B1D1-5663AA724A6F}" presName="parentText" presStyleLbl="alignNode1" presStyleIdx="0" presStyleCnt="2">
        <dgm:presLayoutVars>
          <dgm:chMax val="1"/>
          <dgm:bulletEnabled val="1"/>
        </dgm:presLayoutVars>
      </dgm:prSet>
      <dgm:spPr/>
    </dgm:pt>
    <dgm:pt modelId="{E62CB10D-AA4D-4F05-8C2D-E40E0F11BB9E}" type="pres">
      <dgm:prSet presAssocID="{479AC4B5-D046-42C0-B1D1-5663AA724A6F}" presName="descendantText" presStyleLbl="alignAcc1" presStyleIdx="0" presStyleCnt="2" custLinFactNeighborY="1556">
        <dgm:presLayoutVars>
          <dgm:bulletEnabled val="1"/>
        </dgm:presLayoutVars>
      </dgm:prSet>
      <dgm:spPr>
        <a:blipFill rotWithShape="0">
          <a:blip xmlns:r="http://schemas.openxmlformats.org/officeDocument/2006/relationships" r:embed="rId1"/>
          <a:srcRect/>
          <a:stretch>
            <a:fillRect t="-9000" b="-9000"/>
          </a:stretch>
        </a:blipFill>
      </dgm:spPr>
    </dgm:pt>
    <dgm:pt modelId="{53AABA8E-C82D-4A53-9B5F-B69189482E31}" type="pres">
      <dgm:prSet presAssocID="{A46FFFFC-DCE7-4F83-9201-A0C66B8AA3E9}" presName="sp" presStyleCnt="0"/>
      <dgm:spPr/>
    </dgm:pt>
    <dgm:pt modelId="{A81486C3-4767-4CA7-9F23-51C2AF24F73B}" type="pres">
      <dgm:prSet presAssocID="{FDC5D85E-ABE4-450C-9759-0E0694C9F72C}" presName="composite" presStyleCnt="0"/>
      <dgm:spPr/>
    </dgm:pt>
    <dgm:pt modelId="{7E88B71A-8FC2-44B9-9956-4DC1698EAD36}" type="pres">
      <dgm:prSet presAssocID="{FDC5D85E-ABE4-450C-9759-0E0694C9F72C}" presName="parentText" presStyleLbl="alignNode1" presStyleIdx="1" presStyleCnt="2" custLinFactNeighborY="-5371">
        <dgm:presLayoutVars>
          <dgm:chMax val="1"/>
          <dgm:bulletEnabled val="1"/>
        </dgm:presLayoutVars>
      </dgm:prSet>
      <dgm:spPr/>
    </dgm:pt>
    <dgm:pt modelId="{91318DA1-FDC0-4AD0-85E6-9666E28C3D14}" type="pres">
      <dgm:prSet presAssocID="{FDC5D85E-ABE4-450C-9759-0E0694C9F72C}" presName="descendantText" presStyleLbl="alignAcc1" presStyleIdx="1" presStyleCnt="2" custLinFactNeighborY="-5184">
        <dgm:presLayoutVars>
          <dgm:bulletEnabled val="1"/>
        </dgm:presLayoutVars>
      </dgm:prSet>
      <dgm:spPr>
        <a:blipFill rotWithShape="0">
          <a:blip xmlns:r="http://schemas.openxmlformats.org/officeDocument/2006/relationships" r:embed="rId2"/>
          <a:srcRect/>
          <a:stretch>
            <a:fillRect l="-50000" r="-50000"/>
          </a:stretch>
        </a:blipFill>
      </dgm:spPr>
    </dgm:pt>
  </dgm:ptLst>
  <dgm:cxnLst>
    <dgm:cxn modelId="{B1FA3E0A-6EB5-4BDA-A1B9-F1FE86C31D53}" type="presOf" srcId="{479AC4B5-D046-42C0-B1D1-5663AA724A6F}" destId="{A7D9BCEE-845B-4DD0-800A-B44821F7F3AA}" srcOrd="0" destOrd="0" presId="urn:microsoft.com/office/officeart/2005/8/layout/chevron2"/>
    <dgm:cxn modelId="{E558252C-4F41-4DD4-BF63-DB7B756EA8C3}" srcId="{0F490691-F551-4FC6-8532-6E8A74968F1A}" destId="{479AC4B5-D046-42C0-B1D1-5663AA724A6F}" srcOrd="0" destOrd="0" parTransId="{0A2B0212-940E-410E-A998-E2618A820594}" sibTransId="{A46FFFFC-DCE7-4F83-9201-A0C66B8AA3E9}"/>
    <dgm:cxn modelId="{6F3D2A62-1A8D-4660-A14E-E2EBD2F28B95}" srcId="{0F490691-F551-4FC6-8532-6E8A74968F1A}" destId="{FDC5D85E-ABE4-450C-9759-0E0694C9F72C}" srcOrd="1" destOrd="0" parTransId="{37ADA5EB-B7D6-4D81-A79B-2B740D8F4688}" sibTransId="{FA985B87-98C0-4BAE-AB88-6864EC802DB9}"/>
    <dgm:cxn modelId="{9D98E847-65DE-4060-8B11-0B6C0F88C78F}" type="presOf" srcId="{FDC5D85E-ABE4-450C-9759-0E0694C9F72C}" destId="{7E88B71A-8FC2-44B9-9956-4DC1698EAD36}" srcOrd="0" destOrd="0" presId="urn:microsoft.com/office/officeart/2005/8/layout/chevron2"/>
    <dgm:cxn modelId="{2A00BE87-A974-4482-93DA-9A4EB3A033DD}" type="presOf" srcId="{0F490691-F551-4FC6-8532-6E8A74968F1A}" destId="{91BE4E5F-AF0E-4BFF-B264-1DF1F3B9471B}" srcOrd="0" destOrd="0" presId="urn:microsoft.com/office/officeart/2005/8/layout/chevron2"/>
    <dgm:cxn modelId="{33D665F2-4602-4063-8A46-76E10CB48402}" type="presParOf" srcId="{91BE4E5F-AF0E-4BFF-B264-1DF1F3B9471B}" destId="{388C372D-B167-40E7-B92F-70E9831F4C5C}" srcOrd="0" destOrd="0" presId="urn:microsoft.com/office/officeart/2005/8/layout/chevron2"/>
    <dgm:cxn modelId="{21AE499D-53A4-4FF4-BBBA-3BCBA9DFB6E2}" type="presParOf" srcId="{388C372D-B167-40E7-B92F-70E9831F4C5C}" destId="{A7D9BCEE-845B-4DD0-800A-B44821F7F3AA}" srcOrd="0" destOrd="0" presId="urn:microsoft.com/office/officeart/2005/8/layout/chevron2"/>
    <dgm:cxn modelId="{118E4666-1294-4ECE-98DC-782E65638F7B}" type="presParOf" srcId="{388C372D-B167-40E7-B92F-70E9831F4C5C}" destId="{E62CB10D-AA4D-4F05-8C2D-E40E0F11BB9E}" srcOrd="1" destOrd="0" presId="urn:microsoft.com/office/officeart/2005/8/layout/chevron2"/>
    <dgm:cxn modelId="{D855260C-93C4-457A-85D7-74515A693336}" type="presParOf" srcId="{91BE4E5F-AF0E-4BFF-B264-1DF1F3B9471B}" destId="{53AABA8E-C82D-4A53-9B5F-B69189482E31}" srcOrd="1" destOrd="0" presId="urn:microsoft.com/office/officeart/2005/8/layout/chevron2"/>
    <dgm:cxn modelId="{4364C91D-1255-4974-A287-E3B19BE4EA79}" type="presParOf" srcId="{91BE4E5F-AF0E-4BFF-B264-1DF1F3B9471B}" destId="{A81486C3-4767-4CA7-9F23-51C2AF24F73B}" srcOrd="2" destOrd="0" presId="urn:microsoft.com/office/officeart/2005/8/layout/chevron2"/>
    <dgm:cxn modelId="{36116C5B-DD7F-43A8-98F3-BA9795BEADE5}" type="presParOf" srcId="{A81486C3-4767-4CA7-9F23-51C2AF24F73B}" destId="{7E88B71A-8FC2-44B9-9956-4DC1698EAD36}" srcOrd="0" destOrd="0" presId="urn:microsoft.com/office/officeart/2005/8/layout/chevron2"/>
    <dgm:cxn modelId="{5EC892FA-96EF-41B5-962D-D5402A5DB291}" type="presParOf" srcId="{A81486C3-4767-4CA7-9F23-51C2AF24F73B}" destId="{91318DA1-FDC0-4AD0-85E6-9666E28C3D14}"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0F490691-F551-4FC6-8532-6E8A74968F1A}" type="doc">
      <dgm:prSet loTypeId="urn:microsoft.com/office/officeart/2005/8/layout/chevron2" loCatId="list" qsTypeId="urn:microsoft.com/office/officeart/2005/8/quickstyle/3d6" qsCatId="3D" csTypeId="urn:microsoft.com/office/officeart/2005/8/colors/accent1_2" csCatId="accent1" phldr="1"/>
      <dgm:spPr/>
      <dgm:t>
        <a:bodyPr/>
        <a:lstStyle/>
        <a:p>
          <a:endParaRPr lang="en-US"/>
        </a:p>
      </dgm:t>
    </dgm:pt>
    <dgm:pt modelId="{479AC4B5-D046-42C0-B1D1-5663AA724A6F}">
      <dgm:prSet phldrT="[Text]" phldr="0" custT="1"/>
      <dgm:spPr/>
      <dgm:t>
        <a:bodyPr/>
        <a:lstStyle/>
        <a:p>
          <a:r>
            <a:rPr lang="en-US" sz="2000" b="1" dirty="0">
              <a:solidFill>
                <a:schemeClr val="tx1"/>
              </a:solidFill>
              <a:latin typeface="Arial" panose="020B0604020202020204" pitchFamily="34" charset="0"/>
              <a:cs typeface="Arial" panose="020B0604020202020204" pitchFamily="34" charset="0"/>
            </a:rPr>
            <a:t>Snowflake Incident – Global</a:t>
          </a:r>
        </a:p>
      </dgm:t>
    </dgm:pt>
    <dgm:pt modelId="{0A2B0212-940E-410E-A998-E2618A820594}" type="parTrans" cxnId="{E558252C-4F41-4DD4-BF63-DB7B756EA8C3}">
      <dgm:prSet/>
      <dgm:spPr/>
      <dgm:t>
        <a:bodyPr/>
        <a:lstStyle/>
        <a:p>
          <a:endParaRPr lang="en-US"/>
        </a:p>
      </dgm:t>
    </dgm:pt>
    <dgm:pt modelId="{A46FFFFC-DCE7-4F83-9201-A0C66B8AA3E9}" type="sibTrans" cxnId="{E558252C-4F41-4DD4-BF63-DB7B756EA8C3}">
      <dgm:prSet/>
      <dgm:spPr/>
      <dgm:t>
        <a:bodyPr/>
        <a:lstStyle/>
        <a:p>
          <a:endParaRPr lang="en-US"/>
        </a:p>
      </dgm:t>
    </dgm:pt>
    <dgm:pt modelId="{FDC5D85E-ABE4-450C-9759-0E0694C9F72C}">
      <dgm:prSet phldrT="[Text]" phldr="0" custT="1"/>
      <dgm:spPr/>
      <dgm:t>
        <a:bodyPr/>
        <a:lstStyle/>
        <a:p>
          <a:r>
            <a:rPr lang="en-US" sz="2000" b="1" dirty="0">
              <a:solidFill>
                <a:schemeClr val="tx1"/>
              </a:solidFill>
              <a:latin typeface="Arial" panose="020B0604020202020204" pitchFamily="34" charset="0"/>
              <a:cs typeface="Arial" panose="020B0604020202020204" pitchFamily="34" charset="0"/>
            </a:rPr>
            <a:t>Global 16 Billion Credentials Leak – Global</a:t>
          </a:r>
        </a:p>
      </dgm:t>
    </dgm:pt>
    <dgm:pt modelId="{37ADA5EB-B7D6-4D81-A79B-2B740D8F4688}" type="parTrans" cxnId="{6F3D2A62-1A8D-4660-A14E-E2EBD2F28B95}">
      <dgm:prSet/>
      <dgm:spPr/>
      <dgm:t>
        <a:bodyPr/>
        <a:lstStyle/>
        <a:p>
          <a:endParaRPr lang="en-US"/>
        </a:p>
      </dgm:t>
    </dgm:pt>
    <dgm:pt modelId="{FA985B87-98C0-4BAE-AB88-6864EC802DB9}" type="sibTrans" cxnId="{6F3D2A62-1A8D-4660-A14E-E2EBD2F28B95}">
      <dgm:prSet/>
      <dgm:spPr/>
      <dgm:t>
        <a:bodyPr/>
        <a:lstStyle/>
        <a:p>
          <a:endParaRPr lang="en-US"/>
        </a:p>
      </dgm:t>
    </dgm:pt>
    <dgm:pt modelId="{91BE4E5F-AF0E-4BFF-B264-1DF1F3B9471B}" type="pres">
      <dgm:prSet presAssocID="{0F490691-F551-4FC6-8532-6E8A74968F1A}" presName="linearFlow" presStyleCnt="0">
        <dgm:presLayoutVars>
          <dgm:dir/>
          <dgm:animLvl val="lvl"/>
          <dgm:resizeHandles val="exact"/>
        </dgm:presLayoutVars>
      </dgm:prSet>
      <dgm:spPr/>
    </dgm:pt>
    <dgm:pt modelId="{388C372D-B167-40E7-B92F-70E9831F4C5C}" type="pres">
      <dgm:prSet presAssocID="{479AC4B5-D046-42C0-B1D1-5663AA724A6F}" presName="composite" presStyleCnt="0"/>
      <dgm:spPr/>
    </dgm:pt>
    <dgm:pt modelId="{A7D9BCEE-845B-4DD0-800A-B44821F7F3AA}" type="pres">
      <dgm:prSet presAssocID="{479AC4B5-D046-42C0-B1D1-5663AA724A6F}" presName="parentText" presStyleLbl="alignNode1" presStyleIdx="0" presStyleCnt="2">
        <dgm:presLayoutVars>
          <dgm:chMax val="1"/>
          <dgm:bulletEnabled val="1"/>
        </dgm:presLayoutVars>
      </dgm:prSet>
      <dgm:spPr/>
    </dgm:pt>
    <dgm:pt modelId="{E62CB10D-AA4D-4F05-8C2D-E40E0F11BB9E}" type="pres">
      <dgm:prSet presAssocID="{479AC4B5-D046-42C0-B1D1-5663AA724A6F}" presName="descendantText" presStyleLbl="alignAcc1" presStyleIdx="0" presStyleCnt="2" custLinFactNeighborY="2484">
        <dgm:presLayoutVars>
          <dgm:bulletEnabled val="1"/>
        </dgm:presLayoutVars>
      </dgm:prSet>
      <dgm:spPr>
        <a:blipFill rotWithShape="0">
          <a:blip xmlns:r="http://schemas.openxmlformats.org/officeDocument/2006/relationships" r:embed="rId1"/>
          <a:srcRect/>
          <a:stretch>
            <a:fillRect l="-72000" r="-72000"/>
          </a:stretch>
        </a:blipFill>
      </dgm:spPr>
    </dgm:pt>
    <dgm:pt modelId="{53AABA8E-C82D-4A53-9B5F-B69189482E31}" type="pres">
      <dgm:prSet presAssocID="{A46FFFFC-DCE7-4F83-9201-A0C66B8AA3E9}" presName="sp" presStyleCnt="0"/>
      <dgm:spPr/>
    </dgm:pt>
    <dgm:pt modelId="{A81486C3-4767-4CA7-9F23-51C2AF24F73B}" type="pres">
      <dgm:prSet presAssocID="{FDC5D85E-ABE4-450C-9759-0E0694C9F72C}" presName="composite" presStyleCnt="0"/>
      <dgm:spPr/>
    </dgm:pt>
    <dgm:pt modelId="{7E88B71A-8FC2-44B9-9956-4DC1698EAD36}" type="pres">
      <dgm:prSet presAssocID="{FDC5D85E-ABE4-450C-9759-0E0694C9F72C}" presName="parentText" presStyleLbl="alignNode1" presStyleIdx="1" presStyleCnt="2" custLinFactNeighborX="1403" custLinFactNeighborY="-2087">
        <dgm:presLayoutVars>
          <dgm:chMax val="1"/>
          <dgm:bulletEnabled val="1"/>
        </dgm:presLayoutVars>
      </dgm:prSet>
      <dgm:spPr/>
    </dgm:pt>
    <dgm:pt modelId="{91318DA1-FDC0-4AD0-85E6-9666E28C3D14}" type="pres">
      <dgm:prSet presAssocID="{FDC5D85E-ABE4-450C-9759-0E0694C9F72C}" presName="descendantText" presStyleLbl="alignAcc1" presStyleIdx="1" presStyleCnt="2" custLinFactNeighborY="-925">
        <dgm:presLayoutVars>
          <dgm:bulletEnabled val="1"/>
        </dgm:presLayoutVars>
      </dgm:prSet>
      <dgm:spPr>
        <a:blipFill rotWithShape="0">
          <a:blip xmlns:r="http://schemas.openxmlformats.org/officeDocument/2006/relationships" r:embed="rId2"/>
          <a:srcRect/>
          <a:stretch>
            <a:fillRect l="-82000" r="-82000"/>
          </a:stretch>
        </a:blipFill>
      </dgm:spPr>
    </dgm:pt>
  </dgm:ptLst>
  <dgm:cxnLst>
    <dgm:cxn modelId="{B1FA3E0A-6EB5-4BDA-A1B9-F1FE86C31D53}" type="presOf" srcId="{479AC4B5-D046-42C0-B1D1-5663AA724A6F}" destId="{A7D9BCEE-845B-4DD0-800A-B44821F7F3AA}" srcOrd="0" destOrd="0" presId="urn:microsoft.com/office/officeart/2005/8/layout/chevron2"/>
    <dgm:cxn modelId="{E558252C-4F41-4DD4-BF63-DB7B756EA8C3}" srcId="{0F490691-F551-4FC6-8532-6E8A74968F1A}" destId="{479AC4B5-D046-42C0-B1D1-5663AA724A6F}" srcOrd="0" destOrd="0" parTransId="{0A2B0212-940E-410E-A998-E2618A820594}" sibTransId="{A46FFFFC-DCE7-4F83-9201-A0C66B8AA3E9}"/>
    <dgm:cxn modelId="{6F3D2A62-1A8D-4660-A14E-E2EBD2F28B95}" srcId="{0F490691-F551-4FC6-8532-6E8A74968F1A}" destId="{FDC5D85E-ABE4-450C-9759-0E0694C9F72C}" srcOrd="1" destOrd="0" parTransId="{37ADA5EB-B7D6-4D81-A79B-2B740D8F4688}" sibTransId="{FA985B87-98C0-4BAE-AB88-6864EC802DB9}"/>
    <dgm:cxn modelId="{9D98E847-65DE-4060-8B11-0B6C0F88C78F}" type="presOf" srcId="{FDC5D85E-ABE4-450C-9759-0E0694C9F72C}" destId="{7E88B71A-8FC2-44B9-9956-4DC1698EAD36}" srcOrd="0" destOrd="0" presId="urn:microsoft.com/office/officeart/2005/8/layout/chevron2"/>
    <dgm:cxn modelId="{2A00BE87-A974-4482-93DA-9A4EB3A033DD}" type="presOf" srcId="{0F490691-F551-4FC6-8532-6E8A74968F1A}" destId="{91BE4E5F-AF0E-4BFF-B264-1DF1F3B9471B}" srcOrd="0" destOrd="0" presId="urn:microsoft.com/office/officeart/2005/8/layout/chevron2"/>
    <dgm:cxn modelId="{33D665F2-4602-4063-8A46-76E10CB48402}" type="presParOf" srcId="{91BE4E5F-AF0E-4BFF-B264-1DF1F3B9471B}" destId="{388C372D-B167-40E7-B92F-70E9831F4C5C}" srcOrd="0" destOrd="0" presId="urn:microsoft.com/office/officeart/2005/8/layout/chevron2"/>
    <dgm:cxn modelId="{21AE499D-53A4-4FF4-BBBA-3BCBA9DFB6E2}" type="presParOf" srcId="{388C372D-B167-40E7-B92F-70E9831F4C5C}" destId="{A7D9BCEE-845B-4DD0-800A-B44821F7F3AA}" srcOrd="0" destOrd="0" presId="urn:microsoft.com/office/officeart/2005/8/layout/chevron2"/>
    <dgm:cxn modelId="{118E4666-1294-4ECE-98DC-782E65638F7B}" type="presParOf" srcId="{388C372D-B167-40E7-B92F-70E9831F4C5C}" destId="{E62CB10D-AA4D-4F05-8C2D-E40E0F11BB9E}" srcOrd="1" destOrd="0" presId="urn:microsoft.com/office/officeart/2005/8/layout/chevron2"/>
    <dgm:cxn modelId="{D855260C-93C4-457A-85D7-74515A693336}" type="presParOf" srcId="{91BE4E5F-AF0E-4BFF-B264-1DF1F3B9471B}" destId="{53AABA8E-C82D-4A53-9B5F-B69189482E31}" srcOrd="1" destOrd="0" presId="urn:microsoft.com/office/officeart/2005/8/layout/chevron2"/>
    <dgm:cxn modelId="{4364C91D-1255-4974-A287-E3B19BE4EA79}" type="presParOf" srcId="{91BE4E5F-AF0E-4BFF-B264-1DF1F3B9471B}" destId="{A81486C3-4767-4CA7-9F23-51C2AF24F73B}" srcOrd="2" destOrd="0" presId="urn:microsoft.com/office/officeart/2005/8/layout/chevron2"/>
    <dgm:cxn modelId="{36116C5B-DD7F-43A8-98F3-BA9795BEADE5}" type="presParOf" srcId="{A81486C3-4767-4CA7-9F23-51C2AF24F73B}" destId="{7E88B71A-8FC2-44B9-9956-4DC1698EAD36}" srcOrd="0" destOrd="0" presId="urn:microsoft.com/office/officeart/2005/8/layout/chevron2"/>
    <dgm:cxn modelId="{5EC892FA-96EF-41B5-962D-D5402A5DB291}" type="presParOf" srcId="{A81486C3-4767-4CA7-9F23-51C2AF24F73B}" destId="{91318DA1-FDC0-4AD0-85E6-9666E28C3D14}"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0F490691-F551-4FC6-8532-6E8A74968F1A}" type="doc">
      <dgm:prSet loTypeId="urn:microsoft.com/office/officeart/2005/8/layout/chevron2" loCatId="list" qsTypeId="urn:microsoft.com/office/officeart/2005/8/quickstyle/3d6" qsCatId="3D" csTypeId="urn:microsoft.com/office/officeart/2005/8/colors/accent1_2" csCatId="accent1" phldr="1"/>
      <dgm:spPr/>
      <dgm:t>
        <a:bodyPr/>
        <a:lstStyle/>
        <a:p>
          <a:endParaRPr lang="en-US"/>
        </a:p>
      </dgm:t>
    </dgm:pt>
    <dgm:pt modelId="{479AC4B5-D046-42C0-B1D1-5663AA724A6F}">
      <dgm:prSet phldrT="[Text]" phldr="0" custT="1"/>
      <dgm:spPr/>
      <dgm:t>
        <a:bodyPr/>
        <a:lstStyle/>
        <a:p>
          <a:r>
            <a:rPr lang="en-US" sz="2000" b="1" dirty="0">
              <a:solidFill>
                <a:schemeClr val="tx1"/>
              </a:solidFill>
              <a:latin typeface="Arial" panose="020B0604020202020204" pitchFamily="34" charset="0"/>
              <a:cs typeface="Arial" panose="020B0604020202020204" pitchFamily="34" charset="0"/>
            </a:rPr>
            <a:t>Bold LLC Data Breach Türkiye</a:t>
          </a:r>
        </a:p>
      </dgm:t>
    </dgm:pt>
    <dgm:pt modelId="{0A2B0212-940E-410E-A998-E2618A820594}" type="parTrans" cxnId="{E558252C-4F41-4DD4-BF63-DB7B756EA8C3}">
      <dgm:prSet/>
      <dgm:spPr/>
      <dgm:t>
        <a:bodyPr/>
        <a:lstStyle/>
        <a:p>
          <a:endParaRPr lang="en-US"/>
        </a:p>
      </dgm:t>
    </dgm:pt>
    <dgm:pt modelId="{A46FFFFC-DCE7-4F83-9201-A0C66B8AA3E9}" type="sibTrans" cxnId="{E558252C-4F41-4DD4-BF63-DB7B756EA8C3}">
      <dgm:prSet/>
      <dgm:spPr/>
      <dgm:t>
        <a:bodyPr/>
        <a:lstStyle/>
        <a:p>
          <a:endParaRPr lang="en-US"/>
        </a:p>
      </dgm:t>
    </dgm:pt>
    <dgm:pt modelId="{FDC5D85E-ABE4-450C-9759-0E0694C9F72C}">
      <dgm:prSet phldrT="[Text]" phldr="0" custT="1"/>
      <dgm:spPr/>
      <dgm:t>
        <a:bodyPr/>
        <a:lstStyle/>
        <a:p>
          <a:r>
            <a:rPr lang="en-US" sz="2000" b="1" dirty="0">
              <a:solidFill>
                <a:schemeClr val="tx1"/>
              </a:solidFill>
              <a:latin typeface="Arial" panose="020B0604020202020204" pitchFamily="34" charset="0"/>
              <a:cs typeface="Arial" panose="020B0604020202020204" pitchFamily="34" charset="0"/>
            </a:rPr>
            <a:t>Türk </a:t>
          </a:r>
          <a:r>
            <a:rPr lang="en-US" sz="2000" b="1" dirty="0" err="1">
              <a:solidFill>
                <a:schemeClr val="tx1"/>
              </a:solidFill>
              <a:latin typeface="Arial" panose="020B0604020202020204" pitchFamily="34" charset="0"/>
              <a:cs typeface="Arial" panose="020B0604020202020204" pitchFamily="34" charset="0"/>
            </a:rPr>
            <a:t>Tabipler</a:t>
          </a:r>
          <a:r>
            <a:rPr lang="en-US" sz="2000" b="1" dirty="0">
              <a:solidFill>
                <a:schemeClr val="tx1"/>
              </a:solidFill>
              <a:latin typeface="Arial" panose="020B0604020202020204" pitchFamily="34" charset="0"/>
              <a:cs typeface="Arial" panose="020B0604020202020204" pitchFamily="34" charset="0"/>
            </a:rPr>
            <a:t> </a:t>
          </a:r>
          <a:r>
            <a:rPr lang="en-US" sz="2000" b="1" dirty="0" err="1">
              <a:solidFill>
                <a:schemeClr val="tx1"/>
              </a:solidFill>
              <a:latin typeface="Arial" panose="020B0604020202020204" pitchFamily="34" charset="0"/>
              <a:cs typeface="Arial" panose="020B0604020202020204" pitchFamily="34" charset="0"/>
            </a:rPr>
            <a:t>Birliği</a:t>
          </a:r>
          <a:r>
            <a:rPr lang="en-US" sz="2000" b="1" dirty="0">
              <a:solidFill>
                <a:schemeClr val="tx1"/>
              </a:solidFill>
              <a:latin typeface="Arial" panose="020B0604020202020204" pitchFamily="34" charset="0"/>
              <a:cs typeface="Arial" panose="020B0604020202020204" pitchFamily="34" charset="0"/>
            </a:rPr>
            <a:t> (TTB) Veri </a:t>
          </a:r>
          <a:r>
            <a:rPr lang="en-US" sz="2000" b="1" dirty="0" err="1">
              <a:solidFill>
                <a:schemeClr val="tx1"/>
              </a:solidFill>
              <a:latin typeface="Arial" panose="020B0604020202020204" pitchFamily="34" charset="0"/>
              <a:cs typeface="Arial" panose="020B0604020202020204" pitchFamily="34" charset="0"/>
            </a:rPr>
            <a:t>İhlali</a:t>
          </a:r>
          <a:r>
            <a:rPr lang="en-US" sz="2000" b="1" dirty="0">
              <a:solidFill>
                <a:schemeClr val="tx1"/>
              </a:solidFill>
              <a:latin typeface="Arial" panose="020B0604020202020204" pitchFamily="34" charset="0"/>
              <a:cs typeface="Arial" panose="020B0604020202020204" pitchFamily="34" charset="0"/>
            </a:rPr>
            <a:t> – Türkiye</a:t>
          </a:r>
        </a:p>
      </dgm:t>
    </dgm:pt>
    <dgm:pt modelId="{37ADA5EB-B7D6-4D81-A79B-2B740D8F4688}" type="parTrans" cxnId="{6F3D2A62-1A8D-4660-A14E-E2EBD2F28B95}">
      <dgm:prSet/>
      <dgm:spPr/>
      <dgm:t>
        <a:bodyPr/>
        <a:lstStyle/>
        <a:p>
          <a:endParaRPr lang="en-US"/>
        </a:p>
      </dgm:t>
    </dgm:pt>
    <dgm:pt modelId="{FA985B87-98C0-4BAE-AB88-6864EC802DB9}" type="sibTrans" cxnId="{6F3D2A62-1A8D-4660-A14E-E2EBD2F28B95}">
      <dgm:prSet/>
      <dgm:spPr/>
      <dgm:t>
        <a:bodyPr/>
        <a:lstStyle/>
        <a:p>
          <a:endParaRPr lang="en-US"/>
        </a:p>
      </dgm:t>
    </dgm:pt>
    <dgm:pt modelId="{91BE4E5F-AF0E-4BFF-B264-1DF1F3B9471B}" type="pres">
      <dgm:prSet presAssocID="{0F490691-F551-4FC6-8532-6E8A74968F1A}" presName="linearFlow" presStyleCnt="0">
        <dgm:presLayoutVars>
          <dgm:dir/>
          <dgm:animLvl val="lvl"/>
          <dgm:resizeHandles val="exact"/>
        </dgm:presLayoutVars>
      </dgm:prSet>
      <dgm:spPr/>
    </dgm:pt>
    <dgm:pt modelId="{388C372D-B167-40E7-B92F-70E9831F4C5C}" type="pres">
      <dgm:prSet presAssocID="{479AC4B5-D046-42C0-B1D1-5663AA724A6F}" presName="composite" presStyleCnt="0"/>
      <dgm:spPr/>
    </dgm:pt>
    <dgm:pt modelId="{A7D9BCEE-845B-4DD0-800A-B44821F7F3AA}" type="pres">
      <dgm:prSet presAssocID="{479AC4B5-D046-42C0-B1D1-5663AA724A6F}" presName="parentText" presStyleLbl="alignNode1" presStyleIdx="0" presStyleCnt="2" custLinFactNeighborX="-446" custLinFactNeighborY="4088">
        <dgm:presLayoutVars>
          <dgm:chMax val="1"/>
          <dgm:bulletEnabled val="1"/>
        </dgm:presLayoutVars>
      </dgm:prSet>
      <dgm:spPr/>
    </dgm:pt>
    <dgm:pt modelId="{E62CB10D-AA4D-4F05-8C2D-E40E0F11BB9E}" type="pres">
      <dgm:prSet presAssocID="{479AC4B5-D046-42C0-B1D1-5663AA724A6F}" presName="descendantText" presStyleLbl="alignAcc1" presStyleIdx="0" presStyleCnt="2" custLinFactNeighborY="6292">
        <dgm:presLayoutVars>
          <dgm:bulletEnabled val="1"/>
        </dgm:presLayoutVars>
      </dgm:prSet>
      <dgm:spPr>
        <a:blipFill rotWithShape="0">
          <a:blip xmlns:r="http://schemas.openxmlformats.org/officeDocument/2006/relationships" r:embed="rId1"/>
          <a:srcRect/>
          <a:stretch>
            <a:fillRect l="-41000" r="-41000"/>
          </a:stretch>
        </a:blipFill>
      </dgm:spPr>
    </dgm:pt>
    <dgm:pt modelId="{53AABA8E-C82D-4A53-9B5F-B69189482E31}" type="pres">
      <dgm:prSet presAssocID="{A46FFFFC-DCE7-4F83-9201-A0C66B8AA3E9}" presName="sp" presStyleCnt="0"/>
      <dgm:spPr/>
    </dgm:pt>
    <dgm:pt modelId="{A81486C3-4767-4CA7-9F23-51C2AF24F73B}" type="pres">
      <dgm:prSet presAssocID="{FDC5D85E-ABE4-450C-9759-0E0694C9F72C}" presName="composite" presStyleCnt="0"/>
      <dgm:spPr/>
    </dgm:pt>
    <dgm:pt modelId="{7E88B71A-8FC2-44B9-9956-4DC1698EAD36}" type="pres">
      <dgm:prSet presAssocID="{FDC5D85E-ABE4-450C-9759-0E0694C9F72C}" presName="parentText" presStyleLbl="alignNode1" presStyleIdx="1" presStyleCnt="2" custLinFactNeighborX="892" custLinFactNeighborY="-4823">
        <dgm:presLayoutVars>
          <dgm:chMax val="1"/>
          <dgm:bulletEnabled val="1"/>
        </dgm:presLayoutVars>
      </dgm:prSet>
      <dgm:spPr/>
    </dgm:pt>
    <dgm:pt modelId="{91318DA1-FDC0-4AD0-85E6-9666E28C3D14}" type="pres">
      <dgm:prSet presAssocID="{FDC5D85E-ABE4-450C-9759-0E0694C9F72C}" presName="descendantText" presStyleLbl="alignAcc1" presStyleIdx="1" presStyleCnt="2" custLinFactNeighborY="-3558">
        <dgm:presLayoutVars>
          <dgm:bulletEnabled val="1"/>
        </dgm:presLayoutVars>
      </dgm:prSet>
      <dgm:spPr>
        <a:blipFill rotWithShape="0">
          <a:blip xmlns:r="http://schemas.openxmlformats.org/officeDocument/2006/relationships" r:embed="rId2"/>
          <a:srcRect/>
          <a:stretch>
            <a:fillRect l="-20000" r="-20000"/>
          </a:stretch>
        </a:blipFill>
      </dgm:spPr>
    </dgm:pt>
  </dgm:ptLst>
  <dgm:cxnLst>
    <dgm:cxn modelId="{B1FA3E0A-6EB5-4BDA-A1B9-F1FE86C31D53}" type="presOf" srcId="{479AC4B5-D046-42C0-B1D1-5663AA724A6F}" destId="{A7D9BCEE-845B-4DD0-800A-B44821F7F3AA}" srcOrd="0" destOrd="0" presId="urn:microsoft.com/office/officeart/2005/8/layout/chevron2"/>
    <dgm:cxn modelId="{E558252C-4F41-4DD4-BF63-DB7B756EA8C3}" srcId="{0F490691-F551-4FC6-8532-6E8A74968F1A}" destId="{479AC4B5-D046-42C0-B1D1-5663AA724A6F}" srcOrd="0" destOrd="0" parTransId="{0A2B0212-940E-410E-A998-E2618A820594}" sibTransId="{A46FFFFC-DCE7-4F83-9201-A0C66B8AA3E9}"/>
    <dgm:cxn modelId="{6F3D2A62-1A8D-4660-A14E-E2EBD2F28B95}" srcId="{0F490691-F551-4FC6-8532-6E8A74968F1A}" destId="{FDC5D85E-ABE4-450C-9759-0E0694C9F72C}" srcOrd="1" destOrd="0" parTransId="{37ADA5EB-B7D6-4D81-A79B-2B740D8F4688}" sibTransId="{FA985B87-98C0-4BAE-AB88-6864EC802DB9}"/>
    <dgm:cxn modelId="{9D98E847-65DE-4060-8B11-0B6C0F88C78F}" type="presOf" srcId="{FDC5D85E-ABE4-450C-9759-0E0694C9F72C}" destId="{7E88B71A-8FC2-44B9-9956-4DC1698EAD36}" srcOrd="0" destOrd="0" presId="urn:microsoft.com/office/officeart/2005/8/layout/chevron2"/>
    <dgm:cxn modelId="{2A00BE87-A974-4482-93DA-9A4EB3A033DD}" type="presOf" srcId="{0F490691-F551-4FC6-8532-6E8A74968F1A}" destId="{91BE4E5F-AF0E-4BFF-B264-1DF1F3B9471B}" srcOrd="0" destOrd="0" presId="urn:microsoft.com/office/officeart/2005/8/layout/chevron2"/>
    <dgm:cxn modelId="{33D665F2-4602-4063-8A46-76E10CB48402}" type="presParOf" srcId="{91BE4E5F-AF0E-4BFF-B264-1DF1F3B9471B}" destId="{388C372D-B167-40E7-B92F-70E9831F4C5C}" srcOrd="0" destOrd="0" presId="urn:microsoft.com/office/officeart/2005/8/layout/chevron2"/>
    <dgm:cxn modelId="{21AE499D-53A4-4FF4-BBBA-3BCBA9DFB6E2}" type="presParOf" srcId="{388C372D-B167-40E7-B92F-70E9831F4C5C}" destId="{A7D9BCEE-845B-4DD0-800A-B44821F7F3AA}" srcOrd="0" destOrd="0" presId="urn:microsoft.com/office/officeart/2005/8/layout/chevron2"/>
    <dgm:cxn modelId="{118E4666-1294-4ECE-98DC-782E65638F7B}" type="presParOf" srcId="{388C372D-B167-40E7-B92F-70E9831F4C5C}" destId="{E62CB10D-AA4D-4F05-8C2D-E40E0F11BB9E}" srcOrd="1" destOrd="0" presId="urn:microsoft.com/office/officeart/2005/8/layout/chevron2"/>
    <dgm:cxn modelId="{D855260C-93C4-457A-85D7-74515A693336}" type="presParOf" srcId="{91BE4E5F-AF0E-4BFF-B264-1DF1F3B9471B}" destId="{53AABA8E-C82D-4A53-9B5F-B69189482E31}" srcOrd="1" destOrd="0" presId="urn:microsoft.com/office/officeart/2005/8/layout/chevron2"/>
    <dgm:cxn modelId="{4364C91D-1255-4974-A287-E3B19BE4EA79}" type="presParOf" srcId="{91BE4E5F-AF0E-4BFF-B264-1DF1F3B9471B}" destId="{A81486C3-4767-4CA7-9F23-51C2AF24F73B}" srcOrd="2" destOrd="0" presId="urn:microsoft.com/office/officeart/2005/8/layout/chevron2"/>
    <dgm:cxn modelId="{36116C5B-DD7F-43A8-98F3-BA9795BEADE5}" type="presParOf" srcId="{A81486C3-4767-4CA7-9F23-51C2AF24F73B}" destId="{7E88B71A-8FC2-44B9-9956-4DC1698EAD36}" srcOrd="0" destOrd="0" presId="urn:microsoft.com/office/officeart/2005/8/layout/chevron2"/>
    <dgm:cxn modelId="{5EC892FA-96EF-41B5-962D-D5402A5DB291}" type="presParOf" srcId="{A81486C3-4767-4CA7-9F23-51C2AF24F73B}" destId="{91318DA1-FDC0-4AD0-85E6-9666E28C3D14}"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7D9BCEE-845B-4DD0-800A-B44821F7F3AA}">
      <dsp:nvSpPr>
        <dsp:cNvPr id="0" name=""/>
        <dsp:cNvSpPr/>
      </dsp:nvSpPr>
      <dsp:spPr>
        <a:xfrm rot="5400000">
          <a:off x="-972981" y="976441"/>
          <a:ext cx="3563386" cy="1617423"/>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a:sp3d prstMaterial="plastic">
          <a:bevelT w="50800" h="50800"/>
          <a:bevelB w="50800" h="50800"/>
        </a:sp3d>
      </dsp:spPr>
      <dsp:style>
        <a:lnRef idx="1">
          <a:scrgbClr r="0" g="0" b="0"/>
        </a:lnRef>
        <a:fillRef idx="1">
          <a:scrgbClr r="0" g="0" b="0"/>
        </a:fillRef>
        <a:effectRef idx="2">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sv-SE" sz="1800" b="1" kern="1200" dirty="0">
              <a:solidFill>
                <a:schemeClr val="tx1"/>
              </a:solidFill>
              <a:latin typeface="Arial" panose="020B0604020202020204" pitchFamily="34" charset="0"/>
              <a:cs typeface="Arial" panose="020B0604020202020204" pitchFamily="34" charset="0"/>
            </a:rPr>
            <a:t>Twitter Hack</a:t>
          </a:r>
          <a:r>
            <a:rPr lang="tr-TR" sz="1800" b="1" kern="1200" dirty="0">
              <a:solidFill>
                <a:schemeClr val="tx1"/>
              </a:solidFill>
              <a:latin typeface="Arial" panose="020B0604020202020204" pitchFamily="34" charset="0"/>
              <a:cs typeface="Arial" panose="020B0604020202020204" pitchFamily="34" charset="0"/>
            </a:rPr>
            <a:t> -</a:t>
          </a:r>
          <a:r>
            <a:rPr lang="sv-SE" sz="1800" b="1" kern="1200" dirty="0">
              <a:solidFill>
                <a:schemeClr val="tx1"/>
              </a:solidFill>
              <a:latin typeface="Arial" panose="020B0604020202020204" pitchFamily="34" charset="0"/>
              <a:cs typeface="Arial" panose="020B0604020202020204" pitchFamily="34" charset="0"/>
            </a:rPr>
            <a:t>ABD</a:t>
          </a:r>
          <a:endParaRPr lang="en-US" sz="1800" b="1" kern="1200" dirty="0">
            <a:solidFill>
              <a:schemeClr val="tx1"/>
            </a:solidFill>
          </a:endParaRPr>
        </a:p>
      </dsp:txBody>
      <dsp:txXfrm rot="-5400000">
        <a:off x="0" y="812172"/>
        <a:ext cx="1617423" cy="1945963"/>
      </dsp:txXfrm>
    </dsp:sp>
    <dsp:sp modelId="{E62CB10D-AA4D-4F05-8C2D-E40E0F11BB9E}">
      <dsp:nvSpPr>
        <dsp:cNvPr id="0" name=""/>
        <dsp:cNvSpPr/>
      </dsp:nvSpPr>
      <dsp:spPr>
        <a:xfrm rot="5400000">
          <a:off x="1453154" y="164269"/>
          <a:ext cx="2754674" cy="2426135"/>
        </a:xfrm>
        <a:prstGeom prst="round2SameRect">
          <a:avLst/>
        </a:prstGeom>
        <a:blipFill rotWithShape="0">
          <a:blip xmlns:r="http://schemas.openxmlformats.org/officeDocument/2006/relationships" r:embed="rId1"/>
          <a:srcRect/>
          <a:stretch>
            <a:fillRect l="-13000" r="-13000"/>
          </a:stretch>
        </a:blipFill>
        <a:ln w="12700" cap="flat" cmpd="sng" algn="ctr">
          <a:solidFill>
            <a:schemeClr val="accent1">
              <a:hueOff val="0"/>
              <a:satOff val="0"/>
              <a:lumOff val="0"/>
              <a:alphaOff val="0"/>
            </a:schemeClr>
          </a:solidFill>
          <a:prstDash val="solid"/>
          <a:miter lim="800000"/>
        </a:ln>
        <a:effectLst/>
        <a:sp3d prstMaterial="plastic">
          <a:bevelT w="25400" h="25400"/>
          <a:bevelB w="25400" h="25400"/>
        </a:sp3d>
      </dsp:spPr>
      <dsp:style>
        <a:lnRef idx="1">
          <a:scrgbClr r="0" g="0" b="0"/>
        </a:lnRef>
        <a:fillRef idx="1">
          <a:scrgbClr r="0" g="0" b="0"/>
        </a:fillRef>
        <a:effectRef idx="2">
          <a:scrgbClr r="0" g="0" b="0"/>
        </a:effectRef>
        <a:fontRef idx="minor"/>
      </dsp:style>
    </dsp:sp>
    <dsp:sp modelId="{7E88B71A-8FC2-44B9-9956-4DC1698EAD36}">
      <dsp:nvSpPr>
        <dsp:cNvPr id="0" name=""/>
        <dsp:cNvSpPr/>
      </dsp:nvSpPr>
      <dsp:spPr>
        <a:xfrm rot="5400000">
          <a:off x="-972981" y="3910398"/>
          <a:ext cx="3563386" cy="1617423"/>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a:sp3d prstMaterial="plastic">
          <a:bevelT w="50800" h="50800"/>
          <a:bevelB w="50800" h="50800"/>
        </a:sp3d>
      </dsp:spPr>
      <dsp:style>
        <a:lnRef idx="1">
          <a:scrgbClr r="0" g="0" b="0"/>
        </a:lnRef>
        <a:fillRef idx="1">
          <a:scrgbClr r="0" g="0" b="0"/>
        </a:fillRef>
        <a:effectRef idx="2">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sv-SE" sz="1800" b="1" kern="1200" dirty="0">
              <a:solidFill>
                <a:schemeClr val="tx1"/>
              </a:solidFill>
              <a:latin typeface="Arial" panose="020B0604020202020204" pitchFamily="34" charset="0"/>
              <a:cs typeface="Arial" panose="020B0604020202020204" pitchFamily="34" charset="0"/>
            </a:rPr>
            <a:t>SolarWinds Hack – ABD</a:t>
          </a:r>
          <a:r>
            <a:rPr lang="tr-TR" sz="1800" b="1" kern="1200" dirty="0">
              <a:solidFill>
                <a:schemeClr val="tx1"/>
              </a:solidFill>
              <a:latin typeface="Arial" panose="020B0604020202020204" pitchFamily="34" charset="0"/>
              <a:cs typeface="Arial" panose="020B0604020202020204" pitchFamily="34" charset="0"/>
            </a:rPr>
            <a:t> </a:t>
          </a:r>
          <a:endParaRPr lang="en-US" sz="1800" kern="1200" dirty="0">
            <a:solidFill>
              <a:schemeClr val="tx1"/>
            </a:solidFill>
          </a:endParaRPr>
        </a:p>
      </dsp:txBody>
      <dsp:txXfrm rot="-5400000">
        <a:off x="0" y="3746129"/>
        <a:ext cx="1617423" cy="1945963"/>
      </dsp:txXfrm>
    </dsp:sp>
    <dsp:sp modelId="{91318DA1-FDC0-4AD0-85E6-9666E28C3D14}">
      <dsp:nvSpPr>
        <dsp:cNvPr id="0" name=""/>
        <dsp:cNvSpPr/>
      </dsp:nvSpPr>
      <dsp:spPr>
        <a:xfrm rot="5400000">
          <a:off x="1453154" y="3153355"/>
          <a:ext cx="2754674" cy="2426135"/>
        </a:xfrm>
        <a:prstGeom prst="round2SameRect">
          <a:avLst/>
        </a:prstGeom>
        <a:blipFill rotWithShape="0">
          <a:blip xmlns:r="http://schemas.openxmlformats.org/officeDocument/2006/relationships" r:embed="rId2"/>
          <a:srcRect/>
          <a:stretch>
            <a:fillRect l="-17000" r="-17000"/>
          </a:stretch>
        </a:blipFill>
        <a:ln w="12700" cap="flat" cmpd="sng" algn="ctr">
          <a:solidFill>
            <a:schemeClr val="accent1">
              <a:hueOff val="0"/>
              <a:satOff val="0"/>
              <a:lumOff val="0"/>
              <a:alphaOff val="0"/>
            </a:schemeClr>
          </a:solidFill>
          <a:prstDash val="solid"/>
          <a:miter lim="800000"/>
        </a:ln>
        <a:effectLst/>
        <a:sp3d prstMaterial="plastic">
          <a:bevelT w="25400" h="25400"/>
          <a:bevelB w="25400" h="25400"/>
        </a:sp3d>
      </dsp:spPr>
      <dsp:style>
        <a:lnRef idx="1">
          <a:scrgbClr r="0" g="0" b="0"/>
        </a:lnRef>
        <a:fillRef idx="1">
          <a:scrgbClr r="0" g="0" b="0"/>
        </a:fillRef>
        <a:effectRef idx="2">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7D9BCEE-845B-4DD0-800A-B44821F7F3AA}">
      <dsp:nvSpPr>
        <dsp:cNvPr id="0" name=""/>
        <dsp:cNvSpPr/>
      </dsp:nvSpPr>
      <dsp:spPr>
        <a:xfrm rot="5400000">
          <a:off x="-984234" y="1027333"/>
          <a:ext cx="3662345" cy="1693876"/>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a:sp3d prstMaterial="plastic">
          <a:bevelT w="50800" h="50800"/>
          <a:bevelB w="50800" h="50800"/>
        </a:sp3d>
      </dsp:spPr>
      <dsp:style>
        <a:lnRef idx="1">
          <a:scrgbClr r="0" g="0" b="0"/>
        </a:lnRef>
        <a:fillRef idx="1">
          <a:scrgbClr r="0" g="0" b="0"/>
        </a:fillRef>
        <a:effectRef idx="2">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b="1" kern="1200" dirty="0">
              <a:solidFill>
                <a:schemeClr val="tx1"/>
              </a:solidFill>
              <a:latin typeface="Arial" panose="020B0604020202020204" pitchFamily="34" charset="0"/>
              <a:cs typeface="Arial" panose="020B0604020202020204" pitchFamily="34" charset="0"/>
            </a:rPr>
            <a:t>Gratis Veri </a:t>
          </a:r>
          <a:r>
            <a:rPr lang="en-US" sz="1800" b="1" kern="1200" dirty="0" err="1">
              <a:solidFill>
                <a:schemeClr val="tx1"/>
              </a:solidFill>
              <a:latin typeface="Arial" panose="020B0604020202020204" pitchFamily="34" charset="0"/>
              <a:cs typeface="Arial" panose="020B0604020202020204" pitchFamily="34" charset="0"/>
            </a:rPr>
            <a:t>İhlali</a:t>
          </a:r>
          <a:r>
            <a:rPr lang="en-US" sz="1800" b="1" kern="1200" dirty="0">
              <a:solidFill>
                <a:schemeClr val="tx1"/>
              </a:solidFill>
              <a:latin typeface="Arial" panose="020B0604020202020204" pitchFamily="34" charset="0"/>
              <a:cs typeface="Arial" panose="020B0604020202020204" pitchFamily="34" charset="0"/>
            </a:rPr>
            <a:t> – Türkiye</a:t>
          </a:r>
          <a:r>
            <a:rPr lang="tr-TR" sz="1800" b="1" kern="1200" dirty="0">
              <a:solidFill>
                <a:schemeClr val="tx1"/>
              </a:solidFill>
              <a:latin typeface="Arial" panose="020B0604020202020204" pitchFamily="34" charset="0"/>
              <a:cs typeface="Arial" panose="020B0604020202020204" pitchFamily="34" charset="0"/>
            </a:rPr>
            <a:t> </a:t>
          </a:r>
          <a:endParaRPr lang="en-US" sz="1800" b="1" kern="1200" dirty="0">
            <a:solidFill>
              <a:schemeClr val="tx1"/>
            </a:solidFill>
          </a:endParaRPr>
        </a:p>
      </dsp:txBody>
      <dsp:txXfrm rot="-5400000">
        <a:off x="0" y="890037"/>
        <a:ext cx="1693876" cy="1968469"/>
      </dsp:txXfrm>
    </dsp:sp>
    <dsp:sp modelId="{E62CB10D-AA4D-4F05-8C2D-E40E0F11BB9E}">
      <dsp:nvSpPr>
        <dsp:cNvPr id="0" name=""/>
        <dsp:cNvSpPr/>
      </dsp:nvSpPr>
      <dsp:spPr>
        <a:xfrm rot="5400000">
          <a:off x="1556579" y="174584"/>
          <a:ext cx="2815407" cy="2540813"/>
        </a:xfrm>
        <a:prstGeom prst="round2SameRect">
          <a:avLst/>
        </a:prstGeom>
        <a:blipFill rotWithShape="0">
          <a:blip xmlns:r="http://schemas.openxmlformats.org/officeDocument/2006/relationships" r:embed="rId1"/>
          <a:srcRect/>
          <a:stretch>
            <a:fillRect l="-10000" r="-10000"/>
          </a:stretch>
        </a:blipFill>
        <a:ln w="12700" cap="flat" cmpd="sng" algn="ctr">
          <a:solidFill>
            <a:schemeClr val="accent1">
              <a:hueOff val="0"/>
              <a:satOff val="0"/>
              <a:lumOff val="0"/>
              <a:alphaOff val="0"/>
            </a:schemeClr>
          </a:solidFill>
          <a:prstDash val="solid"/>
          <a:miter lim="800000"/>
        </a:ln>
        <a:effectLst/>
        <a:sp3d prstMaterial="plastic">
          <a:bevelT w="25400" h="25400"/>
          <a:bevelB w="25400" h="25400"/>
        </a:sp3d>
      </dsp:spPr>
      <dsp:style>
        <a:lnRef idx="1">
          <a:scrgbClr r="0" g="0" b="0"/>
        </a:lnRef>
        <a:fillRef idx="1">
          <a:scrgbClr r="0" g="0" b="0"/>
        </a:fillRef>
        <a:effectRef idx="2">
          <a:scrgbClr r="0" g="0" b="0"/>
        </a:effectRef>
        <a:fontRef idx="minor"/>
      </dsp:style>
    </dsp:sp>
    <dsp:sp modelId="{7E88B71A-8FC2-44B9-9956-4DC1698EAD36}">
      <dsp:nvSpPr>
        <dsp:cNvPr id="0" name=""/>
        <dsp:cNvSpPr/>
      </dsp:nvSpPr>
      <dsp:spPr>
        <a:xfrm rot="5400000">
          <a:off x="-951847" y="4052705"/>
          <a:ext cx="3662345" cy="1693876"/>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a:sp3d prstMaterial="plastic">
          <a:bevelT w="50800" h="50800"/>
          <a:bevelB w="50800" h="50800"/>
        </a:sp3d>
      </dsp:spPr>
      <dsp:style>
        <a:lnRef idx="1">
          <a:scrgbClr r="0" g="0" b="0"/>
        </a:lnRef>
        <a:fillRef idx="1">
          <a:scrgbClr r="0" g="0" b="0"/>
        </a:fillRef>
        <a:effectRef idx="2">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b="1" kern="1200" dirty="0" err="1">
              <a:solidFill>
                <a:schemeClr val="tx1"/>
              </a:solidFill>
              <a:latin typeface="Arial" panose="020B0604020202020204" pitchFamily="34" charset="0"/>
              <a:cs typeface="Arial" panose="020B0604020202020204" pitchFamily="34" charset="0"/>
            </a:rPr>
            <a:t>Vastaamo</a:t>
          </a:r>
          <a:r>
            <a:rPr lang="en-US" sz="1800" b="1" kern="1200" dirty="0">
              <a:solidFill>
                <a:schemeClr val="tx1"/>
              </a:solidFill>
              <a:latin typeface="Arial" panose="020B0604020202020204" pitchFamily="34" charset="0"/>
              <a:cs typeface="Arial" panose="020B0604020202020204" pitchFamily="34" charset="0"/>
            </a:rPr>
            <a:t> Data Breach – </a:t>
          </a:r>
          <a:r>
            <a:rPr lang="en-US" sz="1800" b="1" kern="1200" dirty="0" err="1">
              <a:solidFill>
                <a:schemeClr val="tx1"/>
              </a:solidFill>
              <a:latin typeface="Arial" panose="020B0604020202020204" pitchFamily="34" charset="0"/>
              <a:cs typeface="Arial" panose="020B0604020202020204" pitchFamily="34" charset="0"/>
            </a:rPr>
            <a:t>Finlandiya</a:t>
          </a:r>
          <a:endParaRPr lang="en-US" sz="1800" kern="1200" dirty="0">
            <a:solidFill>
              <a:schemeClr val="tx1"/>
            </a:solidFill>
          </a:endParaRPr>
        </a:p>
      </dsp:txBody>
      <dsp:txXfrm rot="-5400000">
        <a:off x="32387" y="3915409"/>
        <a:ext cx="1693876" cy="1968469"/>
      </dsp:txXfrm>
    </dsp:sp>
    <dsp:sp modelId="{91318DA1-FDC0-4AD0-85E6-9666E28C3D14}">
      <dsp:nvSpPr>
        <dsp:cNvPr id="0" name=""/>
        <dsp:cNvSpPr/>
      </dsp:nvSpPr>
      <dsp:spPr>
        <a:xfrm rot="5400000">
          <a:off x="1556579" y="3254657"/>
          <a:ext cx="2815407" cy="2540813"/>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a:sp3d prstMaterial="plastic">
          <a:bevelT w="25400" h="25400"/>
          <a:bevelB w="25400" h="25400"/>
        </a:sp3d>
      </dsp:spPr>
      <dsp:style>
        <a:lnRef idx="1">
          <a:scrgbClr r="0" g="0" b="0"/>
        </a:lnRef>
        <a:fillRef idx="1">
          <a:scrgbClr r="0" g="0" b="0"/>
        </a:fillRef>
        <a:effectRef idx="2">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7D9BCEE-845B-4DD0-800A-B44821F7F3AA}">
      <dsp:nvSpPr>
        <dsp:cNvPr id="0" name=""/>
        <dsp:cNvSpPr/>
      </dsp:nvSpPr>
      <dsp:spPr>
        <a:xfrm rot="5400000">
          <a:off x="-1006030" y="1006030"/>
          <a:ext cx="3636942" cy="1624881"/>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a:sp3d prstMaterial="plastic">
          <a:bevelT w="50800" h="50800"/>
          <a:bevelB w="50800" h="50800"/>
        </a:sp3d>
      </dsp:spPr>
      <dsp:style>
        <a:lnRef idx="1">
          <a:scrgbClr r="0" g="0" b="0"/>
        </a:lnRef>
        <a:fillRef idx="1">
          <a:scrgbClr r="0" g="0" b="0"/>
        </a:fillRef>
        <a:effectRef idx="2">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b="1" kern="1200" dirty="0">
              <a:solidFill>
                <a:schemeClr val="tx1"/>
              </a:solidFill>
              <a:latin typeface="Arial" panose="020B0604020202020204" pitchFamily="34" charset="0"/>
              <a:cs typeface="Arial" panose="020B0604020202020204" pitchFamily="34" charset="0"/>
            </a:rPr>
            <a:t>HSE Ransomware – İrlanda</a:t>
          </a:r>
        </a:p>
      </dsp:txBody>
      <dsp:txXfrm rot="-5400000">
        <a:off x="0" y="812441"/>
        <a:ext cx="1624881" cy="2012061"/>
      </dsp:txXfrm>
    </dsp:sp>
    <dsp:sp modelId="{E62CB10D-AA4D-4F05-8C2D-E40E0F11BB9E}">
      <dsp:nvSpPr>
        <dsp:cNvPr id="0" name=""/>
        <dsp:cNvSpPr/>
      </dsp:nvSpPr>
      <dsp:spPr>
        <a:xfrm rot="5400000">
          <a:off x="1431292" y="193589"/>
          <a:ext cx="2824501" cy="2437322"/>
        </a:xfrm>
        <a:prstGeom prst="round2SameRect">
          <a:avLst/>
        </a:prstGeom>
        <a:blipFill rotWithShape="0">
          <a:blip xmlns:r="http://schemas.openxmlformats.org/officeDocument/2006/relationships" r:embed="rId1"/>
          <a:srcRect/>
          <a:stretch>
            <a:fillRect l="-3000" r="-3000"/>
          </a:stretch>
        </a:blipFill>
        <a:ln w="12700" cap="flat" cmpd="sng" algn="ctr">
          <a:solidFill>
            <a:schemeClr val="accent1">
              <a:hueOff val="0"/>
              <a:satOff val="0"/>
              <a:lumOff val="0"/>
              <a:alphaOff val="0"/>
            </a:schemeClr>
          </a:solidFill>
          <a:prstDash val="solid"/>
          <a:miter lim="800000"/>
        </a:ln>
        <a:effectLst/>
        <a:sp3d prstMaterial="plastic">
          <a:bevelT w="25400" h="25400"/>
          <a:bevelB w="25400" h="25400"/>
        </a:sp3d>
      </dsp:spPr>
      <dsp:style>
        <a:lnRef idx="1">
          <a:scrgbClr r="0" g="0" b="0"/>
        </a:lnRef>
        <a:fillRef idx="1">
          <a:scrgbClr r="0" g="0" b="0"/>
        </a:fillRef>
        <a:effectRef idx="2">
          <a:scrgbClr r="0" g="0" b="0"/>
        </a:effectRef>
        <a:fontRef idx="minor"/>
      </dsp:style>
    </dsp:sp>
    <dsp:sp modelId="{7E88B71A-8FC2-44B9-9956-4DC1698EAD36}">
      <dsp:nvSpPr>
        <dsp:cNvPr id="0" name=""/>
        <dsp:cNvSpPr/>
      </dsp:nvSpPr>
      <dsp:spPr>
        <a:xfrm rot="5400000">
          <a:off x="-981754" y="4010899"/>
          <a:ext cx="3636942" cy="1624881"/>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a:sp3d prstMaterial="plastic">
          <a:bevelT w="50800" h="50800"/>
          <a:bevelB w="50800" h="50800"/>
        </a:sp3d>
      </dsp:spPr>
      <dsp:style>
        <a:lnRef idx="1">
          <a:scrgbClr r="0" g="0" b="0"/>
        </a:lnRef>
        <a:fillRef idx="1">
          <a:scrgbClr r="0" g="0" b="0"/>
        </a:fillRef>
        <a:effectRef idx="2">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b="1" kern="1200" dirty="0" err="1">
              <a:solidFill>
                <a:schemeClr val="tx1"/>
              </a:solidFill>
              <a:effectLst/>
              <a:latin typeface="Arial" panose="020B0604020202020204" pitchFamily="34" charset="0"/>
              <a:cs typeface="Arial" panose="020B0604020202020204" pitchFamily="34" charset="0"/>
            </a:rPr>
            <a:t>Sağlık</a:t>
          </a:r>
          <a:r>
            <a:rPr lang="en-US" sz="1800" b="1" kern="1200" dirty="0">
              <a:solidFill>
                <a:schemeClr val="tx1"/>
              </a:solidFill>
              <a:effectLst/>
              <a:latin typeface="Arial" panose="020B0604020202020204" pitchFamily="34" charset="0"/>
              <a:cs typeface="Arial" panose="020B0604020202020204" pitchFamily="34" charset="0"/>
            </a:rPr>
            <a:t> </a:t>
          </a:r>
          <a:r>
            <a:rPr lang="en-US" sz="1800" b="1" kern="1200" dirty="0" err="1">
              <a:solidFill>
                <a:schemeClr val="tx1"/>
              </a:solidFill>
              <a:effectLst/>
              <a:latin typeface="Arial" panose="020B0604020202020204" pitchFamily="34" charset="0"/>
              <a:cs typeface="Arial" panose="020B0604020202020204" pitchFamily="34" charset="0"/>
            </a:rPr>
            <a:t>Bakanlığı</a:t>
          </a:r>
          <a:r>
            <a:rPr lang="en-US" sz="1800" b="1" kern="1200" dirty="0">
              <a:solidFill>
                <a:schemeClr val="tx1"/>
              </a:solidFill>
              <a:effectLst/>
              <a:latin typeface="Arial" panose="020B0604020202020204" pitchFamily="34" charset="0"/>
              <a:cs typeface="Arial" panose="020B0604020202020204" pitchFamily="34" charset="0"/>
            </a:rPr>
            <a:t> </a:t>
          </a:r>
          <a:r>
            <a:rPr lang="en-US" sz="1800" b="1" kern="1200" dirty="0" err="1">
              <a:solidFill>
                <a:schemeClr val="tx1"/>
              </a:solidFill>
              <a:effectLst/>
              <a:latin typeface="Arial" panose="020B0604020202020204" pitchFamily="34" charset="0"/>
              <a:cs typeface="Arial" panose="020B0604020202020204" pitchFamily="34" charset="0"/>
            </a:rPr>
            <a:t>Sistemi</a:t>
          </a:r>
          <a:r>
            <a:rPr lang="en-US" sz="1800" b="1" kern="1200" dirty="0">
              <a:solidFill>
                <a:schemeClr val="tx1"/>
              </a:solidFill>
              <a:effectLst/>
              <a:latin typeface="Arial" panose="020B0604020202020204" pitchFamily="34" charset="0"/>
              <a:cs typeface="Arial" panose="020B0604020202020204" pitchFamily="34" charset="0"/>
            </a:rPr>
            <a:t> </a:t>
          </a:r>
          <a:r>
            <a:rPr lang="en-US" sz="1800" b="1" kern="1200" dirty="0" err="1">
              <a:solidFill>
                <a:schemeClr val="tx1"/>
              </a:solidFill>
              <a:effectLst/>
              <a:latin typeface="Arial" panose="020B0604020202020204" pitchFamily="34" charset="0"/>
              <a:cs typeface="Arial" panose="020B0604020202020204" pitchFamily="34" charset="0"/>
            </a:rPr>
            <a:t>Saldırısı</a:t>
          </a:r>
          <a:r>
            <a:rPr lang="en-US" sz="1800" b="1" kern="1200" dirty="0">
              <a:solidFill>
                <a:schemeClr val="tx1"/>
              </a:solidFill>
              <a:effectLst/>
              <a:latin typeface="Arial" panose="020B0604020202020204" pitchFamily="34" charset="0"/>
              <a:cs typeface="Arial" panose="020B0604020202020204" pitchFamily="34" charset="0"/>
            </a:rPr>
            <a:t> – Türkiye</a:t>
          </a:r>
        </a:p>
      </dsp:txBody>
      <dsp:txXfrm rot="-5400000">
        <a:off x="24276" y="3817310"/>
        <a:ext cx="1624881" cy="2012061"/>
      </dsp:txXfrm>
    </dsp:sp>
    <dsp:sp modelId="{91318DA1-FDC0-4AD0-85E6-9666E28C3D14}">
      <dsp:nvSpPr>
        <dsp:cNvPr id="0" name=""/>
        <dsp:cNvSpPr/>
      </dsp:nvSpPr>
      <dsp:spPr>
        <a:xfrm rot="5400000">
          <a:off x="1431292" y="3274542"/>
          <a:ext cx="2824501" cy="2437322"/>
        </a:xfrm>
        <a:prstGeom prst="round2SameRect">
          <a:avLst/>
        </a:prstGeom>
        <a:blipFill rotWithShape="0">
          <a:blip xmlns:r="http://schemas.openxmlformats.org/officeDocument/2006/relationships" r:embed="rId2"/>
          <a:srcRect/>
          <a:stretch>
            <a:fillRect l="-28000" r="-28000"/>
          </a:stretch>
        </a:blipFill>
        <a:ln w="12700" cap="flat" cmpd="sng" algn="ctr">
          <a:solidFill>
            <a:schemeClr val="accent1">
              <a:hueOff val="0"/>
              <a:satOff val="0"/>
              <a:lumOff val="0"/>
              <a:alphaOff val="0"/>
            </a:schemeClr>
          </a:solidFill>
          <a:prstDash val="solid"/>
          <a:miter lim="800000"/>
        </a:ln>
        <a:effectLst/>
        <a:sp3d prstMaterial="plastic">
          <a:bevelT w="25400" h="25400"/>
          <a:bevelB w="25400" h="25400"/>
        </a:sp3d>
      </dsp:spPr>
      <dsp:style>
        <a:lnRef idx="1">
          <a:scrgbClr r="0" g="0" b="0"/>
        </a:lnRef>
        <a:fillRef idx="1">
          <a:scrgbClr r="0" g="0" b="0"/>
        </a:fillRef>
        <a:effectRef idx="2">
          <a:scrgbClr r="0" g="0" b="0"/>
        </a:effectRef>
        <a:fontRef idx="minor"/>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7D9BCEE-845B-4DD0-800A-B44821F7F3AA}">
      <dsp:nvSpPr>
        <dsp:cNvPr id="0" name=""/>
        <dsp:cNvSpPr/>
      </dsp:nvSpPr>
      <dsp:spPr>
        <a:xfrm rot="5400000">
          <a:off x="-879894" y="922046"/>
          <a:ext cx="3520794" cy="1683143"/>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a:sp3d prstMaterial="plastic">
          <a:bevelT w="50800" h="50800"/>
          <a:bevelB w="50800" h="50800"/>
        </a:sp3d>
      </dsp:spPr>
      <dsp:style>
        <a:lnRef idx="1">
          <a:scrgbClr r="0" g="0" b="0"/>
        </a:lnRef>
        <a:fillRef idx="1">
          <a:scrgbClr r="0" g="0" b="0"/>
        </a:fillRef>
        <a:effectRef idx="2">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b="1" kern="1200" dirty="0">
              <a:solidFill>
                <a:schemeClr val="tx1"/>
              </a:solidFill>
              <a:latin typeface="Arial" panose="020B0604020202020204" pitchFamily="34" charset="0"/>
              <a:cs typeface="Arial" panose="020B0604020202020204" pitchFamily="34" charset="0"/>
            </a:rPr>
            <a:t>Microsoft Exchange Server Attack – Global</a:t>
          </a:r>
        </a:p>
      </dsp:txBody>
      <dsp:txXfrm rot="-5400000">
        <a:off x="38931" y="844793"/>
        <a:ext cx="1683143" cy="1837651"/>
      </dsp:txXfrm>
    </dsp:sp>
    <dsp:sp modelId="{E62CB10D-AA4D-4F05-8C2D-E40E0F11BB9E}">
      <dsp:nvSpPr>
        <dsp:cNvPr id="0" name=""/>
        <dsp:cNvSpPr/>
      </dsp:nvSpPr>
      <dsp:spPr>
        <a:xfrm rot="5400000">
          <a:off x="1605889" y="107274"/>
          <a:ext cx="2679222" cy="2524715"/>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a:sp3d prstMaterial="plastic">
          <a:bevelT w="25400" h="25400"/>
          <a:bevelB w="25400" h="25400"/>
        </a:sp3d>
      </dsp:spPr>
      <dsp:style>
        <a:lnRef idx="1">
          <a:scrgbClr r="0" g="0" b="0"/>
        </a:lnRef>
        <a:fillRef idx="1">
          <a:scrgbClr r="0" g="0" b="0"/>
        </a:fillRef>
        <a:effectRef idx="2">
          <a:scrgbClr r="0" g="0" b="0"/>
        </a:effectRef>
        <a:fontRef idx="minor"/>
      </dsp:style>
    </dsp:sp>
    <dsp:sp modelId="{7E88B71A-8FC2-44B9-9956-4DC1698EAD36}">
      <dsp:nvSpPr>
        <dsp:cNvPr id="0" name=""/>
        <dsp:cNvSpPr/>
      </dsp:nvSpPr>
      <dsp:spPr>
        <a:xfrm rot="5400000">
          <a:off x="-872067" y="3787983"/>
          <a:ext cx="3520794" cy="1683143"/>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a:sp3d prstMaterial="plastic">
          <a:bevelT w="50800" h="50800"/>
          <a:bevelB w="50800" h="50800"/>
        </a:sp3d>
      </dsp:spPr>
      <dsp:style>
        <a:lnRef idx="1">
          <a:scrgbClr r="0" g="0" b="0"/>
        </a:lnRef>
        <a:fillRef idx="1">
          <a:scrgbClr r="0" g="0" b="0"/>
        </a:fillRef>
        <a:effectRef idx="2">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b="1" kern="1200" dirty="0">
              <a:solidFill>
                <a:schemeClr val="tx1"/>
              </a:solidFill>
              <a:latin typeface="Arial" panose="020B0604020202020204" pitchFamily="34" charset="0"/>
              <a:cs typeface="Arial" panose="020B0604020202020204" pitchFamily="34" charset="0"/>
            </a:rPr>
            <a:t>Twitch Veri </a:t>
          </a:r>
          <a:r>
            <a:rPr lang="en-US" sz="2000" b="1" kern="1200" dirty="0" err="1">
              <a:solidFill>
                <a:schemeClr val="tx1"/>
              </a:solidFill>
              <a:latin typeface="Arial" panose="020B0604020202020204" pitchFamily="34" charset="0"/>
              <a:cs typeface="Arial" panose="020B0604020202020204" pitchFamily="34" charset="0"/>
            </a:rPr>
            <a:t>İhlali</a:t>
          </a:r>
          <a:r>
            <a:rPr lang="en-US" sz="2000" b="1" kern="1200" dirty="0">
              <a:solidFill>
                <a:schemeClr val="tx1"/>
              </a:solidFill>
              <a:latin typeface="Arial" panose="020B0604020202020204" pitchFamily="34" charset="0"/>
              <a:cs typeface="Arial" panose="020B0604020202020204" pitchFamily="34" charset="0"/>
            </a:rPr>
            <a:t> – Türkiye </a:t>
          </a:r>
        </a:p>
      </dsp:txBody>
      <dsp:txXfrm rot="-5400000">
        <a:off x="46758" y="3710730"/>
        <a:ext cx="1683143" cy="1837651"/>
      </dsp:txXfrm>
    </dsp:sp>
    <dsp:sp modelId="{91318DA1-FDC0-4AD0-85E6-9666E28C3D14}">
      <dsp:nvSpPr>
        <dsp:cNvPr id="0" name=""/>
        <dsp:cNvSpPr/>
      </dsp:nvSpPr>
      <dsp:spPr>
        <a:xfrm rot="5400000">
          <a:off x="1605889" y="2998692"/>
          <a:ext cx="2679222" cy="2524715"/>
        </a:xfrm>
        <a:prstGeom prst="round2SameRect">
          <a:avLst/>
        </a:prstGeom>
        <a:blipFill rotWithShape="0">
          <a:blip xmlns:r="http://schemas.openxmlformats.org/officeDocument/2006/relationships" r:embed="rId1"/>
          <a:srcRect/>
          <a:stretch>
            <a:fillRect l="-28000" r="-28000"/>
          </a:stretch>
        </a:blipFill>
        <a:ln w="12700" cap="flat" cmpd="sng" algn="ctr">
          <a:solidFill>
            <a:schemeClr val="accent1">
              <a:hueOff val="0"/>
              <a:satOff val="0"/>
              <a:lumOff val="0"/>
              <a:alphaOff val="0"/>
            </a:schemeClr>
          </a:solidFill>
          <a:prstDash val="solid"/>
          <a:miter lim="800000"/>
        </a:ln>
        <a:effectLst/>
        <a:sp3d prstMaterial="plastic">
          <a:bevelT w="25400" h="25400"/>
          <a:bevelB w="25400" h="25400"/>
        </a:sp3d>
      </dsp:spPr>
      <dsp:style>
        <a:lnRef idx="1">
          <a:scrgbClr r="0" g="0" b="0"/>
        </a:lnRef>
        <a:fillRef idx="1">
          <a:scrgbClr r="0" g="0" b="0"/>
        </a:fillRef>
        <a:effectRef idx="2">
          <a:scrgbClr r="0" g="0" b="0"/>
        </a:effectRef>
        <a:fontRef idx="minor"/>
      </dsp:style>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7D9BCEE-845B-4DD0-800A-B44821F7F3AA}">
      <dsp:nvSpPr>
        <dsp:cNvPr id="0" name=""/>
        <dsp:cNvSpPr/>
      </dsp:nvSpPr>
      <dsp:spPr>
        <a:xfrm rot="5400000">
          <a:off x="-1006677" y="1009082"/>
          <a:ext cx="3534887" cy="1521532"/>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a:sp3d prstMaterial="plastic">
          <a:bevelT w="50800" h="50800"/>
          <a:bevelB w="50800" h="50800"/>
        </a:sp3d>
      </dsp:spPr>
      <dsp:style>
        <a:lnRef idx="1">
          <a:scrgbClr r="0" g="0" b="0"/>
        </a:lnRef>
        <a:fillRef idx="1">
          <a:scrgbClr r="0" g="0" b="0"/>
        </a:fillRef>
        <a:effectRef idx="2">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b="1" kern="1200" dirty="0">
              <a:solidFill>
                <a:schemeClr val="tx1"/>
              </a:solidFill>
              <a:latin typeface="Arial" panose="020B0604020202020204" pitchFamily="34" charset="0"/>
              <a:cs typeface="Arial" panose="020B0604020202020204" pitchFamily="34" charset="0"/>
            </a:rPr>
            <a:t>RedCross Data Breach – </a:t>
          </a:r>
          <a:r>
            <a:rPr lang="en-US" sz="2000" b="1" kern="1200" dirty="0" err="1">
              <a:solidFill>
                <a:schemeClr val="tx1"/>
              </a:solidFill>
              <a:latin typeface="Arial" panose="020B0604020202020204" pitchFamily="34" charset="0"/>
              <a:cs typeface="Arial" panose="020B0604020202020204" pitchFamily="34" charset="0"/>
            </a:rPr>
            <a:t>İsviçre</a:t>
          </a:r>
          <a:endParaRPr lang="en-US" sz="2000" b="1" kern="1200" dirty="0">
            <a:solidFill>
              <a:schemeClr val="tx1"/>
            </a:solidFill>
            <a:latin typeface="Arial" panose="020B0604020202020204" pitchFamily="34" charset="0"/>
            <a:cs typeface="Arial" panose="020B0604020202020204" pitchFamily="34" charset="0"/>
          </a:endParaRPr>
        </a:p>
      </dsp:txBody>
      <dsp:txXfrm rot="-5400000">
        <a:off x="0" y="763171"/>
        <a:ext cx="1521532" cy="2013355"/>
      </dsp:txXfrm>
    </dsp:sp>
    <dsp:sp modelId="{E62CB10D-AA4D-4F05-8C2D-E40E0F11BB9E}">
      <dsp:nvSpPr>
        <dsp:cNvPr id="0" name=""/>
        <dsp:cNvSpPr/>
      </dsp:nvSpPr>
      <dsp:spPr>
        <a:xfrm rot="5400000">
          <a:off x="1275620" y="316115"/>
          <a:ext cx="2774121" cy="2282298"/>
        </a:xfrm>
        <a:prstGeom prst="round2SameRect">
          <a:avLst/>
        </a:prstGeom>
        <a:blipFill rotWithShape="0">
          <a:blip xmlns:r="http://schemas.openxmlformats.org/officeDocument/2006/relationships" r:embed="rId1"/>
          <a:srcRect/>
          <a:stretch>
            <a:fillRect l="-26000" r="-26000"/>
          </a:stretch>
        </a:blipFill>
        <a:ln w="12700" cap="flat" cmpd="sng" algn="ctr">
          <a:solidFill>
            <a:schemeClr val="accent1">
              <a:hueOff val="0"/>
              <a:satOff val="0"/>
              <a:lumOff val="0"/>
              <a:alphaOff val="0"/>
            </a:schemeClr>
          </a:solidFill>
          <a:prstDash val="solid"/>
          <a:miter lim="800000"/>
        </a:ln>
        <a:effectLst/>
        <a:sp3d prstMaterial="plastic">
          <a:bevelT w="25400" h="25400"/>
          <a:bevelB w="25400" h="25400"/>
        </a:sp3d>
      </dsp:spPr>
      <dsp:style>
        <a:lnRef idx="1">
          <a:scrgbClr r="0" g="0" b="0"/>
        </a:lnRef>
        <a:fillRef idx="1">
          <a:scrgbClr r="0" g="0" b="0"/>
        </a:fillRef>
        <a:effectRef idx="2">
          <a:scrgbClr r="0" g="0" b="0"/>
        </a:effectRef>
        <a:fontRef idx="minor"/>
      </dsp:style>
    </dsp:sp>
    <dsp:sp modelId="{7E88B71A-8FC2-44B9-9956-4DC1698EAD36}">
      <dsp:nvSpPr>
        <dsp:cNvPr id="0" name=""/>
        <dsp:cNvSpPr/>
      </dsp:nvSpPr>
      <dsp:spPr>
        <a:xfrm rot="5400000">
          <a:off x="-1006677" y="4002936"/>
          <a:ext cx="3534887" cy="1521532"/>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a:sp3d prstMaterial="plastic">
          <a:bevelT w="50800" h="50800"/>
          <a:bevelB w="50800" h="50800"/>
        </a:sp3d>
      </dsp:spPr>
      <dsp:style>
        <a:lnRef idx="1">
          <a:scrgbClr r="0" g="0" b="0"/>
        </a:lnRef>
        <a:fillRef idx="1">
          <a:scrgbClr r="0" g="0" b="0"/>
        </a:fillRef>
        <a:effectRef idx="2">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b="1" kern="1200" dirty="0">
              <a:solidFill>
                <a:schemeClr val="tx1"/>
              </a:solidFill>
              <a:latin typeface="Arial" panose="020B0604020202020204" pitchFamily="34" charset="0"/>
              <a:cs typeface="Arial" panose="020B0604020202020204" pitchFamily="34" charset="0"/>
            </a:rPr>
            <a:t>Toyota Supplier Hack – </a:t>
          </a:r>
          <a:r>
            <a:rPr lang="en-US" sz="2000" b="1" kern="1200" dirty="0" err="1">
              <a:solidFill>
                <a:schemeClr val="tx1"/>
              </a:solidFill>
              <a:latin typeface="Arial" panose="020B0604020202020204" pitchFamily="34" charset="0"/>
              <a:cs typeface="Arial" panose="020B0604020202020204" pitchFamily="34" charset="0"/>
            </a:rPr>
            <a:t>Japonya</a:t>
          </a:r>
          <a:endParaRPr lang="en-US" sz="2000" b="1" kern="1200" dirty="0">
            <a:solidFill>
              <a:schemeClr val="tx1"/>
            </a:solidFill>
            <a:latin typeface="Arial" panose="020B0604020202020204" pitchFamily="34" charset="0"/>
            <a:cs typeface="Arial" panose="020B0604020202020204" pitchFamily="34" charset="0"/>
          </a:endParaRPr>
        </a:p>
      </dsp:txBody>
      <dsp:txXfrm rot="-5400000">
        <a:off x="0" y="3757025"/>
        <a:ext cx="1521532" cy="2013355"/>
      </dsp:txXfrm>
    </dsp:sp>
    <dsp:sp modelId="{91318DA1-FDC0-4AD0-85E6-9666E28C3D14}">
      <dsp:nvSpPr>
        <dsp:cNvPr id="0" name=""/>
        <dsp:cNvSpPr/>
      </dsp:nvSpPr>
      <dsp:spPr>
        <a:xfrm rot="5400000">
          <a:off x="1241157" y="3291994"/>
          <a:ext cx="2774121" cy="2282298"/>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a:sp3d prstMaterial="plastic">
          <a:bevelT w="25400" h="25400"/>
          <a:bevelB w="25400" h="25400"/>
        </a:sp3d>
      </dsp:spPr>
      <dsp:style>
        <a:lnRef idx="1">
          <a:scrgbClr r="0" g="0" b="0"/>
        </a:lnRef>
        <a:fillRef idx="1">
          <a:scrgbClr r="0" g="0" b="0"/>
        </a:fillRef>
        <a:effectRef idx="2">
          <a:scrgbClr r="0" g="0" b="0"/>
        </a:effectRef>
        <a:fontRef idx="minor"/>
      </dsp:style>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7D9BCEE-845B-4DD0-800A-B44821F7F3AA}">
      <dsp:nvSpPr>
        <dsp:cNvPr id="0" name=""/>
        <dsp:cNvSpPr/>
      </dsp:nvSpPr>
      <dsp:spPr>
        <a:xfrm rot="5400000">
          <a:off x="-1034567" y="1036858"/>
          <a:ext cx="3563348" cy="1494213"/>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a:sp3d prstMaterial="plastic">
          <a:bevelT w="50800" h="50800"/>
          <a:bevelB w="50800" h="50800"/>
        </a:sp3d>
      </dsp:spPr>
      <dsp:style>
        <a:lnRef idx="1">
          <a:scrgbClr r="0" g="0" b="0"/>
        </a:lnRef>
        <a:fillRef idx="1">
          <a:scrgbClr r="0" g="0" b="0"/>
        </a:fillRef>
        <a:effectRef idx="2">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b="1" kern="1200" dirty="0">
              <a:solidFill>
                <a:schemeClr val="tx1"/>
              </a:solidFill>
              <a:latin typeface="Arial" panose="020B0604020202020204" pitchFamily="34" charset="0"/>
              <a:cs typeface="Arial" panose="020B0604020202020204" pitchFamily="34" charset="0"/>
            </a:rPr>
            <a:t>T-Mobile Breach – ABD</a:t>
          </a:r>
        </a:p>
      </dsp:txBody>
      <dsp:txXfrm rot="-5400000">
        <a:off x="0" y="749398"/>
        <a:ext cx="1494213" cy="2069135"/>
      </dsp:txXfrm>
    </dsp:sp>
    <dsp:sp modelId="{E62CB10D-AA4D-4F05-8C2D-E40E0F11BB9E}">
      <dsp:nvSpPr>
        <dsp:cNvPr id="0" name=""/>
        <dsp:cNvSpPr/>
      </dsp:nvSpPr>
      <dsp:spPr>
        <a:xfrm rot="5400000">
          <a:off x="1206752" y="337008"/>
          <a:ext cx="2816241" cy="2241319"/>
        </a:xfrm>
        <a:prstGeom prst="round2SameRect">
          <a:avLst/>
        </a:prstGeom>
        <a:blipFill rotWithShape="0">
          <a:blip xmlns:r="http://schemas.openxmlformats.org/officeDocument/2006/relationships" r:embed="rId1"/>
          <a:srcRect/>
          <a:stretch>
            <a:fillRect l="-64000" r="-64000"/>
          </a:stretch>
        </a:blipFill>
        <a:ln w="12700" cap="flat" cmpd="sng" algn="ctr">
          <a:solidFill>
            <a:schemeClr val="accent1">
              <a:hueOff val="0"/>
              <a:satOff val="0"/>
              <a:lumOff val="0"/>
              <a:alphaOff val="0"/>
            </a:schemeClr>
          </a:solidFill>
          <a:prstDash val="solid"/>
          <a:miter lim="800000"/>
        </a:ln>
        <a:effectLst/>
        <a:sp3d prstMaterial="plastic">
          <a:bevelT w="25400" h="25400"/>
          <a:bevelB w="25400" h="25400"/>
        </a:sp3d>
      </dsp:spPr>
      <dsp:style>
        <a:lnRef idx="1">
          <a:scrgbClr r="0" g="0" b="0"/>
        </a:lnRef>
        <a:fillRef idx="1">
          <a:scrgbClr r="0" g="0" b="0"/>
        </a:fillRef>
        <a:effectRef idx="2">
          <a:scrgbClr r="0" g="0" b="0"/>
        </a:effectRef>
        <a:fontRef idx="minor"/>
      </dsp:style>
    </dsp:sp>
    <dsp:sp modelId="{7E88B71A-8FC2-44B9-9956-4DC1698EAD36}">
      <dsp:nvSpPr>
        <dsp:cNvPr id="0" name=""/>
        <dsp:cNvSpPr/>
      </dsp:nvSpPr>
      <dsp:spPr>
        <a:xfrm rot="5400000">
          <a:off x="-1034567" y="4052409"/>
          <a:ext cx="3563348" cy="1494213"/>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a:sp3d prstMaterial="plastic">
          <a:bevelT w="50800" h="50800"/>
          <a:bevelB w="50800" h="50800"/>
        </a:sp3d>
      </dsp:spPr>
      <dsp:style>
        <a:lnRef idx="1">
          <a:scrgbClr r="0" g="0" b="0"/>
        </a:lnRef>
        <a:fillRef idx="1">
          <a:scrgbClr r="0" g="0" b="0"/>
        </a:fillRef>
        <a:effectRef idx="2">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b="1" kern="1200" dirty="0" err="1">
              <a:solidFill>
                <a:schemeClr val="tx1"/>
              </a:solidFill>
              <a:latin typeface="Arial" panose="020B0604020202020204" pitchFamily="34" charset="0"/>
              <a:cs typeface="Arial" panose="020B0604020202020204" pitchFamily="34" charset="0"/>
            </a:rPr>
            <a:t>MOVEit</a:t>
          </a:r>
          <a:r>
            <a:rPr lang="en-US" sz="2000" b="1" kern="1200" dirty="0">
              <a:solidFill>
                <a:schemeClr val="tx1"/>
              </a:solidFill>
              <a:latin typeface="Arial" panose="020B0604020202020204" pitchFamily="34" charset="0"/>
              <a:cs typeface="Arial" panose="020B0604020202020204" pitchFamily="34" charset="0"/>
            </a:rPr>
            <a:t> Exploit</a:t>
          </a:r>
          <a:r>
            <a:rPr lang="tr-TR" sz="2000" b="1" kern="1200" dirty="0">
              <a:solidFill>
                <a:schemeClr val="tx1"/>
              </a:solidFill>
              <a:latin typeface="Arial" panose="020B0604020202020204" pitchFamily="34" charset="0"/>
              <a:cs typeface="Arial" panose="020B0604020202020204" pitchFamily="34" charset="0"/>
            </a:rPr>
            <a:t>-</a:t>
          </a:r>
          <a:r>
            <a:rPr lang="en-US" sz="2000" b="1" kern="1200" dirty="0">
              <a:solidFill>
                <a:schemeClr val="tx1"/>
              </a:solidFill>
              <a:latin typeface="Arial" panose="020B0604020202020204" pitchFamily="34" charset="0"/>
              <a:cs typeface="Arial" panose="020B0604020202020204" pitchFamily="34" charset="0"/>
            </a:rPr>
            <a:t>  Global </a:t>
          </a:r>
        </a:p>
      </dsp:txBody>
      <dsp:txXfrm rot="-5400000">
        <a:off x="0" y="3764949"/>
        <a:ext cx="1494213" cy="2069135"/>
      </dsp:txXfrm>
    </dsp:sp>
    <dsp:sp modelId="{91318DA1-FDC0-4AD0-85E6-9666E28C3D14}">
      <dsp:nvSpPr>
        <dsp:cNvPr id="0" name=""/>
        <dsp:cNvSpPr/>
      </dsp:nvSpPr>
      <dsp:spPr>
        <a:xfrm rot="5400000">
          <a:off x="1206752" y="3362727"/>
          <a:ext cx="2816241" cy="2241319"/>
        </a:xfrm>
        <a:prstGeom prst="round2SameRect">
          <a:avLst/>
        </a:prstGeom>
        <a:blipFill rotWithShape="0">
          <a:blip xmlns:r="http://schemas.openxmlformats.org/officeDocument/2006/relationships" r:embed="rId2"/>
          <a:srcRect/>
          <a:stretch>
            <a:fillRect l="-48000" r="-48000"/>
          </a:stretch>
        </a:blipFill>
        <a:ln w="12700" cap="flat" cmpd="sng" algn="ctr">
          <a:solidFill>
            <a:schemeClr val="accent1">
              <a:hueOff val="0"/>
              <a:satOff val="0"/>
              <a:lumOff val="0"/>
              <a:alphaOff val="0"/>
            </a:schemeClr>
          </a:solidFill>
          <a:prstDash val="solid"/>
          <a:miter lim="800000"/>
        </a:ln>
        <a:effectLst/>
        <a:sp3d prstMaterial="plastic">
          <a:bevelT w="25400" h="25400"/>
          <a:bevelB w="25400" h="25400"/>
        </a:sp3d>
      </dsp:spPr>
      <dsp:style>
        <a:lnRef idx="1">
          <a:scrgbClr r="0" g="0" b="0"/>
        </a:lnRef>
        <a:fillRef idx="1">
          <a:scrgbClr r="0" g="0" b="0"/>
        </a:fillRef>
        <a:effectRef idx="2">
          <a:scrgbClr r="0" g="0" b="0"/>
        </a:effectRef>
        <a:fontRef idx="minor"/>
      </dsp:style>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E88B71A-8FC2-44B9-9956-4DC1698EAD36}">
      <dsp:nvSpPr>
        <dsp:cNvPr id="0" name=""/>
        <dsp:cNvSpPr/>
      </dsp:nvSpPr>
      <dsp:spPr>
        <a:xfrm rot="5400000">
          <a:off x="-899911" y="973428"/>
          <a:ext cx="3447207" cy="1500350"/>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a:sp3d prstMaterial="plastic">
          <a:bevelT w="50800" h="50800"/>
          <a:bevelB w="50800" h="50800"/>
        </a:sp3d>
      </dsp:spPr>
      <dsp:style>
        <a:lnRef idx="1">
          <a:scrgbClr r="0" g="0" b="0"/>
        </a:lnRef>
        <a:fillRef idx="1">
          <a:scrgbClr r="0" g="0" b="0"/>
        </a:fillRef>
        <a:effectRef idx="2">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b="1" kern="1200" dirty="0">
              <a:solidFill>
                <a:schemeClr val="tx1"/>
              </a:solidFill>
              <a:latin typeface="Arial" panose="020B0604020202020204" pitchFamily="34" charset="0"/>
              <a:cs typeface="Arial" panose="020B0604020202020204" pitchFamily="34" charset="0"/>
            </a:rPr>
            <a:t>British Airways IT Outage – </a:t>
          </a:r>
          <a:r>
            <a:rPr lang="en-US" sz="2000" b="1" kern="1200" dirty="0" err="1">
              <a:solidFill>
                <a:schemeClr val="tx1"/>
              </a:solidFill>
              <a:latin typeface="Arial" panose="020B0604020202020204" pitchFamily="34" charset="0"/>
              <a:cs typeface="Arial" panose="020B0604020202020204" pitchFamily="34" charset="0"/>
            </a:rPr>
            <a:t>İngiltere</a:t>
          </a:r>
          <a:endParaRPr lang="en-US" sz="2000" b="1" kern="1200" dirty="0">
            <a:solidFill>
              <a:schemeClr val="tx1"/>
            </a:solidFill>
            <a:latin typeface="Arial" panose="020B0604020202020204" pitchFamily="34" charset="0"/>
            <a:cs typeface="Arial" panose="020B0604020202020204" pitchFamily="34" charset="0"/>
          </a:endParaRPr>
        </a:p>
      </dsp:txBody>
      <dsp:txXfrm rot="-5400000">
        <a:off x="73517" y="750175"/>
        <a:ext cx="1500350" cy="1946857"/>
      </dsp:txXfrm>
    </dsp:sp>
    <dsp:sp modelId="{91318DA1-FDC0-4AD0-85E6-9666E28C3D14}">
      <dsp:nvSpPr>
        <dsp:cNvPr id="0" name=""/>
        <dsp:cNvSpPr/>
      </dsp:nvSpPr>
      <dsp:spPr>
        <a:xfrm rot="5400000">
          <a:off x="1277096" y="270154"/>
          <a:ext cx="2697032" cy="2250525"/>
        </a:xfrm>
        <a:prstGeom prst="round2SameRect">
          <a:avLst/>
        </a:prstGeom>
        <a:blipFill rotWithShape="0">
          <a:blip xmlns:r="http://schemas.openxmlformats.org/officeDocument/2006/relationships" r:embed="rId1"/>
          <a:srcRect/>
          <a:stretch>
            <a:fillRect l="-86000" r="-86000"/>
          </a:stretch>
        </a:blipFill>
        <a:ln w="12700" cap="flat" cmpd="sng" algn="ctr">
          <a:solidFill>
            <a:schemeClr val="accent1">
              <a:hueOff val="0"/>
              <a:satOff val="0"/>
              <a:lumOff val="0"/>
              <a:alphaOff val="0"/>
            </a:schemeClr>
          </a:solidFill>
          <a:prstDash val="solid"/>
          <a:miter lim="800000"/>
        </a:ln>
        <a:effectLst/>
        <a:sp3d prstMaterial="plastic">
          <a:bevelT w="25400" h="25400"/>
          <a:bevelB w="25400" h="25400"/>
        </a:sp3d>
      </dsp:spPr>
      <dsp:style>
        <a:lnRef idx="1">
          <a:scrgbClr r="0" g="0" b="0"/>
        </a:lnRef>
        <a:fillRef idx="1">
          <a:scrgbClr r="0" g="0" b="0"/>
        </a:fillRef>
        <a:effectRef idx="2">
          <a:scrgbClr r="0" g="0" b="0"/>
        </a:effectRef>
        <a:fontRef idx="minor"/>
      </dsp:style>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7D9BCEE-845B-4DD0-800A-B44821F7F3AA}">
      <dsp:nvSpPr>
        <dsp:cNvPr id="0" name=""/>
        <dsp:cNvSpPr/>
      </dsp:nvSpPr>
      <dsp:spPr>
        <a:xfrm rot="5400000">
          <a:off x="-1043678" y="1045566"/>
          <a:ext cx="3664812" cy="1577456"/>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a:sp3d prstMaterial="plastic">
          <a:bevelT w="50800" h="50800"/>
          <a:bevelB w="50800" h="50800"/>
        </a:sp3d>
      </dsp:spPr>
      <dsp:style>
        <a:lnRef idx="1">
          <a:scrgbClr r="0" g="0" b="0"/>
        </a:lnRef>
        <a:fillRef idx="1">
          <a:scrgbClr r="0" g="0" b="0"/>
        </a:fillRef>
        <a:effectRef idx="2">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b="1" kern="1200" dirty="0">
              <a:solidFill>
                <a:schemeClr val="tx1"/>
              </a:solidFill>
              <a:latin typeface="Arial" panose="020B0604020202020204" pitchFamily="34" charset="0"/>
              <a:cs typeface="Arial" panose="020B0604020202020204" pitchFamily="34" charset="0"/>
            </a:rPr>
            <a:t>Santander Bank Leak </a:t>
          </a:r>
          <a:r>
            <a:rPr lang="tr-TR" sz="1800" b="1" kern="1200" dirty="0">
              <a:solidFill>
                <a:schemeClr val="tx1"/>
              </a:solidFill>
              <a:latin typeface="Arial" panose="020B0604020202020204" pitchFamily="34" charset="0"/>
              <a:cs typeface="Arial" panose="020B0604020202020204" pitchFamily="34" charset="0"/>
            </a:rPr>
            <a:t>-</a:t>
          </a:r>
          <a:r>
            <a:rPr lang="en-US" sz="1800" b="1" kern="1200" dirty="0">
              <a:solidFill>
                <a:schemeClr val="tx1"/>
              </a:solidFill>
              <a:latin typeface="Arial" panose="020B0604020202020204" pitchFamily="34" charset="0"/>
              <a:cs typeface="Arial" panose="020B0604020202020204" pitchFamily="34" charset="0"/>
            </a:rPr>
            <a:t>  </a:t>
          </a:r>
          <a:r>
            <a:rPr lang="en-US" sz="1800" b="1" kern="1200" dirty="0" err="1">
              <a:solidFill>
                <a:schemeClr val="tx1"/>
              </a:solidFill>
              <a:latin typeface="Arial" panose="020B0604020202020204" pitchFamily="34" charset="0"/>
              <a:cs typeface="Arial" panose="020B0604020202020204" pitchFamily="34" charset="0"/>
            </a:rPr>
            <a:t>İspanya</a:t>
          </a:r>
          <a:r>
            <a:rPr lang="en-US" sz="1800" b="1" kern="1200" dirty="0">
              <a:solidFill>
                <a:schemeClr val="tx1"/>
              </a:solidFill>
              <a:latin typeface="Arial" panose="020B0604020202020204" pitchFamily="34" charset="0"/>
              <a:cs typeface="Arial" panose="020B0604020202020204" pitchFamily="34" charset="0"/>
            </a:rPr>
            <a:t> </a:t>
          </a:r>
          <a:endParaRPr lang="en-US" sz="1800" b="1" kern="1200" dirty="0">
            <a:solidFill>
              <a:schemeClr val="tx1"/>
            </a:solidFill>
          </a:endParaRPr>
        </a:p>
      </dsp:txBody>
      <dsp:txXfrm rot="-5400000">
        <a:off x="0" y="790616"/>
        <a:ext cx="1577456" cy="2087356"/>
      </dsp:txXfrm>
    </dsp:sp>
    <dsp:sp modelId="{E62CB10D-AA4D-4F05-8C2D-E40E0F11BB9E}">
      <dsp:nvSpPr>
        <dsp:cNvPr id="0" name=""/>
        <dsp:cNvSpPr/>
      </dsp:nvSpPr>
      <dsp:spPr>
        <a:xfrm rot="5400000">
          <a:off x="1322505" y="301590"/>
          <a:ext cx="2876084" cy="2366183"/>
        </a:xfrm>
        <a:prstGeom prst="round2SameRect">
          <a:avLst/>
        </a:prstGeom>
        <a:blipFill rotWithShape="0">
          <a:blip xmlns:r="http://schemas.openxmlformats.org/officeDocument/2006/relationships" r:embed="rId1"/>
          <a:srcRect/>
          <a:stretch>
            <a:fillRect t="-9000" b="-9000"/>
          </a:stretch>
        </a:blipFill>
        <a:ln w="12700" cap="flat" cmpd="sng" algn="ctr">
          <a:solidFill>
            <a:schemeClr val="accent1">
              <a:hueOff val="0"/>
              <a:satOff val="0"/>
              <a:lumOff val="0"/>
              <a:alphaOff val="0"/>
            </a:schemeClr>
          </a:solidFill>
          <a:prstDash val="solid"/>
          <a:miter lim="800000"/>
        </a:ln>
        <a:effectLst/>
        <a:sp3d prstMaterial="plastic">
          <a:bevelT w="25400" h="25400"/>
          <a:bevelB w="25400" h="25400"/>
        </a:sp3d>
      </dsp:spPr>
      <dsp:style>
        <a:lnRef idx="1">
          <a:scrgbClr r="0" g="0" b="0"/>
        </a:lnRef>
        <a:fillRef idx="1">
          <a:scrgbClr r="0" g="0" b="0"/>
        </a:fillRef>
        <a:effectRef idx="2">
          <a:scrgbClr r="0" g="0" b="0"/>
        </a:effectRef>
        <a:fontRef idx="minor"/>
      </dsp:style>
    </dsp:sp>
    <dsp:sp modelId="{7E88B71A-8FC2-44B9-9956-4DC1698EAD36}">
      <dsp:nvSpPr>
        <dsp:cNvPr id="0" name=""/>
        <dsp:cNvSpPr/>
      </dsp:nvSpPr>
      <dsp:spPr>
        <a:xfrm rot="5400000">
          <a:off x="-1043678" y="4098704"/>
          <a:ext cx="3664812" cy="1577456"/>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a:sp3d prstMaterial="plastic">
          <a:bevelT w="50800" h="50800"/>
          <a:bevelB w="50800" h="50800"/>
        </a:sp3d>
      </dsp:spPr>
      <dsp:style>
        <a:lnRef idx="1">
          <a:scrgbClr r="0" g="0" b="0"/>
        </a:lnRef>
        <a:fillRef idx="1">
          <a:scrgbClr r="0" g="0" b="0"/>
        </a:fillRef>
        <a:effectRef idx="2">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b="1" i="0" u="none" kern="1200" dirty="0" err="1">
              <a:solidFill>
                <a:schemeClr val="tx1"/>
              </a:solidFill>
              <a:latin typeface="Arial" panose="020B0604020202020204" pitchFamily="34" charset="0"/>
              <a:cs typeface="Arial" panose="020B0604020202020204" pitchFamily="34" charset="0"/>
            </a:rPr>
            <a:t>Niconico</a:t>
          </a:r>
          <a:r>
            <a:rPr lang="en-US" sz="2000" b="1" i="0" u="none" kern="1200" dirty="0">
              <a:solidFill>
                <a:schemeClr val="tx1"/>
              </a:solidFill>
              <a:latin typeface="Arial" panose="020B0604020202020204" pitchFamily="34" charset="0"/>
              <a:cs typeface="Arial" panose="020B0604020202020204" pitchFamily="34" charset="0"/>
            </a:rPr>
            <a:t> / Kadokawa Attack – </a:t>
          </a:r>
          <a:r>
            <a:rPr lang="en-US" sz="2000" b="1" i="0" u="none" kern="1200" dirty="0" err="1">
              <a:solidFill>
                <a:schemeClr val="tx1"/>
              </a:solidFill>
              <a:latin typeface="Arial" panose="020B0604020202020204" pitchFamily="34" charset="0"/>
              <a:cs typeface="Arial" panose="020B0604020202020204" pitchFamily="34" charset="0"/>
            </a:rPr>
            <a:t>Japonya</a:t>
          </a:r>
          <a:endParaRPr lang="en-US" sz="2000" b="1" kern="1200" dirty="0">
            <a:solidFill>
              <a:schemeClr val="tx1"/>
            </a:solidFill>
            <a:latin typeface="Arial" panose="020B0604020202020204" pitchFamily="34" charset="0"/>
            <a:cs typeface="Arial" panose="020B0604020202020204" pitchFamily="34" charset="0"/>
          </a:endParaRPr>
        </a:p>
      </dsp:txBody>
      <dsp:txXfrm rot="-5400000">
        <a:off x="0" y="3843754"/>
        <a:ext cx="1577456" cy="2087356"/>
      </dsp:txXfrm>
    </dsp:sp>
    <dsp:sp modelId="{91318DA1-FDC0-4AD0-85E6-9666E28C3D14}">
      <dsp:nvSpPr>
        <dsp:cNvPr id="0" name=""/>
        <dsp:cNvSpPr/>
      </dsp:nvSpPr>
      <dsp:spPr>
        <a:xfrm rot="5400000">
          <a:off x="1322505" y="3357716"/>
          <a:ext cx="2876084" cy="2366183"/>
        </a:xfrm>
        <a:prstGeom prst="round2SameRect">
          <a:avLst/>
        </a:prstGeom>
        <a:blipFill rotWithShape="0">
          <a:blip xmlns:r="http://schemas.openxmlformats.org/officeDocument/2006/relationships" r:embed="rId2"/>
          <a:srcRect/>
          <a:stretch>
            <a:fillRect l="-50000" r="-50000"/>
          </a:stretch>
        </a:blipFill>
        <a:ln w="12700" cap="flat" cmpd="sng" algn="ctr">
          <a:solidFill>
            <a:schemeClr val="accent1">
              <a:hueOff val="0"/>
              <a:satOff val="0"/>
              <a:lumOff val="0"/>
              <a:alphaOff val="0"/>
            </a:schemeClr>
          </a:solidFill>
          <a:prstDash val="solid"/>
          <a:miter lim="800000"/>
        </a:ln>
        <a:effectLst/>
        <a:sp3d prstMaterial="plastic">
          <a:bevelT w="25400" h="25400"/>
          <a:bevelB w="25400" h="25400"/>
        </a:sp3d>
      </dsp:spPr>
      <dsp:style>
        <a:lnRef idx="1">
          <a:scrgbClr r="0" g="0" b="0"/>
        </a:lnRef>
        <a:fillRef idx="1">
          <a:scrgbClr r="0" g="0" b="0"/>
        </a:fillRef>
        <a:effectRef idx="2">
          <a:scrgbClr r="0" g="0" b="0"/>
        </a:effectRef>
        <a:fontRef idx="minor"/>
      </dsp:style>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7D9BCEE-845B-4DD0-800A-B44821F7F3AA}">
      <dsp:nvSpPr>
        <dsp:cNvPr id="0" name=""/>
        <dsp:cNvSpPr/>
      </dsp:nvSpPr>
      <dsp:spPr>
        <a:xfrm rot="5400000">
          <a:off x="-1049688" y="1082386"/>
          <a:ext cx="3593770" cy="1431358"/>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a:sp3d prstMaterial="plastic">
          <a:bevelT w="50800" h="50800"/>
          <a:bevelB w="50800" h="50800"/>
        </a:sp3d>
      </dsp:spPr>
      <dsp:style>
        <a:lnRef idx="1">
          <a:scrgbClr r="0" g="0" b="0"/>
        </a:lnRef>
        <a:fillRef idx="1">
          <a:scrgbClr r="0" g="0" b="0"/>
        </a:fillRef>
        <a:effectRef idx="2">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b="1" kern="1200" dirty="0">
              <a:solidFill>
                <a:schemeClr val="tx1"/>
              </a:solidFill>
              <a:latin typeface="Arial" panose="020B0604020202020204" pitchFamily="34" charset="0"/>
              <a:cs typeface="Arial" panose="020B0604020202020204" pitchFamily="34" charset="0"/>
            </a:rPr>
            <a:t>Snowflake Incident – Global</a:t>
          </a:r>
        </a:p>
      </dsp:txBody>
      <dsp:txXfrm rot="-5400000">
        <a:off x="31518" y="716859"/>
        <a:ext cx="1431358" cy="2162412"/>
      </dsp:txXfrm>
    </dsp:sp>
    <dsp:sp modelId="{E62CB10D-AA4D-4F05-8C2D-E40E0F11BB9E}">
      <dsp:nvSpPr>
        <dsp:cNvPr id="0" name=""/>
        <dsp:cNvSpPr/>
      </dsp:nvSpPr>
      <dsp:spPr>
        <a:xfrm rot="5400000">
          <a:off x="1081589" y="453175"/>
          <a:ext cx="2846574" cy="2084001"/>
        </a:xfrm>
        <a:prstGeom prst="round2SameRect">
          <a:avLst/>
        </a:prstGeom>
        <a:blipFill rotWithShape="0">
          <a:blip xmlns:r="http://schemas.openxmlformats.org/officeDocument/2006/relationships" r:embed="rId1"/>
          <a:srcRect/>
          <a:stretch>
            <a:fillRect l="-72000" r="-72000"/>
          </a:stretch>
        </a:blipFill>
        <a:ln w="12700" cap="flat" cmpd="sng" algn="ctr">
          <a:solidFill>
            <a:schemeClr val="accent1">
              <a:hueOff val="0"/>
              <a:satOff val="0"/>
              <a:lumOff val="0"/>
              <a:alphaOff val="0"/>
            </a:schemeClr>
          </a:solidFill>
          <a:prstDash val="solid"/>
          <a:miter lim="800000"/>
        </a:ln>
        <a:effectLst/>
        <a:sp3d prstMaterial="plastic">
          <a:bevelT w="25400" h="25400"/>
          <a:bevelB w="25400" h="25400"/>
        </a:sp3d>
      </dsp:spPr>
      <dsp:style>
        <a:lnRef idx="1">
          <a:scrgbClr r="0" g="0" b="0"/>
        </a:lnRef>
        <a:fillRef idx="1">
          <a:scrgbClr r="0" g="0" b="0"/>
        </a:fillRef>
        <a:effectRef idx="2">
          <a:scrgbClr r="0" g="0" b="0"/>
        </a:effectRef>
        <a:fontRef idx="minor"/>
      </dsp:style>
    </dsp:sp>
    <dsp:sp modelId="{7E88B71A-8FC2-44B9-9956-4DC1698EAD36}">
      <dsp:nvSpPr>
        <dsp:cNvPr id="0" name=""/>
        <dsp:cNvSpPr/>
      </dsp:nvSpPr>
      <dsp:spPr>
        <a:xfrm rot="5400000">
          <a:off x="-1029606" y="4152837"/>
          <a:ext cx="3593770" cy="1431358"/>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a:sp3d prstMaterial="plastic">
          <a:bevelT w="50800" h="50800"/>
          <a:bevelB w="50800" h="50800"/>
        </a:sp3d>
      </dsp:spPr>
      <dsp:style>
        <a:lnRef idx="1">
          <a:scrgbClr r="0" g="0" b="0"/>
        </a:lnRef>
        <a:fillRef idx="1">
          <a:scrgbClr r="0" g="0" b="0"/>
        </a:fillRef>
        <a:effectRef idx="2">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b="1" kern="1200" dirty="0">
              <a:solidFill>
                <a:schemeClr val="tx1"/>
              </a:solidFill>
              <a:latin typeface="Arial" panose="020B0604020202020204" pitchFamily="34" charset="0"/>
              <a:cs typeface="Arial" panose="020B0604020202020204" pitchFamily="34" charset="0"/>
            </a:rPr>
            <a:t>Global 16 Billion Credentials Leak – Global</a:t>
          </a:r>
        </a:p>
      </dsp:txBody>
      <dsp:txXfrm rot="-5400000">
        <a:off x="51600" y="3787310"/>
        <a:ext cx="1431358" cy="2162412"/>
      </dsp:txXfrm>
    </dsp:sp>
    <dsp:sp modelId="{91318DA1-FDC0-4AD0-85E6-9666E28C3D14}">
      <dsp:nvSpPr>
        <dsp:cNvPr id="0" name=""/>
        <dsp:cNvSpPr/>
      </dsp:nvSpPr>
      <dsp:spPr>
        <a:xfrm rot="5400000">
          <a:off x="1081589" y="3501588"/>
          <a:ext cx="2846574" cy="2084001"/>
        </a:xfrm>
        <a:prstGeom prst="round2SameRect">
          <a:avLst/>
        </a:prstGeom>
        <a:blipFill rotWithShape="0">
          <a:blip xmlns:r="http://schemas.openxmlformats.org/officeDocument/2006/relationships" r:embed="rId2"/>
          <a:srcRect/>
          <a:stretch>
            <a:fillRect l="-82000" r="-82000"/>
          </a:stretch>
        </a:blipFill>
        <a:ln w="12700" cap="flat" cmpd="sng" algn="ctr">
          <a:solidFill>
            <a:schemeClr val="accent1">
              <a:hueOff val="0"/>
              <a:satOff val="0"/>
              <a:lumOff val="0"/>
              <a:alphaOff val="0"/>
            </a:schemeClr>
          </a:solidFill>
          <a:prstDash val="solid"/>
          <a:miter lim="800000"/>
        </a:ln>
        <a:effectLst/>
        <a:sp3d prstMaterial="plastic">
          <a:bevelT w="25400" h="25400"/>
          <a:bevelB w="25400" h="25400"/>
        </a:sp3d>
      </dsp:spPr>
      <dsp:style>
        <a:lnRef idx="1">
          <a:scrgbClr r="0" g="0" b="0"/>
        </a:lnRef>
        <a:fillRef idx="1">
          <a:scrgbClr r="0" g="0" b="0"/>
        </a:fillRef>
        <a:effectRef idx="2">
          <a:scrgbClr r="0" g="0" b="0"/>
        </a:effectRef>
        <a:fontRef idx="minor"/>
      </dsp:style>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7D9BCEE-845B-4DD0-800A-B44821F7F3AA}">
      <dsp:nvSpPr>
        <dsp:cNvPr id="0" name=""/>
        <dsp:cNvSpPr/>
      </dsp:nvSpPr>
      <dsp:spPr>
        <a:xfrm rot="5400000">
          <a:off x="-842846" y="982480"/>
          <a:ext cx="3340678" cy="1654985"/>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a:sp3d prstMaterial="plastic">
          <a:bevelT w="50800" h="50800"/>
          <a:bevelB w="50800" h="50800"/>
        </a:sp3d>
      </dsp:spPr>
      <dsp:style>
        <a:lnRef idx="1">
          <a:scrgbClr r="0" g="0" b="0"/>
        </a:lnRef>
        <a:fillRef idx="1">
          <a:scrgbClr r="0" g="0" b="0"/>
        </a:fillRef>
        <a:effectRef idx="2">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b="1" kern="1200" dirty="0">
              <a:solidFill>
                <a:schemeClr val="tx1"/>
              </a:solidFill>
              <a:latin typeface="Arial" panose="020B0604020202020204" pitchFamily="34" charset="0"/>
              <a:cs typeface="Arial" panose="020B0604020202020204" pitchFamily="34" charset="0"/>
            </a:rPr>
            <a:t>Bold LLC Data Breach Türkiye</a:t>
          </a:r>
        </a:p>
      </dsp:txBody>
      <dsp:txXfrm rot="-5400000">
        <a:off x="0" y="967127"/>
        <a:ext cx="1654985" cy="1685693"/>
      </dsp:txXfrm>
    </dsp:sp>
    <dsp:sp modelId="{E62CB10D-AA4D-4F05-8C2D-E40E0F11BB9E}">
      <dsp:nvSpPr>
        <dsp:cNvPr id="0" name=""/>
        <dsp:cNvSpPr/>
      </dsp:nvSpPr>
      <dsp:spPr>
        <a:xfrm rot="5400000">
          <a:off x="1639631" y="176550"/>
          <a:ext cx="2513186" cy="2482478"/>
        </a:xfrm>
        <a:prstGeom prst="round2SameRect">
          <a:avLst/>
        </a:prstGeom>
        <a:blipFill rotWithShape="0">
          <a:blip xmlns:r="http://schemas.openxmlformats.org/officeDocument/2006/relationships" r:embed="rId1"/>
          <a:srcRect/>
          <a:stretch>
            <a:fillRect l="-41000" r="-41000"/>
          </a:stretch>
        </a:blipFill>
        <a:ln w="12700" cap="flat" cmpd="sng" algn="ctr">
          <a:solidFill>
            <a:schemeClr val="accent1">
              <a:hueOff val="0"/>
              <a:satOff val="0"/>
              <a:lumOff val="0"/>
              <a:alphaOff val="0"/>
            </a:schemeClr>
          </a:solidFill>
          <a:prstDash val="solid"/>
          <a:miter lim="800000"/>
        </a:ln>
        <a:effectLst/>
        <a:sp3d prstMaterial="plastic">
          <a:bevelT w="25400" h="25400"/>
          <a:bevelB w="25400" h="25400"/>
        </a:sp3d>
      </dsp:spPr>
      <dsp:style>
        <a:lnRef idx="1">
          <a:scrgbClr r="0" g="0" b="0"/>
        </a:lnRef>
        <a:fillRef idx="1">
          <a:scrgbClr r="0" g="0" b="0"/>
        </a:fillRef>
        <a:effectRef idx="2">
          <a:scrgbClr r="0" g="0" b="0"/>
        </a:effectRef>
        <a:fontRef idx="minor"/>
      </dsp:style>
    </dsp:sp>
    <dsp:sp modelId="{7E88B71A-8FC2-44B9-9956-4DC1698EAD36}">
      <dsp:nvSpPr>
        <dsp:cNvPr id="0" name=""/>
        <dsp:cNvSpPr/>
      </dsp:nvSpPr>
      <dsp:spPr>
        <a:xfrm rot="5400000">
          <a:off x="-828084" y="3665038"/>
          <a:ext cx="3340678" cy="1654985"/>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a:sp3d prstMaterial="plastic">
          <a:bevelT w="50800" h="50800"/>
          <a:bevelB w="50800" h="50800"/>
        </a:sp3d>
      </dsp:spPr>
      <dsp:style>
        <a:lnRef idx="1">
          <a:scrgbClr r="0" g="0" b="0"/>
        </a:lnRef>
        <a:fillRef idx="1">
          <a:scrgbClr r="0" g="0" b="0"/>
        </a:fillRef>
        <a:effectRef idx="2">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b="1" kern="1200" dirty="0">
              <a:solidFill>
                <a:schemeClr val="tx1"/>
              </a:solidFill>
              <a:latin typeface="Arial" panose="020B0604020202020204" pitchFamily="34" charset="0"/>
              <a:cs typeface="Arial" panose="020B0604020202020204" pitchFamily="34" charset="0"/>
            </a:rPr>
            <a:t>Türk </a:t>
          </a:r>
          <a:r>
            <a:rPr lang="en-US" sz="2000" b="1" kern="1200" dirty="0" err="1">
              <a:solidFill>
                <a:schemeClr val="tx1"/>
              </a:solidFill>
              <a:latin typeface="Arial" panose="020B0604020202020204" pitchFamily="34" charset="0"/>
              <a:cs typeface="Arial" panose="020B0604020202020204" pitchFamily="34" charset="0"/>
            </a:rPr>
            <a:t>Tabipler</a:t>
          </a:r>
          <a:r>
            <a:rPr lang="en-US" sz="2000" b="1" kern="1200" dirty="0">
              <a:solidFill>
                <a:schemeClr val="tx1"/>
              </a:solidFill>
              <a:latin typeface="Arial" panose="020B0604020202020204" pitchFamily="34" charset="0"/>
              <a:cs typeface="Arial" panose="020B0604020202020204" pitchFamily="34" charset="0"/>
            </a:rPr>
            <a:t> </a:t>
          </a:r>
          <a:r>
            <a:rPr lang="en-US" sz="2000" b="1" kern="1200" dirty="0" err="1">
              <a:solidFill>
                <a:schemeClr val="tx1"/>
              </a:solidFill>
              <a:latin typeface="Arial" panose="020B0604020202020204" pitchFamily="34" charset="0"/>
              <a:cs typeface="Arial" panose="020B0604020202020204" pitchFamily="34" charset="0"/>
            </a:rPr>
            <a:t>Birliği</a:t>
          </a:r>
          <a:r>
            <a:rPr lang="en-US" sz="2000" b="1" kern="1200" dirty="0">
              <a:solidFill>
                <a:schemeClr val="tx1"/>
              </a:solidFill>
              <a:latin typeface="Arial" panose="020B0604020202020204" pitchFamily="34" charset="0"/>
              <a:cs typeface="Arial" panose="020B0604020202020204" pitchFamily="34" charset="0"/>
            </a:rPr>
            <a:t> (TTB) Veri </a:t>
          </a:r>
          <a:r>
            <a:rPr lang="en-US" sz="2000" b="1" kern="1200" dirty="0" err="1">
              <a:solidFill>
                <a:schemeClr val="tx1"/>
              </a:solidFill>
              <a:latin typeface="Arial" panose="020B0604020202020204" pitchFamily="34" charset="0"/>
              <a:cs typeface="Arial" panose="020B0604020202020204" pitchFamily="34" charset="0"/>
            </a:rPr>
            <a:t>İhlali</a:t>
          </a:r>
          <a:r>
            <a:rPr lang="en-US" sz="2000" b="1" kern="1200" dirty="0">
              <a:solidFill>
                <a:schemeClr val="tx1"/>
              </a:solidFill>
              <a:latin typeface="Arial" panose="020B0604020202020204" pitchFamily="34" charset="0"/>
              <a:cs typeface="Arial" panose="020B0604020202020204" pitchFamily="34" charset="0"/>
            </a:rPr>
            <a:t> – Türkiye</a:t>
          </a:r>
        </a:p>
      </dsp:txBody>
      <dsp:txXfrm rot="-5400000">
        <a:off x="14762" y="3649685"/>
        <a:ext cx="1654985" cy="1685693"/>
      </dsp:txXfrm>
    </dsp:sp>
    <dsp:sp modelId="{91318DA1-FDC0-4AD0-85E6-9666E28C3D14}">
      <dsp:nvSpPr>
        <dsp:cNvPr id="0" name=""/>
        <dsp:cNvSpPr/>
      </dsp:nvSpPr>
      <dsp:spPr>
        <a:xfrm rot="5400000">
          <a:off x="1639631" y="2909247"/>
          <a:ext cx="2513186" cy="2482478"/>
        </a:xfrm>
        <a:prstGeom prst="round2SameRect">
          <a:avLst/>
        </a:prstGeom>
        <a:blipFill rotWithShape="0">
          <a:blip xmlns:r="http://schemas.openxmlformats.org/officeDocument/2006/relationships" r:embed="rId2"/>
          <a:srcRect/>
          <a:stretch>
            <a:fillRect l="-20000" r="-20000"/>
          </a:stretch>
        </a:blipFill>
        <a:ln w="12700" cap="flat" cmpd="sng" algn="ctr">
          <a:solidFill>
            <a:schemeClr val="accent1">
              <a:hueOff val="0"/>
              <a:satOff val="0"/>
              <a:lumOff val="0"/>
              <a:alphaOff val="0"/>
            </a:schemeClr>
          </a:solidFill>
          <a:prstDash val="solid"/>
          <a:miter lim="800000"/>
        </a:ln>
        <a:effectLst/>
        <a:sp3d prstMaterial="plastic">
          <a:bevelT w="25400" h="25400"/>
          <a:bevelB w="25400" h="25400"/>
        </a:sp3d>
      </dsp:spPr>
      <dsp:style>
        <a:lnRef idx="1">
          <a:scrgbClr r="0" g="0" b="0"/>
        </a:lnRef>
        <a:fillRef idx="1">
          <a:scrgbClr r="0" g="0" b="0"/>
        </a:fillRef>
        <a:effectRef idx="2">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6">
  <dgm:title val=""/>
  <dgm:desc val=""/>
  <dgm:catLst>
    <dgm:cat type="3D" pri="11600"/>
  </dgm:catLst>
  <dgm:scene3d>
    <a:camera prst="perspectiveRelaxedModerately" zoom="92000"/>
    <a:lightRig rig="balanced" dir="t">
      <a:rot lat="0" lon="0" rev="12700000"/>
    </a:lightRig>
  </dgm:scene3d>
  <dgm:styleLbl name="node0">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lnNod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vennNod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tx1"/>
      </a:fontRef>
    </dgm:style>
  </dgm:styleLbl>
  <dgm:styleLbl name="alignNode1">
    <dgm:scene3d>
      <a:camera prst="orthographicFront"/>
      <a:lightRig rig="threePt" dir="t"/>
    </dgm:scene3d>
    <dgm:sp3d prstMaterial="plastic">
      <a:bevelT w="50800" h="50800"/>
      <a:bevelB w="50800" h="50800"/>
    </dgm:sp3d>
    <dgm:txPr/>
    <dgm:style>
      <a:lnRef idx="1">
        <a:scrgbClr r="0" g="0" b="0"/>
      </a:lnRef>
      <a:fillRef idx="1">
        <a:scrgbClr r="0" g="0" b="0"/>
      </a:fillRef>
      <a:effectRef idx="2">
        <a:scrgbClr r="0" g="0" b="0"/>
      </a:effectRef>
      <a:fontRef idx="minor">
        <a:schemeClr val="lt1"/>
      </a:fontRef>
    </dgm:style>
  </dgm:styleLbl>
  <dgm:styleLbl name="nod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node3">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node4">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fgImgPlace1">
    <dgm:scene3d>
      <a:camera prst="orthographicFront"/>
      <a:lightRig rig="threePt" dir="t"/>
    </dgm:scene3d>
    <dgm:sp3d z="50080" prstMaterial="plastic">
      <a:bevelT w="50800" h="50800"/>
      <a:bevelB w="50800" h="50800"/>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z="-54000" prstMaterial="plastic">
      <a:bevelT w="50800" h="50800"/>
      <a:bevelB w="50800" h="50800"/>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z="-25400" prstMaterial="plastic">
      <a:bevelT w="25400" h="25400"/>
      <a:bevelB w="25400" h="25400"/>
    </dgm:sp3d>
    <dgm:txPr/>
    <dgm:style>
      <a:lnRef idx="1">
        <a:scrgbClr r="0" g="0" b="0"/>
      </a:lnRef>
      <a:fillRef idx="1">
        <a:scrgbClr r="0" g="0" b="0"/>
      </a:fillRef>
      <a:effectRef idx="2">
        <a:scrgbClr r="0" g="0" b="0"/>
      </a:effectRef>
      <a:fontRef idx="minor">
        <a:schemeClr val="lt1"/>
      </a:fontRef>
    </dgm:style>
  </dgm:styleLbl>
  <dgm:styleLbl name="fgSibTrans2D1">
    <dgm:scene3d>
      <a:camera prst="orthographicFront"/>
      <a:lightRig rig="threePt" dir="t"/>
    </dgm:scene3d>
    <dgm:sp3d z="50080" prstMaterial="plastic">
      <a:bevelT w="25400" h="25400"/>
      <a:bevelB w="25400" h="25400"/>
    </dgm:sp3d>
    <dgm:txPr/>
    <dgm:style>
      <a:lnRef idx="1">
        <a:scrgbClr r="0" g="0" b="0"/>
      </a:lnRef>
      <a:fillRef idx="1">
        <a:scrgbClr r="0" g="0" b="0"/>
      </a:fillRef>
      <a:effectRef idx="2">
        <a:scrgbClr r="0" g="0" b="0"/>
      </a:effectRef>
      <a:fontRef idx="minor">
        <a:schemeClr val="lt1"/>
      </a:fontRef>
    </dgm:style>
  </dgm:styleLbl>
  <dgm:styleLbl name="bgSibTrans2D1">
    <dgm:scene3d>
      <a:camera prst="orthographicFront"/>
      <a:lightRig rig="threePt" dir="t"/>
    </dgm:scene3d>
    <dgm:sp3d z="-54080" prstMaterial="plastic">
      <a:bevelT w="25400" h="25400"/>
      <a:bevelB w="25400" h="25400"/>
    </dgm:sp3d>
    <dgm:txPr/>
    <dgm:style>
      <a:lnRef idx="1">
        <a:scrgbClr r="0" g="0" b="0"/>
      </a:lnRef>
      <a:fillRef idx="1">
        <a:scrgbClr r="0" g="0" b="0"/>
      </a:fillRef>
      <a:effectRef idx="2">
        <a:scrgbClr r="0" g="0" b="0"/>
      </a:effectRef>
      <a:fontRef idx="minor">
        <a:schemeClr val="lt1"/>
      </a:fontRef>
    </dgm:style>
  </dgm:styleLbl>
  <dgm:styleLbl name="sibTrans1D1">
    <dgm:scene3d>
      <a:camera prst="orthographicFront"/>
      <a:lightRig rig="threePt" dir="t"/>
    </dgm:scene3d>
    <dgm:sp3d z="-25400" prstMaterial="plastic"/>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75000" prstMaterial="plastic"/>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asst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asst2">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asst3">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parChTrans2D1">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2D3">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2D4">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1D1">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parChTrans1D2">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parChTrans1D3">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parChTrans1D4">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fgAcc1">
    <dgm:scene3d>
      <a:camera prst="orthographicFront"/>
      <a:lightRig rig="threePt" dir="t"/>
    </dgm:scene3d>
    <dgm:sp3d z="50080" prstMaterial="plastic">
      <a:bevelT w="25400" h="25400"/>
      <a:bevelB w="25400" h="25400"/>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prstMaterial="plastic">
      <a:bevelT w="25400" h="25400"/>
      <a:bevelB w="25400" h="25400"/>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prstMaterial="plastic">
      <a:bevelT w="50800" h="50800"/>
      <a:bevelB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prstMaterial="plastic">
      <a:bevelT w="25400" h="25400"/>
      <a:bevelB w="25400" h="25400"/>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threePt" dir="t"/>
    </dgm:scene3d>
    <dgm:sp3d z="50080" prstMaterial="plastic">
      <a:bevelT w="25400" h="25400"/>
      <a:bevelB w="25400" h="25400"/>
    </dgm:sp3d>
    <dgm:txPr/>
    <dgm:style>
      <a:lnRef idx="0">
        <a:scrgbClr r="0" g="0" b="0"/>
      </a:lnRef>
      <a:fillRef idx="1">
        <a:scrgbClr r="0" g="0" b="0"/>
      </a:fillRef>
      <a:effectRef idx="2">
        <a:scrgbClr r="0" g="0" b="0"/>
      </a:effectRef>
      <a:fontRef idx="minor"/>
    </dgm:style>
  </dgm:styleLbl>
  <dgm:styleLbl name="alignAccFollowNode1">
    <dgm:scene3d>
      <a:camera prst="orthographicFront"/>
      <a:lightRig rig="threePt" dir="t"/>
    </dgm:scene3d>
    <dgm:sp3d prstMaterial="plastic">
      <a:bevelT w="25400" h="25400"/>
      <a:bevelB w="25400" h="25400"/>
    </dgm:sp3d>
    <dgm:txPr/>
    <dgm:style>
      <a:lnRef idx="0">
        <a:scrgbClr r="0" g="0" b="0"/>
      </a:lnRef>
      <a:fillRef idx="1">
        <a:scrgbClr r="0" g="0" b="0"/>
      </a:fillRef>
      <a:effectRef idx="2">
        <a:scrgbClr r="0" g="0" b="0"/>
      </a:effectRef>
      <a:fontRef idx="minor"/>
    </dgm:style>
  </dgm:styleLbl>
  <dgm:styleLbl name="bgAccFollowNode1">
    <dgm:scene3d>
      <a:camera prst="orthographicFront"/>
      <a:lightRig rig="threePt" dir="t"/>
    </dgm:scene3d>
    <dgm:sp3d z="-152400" prstMaterial="plastic">
      <a:bevelT w="25400" h="25400"/>
      <a:bevelB w="25400" h="25400"/>
    </dgm:sp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z="-152400" prstMaterial="plastic">
      <a:bevelT w="25400" h="25400"/>
      <a:bevelB w="25400" h="25400"/>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z="-10400" extrusionH="12700" prstMaterial="plastic"/>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0080" prstMaterial="plastic">
      <a:bevelT w="50800" h="50800"/>
      <a:bevelB w="50800" h="50800"/>
    </dgm:sp3d>
    <dgm:txPr/>
    <dgm:style>
      <a:lnRef idx="0">
        <a:scrgbClr r="0" g="0" b="0"/>
      </a:lnRef>
      <a:fillRef idx="1">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1">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6">
  <dgm:title val=""/>
  <dgm:desc val=""/>
  <dgm:catLst>
    <dgm:cat type="3D" pri="11600"/>
  </dgm:catLst>
  <dgm:scene3d>
    <a:camera prst="perspectiveRelaxedModerately" zoom="92000"/>
    <a:lightRig rig="balanced" dir="t">
      <a:rot lat="0" lon="0" rev="12700000"/>
    </a:lightRig>
  </dgm:scene3d>
  <dgm:styleLbl name="node0">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lnNod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vennNod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tx1"/>
      </a:fontRef>
    </dgm:style>
  </dgm:styleLbl>
  <dgm:styleLbl name="alignNode1">
    <dgm:scene3d>
      <a:camera prst="orthographicFront"/>
      <a:lightRig rig="threePt" dir="t"/>
    </dgm:scene3d>
    <dgm:sp3d prstMaterial="plastic">
      <a:bevelT w="50800" h="50800"/>
      <a:bevelB w="50800" h="50800"/>
    </dgm:sp3d>
    <dgm:txPr/>
    <dgm:style>
      <a:lnRef idx="1">
        <a:scrgbClr r="0" g="0" b="0"/>
      </a:lnRef>
      <a:fillRef idx="1">
        <a:scrgbClr r="0" g="0" b="0"/>
      </a:fillRef>
      <a:effectRef idx="2">
        <a:scrgbClr r="0" g="0" b="0"/>
      </a:effectRef>
      <a:fontRef idx="minor">
        <a:schemeClr val="lt1"/>
      </a:fontRef>
    </dgm:style>
  </dgm:styleLbl>
  <dgm:styleLbl name="nod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node3">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node4">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fgImgPlace1">
    <dgm:scene3d>
      <a:camera prst="orthographicFront"/>
      <a:lightRig rig="threePt" dir="t"/>
    </dgm:scene3d>
    <dgm:sp3d z="50080" prstMaterial="plastic">
      <a:bevelT w="50800" h="50800"/>
      <a:bevelB w="50800" h="50800"/>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z="-54000" prstMaterial="plastic">
      <a:bevelT w="50800" h="50800"/>
      <a:bevelB w="50800" h="50800"/>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z="-25400" prstMaterial="plastic">
      <a:bevelT w="25400" h="25400"/>
      <a:bevelB w="25400" h="25400"/>
    </dgm:sp3d>
    <dgm:txPr/>
    <dgm:style>
      <a:lnRef idx="1">
        <a:scrgbClr r="0" g="0" b="0"/>
      </a:lnRef>
      <a:fillRef idx="1">
        <a:scrgbClr r="0" g="0" b="0"/>
      </a:fillRef>
      <a:effectRef idx="2">
        <a:scrgbClr r="0" g="0" b="0"/>
      </a:effectRef>
      <a:fontRef idx="minor">
        <a:schemeClr val="lt1"/>
      </a:fontRef>
    </dgm:style>
  </dgm:styleLbl>
  <dgm:styleLbl name="fgSibTrans2D1">
    <dgm:scene3d>
      <a:camera prst="orthographicFront"/>
      <a:lightRig rig="threePt" dir="t"/>
    </dgm:scene3d>
    <dgm:sp3d z="50080" prstMaterial="plastic">
      <a:bevelT w="25400" h="25400"/>
      <a:bevelB w="25400" h="25400"/>
    </dgm:sp3d>
    <dgm:txPr/>
    <dgm:style>
      <a:lnRef idx="1">
        <a:scrgbClr r="0" g="0" b="0"/>
      </a:lnRef>
      <a:fillRef idx="1">
        <a:scrgbClr r="0" g="0" b="0"/>
      </a:fillRef>
      <a:effectRef idx="2">
        <a:scrgbClr r="0" g="0" b="0"/>
      </a:effectRef>
      <a:fontRef idx="minor">
        <a:schemeClr val="lt1"/>
      </a:fontRef>
    </dgm:style>
  </dgm:styleLbl>
  <dgm:styleLbl name="bgSibTrans2D1">
    <dgm:scene3d>
      <a:camera prst="orthographicFront"/>
      <a:lightRig rig="threePt" dir="t"/>
    </dgm:scene3d>
    <dgm:sp3d z="-54080" prstMaterial="plastic">
      <a:bevelT w="25400" h="25400"/>
      <a:bevelB w="25400" h="25400"/>
    </dgm:sp3d>
    <dgm:txPr/>
    <dgm:style>
      <a:lnRef idx="1">
        <a:scrgbClr r="0" g="0" b="0"/>
      </a:lnRef>
      <a:fillRef idx="1">
        <a:scrgbClr r="0" g="0" b="0"/>
      </a:fillRef>
      <a:effectRef idx="2">
        <a:scrgbClr r="0" g="0" b="0"/>
      </a:effectRef>
      <a:fontRef idx="minor">
        <a:schemeClr val="lt1"/>
      </a:fontRef>
    </dgm:style>
  </dgm:styleLbl>
  <dgm:styleLbl name="sibTrans1D1">
    <dgm:scene3d>
      <a:camera prst="orthographicFront"/>
      <a:lightRig rig="threePt" dir="t"/>
    </dgm:scene3d>
    <dgm:sp3d z="-25400" prstMaterial="plastic"/>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75000" prstMaterial="plastic"/>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asst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asst2">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asst3">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parChTrans2D1">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2D3">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2D4">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1D1">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parChTrans1D2">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parChTrans1D3">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parChTrans1D4">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fgAcc1">
    <dgm:scene3d>
      <a:camera prst="orthographicFront"/>
      <a:lightRig rig="threePt" dir="t"/>
    </dgm:scene3d>
    <dgm:sp3d z="50080" prstMaterial="plastic">
      <a:bevelT w="25400" h="25400"/>
      <a:bevelB w="25400" h="25400"/>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prstMaterial="plastic">
      <a:bevelT w="25400" h="25400"/>
      <a:bevelB w="25400" h="25400"/>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prstMaterial="plastic">
      <a:bevelT w="50800" h="50800"/>
      <a:bevelB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prstMaterial="plastic">
      <a:bevelT w="25400" h="25400"/>
      <a:bevelB w="25400" h="25400"/>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threePt" dir="t"/>
    </dgm:scene3d>
    <dgm:sp3d z="50080" prstMaterial="plastic">
      <a:bevelT w="25400" h="25400"/>
      <a:bevelB w="25400" h="25400"/>
    </dgm:sp3d>
    <dgm:txPr/>
    <dgm:style>
      <a:lnRef idx="0">
        <a:scrgbClr r="0" g="0" b="0"/>
      </a:lnRef>
      <a:fillRef idx="1">
        <a:scrgbClr r="0" g="0" b="0"/>
      </a:fillRef>
      <a:effectRef idx="2">
        <a:scrgbClr r="0" g="0" b="0"/>
      </a:effectRef>
      <a:fontRef idx="minor"/>
    </dgm:style>
  </dgm:styleLbl>
  <dgm:styleLbl name="alignAccFollowNode1">
    <dgm:scene3d>
      <a:camera prst="orthographicFront"/>
      <a:lightRig rig="threePt" dir="t"/>
    </dgm:scene3d>
    <dgm:sp3d prstMaterial="plastic">
      <a:bevelT w="25400" h="25400"/>
      <a:bevelB w="25400" h="25400"/>
    </dgm:sp3d>
    <dgm:txPr/>
    <dgm:style>
      <a:lnRef idx="0">
        <a:scrgbClr r="0" g="0" b="0"/>
      </a:lnRef>
      <a:fillRef idx="1">
        <a:scrgbClr r="0" g="0" b="0"/>
      </a:fillRef>
      <a:effectRef idx="2">
        <a:scrgbClr r="0" g="0" b="0"/>
      </a:effectRef>
      <a:fontRef idx="minor"/>
    </dgm:style>
  </dgm:styleLbl>
  <dgm:styleLbl name="bgAccFollowNode1">
    <dgm:scene3d>
      <a:camera prst="orthographicFront"/>
      <a:lightRig rig="threePt" dir="t"/>
    </dgm:scene3d>
    <dgm:sp3d z="-152400" prstMaterial="plastic">
      <a:bevelT w="25400" h="25400"/>
      <a:bevelB w="25400" h="25400"/>
    </dgm:sp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z="-152400" prstMaterial="plastic">
      <a:bevelT w="25400" h="25400"/>
      <a:bevelB w="25400" h="25400"/>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z="-10400" extrusionH="12700" prstMaterial="plastic"/>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0080" prstMaterial="plastic">
      <a:bevelT w="50800" h="50800"/>
      <a:bevelB w="50800" h="50800"/>
    </dgm:sp3d>
    <dgm:txPr/>
    <dgm:style>
      <a:lnRef idx="0">
        <a:scrgbClr r="0" g="0" b="0"/>
      </a:lnRef>
      <a:fillRef idx="1">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1">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3d6">
  <dgm:title val=""/>
  <dgm:desc val=""/>
  <dgm:catLst>
    <dgm:cat type="3D" pri="11600"/>
  </dgm:catLst>
  <dgm:scene3d>
    <a:camera prst="perspectiveRelaxedModerately" zoom="92000"/>
    <a:lightRig rig="balanced" dir="t">
      <a:rot lat="0" lon="0" rev="12700000"/>
    </a:lightRig>
  </dgm:scene3d>
  <dgm:styleLbl name="node0">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lnNod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vennNod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tx1"/>
      </a:fontRef>
    </dgm:style>
  </dgm:styleLbl>
  <dgm:styleLbl name="alignNode1">
    <dgm:scene3d>
      <a:camera prst="orthographicFront"/>
      <a:lightRig rig="threePt" dir="t"/>
    </dgm:scene3d>
    <dgm:sp3d prstMaterial="plastic">
      <a:bevelT w="50800" h="50800"/>
      <a:bevelB w="50800" h="50800"/>
    </dgm:sp3d>
    <dgm:txPr/>
    <dgm:style>
      <a:lnRef idx="1">
        <a:scrgbClr r="0" g="0" b="0"/>
      </a:lnRef>
      <a:fillRef idx="1">
        <a:scrgbClr r="0" g="0" b="0"/>
      </a:fillRef>
      <a:effectRef idx="2">
        <a:scrgbClr r="0" g="0" b="0"/>
      </a:effectRef>
      <a:fontRef idx="minor">
        <a:schemeClr val="lt1"/>
      </a:fontRef>
    </dgm:style>
  </dgm:styleLbl>
  <dgm:styleLbl name="nod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node3">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node4">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fgImgPlace1">
    <dgm:scene3d>
      <a:camera prst="orthographicFront"/>
      <a:lightRig rig="threePt" dir="t"/>
    </dgm:scene3d>
    <dgm:sp3d z="50080" prstMaterial="plastic">
      <a:bevelT w="50800" h="50800"/>
      <a:bevelB w="50800" h="50800"/>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z="-54000" prstMaterial="plastic">
      <a:bevelT w="50800" h="50800"/>
      <a:bevelB w="50800" h="50800"/>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z="-25400" prstMaterial="plastic">
      <a:bevelT w="25400" h="25400"/>
      <a:bevelB w="25400" h="25400"/>
    </dgm:sp3d>
    <dgm:txPr/>
    <dgm:style>
      <a:lnRef idx="1">
        <a:scrgbClr r="0" g="0" b="0"/>
      </a:lnRef>
      <a:fillRef idx="1">
        <a:scrgbClr r="0" g="0" b="0"/>
      </a:fillRef>
      <a:effectRef idx="2">
        <a:scrgbClr r="0" g="0" b="0"/>
      </a:effectRef>
      <a:fontRef idx="minor">
        <a:schemeClr val="lt1"/>
      </a:fontRef>
    </dgm:style>
  </dgm:styleLbl>
  <dgm:styleLbl name="fgSibTrans2D1">
    <dgm:scene3d>
      <a:camera prst="orthographicFront"/>
      <a:lightRig rig="threePt" dir="t"/>
    </dgm:scene3d>
    <dgm:sp3d z="50080" prstMaterial="plastic">
      <a:bevelT w="25400" h="25400"/>
      <a:bevelB w="25400" h="25400"/>
    </dgm:sp3d>
    <dgm:txPr/>
    <dgm:style>
      <a:lnRef idx="1">
        <a:scrgbClr r="0" g="0" b="0"/>
      </a:lnRef>
      <a:fillRef idx="1">
        <a:scrgbClr r="0" g="0" b="0"/>
      </a:fillRef>
      <a:effectRef idx="2">
        <a:scrgbClr r="0" g="0" b="0"/>
      </a:effectRef>
      <a:fontRef idx="minor">
        <a:schemeClr val="lt1"/>
      </a:fontRef>
    </dgm:style>
  </dgm:styleLbl>
  <dgm:styleLbl name="bgSibTrans2D1">
    <dgm:scene3d>
      <a:camera prst="orthographicFront"/>
      <a:lightRig rig="threePt" dir="t"/>
    </dgm:scene3d>
    <dgm:sp3d z="-54080" prstMaterial="plastic">
      <a:bevelT w="25400" h="25400"/>
      <a:bevelB w="25400" h="25400"/>
    </dgm:sp3d>
    <dgm:txPr/>
    <dgm:style>
      <a:lnRef idx="1">
        <a:scrgbClr r="0" g="0" b="0"/>
      </a:lnRef>
      <a:fillRef idx="1">
        <a:scrgbClr r="0" g="0" b="0"/>
      </a:fillRef>
      <a:effectRef idx="2">
        <a:scrgbClr r="0" g="0" b="0"/>
      </a:effectRef>
      <a:fontRef idx="minor">
        <a:schemeClr val="lt1"/>
      </a:fontRef>
    </dgm:style>
  </dgm:styleLbl>
  <dgm:styleLbl name="sibTrans1D1">
    <dgm:scene3d>
      <a:camera prst="orthographicFront"/>
      <a:lightRig rig="threePt" dir="t"/>
    </dgm:scene3d>
    <dgm:sp3d z="-25400" prstMaterial="plastic"/>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75000" prstMaterial="plastic"/>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asst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asst2">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asst3">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parChTrans2D1">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2D3">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2D4">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1D1">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parChTrans1D2">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parChTrans1D3">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parChTrans1D4">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fgAcc1">
    <dgm:scene3d>
      <a:camera prst="orthographicFront"/>
      <a:lightRig rig="threePt" dir="t"/>
    </dgm:scene3d>
    <dgm:sp3d z="50080" prstMaterial="plastic">
      <a:bevelT w="25400" h="25400"/>
      <a:bevelB w="25400" h="25400"/>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prstMaterial="plastic">
      <a:bevelT w="25400" h="25400"/>
      <a:bevelB w="25400" h="25400"/>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prstMaterial="plastic">
      <a:bevelT w="50800" h="50800"/>
      <a:bevelB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prstMaterial="plastic">
      <a:bevelT w="25400" h="25400"/>
      <a:bevelB w="25400" h="25400"/>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threePt" dir="t"/>
    </dgm:scene3d>
    <dgm:sp3d z="50080" prstMaterial="plastic">
      <a:bevelT w="25400" h="25400"/>
      <a:bevelB w="25400" h="25400"/>
    </dgm:sp3d>
    <dgm:txPr/>
    <dgm:style>
      <a:lnRef idx="0">
        <a:scrgbClr r="0" g="0" b="0"/>
      </a:lnRef>
      <a:fillRef idx="1">
        <a:scrgbClr r="0" g="0" b="0"/>
      </a:fillRef>
      <a:effectRef idx="2">
        <a:scrgbClr r="0" g="0" b="0"/>
      </a:effectRef>
      <a:fontRef idx="minor"/>
    </dgm:style>
  </dgm:styleLbl>
  <dgm:styleLbl name="alignAccFollowNode1">
    <dgm:scene3d>
      <a:camera prst="orthographicFront"/>
      <a:lightRig rig="threePt" dir="t"/>
    </dgm:scene3d>
    <dgm:sp3d prstMaterial="plastic">
      <a:bevelT w="25400" h="25400"/>
      <a:bevelB w="25400" h="25400"/>
    </dgm:sp3d>
    <dgm:txPr/>
    <dgm:style>
      <a:lnRef idx="0">
        <a:scrgbClr r="0" g="0" b="0"/>
      </a:lnRef>
      <a:fillRef idx="1">
        <a:scrgbClr r="0" g="0" b="0"/>
      </a:fillRef>
      <a:effectRef idx="2">
        <a:scrgbClr r="0" g="0" b="0"/>
      </a:effectRef>
      <a:fontRef idx="minor"/>
    </dgm:style>
  </dgm:styleLbl>
  <dgm:styleLbl name="bgAccFollowNode1">
    <dgm:scene3d>
      <a:camera prst="orthographicFront"/>
      <a:lightRig rig="threePt" dir="t"/>
    </dgm:scene3d>
    <dgm:sp3d z="-152400" prstMaterial="plastic">
      <a:bevelT w="25400" h="25400"/>
      <a:bevelB w="25400" h="25400"/>
    </dgm:sp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z="-152400" prstMaterial="plastic">
      <a:bevelT w="25400" h="25400"/>
      <a:bevelB w="25400" h="25400"/>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z="-10400" extrusionH="12700" prstMaterial="plastic"/>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0080" prstMaterial="plastic">
      <a:bevelT w="50800" h="50800"/>
      <a:bevelB w="50800" h="50800"/>
    </dgm:sp3d>
    <dgm:txPr/>
    <dgm:style>
      <a:lnRef idx="0">
        <a:scrgbClr r="0" g="0" b="0"/>
      </a:lnRef>
      <a:fillRef idx="1">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1">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3d6">
  <dgm:title val=""/>
  <dgm:desc val=""/>
  <dgm:catLst>
    <dgm:cat type="3D" pri="11600"/>
  </dgm:catLst>
  <dgm:scene3d>
    <a:camera prst="perspectiveRelaxedModerately" zoom="92000"/>
    <a:lightRig rig="balanced" dir="t">
      <a:rot lat="0" lon="0" rev="12700000"/>
    </a:lightRig>
  </dgm:scene3d>
  <dgm:styleLbl name="node0">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lnNod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vennNod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tx1"/>
      </a:fontRef>
    </dgm:style>
  </dgm:styleLbl>
  <dgm:styleLbl name="alignNode1">
    <dgm:scene3d>
      <a:camera prst="orthographicFront"/>
      <a:lightRig rig="threePt" dir="t"/>
    </dgm:scene3d>
    <dgm:sp3d prstMaterial="plastic">
      <a:bevelT w="50800" h="50800"/>
      <a:bevelB w="50800" h="50800"/>
    </dgm:sp3d>
    <dgm:txPr/>
    <dgm:style>
      <a:lnRef idx="1">
        <a:scrgbClr r="0" g="0" b="0"/>
      </a:lnRef>
      <a:fillRef idx="1">
        <a:scrgbClr r="0" g="0" b="0"/>
      </a:fillRef>
      <a:effectRef idx="2">
        <a:scrgbClr r="0" g="0" b="0"/>
      </a:effectRef>
      <a:fontRef idx="minor">
        <a:schemeClr val="lt1"/>
      </a:fontRef>
    </dgm:style>
  </dgm:styleLbl>
  <dgm:styleLbl name="nod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node3">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node4">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fgImgPlace1">
    <dgm:scene3d>
      <a:camera prst="orthographicFront"/>
      <a:lightRig rig="threePt" dir="t"/>
    </dgm:scene3d>
    <dgm:sp3d z="50080" prstMaterial="plastic">
      <a:bevelT w="50800" h="50800"/>
      <a:bevelB w="50800" h="50800"/>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z="-54000" prstMaterial="plastic">
      <a:bevelT w="50800" h="50800"/>
      <a:bevelB w="50800" h="50800"/>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z="-25400" prstMaterial="plastic">
      <a:bevelT w="25400" h="25400"/>
      <a:bevelB w="25400" h="25400"/>
    </dgm:sp3d>
    <dgm:txPr/>
    <dgm:style>
      <a:lnRef idx="1">
        <a:scrgbClr r="0" g="0" b="0"/>
      </a:lnRef>
      <a:fillRef idx="1">
        <a:scrgbClr r="0" g="0" b="0"/>
      </a:fillRef>
      <a:effectRef idx="2">
        <a:scrgbClr r="0" g="0" b="0"/>
      </a:effectRef>
      <a:fontRef idx="minor">
        <a:schemeClr val="lt1"/>
      </a:fontRef>
    </dgm:style>
  </dgm:styleLbl>
  <dgm:styleLbl name="fgSibTrans2D1">
    <dgm:scene3d>
      <a:camera prst="orthographicFront"/>
      <a:lightRig rig="threePt" dir="t"/>
    </dgm:scene3d>
    <dgm:sp3d z="50080" prstMaterial="plastic">
      <a:bevelT w="25400" h="25400"/>
      <a:bevelB w="25400" h="25400"/>
    </dgm:sp3d>
    <dgm:txPr/>
    <dgm:style>
      <a:lnRef idx="1">
        <a:scrgbClr r="0" g="0" b="0"/>
      </a:lnRef>
      <a:fillRef idx="1">
        <a:scrgbClr r="0" g="0" b="0"/>
      </a:fillRef>
      <a:effectRef idx="2">
        <a:scrgbClr r="0" g="0" b="0"/>
      </a:effectRef>
      <a:fontRef idx="minor">
        <a:schemeClr val="lt1"/>
      </a:fontRef>
    </dgm:style>
  </dgm:styleLbl>
  <dgm:styleLbl name="bgSibTrans2D1">
    <dgm:scene3d>
      <a:camera prst="orthographicFront"/>
      <a:lightRig rig="threePt" dir="t"/>
    </dgm:scene3d>
    <dgm:sp3d z="-54080" prstMaterial="plastic">
      <a:bevelT w="25400" h="25400"/>
      <a:bevelB w="25400" h="25400"/>
    </dgm:sp3d>
    <dgm:txPr/>
    <dgm:style>
      <a:lnRef idx="1">
        <a:scrgbClr r="0" g="0" b="0"/>
      </a:lnRef>
      <a:fillRef idx="1">
        <a:scrgbClr r="0" g="0" b="0"/>
      </a:fillRef>
      <a:effectRef idx="2">
        <a:scrgbClr r="0" g="0" b="0"/>
      </a:effectRef>
      <a:fontRef idx="minor">
        <a:schemeClr val="lt1"/>
      </a:fontRef>
    </dgm:style>
  </dgm:styleLbl>
  <dgm:styleLbl name="sibTrans1D1">
    <dgm:scene3d>
      <a:camera prst="orthographicFront"/>
      <a:lightRig rig="threePt" dir="t"/>
    </dgm:scene3d>
    <dgm:sp3d z="-25400" prstMaterial="plastic"/>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75000" prstMaterial="plastic"/>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asst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asst2">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asst3">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parChTrans2D1">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2D3">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2D4">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1D1">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parChTrans1D2">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parChTrans1D3">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parChTrans1D4">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fgAcc1">
    <dgm:scene3d>
      <a:camera prst="orthographicFront"/>
      <a:lightRig rig="threePt" dir="t"/>
    </dgm:scene3d>
    <dgm:sp3d z="50080" prstMaterial="plastic">
      <a:bevelT w="25400" h="25400"/>
      <a:bevelB w="25400" h="25400"/>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prstMaterial="plastic">
      <a:bevelT w="25400" h="25400"/>
      <a:bevelB w="25400" h="25400"/>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prstMaterial="plastic">
      <a:bevelT w="50800" h="50800"/>
      <a:bevelB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prstMaterial="plastic">
      <a:bevelT w="25400" h="25400"/>
      <a:bevelB w="25400" h="25400"/>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threePt" dir="t"/>
    </dgm:scene3d>
    <dgm:sp3d z="50080" prstMaterial="plastic">
      <a:bevelT w="25400" h="25400"/>
      <a:bevelB w="25400" h="25400"/>
    </dgm:sp3d>
    <dgm:txPr/>
    <dgm:style>
      <a:lnRef idx="0">
        <a:scrgbClr r="0" g="0" b="0"/>
      </a:lnRef>
      <a:fillRef idx="1">
        <a:scrgbClr r="0" g="0" b="0"/>
      </a:fillRef>
      <a:effectRef idx="2">
        <a:scrgbClr r="0" g="0" b="0"/>
      </a:effectRef>
      <a:fontRef idx="minor"/>
    </dgm:style>
  </dgm:styleLbl>
  <dgm:styleLbl name="alignAccFollowNode1">
    <dgm:scene3d>
      <a:camera prst="orthographicFront"/>
      <a:lightRig rig="threePt" dir="t"/>
    </dgm:scene3d>
    <dgm:sp3d prstMaterial="plastic">
      <a:bevelT w="25400" h="25400"/>
      <a:bevelB w="25400" h="25400"/>
    </dgm:sp3d>
    <dgm:txPr/>
    <dgm:style>
      <a:lnRef idx="0">
        <a:scrgbClr r="0" g="0" b="0"/>
      </a:lnRef>
      <a:fillRef idx="1">
        <a:scrgbClr r="0" g="0" b="0"/>
      </a:fillRef>
      <a:effectRef idx="2">
        <a:scrgbClr r="0" g="0" b="0"/>
      </a:effectRef>
      <a:fontRef idx="minor"/>
    </dgm:style>
  </dgm:styleLbl>
  <dgm:styleLbl name="bgAccFollowNode1">
    <dgm:scene3d>
      <a:camera prst="orthographicFront"/>
      <a:lightRig rig="threePt" dir="t"/>
    </dgm:scene3d>
    <dgm:sp3d z="-152400" prstMaterial="plastic">
      <a:bevelT w="25400" h="25400"/>
      <a:bevelB w="25400" h="25400"/>
    </dgm:sp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z="-152400" prstMaterial="plastic">
      <a:bevelT w="25400" h="25400"/>
      <a:bevelB w="25400" h="25400"/>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z="-10400" extrusionH="12700" prstMaterial="plastic"/>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0080" prstMaterial="plastic">
      <a:bevelT w="50800" h="50800"/>
      <a:bevelB w="50800" h="50800"/>
    </dgm:sp3d>
    <dgm:txPr/>
    <dgm:style>
      <a:lnRef idx="0">
        <a:scrgbClr r="0" g="0" b="0"/>
      </a:lnRef>
      <a:fillRef idx="1">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1">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3d6">
  <dgm:title val=""/>
  <dgm:desc val=""/>
  <dgm:catLst>
    <dgm:cat type="3D" pri="11600"/>
  </dgm:catLst>
  <dgm:scene3d>
    <a:camera prst="perspectiveRelaxedModerately" zoom="92000"/>
    <a:lightRig rig="balanced" dir="t">
      <a:rot lat="0" lon="0" rev="12700000"/>
    </a:lightRig>
  </dgm:scene3d>
  <dgm:styleLbl name="node0">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lnNod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vennNod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tx1"/>
      </a:fontRef>
    </dgm:style>
  </dgm:styleLbl>
  <dgm:styleLbl name="alignNode1">
    <dgm:scene3d>
      <a:camera prst="orthographicFront"/>
      <a:lightRig rig="threePt" dir="t"/>
    </dgm:scene3d>
    <dgm:sp3d prstMaterial="plastic">
      <a:bevelT w="50800" h="50800"/>
      <a:bevelB w="50800" h="50800"/>
    </dgm:sp3d>
    <dgm:txPr/>
    <dgm:style>
      <a:lnRef idx="1">
        <a:scrgbClr r="0" g="0" b="0"/>
      </a:lnRef>
      <a:fillRef idx="1">
        <a:scrgbClr r="0" g="0" b="0"/>
      </a:fillRef>
      <a:effectRef idx="2">
        <a:scrgbClr r="0" g="0" b="0"/>
      </a:effectRef>
      <a:fontRef idx="minor">
        <a:schemeClr val="lt1"/>
      </a:fontRef>
    </dgm:style>
  </dgm:styleLbl>
  <dgm:styleLbl name="nod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node3">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node4">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fgImgPlace1">
    <dgm:scene3d>
      <a:camera prst="orthographicFront"/>
      <a:lightRig rig="threePt" dir="t"/>
    </dgm:scene3d>
    <dgm:sp3d z="50080" prstMaterial="plastic">
      <a:bevelT w="50800" h="50800"/>
      <a:bevelB w="50800" h="50800"/>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z="-54000" prstMaterial="plastic">
      <a:bevelT w="50800" h="50800"/>
      <a:bevelB w="50800" h="50800"/>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z="-25400" prstMaterial="plastic">
      <a:bevelT w="25400" h="25400"/>
      <a:bevelB w="25400" h="25400"/>
    </dgm:sp3d>
    <dgm:txPr/>
    <dgm:style>
      <a:lnRef idx="1">
        <a:scrgbClr r="0" g="0" b="0"/>
      </a:lnRef>
      <a:fillRef idx="1">
        <a:scrgbClr r="0" g="0" b="0"/>
      </a:fillRef>
      <a:effectRef idx="2">
        <a:scrgbClr r="0" g="0" b="0"/>
      </a:effectRef>
      <a:fontRef idx="minor">
        <a:schemeClr val="lt1"/>
      </a:fontRef>
    </dgm:style>
  </dgm:styleLbl>
  <dgm:styleLbl name="fgSibTrans2D1">
    <dgm:scene3d>
      <a:camera prst="orthographicFront"/>
      <a:lightRig rig="threePt" dir="t"/>
    </dgm:scene3d>
    <dgm:sp3d z="50080" prstMaterial="plastic">
      <a:bevelT w="25400" h="25400"/>
      <a:bevelB w="25400" h="25400"/>
    </dgm:sp3d>
    <dgm:txPr/>
    <dgm:style>
      <a:lnRef idx="1">
        <a:scrgbClr r="0" g="0" b="0"/>
      </a:lnRef>
      <a:fillRef idx="1">
        <a:scrgbClr r="0" g="0" b="0"/>
      </a:fillRef>
      <a:effectRef idx="2">
        <a:scrgbClr r="0" g="0" b="0"/>
      </a:effectRef>
      <a:fontRef idx="minor">
        <a:schemeClr val="lt1"/>
      </a:fontRef>
    </dgm:style>
  </dgm:styleLbl>
  <dgm:styleLbl name="bgSibTrans2D1">
    <dgm:scene3d>
      <a:camera prst="orthographicFront"/>
      <a:lightRig rig="threePt" dir="t"/>
    </dgm:scene3d>
    <dgm:sp3d z="-54080" prstMaterial="plastic">
      <a:bevelT w="25400" h="25400"/>
      <a:bevelB w="25400" h="25400"/>
    </dgm:sp3d>
    <dgm:txPr/>
    <dgm:style>
      <a:lnRef idx="1">
        <a:scrgbClr r="0" g="0" b="0"/>
      </a:lnRef>
      <a:fillRef idx="1">
        <a:scrgbClr r="0" g="0" b="0"/>
      </a:fillRef>
      <a:effectRef idx="2">
        <a:scrgbClr r="0" g="0" b="0"/>
      </a:effectRef>
      <a:fontRef idx="minor">
        <a:schemeClr val="lt1"/>
      </a:fontRef>
    </dgm:style>
  </dgm:styleLbl>
  <dgm:styleLbl name="sibTrans1D1">
    <dgm:scene3d>
      <a:camera prst="orthographicFront"/>
      <a:lightRig rig="threePt" dir="t"/>
    </dgm:scene3d>
    <dgm:sp3d z="-25400" prstMaterial="plastic"/>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75000" prstMaterial="plastic"/>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asst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asst2">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asst3">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parChTrans2D1">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2D3">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2D4">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1D1">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parChTrans1D2">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parChTrans1D3">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parChTrans1D4">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fgAcc1">
    <dgm:scene3d>
      <a:camera prst="orthographicFront"/>
      <a:lightRig rig="threePt" dir="t"/>
    </dgm:scene3d>
    <dgm:sp3d z="50080" prstMaterial="plastic">
      <a:bevelT w="25400" h="25400"/>
      <a:bevelB w="25400" h="25400"/>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prstMaterial="plastic">
      <a:bevelT w="25400" h="25400"/>
      <a:bevelB w="25400" h="25400"/>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prstMaterial="plastic">
      <a:bevelT w="50800" h="50800"/>
      <a:bevelB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prstMaterial="plastic">
      <a:bevelT w="25400" h="25400"/>
      <a:bevelB w="25400" h="25400"/>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threePt" dir="t"/>
    </dgm:scene3d>
    <dgm:sp3d z="50080" prstMaterial="plastic">
      <a:bevelT w="25400" h="25400"/>
      <a:bevelB w="25400" h="25400"/>
    </dgm:sp3d>
    <dgm:txPr/>
    <dgm:style>
      <a:lnRef idx="0">
        <a:scrgbClr r="0" g="0" b="0"/>
      </a:lnRef>
      <a:fillRef idx="1">
        <a:scrgbClr r="0" g="0" b="0"/>
      </a:fillRef>
      <a:effectRef idx="2">
        <a:scrgbClr r="0" g="0" b="0"/>
      </a:effectRef>
      <a:fontRef idx="minor"/>
    </dgm:style>
  </dgm:styleLbl>
  <dgm:styleLbl name="alignAccFollowNode1">
    <dgm:scene3d>
      <a:camera prst="orthographicFront"/>
      <a:lightRig rig="threePt" dir="t"/>
    </dgm:scene3d>
    <dgm:sp3d prstMaterial="plastic">
      <a:bevelT w="25400" h="25400"/>
      <a:bevelB w="25400" h="25400"/>
    </dgm:sp3d>
    <dgm:txPr/>
    <dgm:style>
      <a:lnRef idx="0">
        <a:scrgbClr r="0" g="0" b="0"/>
      </a:lnRef>
      <a:fillRef idx="1">
        <a:scrgbClr r="0" g="0" b="0"/>
      </a:fillRef>
      <a:effectRef idx="2">
        <a:scrgbClr r="0" g="0" b="0"/>
      </a:effectRef>
      <a:fontRef idx="minor"/>
    </dgm:style>
  </dgm:styleLbl>
  <dgm:styleLbl name="bgAccFollowNode1">
    <dgm:scene3d>
      <a:camera prst="orthographicFront"/>
      <a:lightRig rig="threePt" dir="t"/>
    </dgm:scene3d>
    <dgm:sp3d z="-152400" prstMaterial="plastic">
      <a:bevelT w="25400" h="25400"/>
      <a:bevelB w="25400" h="25400"/>
    </dgm:sp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z="-152400" prstMaterial="plastic">
      <a:bevelT w="25400" h="25400"/>
      <a:bevelB w="25400" h="25400"/>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z="-10400" extrusionH="12700" prstMaterial="plastic"/>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0080" prstMaterial="plastic">
      <a:bevelT w="50800" h="50800"/>
      <a:bevelB w="50800" h="50800"/>
    </dgm:sp3d>
    <dgm:txPr/>
    <dgm:style>
      <a:lnRef idx="0">
        <a:scrgbClr r="0" g="0" b="0"/>
      </a:lnRef>
      <a:fillRef idx="1">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1">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3d6">
  <dgm:title val=""/>
  <dgm:desc val=""/>
  <dgm:catLst>
    <dgm:cat type="3D" pri="11600"/>
  </dgm:catLst>
  <dgm:scene3d>
    <a:camera prst="perspectiveRelaxedModerately" zoom="92000"/>
    <a:lightRig rig="balanced" dir="t">
      <a:rot lat="0" lon="0" rev="12700000"/>
    </a:lightRig>
  </dgm:scene3d>
  <dgm:styleLbl name="node0">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lnNod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vennNod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tx1"/>
      </a:fontRef>
    </dgm:style>
  </dgm:styleLbl>
  <dgm:styleLbl name="alignNode1">
    <dgm:scene3d>
      <a:camera prst="orthographicFront"/>
      <a:lightRig rig="threePt" dir="t"/>
    </dgm:scene3d>
    <dgm:sp3d prstMaterial="plastic">
      <a:bevelT w="50800" h="50800"/>
      <a:bevelB w="50800" h="50800"/>
    </dgm:sp3d>
    <dgm:txPr/>
    <dgm:style>
      <a:lnRef idx="1">
        <a:scrgbClr r="0" g="0" b="0"/>
      </a:lnRef>
      <a:fillRef idx="1">
        <a:scrgbClr r="0" g="0" b="0"/>
      </a:fillRef>
      <a:effectRef idx="2">
        <a:scrgbClr r="0" g="0" b="0"/>
      </a:effectRef>
      <a:fontRef idx="minor">
        <a:schemeClr val="lt1"/>
      </a:fontRef>
    </dgm:style>
  </dgm:styleLbl>
  <dgm:styleLbl name="nod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node3">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node4">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fgImgPlace1">
    <dgm:scene3d>
      <a:camera prst="orthographicFront"/>
      <a:lightRig rig="threePt" dir="t"/>
    </dgm:scene3d>
    <dgm:sp3d z="50080" prstMaterial="plastic">
      <a:bevelT w="50800" h="50800"/>
      <a:bevelB w="50800" h="50800"/>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z="-54000" prstMaterial="plastic">
      <a:bevelT w="50800" h="50800"/>
      <a:bevelB w="50800" h="50800"/>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z="-25400" prstMaterial="plastic">
      <a:bevelT w="25400" h="25400"/>
      <a:bevelB w="25400" h="25400"/>
    </dgm:sp3d>
    <dgm:txPr/>
    <dgm:style>
      <a:lnRef idx="1">
        <a:scrgbClr r="0" g="0" b="0"/>
      </a:lnRef>
      <a:fillRef idx="1">
        <a:scrgbClr r="0" g="0" b="0"/>
      </a:fillRef>
      <a:effectRef idx="2">
        <a:scrgbClr r="0" g="0" b="0"/>
      </a:effectRef>
      <a:fontRef idx="minor">
        <a:schemeClr val="lt1"/>
      </a:fontRef>
    </dgm:style>
  </dgm:styleLbl>
  <dgm:styleLbl name="fgSibTrans2D1">
    <dgm:scene3d>
      <a:camera prst="orthographicFront"/>
      <a:lightRig rig="threePt" dir="t"/>
    </dgm:scene3d>
    <dgm:sp3d z="50080" prstMaterial="plastic">
      <a:bevelT w="25400" h="25400"/>
      <a:bevelB w="25400" h="25400"/>
    </dgm:sp3d>
    <dgm:txPr/>
    <dgm:style>
      <a:lnRef idx="1">
        <a:scrgbClr r="0" g="0" b="0"/>
      </a:lnRef>
      <a:fillRef idx="1">
        <a:scrgbClr r="0" g="0" b="0"/>
      </a:fillRef>
      <a:effectRef idx="2">
        <a:scrgbClr r="0" g="0" b="0"/>
      </a:effectRef>
      <a:fontRef idx="minor">
        <a:schemeClr val="lt1"/>
      </a:fontRef>
    </dgm:style>
  </dgm:styleLbl>
  <dgm:styleLbl name="bgSibTrans2D1">
    <dgm:scene3d>
      <a:camera prst="orthographicFront"/>
      <a:lightRig rig="threePt" dir="t"/>
    </dgm:scene3d>
    <dgm:sp3d z="-54080" prstMaterial="plastic">
      <a:bevelT w="25400" h="25400"/>
      <a:bevelB w="25400" h="25400"/>
    </dgm:sp3d>
    <dgm:txPr/>
    <dgm:style>
      <a:lnRef idx="1">
        <a:scrgbClr r="0" g="0" b="0"/>
      </a:lnRef>
      <a:fillRef idx="1">
        <a:scrgbClr r="0" g="0" b="0"/>
      </a:fillRef>
      <a:effectRef idx="2">
        <a:scrgbClr r="0" g="0" b="0"/>
      </a:effectRef>
      <a:fontRef idx="minor">
        <a:schemeClr val="lt1"/>
      </a:fontRef>
    </dgm:style>
  </dgm:styleLbl>
  <dgm:styleLbl name="sibTrans1D1">
    <dgm:scene3d>
      <a:camera prst="orthographicFront"/>
      <a:lightRig rig="threePt" dir="t"/>
    </dgm:scene3d>
    <dgm:sp3d z="-25400" prstMaterial="plastic"/>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75000" prstMaterial="plastic"/>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asst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asst2">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asst3">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parChTrans2D1">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2D3">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2D4">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1D1">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parChTrans1D2">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parChTrans1D3">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parChTrans1D4">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fgAcc1">
    <dgm:scene3d>
      <a:camera prst="orthographicFront"/>
      <a:lightRig rig="threePt" dir="t"/>
    </dgm:scene3d>
    <dgm:sp3d z="50080" prstMaterial="plastic">
      <a:bevelT w="25400" h="25400"/>
      <a:bevelB w="25400" h="25400"/>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prstMaterial="plastic">
      <a:bevelT w="25400" h="25400"/>
      <a:bevelB w="25400" h="25400"/>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prstMaterial="plastic">
      <a:bevelT w="50800" h="50800"/>
      <a:bevelB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prstMaterial="plastic">
      <a:bevelT w="25400" h="25400"/>
      <a:bevelB w="25400" h="25400"/>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threePt" dir="t"/>
    </dgm:scene3d>
    <dgm:sp3d z="50080" prstMaterial="plastic">
      <a:bevelT w="25400" h="25400"/>
      <a:bevelB w="25400" h="25400"/>
    </dgm:sp3d>
    <dgm:txPr/>
    <dgm:style>
      <a:lnRef idx="0">
        <a:scrgbClr r="0" g="0" b="0"/>
      </a:lnRef>
      <a:fillRef idx="1">
        <a:scrgbClr r="0" g="0" b="0"/>
      </a:fillRef>
      <a:effectRef idx="2">
        <a:scrgbClr r="0" g="0" b="0"/>
      </a:effectRef>
      <a:fontRef idx="minor"/>
    </dgm:style>
  </dgm:styleLbl>
  <dgm:styleLbl name="alignAccFollowNode1">
    <dgm:scene3d>
      <a:camera prst="orthographicFront"/>
      <a:lightRig rig="threePt" dir="t"/>
    </dgm:scene3d>
    <dgm:sp3d prstMaterial="plastic">
      <a:bevelT w="25400" h="25400"/>
      <a:bevelB w="25400" h="25400"/>
    </dgm:sp3d>
    <dgm:txPr/>
    <dgm:style>
      <a:lnRef idx="0">
        <a:scrgbClr r="0" g="0" b="0"/>
      </a:lnRef>
      <a:fillRef idx="1">
        <a:scrgbClr r="0" g="0" b="0"/>
      </a:fillRef>
      <a:effectRef idx="2">
        <a:scrgbClr r="0" g="0" b="0"/>
      </a:effectRef>
      <a:fontRef idx="minor"/>
    </dgm:style>
  </dgm:styleLbl>
  <dgm:styleLbl name="bgAccFollowNode1">
    <dgm:scene3d>
      <a:camera prst="orthographicFront"/>
      <a:lightRig rig="threePt" dir="t"/>
    </dgm:scene3d>
    <dgm:sp3d z="-152400" prstMaterial="plastic">
      <a:bevelT w="25400" h="25400"/>
      <a:bevelB w="25400" h="25400"/>
    </dgm:sp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z="-152400" prstMaterial="plastic">
      <a:bevelT w="25400" h="25400"/>
      <a:bevelB w="25400" h="25400"/>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z="-10400" extrusionH="12700" prstMaterial="plastic"/>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0080" prstMaterial="plastic">
      <a:bevelT w="50800" h="50800"/>
      <a:bevelB w="50800" h="50800"/>
    </dgm:sp3d>
    <dgm:txPr/>
    <dgm:style>
      <a:lnRef idx="0">
        <a:scrgbClr r="0" g="0" b="0"/>
      </a:lnRef>
      <a:fillRef idx="1">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1">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3d6">
  <dgm:title val=""/>
  <dgm:desc val=""/>
  <dgm:catLst>
    <dgm:cat type="3D" pri="11600"/>
  </dgm:catLst>
  <dgm:scene3d>
    <a:camera prst="perspectiveRelaxedModerately" zoom="92000"/>
    <a:lightRig rig="balanced" dir="t">
      <a:rot lat="0" lon="0" rev="12700000"/>
    </a:lightRig>
  </dgm:scene3d>
  <dgm:styleLbl name="node0">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lnNod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vennNod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tx1"/>
      </a:fontRef>
    </dgm:style>
  </dgm:styleLbl>
  <dgm:styleLbl name="alignNode1">
    <dgm:scene3d>
      <a:camera prst="orthographicFront"/>
      <a:lightRig rig="threePt" dir="t"/>
    </dgm:scene3d>
    <dgm:sp3d prstMaterial="plastic">
      <a:bevelT w="50800" h="50800"/>
      <a:bevelB w="50800" h="50800"/>
    </dgm:sp3d>
    <dgm:txPr/>
    <dgm:style>
      <a:lnRef idx="1">
        <a:scrgbClr r="0" g="0" b="0"/>
      </a:lnRef>
      <a:fillRef idx="1">
        <a:scrgbClr r="0" g="0" b="0"/>
      </a:fillRef>
      <a:effectRef idx="2">
        <a:scrgbClr r="0" g="0" b="0"/>
      </a:effectRef>
      <a:fontRef idx="minor">
        <a:schemeClr val="lt1"/>
      </a:fontRef>
    </dgm:style>
  </dgm:styleLbl>
  <dgm:styleLbl name="nod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node3">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node4">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fgImgPlace1">
    <dgm:scene3d>
      <a:camera prst="orthographicFront"/>
      <a:lightRig rig="threePt" dir="t"/>
    </dgm:scene3d>
    <dgm:sp3d z="50080" prstMaterial="plastic">
      <a:bevelT w="50800" h="50800"/>
      <a:bevelB w="50800" h="50800"/>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z="-54000" prstMaterial="plastic">
      <a:bevelT w="50800" h="50800"/>
      <a:bevelB w="50800" h="50800"/>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z="-25400" prstMaterial="plastic">
      <a:bevelT w="25400" h="25400"/>
      <a:bevelB w="25400" h="25400"/>
    </dgm:sp3d>
    <dgm:txPr/>
    <dgm:style>
      <a:lnRef idx="1">
        <a:scrgbClr r="0" g="0" b="0"/>
      </a:lnRef>
      <a:fillRef idx="1">
        <a:scrgbClr r="0" g="0" b="0"/>
      </a:fillRef>
      <a:effectRef idx="2">
        <a:scrgbClr r="0" g="0" b="0"/>
      </a:effectRef>
      <a:fontRef idx="minor">
        <a:schemeClr val="lt1"/>
      </a:fontRef>
    </dgm:style>
  </dgm:styleLbl>
  <dgm:styleLbl name="fgSibTrans2D1">
    <dgm:scene3d>
      <a:camera prst="orthographicFront"/>
      <a:lightRig rig="threePt" dir="t"/>
    </dgm:scene3d>
    <dgm:sp3d z="50080" prstMaterial="plastic">
      <a:bevelT w="25400" h="25400"/>
      <a:bevelB w="25400" h="25400"/>
    </dgm:sp3d>
    <dgm:txPr/>
    <dgm:style>
      <a:lnRef idx="1">
        <a:scrgbClr r="0" g="0" b="0"/>
      </a:lnRef>
      <a:fillRef idx="1">
        <a:scrgbClr r="0" g="0" b="0"/>
      </a:fillRef>
      <a:effectRef idx="2">
        <a:scrgbClr r="0" g="0" b="0"/>
      </a:effectRef>
      <a:fontRef idx="minor">
        <a:schemeClr val="lt1"/>
      </a:fontRef>
    </dgm:style>
  </dgm:styleLbl>
  <dgm:styleLbl name="bgSibTrans2D1">
    <dgm:scene3d>
      <a:camera prst="orthographicFront"/>
      <a:lightRig rig="threePt" dir="t"/>
    </dgm:scene3d>
    <dgm:sp3d z="-54080" prstMaterial="plastic">
      <a:bevelT w="25400" h="25400"/>
      <a:bevelB w="25400" h="25400"/>
    </dgm:sp3d>
    <dgm:txPr/>
    <dgm:style>
      <a:lnRef idx="1">
        <a:scrgbClr r="0" g="0" b="0"/>
      </a:lnRef>
      <a:fillRef idx="1">
        <a:scrgbClr r="0" g="0" b="0"/>
      </a:fillRef>
      <a:effectRef idx="2">
        <a:scrgbClr r="0" g="0" b="0"/>
      </a:effectRef>
      <a:fontRef idx="minor">
        <a:schemeClr val="lt1"/>
      </a:fontRef>
    </dgm:style>
  </dgm:styleLbl>
  <dgm:styleLbl name="sibTrans1D1">
    <dgm:scene3d>
      <a:camera prst="orthographicFront"/>
      <a:lightRig rig="threePt" dir="t"/>
    </dgm:scene3d>
    <dgm:sp3d z="-25400" prstMaterial="plastic"/>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75000" prstMaterial="plastic"/>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asst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asst2">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asst3">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parChTrans2D1">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2D3">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2D4">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1D1">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parChTrans1D2">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parChTrans1D3">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parChTrans1D4">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fgAcc1">
    <dgm:scene3d>
      <a:camera prst="orthographicFront"/>
      <a:lightRig rig="threePt" dir="t"/>
    </dgm:scene3d>
    <dgm:sp3d z="50080" prstMaterial="plastic">
      <a:bevelT w="25400" h="25400"/>
      <a:bevelB w="25400" h="25400"/>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prstMaterial="plastic">
      <a:bevelT w="25400" h="25400"/>
      <a:bevelB w="25400" h="25400"/>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prstMaterial="plastic">
      <a:bevelT w="50800" h="50800"/>
      <a:bevelB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prstMaterial="plastic">
      <a:bevelT w="25400" h="25400"/>
      <a:bevelB w="25400" h="25400"/>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threePt" dir="t"/>
    </dgm:scene3d>
    <dgm:sp3d z="50080" prstMaterial="plastic">
      <a:bevelT w="25400" h="25400"/>
      <a:bevelB w="25400" h="25400"/>
    </dgm:sp3d>
    <dgm:txPr/>
    <dgm:style>
      <a:lnRef idx="0">
        <a:scrgbClr r="0" g="0" b="0"/>
      </a:lnRef>
      <a:fillRef idx="1">
        <a:scrgbClr r="0" g="0" b="0"/>
      </a:fillRef>
      <a:effectRef idx="2">
        <a:scrgbClr r="0" g="0" b="0"/>
      </a:effectRef>
      <a:fontRef idx="minor"/>
    </dgm:style>
  </dgm:styleLbl>
  <dgm:styleLbl name="alignAccFollowNode1">
    <dgm:scene3d>
      <a:camera prst="orthographicFront"/>
      <a:lightRig rig="threePt" dir="t"/>
    </dgm:scene3d>
    <dgm:sp3d prstMaterial="plastic">
      <a:bevelT w="25400" h="25400"/>
      <a:bevelB w="25400" h="25400"/>
    </dgm:sp3d>
    <dgm:txPr/>
    <dgm:style>
      <a:lnRef idx="0">
        <a:scrgbClr r="0" g="0" b="0"/>
      </a:lnRef>
      <a:fillRef idx="1">
        <a:scrgbClr r="0" g="0" b="0"/>
      </a:fillRef>
      <a:effectRef idx="2">
        <a:scrgbClr r="0" g="0" b="0"/>
      </a:effectRef>
      <a:fontRef idx="minor"/>
    </dgm:style>
  </dgm:styleLbl>
  <dgm:styleLbl name="bgAccFollowNode1">
    <dgm:scene3d>
      <a:camera prst="orthographicFront"/>
      <a:lightRig rig="threePt" dir="t"/>
    </dgm:scene3d>
    <dgm:sp3d z="-152400" prstMaterial="plastic">
      <a:bevelT w="25400" h="25400"/>
      <a:bevelB w="25400" h="25400"/>
    </dgm:sp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z="-152400" prstMaterial="plastic">
      <a:bevelT w="25400" h="25400"/>
      <a:bevelB w="25400" h="25400"/>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z="-10400" extrusionH="12700" prstMaterial="plastic"/>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0080" prstMaterial="plastic">
      <a:bevelT w="50800" h="50800"/>
      <a:bevelB w="50800" h="50800"/>
    </dgm:sp3d>
    <dgm:txPr/>
    <dgm:style>
      <a:lnRef idx="0">
        <a:scrgbClr r="0" g="0" b="0"/>
      </a:lnRef>
      <a:fillRef idx="1">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1">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3d6">
  <dgm:title val=""/>
  <dgm:desc val=""/>
  <dgm:catLst>
    <dgm:cat type="3D" pri="11600"/>
  </dgm:catLst>
  <dgm:scene3d>
    <a:camera prst="perspectiveRelaxedModerately" zoom="92000"/>
    <a:lightRig rig="balanced" dir="t">
      <a:rot lat="0" lon="0" rev="12700000"/>
    </a:lightRig>
  </dgm:scene3d>
  <dgm:styleLbl name="node0">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lnNod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vennNod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tx1"/>
      </a:fontRef>
    </dgm:style>
  </dgm:styleLbl>
  <dgm:styleLbl name="alignNode1">
    <dgm:scene3d>
      <a:camera prst="orthographicFront"/>
      <a:lightRig rig="threePt" dir="t"/>
    </dgm:scene3d>
    <dgm:sp3d prstMaterial="plastic">
      <a:bevelT w="50800" h="50800"/>
      <a:bevelB w="50800" h="50800"/>
    </dgm:sp3d>
    <dgm:txPr/>
    <dgm:style>
      <a:lnRef idx="1">
        <a:scrgbClr r="0" g="0" b="0"/>
      </a:lnRef>
      <a:fillRef idx="1">
        <a:scrgbClr r="0" g="0" b="0"/>
      </a:fillRef>
      <a:effectRef idx="2">
        <a:scrgbClr r="0" g="0" b="0"/>
      </a:effectRef>
      <a:fontRef idx="minor">
        <a:schemeClr val="lt1"/>
      </a:fontRef>
    </dgm:style>
  </dgm:styleLbl>
  <dgm:styleLbl name="nod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node3">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node4">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fgImgPlace1">
    <dgm:scene3d>
      <a:camera prst="orthographicFront"/>
      <a:lightRig rig="threePt" dir="t"/>
    </dgm:scene3d>
    <dgm:sp3d z="50080" prstMaterial="plastic">
      <a:bevelT w="50800" h="50800"/>
      <a:bevelB w="50800" h="50800"/>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z="-54000" prstMaterial="plastic">
      <a:bevelT w="50800" h="50800"/>
      <a:bevelB w="50800" h="50800"/>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z="-25400" prstMaterial="plastic">
      <a:bevelT w="25400" h="25400"/>
      <a:bevelB w="25400" h="25400"/>
    </dgm:sp3d>
    <dgm:txPr/>
    <dgm:style>
      <a:lnRef idx="1">
        <a:scrgbClr r="0" g="0" b="0"/>
      </a:lnRef>
      <a:fillRef idx="1">
        <a:scrgbClr r="0" g="0" b="0"/>
      </a:fillRef>
      <a:effectRef idx="2">
        <a:scrgbClr r="0" g="0" b="0"/>
      </a:effectRef>
      <a:fontRef idx="minor">
        <a:schemeClr val="lt1"/>
      </a:fontRef>
    </dgm:style>
  </dgm:styleLbl>
  <dgm:styleLbl name="fgSibTrans2D1">
    <dgm:scene3d>
      <a:camera prst="orthographicFront"/>
      <a:lightRig rig="threePt" dir="t"/>
    </dgm:scene3d>
    <dgm:sp3d z="50080" prstMaterial="plastic">
      <a:bevelT w="25400" h="25400"/>
      <a:bevelB w="25400" h="25400"/>
    </dgm:sp3d>
    <dgm:txPr/>
    <dgm:style>
      <a:lnRef idx="1">
        <a:scrgbClr r="0" g="0" b="0"/>
      </a:lnRef>
      <a:fillRef idx="1">
        <a:scrgbClr r="0" g="0" b="0"/>
      </a:fillRef>
      <a:effectRef idx="2">
        <a:scrgbClr r="0" g="0" b="0"/>
      </a:effectRef>
      <a:fontRef idx="minor">
        <a:schemeClr val="lt1"/>
      </a:fontRef>
    </dgm:style>
  </dgm:styleLbl>
  <dgm:styleLbl name="bgSibTrans2D1">
    <dgm:scene3d>
      <a:camera prst="orthographicFront"/>
      <a:lightRig rig="threePt" dir="t"/>
    </dgm:scene3d>
    <dgm:sp3d z="-54080" prstMaterial="plastic">
      <a:bevelT w="25400" h="25400"/>
      <a:bevelB w="25400" h="25400"/>
    </dgm:sp3d>
    <dgm:txPr/>
    <dgm:style>
      <a:lnRef idx="1">
        <a:scrgbClr r="0" g="0" b="0"/>
      </a:lnRef>
      <a:fillRef idx="1">
        <a:scrgbClr r="0" g="0" b="0"/>
      </a:fillRef>
      <a:effectRef idx="2">
        <a:scrgbClr r="0" g="0" b="0"/>
      </a:effectRef>
      <a:fontRef idx="minor">
        <a:schemeClr val="lt1"/>
      </a:fontRef>
    </dgm:style>
  </dgm:styleLbl>
  <dgm:styleLbl name="sibTrans1D1">
    <dgm:scene3d>
      <a:camera prst="orthographicFront"/>
      <a:lightRig rig="threePt" dir="t"/>
    </dgm:scene3d>
    <dgm:sp3d z="-25400" prstMaterial="plastic"/>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75000" prstMaterial="plastic"/>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asst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asst2">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asst3">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parChTrans2D1">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2D3">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2D4">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1D1">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parChTrans1D2">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parChTrans1D3">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parChTrans1D4">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fgAcc1">
    <dgm:scene3d>
      <a:camera prst="orthographicFront"/>
      <a:lightRig rig="threePt" dir="t"/>
    </dgm:scene3d>
    <dgm:sp3d z="50080" prstMaterial="plastic">
      <a:bevelT w="25400" h="25400"/>
      <a:bevelB w="25400" h="25400"/>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prstMaterial="plastic">
      <a:bevelT w="25400" h="25400"/>
      <a:bevelB w="25400" h="25400"/>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prstMaterial="plastic">
      <a:bevelT w="50800" h="50800"/>
      <a:bevelB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prstMaterial="plastic">
      <a:bevelT w="25400" h="25400"/>
      <a:bevelB w="25400" h="25400"/>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threePt" dir="t"/>
    </dgm:scene3d>
    <dgm:sp3d z="50080" prstMaterial="plastic">
      <a:bevelT w="25400" h="25400"/>
      <a:bevelB w="25400" h="25400"/>
    </dgm:sp3d>
    <dgm:txPr/>
    <dgm:style>
      <a:lnRef idx="0">
        <a:scrgbClr r="0" g="0" b="0"/>
      </a:lnRef>
      <a:fillRef idx="1">
        <a:scrgbClr r="0" g="0" b="0"/>
      </a:fillRef>
      <a:effectRef idx="2">
        <a:scrgbClr r="0" g="0" b="0"/>
      </a:effectRef>
      <a:fontRef idx="minor"/>
    </dgm:style>
  </dgm:styleLbl>
  <dgm:styleLbl name="alignAccFollowNode1">
    <dgm:scene3d>
      <a:camera prst="orthographicFront"/>
      <a:lightRig rig="threePt" dir="t"/>
    </dgm:scene3d>
    <dgm:sp3d prstMaterial="plastic">
      <a:bevelT w="25400" h="25400"/>
      <a:bevelB w="25400" h="25400"/>
    </dgm:sp3d>
    <dgm:txPr/>
    <dgm:style>
      <a:lnRef idx="0">
        <a:scrgbClr r="0" g="0" b="0"/>
      </a:lnRef>
      <a:fillRef idx="1">
        <a:scrgbClr r="0" g="0" b="0"/>
      </a:fillRef>
      <a:effectRef idx="2">
        <a:scrgbClr r="0" g="0" b="0"/>
      </a:effectRef>
      <a:fontRef idx="minor"/>
    </dgm:style>
  </dgm:styleLbl>
  <dgm:styleLbl name="bgAccFollowNode1">
    <dgm:scene3d>
      <a:camera prst="orthographicFront"/>
      <a:lightRig rig="threePt" dir="t"/>
    </dgm:scene3d>
    <dgm:sp3d z="-152400" prstMaterial="plastic">
      <a:bevelT w="25400" h="25400"/>
      <a:bevelB w="25400" h="25400"/>
    </dgm:sp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z="-152400" prstMaterial="plastic">
      <a:bevelT w="25400" h="25400"/>
      <a:bevelB w="25400" h="25400"/>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z="-10400" extrusionH="12700" prstMaterial="plastic"/>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0080" prstMaterial="plastic">
      <a:bevelT w="50800" h="50800"/>
      <a:bevelB w="50800" h="50800"/>
    </dgm:sp3d>
    <dgm:txPr/>
    <dgm:style>
      <a:lnRef idx="0">
        <a:scrgbClr r="0" g="0" b="0"/>
      </a:lnRef>
      <a:fillRef idx="1">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1">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3d6">
  <dgm:title val=""/>
  <dgm:desc val=""/>
  <dgm:catLst>
    <dgm:cat type="3D" pri="11600"/>
  </dgm:catLst>
  <dgm:scene3d>
    <a:camera prst="perspectiveRelaxedModerately" zoom="92000"/>
    <a:lightRig rig="balanced" dir="t">
      <a:rot lat="0" lon="0" rev="12700000"/>
    </a:lightRig>
  </dgm:scene3d>
  <dgm:styleLbl name="node0">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lnNod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vennNod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tx1"/>
      </a:fontRef>
    </dgm:style>
  </dgm:styleLbl>
  <dgm:styleLbl name="alignNode1">
    <dgm:scene3d>
      <a:camera prst="orthographicFront"/>
      <a:lightRig rig="threePt" dir="t"/>
    </dgm:scene3d>
    <dgm:sp3d prstMaterial="plastic">
      <a:bevelT w="50800" h="50800"/>
      <a:bevelB w="50800" h="50800"/>
    </dgm:sp3d>
    <dgm:txPr/>
    <dgm:style>
      <a:lnRef idx="1">
        <a:scrgbClr r="0" g="0" b="0"/>
      </a:lnRef>
      <a:fillRef idx="1">
        <a:scrgbClr r="0" g="0" b="0"/>
      </a:fillRef>
      <a:effectRef idx="2">
        <a:scrgbClr r="0" g="0" b="0"/>
      </a:effectRef>
      <a:fontRef idx="minor">
        <a:schemeClr val="lt1"/>
      </a:fontRef>
    </dgm:style>
  </dgm:styleLbl>
  <dgm:styleLbl name="nod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node3">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node4">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fgImgPlace1">
    <dgm:scene3d>
      <a:camera prst="orthographicFront"/>
      <a:lightRig rig="threePt" dir="t"/>
    </dgm:scene3d>
    <dgm:sp3d z="50080" prstMaterial="plastic">
      <a:bevelT w="50800" h="50800"/>
      <a:bevelB w="50800" h="50800"/>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z="-54000" prstMaterial="plastic">
      <a:bevelT w="50800" h="50800"/>
      <a:bevelB w="50800" h="50800"/>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z="-25400" prstMaterial="plastic">
      <a:bevelT w="25400" h="25400"/>
      <a:bevelB w="25400" h="25400"/>
    </dgm:sp3d>
    <dgm:txPr/>
    <dgm:style>
      <a:lnRef idx="1">
        <a:scrgbClr r="0" g="0" b="0"/>
      </a:lnRef>
      <a:fillRef idx="1">
        <a:scrgbClr r="0" g="0" b="0"/>
      </a:fillRef>
      <a:effectRef idx="2">
        <a:scrgbClr r="0" g="0" b="0"/>
      </a:effectRef>
      <a:fontRef idx="minor">
        <a:schemeClr val="lt1"/>
      </a:fontRef>
    </dgm:style>
  </dgm:styleLbl>
  <dgm:styleLbl name="fgSibTrans2D1">
    <dgm:scene3d>
      <a:camera prst="orthographicFront"/>
      <a:lightRig rig="threePt" dir="t"/>
    </dgm:scene3d>
    <dgm:sp3d z="50080" prstMaterial="plastic">
      <a:bevelT w="25400" h="25400"/>
      <a:bevelB w="25400" h="25400"/>
    </dgm:sp3d>
    <dgm:txPr/>
    <dgm:style>
      <a:lnRef idx="1">
        <a:scrgbClr r="0" g="0" b="0"/>
      </a:lnRef>
      <a:fillRef idx="1">
        <a:scrgbClr r="0" g="0" b="0"/>
      </a:fillRef>
      <a:effectRef idx="2">
        <a:scrgbClr r="0" g="0" b="0"/>
      </a:effectRef>
      <a:fontRef idx="minor">
        <a:schemeClr val="lt1"/>
      </a:fontRef>
    </dgm:style>
  </dgm:styleLbl>
  <dgm:styleLbl name="bgSibTrans2D1">
    <dgm:scene3d>
      <a:camera prst="orthographicFront"/>
      <a:lightRig rig="threePt" dir="t"/>
    </dgm:scene3d>
    <dgm:sp3d z="-54080" prstMaterial="plastic">
      <a:bevelT w="25400" h="25400"/>
      <a:bevelB w="25400" h="25400"/>
    </dgm:sp3d>
    <dgm:txPr/>
    <dgm:style>
      <a:lnRef idx="1">
        <a:scrgbClr r="0" g="0" b="0"/>
      </a:lnRef>
      <a:fillRef idx="1">
        <a:scrgbClr r="0" g="0" b="0"/>
      </a:fillRef>
      <a:effectRef idx="2">
        <a:scrgbClr r="0" g="0" b="0"/>
      </a:effectRef>
      <a:fontRef idx="minor">
        <a:schemeClr val="lt1"/>
      </a:fontRef>
    </dgm:style>
  </dgm:styleLbl>
  <dgm:styleLbl name="sibTrans1D1">
    <dgm:scene3d>
      <a:camera prst="orthographicFront"/>
      <a:lightRig rig="threePt" dir="t"/>
    </dgm:scene3d>
    <dgm:sp3d z="-25400" prstMaterial="plastic"/>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75000" prstMaterial="plastic"/>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asst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asst2">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asst3">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parChTrans2D1">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2D3">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2D4">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1D1">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parChTrans1D2">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parChTrans1D3">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parChTrans1D4">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fgAcc1">
    <dgm:scene3d>
      <a:camera prst="orthographicFront"/>
      <a:lightRig rig="threePt" dir="t"/>
    </dgm:scene3d>
    <dgm:sp3d z="50080" prstMaterial="plastic">
      <a:bevelT w="25400" h="25400"/>
      <a:bevelB w="25400" h="25400"/>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prstMaterial="plastic">
      <a:bevelT w="25400" h="25400"/>
      <a:bevelB w="25400" h="25400"/>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prstMaterial="plastic">
      <a:bevelT w="50800" h="50800"/>
      <a:bevelB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prstMaterial="plastic">
      <a:bevelT w="25400" h="25400"/>
      <a:bevelB w="25400" h="25400"/>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threePt" dir="t"/>
    </dgm:scene3d>
    <dgm:sp3d z="50080" prstMaterial="plastic">
      <a:bevelT w="25400" h="25400"/>
      <a:bevelB w="25400" h="25400"/>
    </dgm:sp3d>
    <dgm:txPr/>
    <dgm:style>
      <a:lnRef idx="0">
        <a:scrgbClr r="0" g="0" b="0"/>
      </a:lnRef>
      <a:fillRef idx="1">
        <a:scrgbClr r="0" g="0" b="0"/>
      </a:fillRef>
      <a:effectRef idx="2">
        <a:scrgbClr r="0" g="0" b="0"/>
      </a:effectRef>
      <a:fontRef idx="minor"/>
    </dgm:style>
  </dgm:styleLbl>
  <dgm:styleLbl name="alignAccFollowNode1">
    <dgm:scene3d>
      <a:camera prst="orthographicFront"/>
      <a:lightRig rig="threePt" dir="t"/>
    </dgm:scene3d>
    <dgm:sp3d prstMaterial="plastic">
      <a:bevelT w="25400" h="25400"/>
      <a:bevelB w="25400" h="25400"/>
    </dgm:sp3d>
    <dgm:txPr/>
    <dgm:style>
      <a:lnRef idx="0">
        <a:scrgbClr r="0" g="0" b="0"/>
      </a:lnRef>
      <a:fillRef idx="1">
        <a:scrgbClr r="0" g="0" b="0"/>
      </a:fillRef>
      <a:effectRef idx="2">
        <a:scrgbClr r="0" g="0" b="0"/>
      </a:effectRef>
      <a:fontRef idx="minor"/>
    </dgm:style>
  </dgm:styleLbl>
  <dgm:styleLbl name="bgAccFollowNode1">
    <dgm:scene3d>
      <a:camera prst="orthographicFront"/>
      <a:lightRig rig="threePt" dir="t"/>
    </dgm:scene3d>
    <dgm:sp3d z="-152400" prstMaterial="plastic">
      <a:bevelT w="25400" h="25400"/>
      <a:bevelB w="25400" h="25400"/>
    </dgm:sp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z="-152400" prstMaterial="plastic">
      <a:bevelT w="25400" h="25400"/>
      <a:bevelB w="25400" h="25400"/>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z="-10400" extrusionH="12700" prstMaterial="plastic"/>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0080" prstMaterial="plastic">
      <a:bevelT w="50800" h="50800"/>
      <a:bevelB w="50800" h="50800"/>
    </dgm:sp3d>
    <dgm:txPr/>
    <dgm:style>
      <a:lnRef idx="0">
        <a:scrgbClr r="0" g="0" b="0"/>
      </a:lnRef>
      <a:fillRef idx="1">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1">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3d6">
  <dgm:title val=""/>
  <dgm:desc val=""/>
  <dgm:catLst>
    <dgm:cat type="3D" pri="11600"/>
  </dgm:catLst>
  <dgm:scene3d>
    <a:camera prst="perspectiveRelaxedModerately" zoom="92000"/>
    <a:lightRig rig="balanced" dir="t">
      <a:rot lat="0" lon="0" rev="12700000"/>
    </a:lightRig>
  </dgm:scene3d>
  <dgm:styleLbl name="node0">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lnNod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vennNod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tx1"/>
      </a:fontRef>
    </dgm:style>
  </dgm:styleLbl>
  <dgm:styleLbl name="alignNode1">
    <dgm:scene3d>
      <a:camera prst="orthographicFront"/>
      <a:lightRig rig="threePt" dir="t"/>
    </dgm:scene3d>
    <dgm:sp3d prstMaterial="plastic">
      <a:bevelT w="50800" h="50800"/>
      <a:bevelB w="50800" h="50800"/>
    </dgm:sp3d>
    <dgm:txPr/>
    <dgm:style>
      <a:lnRef idx="1">
        <a:scrgbClr r="0" g="0" b="0"/>
      </a:lnRef>
      <a:fillRef idx="1">
        <a:scrgbClr r="0" g="0" b="0"/>
      </a:fillRef>
      <a:effectRef idx="2">
        <a:scrgbClr r="0" g="0" b="0"/>
      </a:effectRef>
      <a:fontRef idx="minor">
        <a:schemeClr val="lt1"/>
      </a:fontRef>
    </dgm:style>
  </dgm:styleLbl>
  <dgm:styleLbl name="nod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node3">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node4">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fgImgPlace1">
    <dgm:scene3d>
      <a:camera prst="orthographicFront"/>
      <a:lightRig rig="threePt" dir="t"/>
    </dgm:scene3d>
    <dgm:sp3d z="50080" prstMaterial="plastic">
      <a:bevelT w="50800" h="50800"/>
      <a:bevelB w="50800" h="50800"/>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z="-54000" prstMaterial="plastic">
      <a:bevelT w="50800" h="50800"/>
      <a:bevelB w="50800" h="50800"/>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z="-25400" prstMaterial="plastic">
      <a:bevelT w="25400" h="25400"/>
      <a:bevelB w="25400" h="25400"/>
    </dgm:sp3d>
    <dgm:txPr/>
    <dgm:style>
      <a:lnRef idx="1">
        <a:scrgbClr r="0" g="0" b="0"/>
      </a:lnRef>
      <a:fillRef idx="1">
        <a:scrgbClr r="0" g="0" b="0"/>
      </a:fillRef>
      <a:effectRef idx="2">
        <a:scrgbClr r="0" g="0" b="0"/>
      </a:effectRef>
      <a:fontRef idx="minor">
        <a:schemeClr val="lt1"/>
      </a:fontRef>
    </dgm:style>
  </dgm:styleLbl>
  <dgm:styleLbl name="fgSibTrans2D1">
    <dgm:scene3d>
      <a:camera prst="orthographicFront"/>
      <a:lightRig rig="threePt" dir="t"/>
    </dgm:scene3d>
    <dgm:sp3d z="50080" prstMaterial="plastic">
      <a:bevelT w="25400" h="25400"/>
      <a:bevelB w="25400" h="25400"/>
    </dgm:sp3d>
    <dgm:txPr/>
    <dgm:style>
      <a:lnRef idx="1">
        <a:scrgbClr r="0" g="0" b="0"/>
      </a:lnRef>
      <a:fillRef idx="1">
        <a:scrgbClr r="0" g="0" b="0"/>
      </a:fillRef>
      <a:effectRef idx="2">
        <a:scrgbClr r="0" g="0" b="0"/>
      </a:effectRef>
      <a:fontRef idx="minor">
        <a:schemeClr val="lt1"/>
      </a:fontRef>
    </dgm:style>
  </dgm:styleLbl>
  <dgm:styleLbl name="bgSibTrans2D1">
    <dgm:scene3d>
      <a:camera prst="orthographicFront"/>
      <a:lightRig rig="threePt" dir="t"/>
    </dgm:scene3d>
    <dgm:sp3d z="-54080" prstMaterial="plastic">
      <a:bevelT w="25400" h="25400"/>
      <a:bevelB w="25400" h="25400"/>
    </dgm:sp3d>
    <dgm:txPr/>
    <dgm:style>
      <a:lnRef idx="1">
        <a:scrgbClr r="0" g="0" b="0"/>
      </a:lnRef>
      <a:fillRef idx="1">
        <a:scrgbClr r="0" g="0" b="0"/>
      </a:fillRef>
      <a:effectRef idx="2">
        <a:scrgbClr r="0" g="0" b="0"/>
      </a:effectRef>
      <a:fontRef idx="minor">
        <a:schemeClr val="lt1"/>
      </a:fontRef>
    </dgm:style>
  </dgm:styleLbl>
  <dgm:styleLbl name="sibTrans1D1">
    <dgm:scene3d>
      <a:camera prst="orthographicFront"/>
      <a:lightRig rig="threePt" dir="t"/>
    </dgm:scene3d>
    <dgm:sp3d z="-25400" prstMaterial="plastic"/>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75000" prstMaterial="plastic"/>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asst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asst2">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asst3">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parChTrans2D1">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2D3">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2D4">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1D1">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parChTrans1D2">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parChTrans1D3">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parChTrans1D4">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fgAcc1">
    <dgm:scene3d>
      <a:camera prst="orthographicFront"/>
      <a:lightRig rig="threePt" dir="t"/>
    </dgm:scene3d>
    <dgm:sp3d z="50080" prstMaterial="plastic">
      <a:bevelT w="25400" h="25400"/>
      <a:bevelB w="25400" h="25400"/>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prstMaterial="plastic">
      <a:bevelT w="25400" h="25400"/>
      <a:bevelB w="25400" h="25400"/>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prstMaterial="plastic">
      <a:bevelT w="50800" h="50800"/>
      <a:bevelB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prstMaterial="plastic">
      <a:bevelT w="25400" h="25400"/>
      <a:bevelB w="25400" h="25400"/>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threePt" dir="t"/>
    </dgm:scene3d>
    <dgm:sp3d z="50080" prstMaterial="plastic">
      <a:bevelT w="25400" h="25400"/>
      <a:bevelB w="25400" h="25400"/>
    </dgm:sp3d>
    <dgm:txPr/>
    <dgm:style>
      <a:lnRef idx="0">
        <a:scrgbClr r="0" g="0" b="0"/>
      </a:lnRef>
      <a:fillRef idx="1">
        <a:scrgbClr r="0" g="0" b="0"/>
      </a:fillRef>
      <a:effectRef idx="2">
        <a:scrgbClr r="0" g="0" b="0"/>
      </a:effectRef>
      <a:fontRef idx="minor"/>
    </dgm:style>
  </dgm:styleLbl>
  <dgm:styleLbl name="alignAccFollowNode1">
    <dgm:scene3d>
      <a:camera prst="orthographicFront"/>
      <a:lightRig rig="threePt" dir="t"/>
    </dgm:scene3d>
    <dgm:sp3d prstMaterial="plastic">
      <a:bevelT w="25400" h="25400"/>
      <a:bevelB w="25400" h="25400"/>
    </dgm:sp3d>
    <dgm:txPr/>
    <dgm:style>
      <a:lnRef idx="0">
        <a:scrgbClr r="0" g="0" b="0"/>
      </a:lnRef>
      <a:fillRef idx="1">
        <a:scrgbClr r="0" g="0" b="0"/>
      </a:fillRef>
      <a:effectRef idx="2">
        <a:scrgbClr r="0" g="0" b="0"/>
      </a:effectRef>
      <a:fontRef idx="minor"/>
    </dgm:style>
  </dgm:styleLbl>
  <dgm:styleLbl name="bgAccFollowNode1">
    <dgm:scene3d>
      <a:camera prst="orthographicFront"/>
      <a:lightRig rig="threePt" dir="t"/>
    </dgm:scene3d>
    <dgm:sp3d z="-152400" prstMaterial="plastic">
      <a:bevelT w="25400" h="25400"/>
      <a:bevelB w="25400" h="25400"/>
    </dgm:sp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z="-152400" prstMaterial="plastic">
      <a:bevelT w="25400" h="25400"/>
      <a:bevelB w="25400" h="25400"/>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z="-10400" extrusionH="12700" prstMaterial="plastic"/>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0080" prstMaterial="plastic">
      <a:bevelT w="50800" h="50800"/>
      <a:bevelB w="50800" h="50800"/>
    </dgm:sp3d>
    <dgm:txPr/>
    <dgm:style>
      <a:lnRef idx="0">
        <a:scrgbClr r="0" g="0" b="0"/>
      </a:lnRef>
      <a:fillRef idx="1">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1">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84265A1-CB3C-4E4A-947A-23B570A3EB01}" type="datetimeFigureOut">
              <a:rPr lang="en-US" smtClean="0"/>
              <a:t>11/9/2025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B93887A-CC0C-402D-BE42-7727BEB73AD6}" type="slidenum">
              <a:rPr lang="en-US" smtClean="0"/>
              <a:t>‹#›</a:t>
            </a:fld>
            <a:endParaRPr lang="en-US"/>
          </a:p>
        </p:txBody>
      </p:sp>
    </p:spTree>
    <p:extLst>
      <p:ext uri="{BB962C8B-B14F-4D97-AF65-F5344CB8AC3E}">
        <p14:creationId xmlns:p14="http://schemas.microsoft.com/office/powerpoint/2010/main" val="29235281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B93887A-CC0C-402D-BE42-7727BEB73AD6}" type="slidenum">
              <a:rPr lang="en-US" smtClean="0"/>
              <a:t>3</a:t>
            </a:fld>
            <a:endParaRPr lang="en-US"/>
          </a:p>
        </p:txBody>
      </p:sp>
    </p:spTree>
    <p:extLst>
      <p:ext uri="{BB962C8B-B14F-4D97-AF65-F5344CB8AC3E}">
        <p14:creationId xmlns:p14="http://schemas.microsoft.com/office/powerpoint/2010/main" val="21505990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B93887A-CC0C-402D-BE42-7727BEB73AD6}" type="slidenum">
              <a:rPr lang="en-US" smtClean="0"/>
              <a:t>8</a:t>
            </a:fld>
            <a:endParaRPr lang="en-US"/>
          </a:p>
        </p:txBody>
      </p:sp>
    </p:spTree>
    <p:extLst>
      <p:ext uri="{BB962C8B-B14F-4D97-AF65-F5344CB8AC3E}">
        <p14:creationId xmlns:p14="http://schemas.microsoft.com/office/powerpoint/2010/main" val="39276114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B93887A-CC0C-402D-BE42-7727BEB73AD6}" type="slidenum">
              <a:rPr lang="en-US" smtClean="0"/>
              <a:t>14</a:t>
            </a:fld>
            <a:endParaRPr lang="en-US"/>
          </a:p>
        </p:txBody>
      </p:sp>
    </p:spTree>
    <p:extLst>
      <p:ext uri="{BB962C8B-B14F-4D97-AF65-F5344CB8AC3E}">
        <p14:creationId xmlns:p14="http://schemas.microsoft.com/office/powerpoint/2010/main" val="32198308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B93887A-CC0C-402D-BE42-7727BEB73AD6}" type="slidenum">
              <a:rPr lang="en-US" smtClean="0"/>
              <a:t>15</a:t>
            </a:fld>
            <a:endParaRPr lang="en-US"/>
          </a:p>
        </p:txBody>
      </p:sp>
    </p:spTree>
    <p:extLst>
      <p:ext uri="{BB962C8B-B14F-4D97-AF65-F5344CB8AC3E}">
        <p14:creationId xmlns:p14="http://schemas.microsoft.com/office/powerpoint/2010/main" val="11737822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B93887A-CC0C-402D-BE42-7727BEB73AD6}" type="slidenum">
              <a:rPr lang="en-US" smtClean="0"/>
              <a:t>21</a:t>
            </a:fld>
            <a:endParaRPr lang="en-US"/>
          </a:p>
        </p:txBody>
      </p:sp>
    </p:spTree>
    <p:extLst>
      <p:ext uri="{BB962C8B-B14F-4D97-AF65-F5344CB8AC3E}">
        <p14:creationId xmlns:p14="http://schemas.microsoft.com/office/powerpoint/2010/main" val="20777049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B93887A-CC0C-402D-BE42-7727BEB73AD6}" type="slidenum">
              <a:rPr lang="en-US" smtClean="0"/>
              <a:t>22</a:t>
            </a:fld>
            <a:endParaRPr lang="en-US"/>
          </a:p>
        </p:txBody>
      </p:sp>
    </p:spTree>
    <p:extLst>
      <p:ext uri="{BB962C8B-B14F-4D97-AF65-F5344CB8AC3E}">
        <p14:creationId xmlns:p14="http://schemas.microsoft.com/office/powerpoint/2010/main" val="32294763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B93887A-CC0C-402D-BE42-7727BEB73AD6}" type="slidenum">
              <a:rPr lang="en-US" smtClean="0"/>
              <a:t>31</a:t>
            </a:fld>
            <a:endParaRPr lang="en-US"/>
          </a:p>
        </p:txBody>
      </p:sp>
    </p:spTree>
    <p:extLst>
      <p:ext uri="{BB962C8B-B14F-4D97-AF65-F5344CB8AC3E}">
        <p14:creationId xmlns:p14="http://schemas.microsoft.com/office/powerpoint/2010/main" val="41458305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E1BEF9F-7AF8-4F46-9B1F-4B61AEA79B1F}" type="datetimeFigureOut">
              <a:rPr lang="en-US" smtClean="0"/>
              <a:t>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C395865-A849-4A3F-ACD9-05BA7493BAF0}" type="slidenum">
              <a:rPr lang="en-US" smtClean="0"/>
              <a:t>‹#›</a:t>
            </a:fld>
            <a:endParaRPr lang="en-US"/>
          </a:p>
        </p:txBody>
      </p:sp>
    </p:spTree>
    <p:extLst>
      <p:ext uri="{BB962C8B-B14F-4D97-AF65-F5344CB8AC3E}">
        <p14:creationId xmlns:p14="http://schemas.microsoft.com/office/powerpoint/2010/main" val="32141177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E1BEF9F-7AF8-4F46-9B1F-4B61AEA79B1F}" type="datetimeFigureOut">
              <a:rPr lang="en-US" smtClean="0"/>
              <a:t>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C395865-A849-4A3F-ACD9-05BA7493BAF0}" type="slidenum">
              <a:rPr lang="en-US" smtClean="0"/>
              <a:t>‹#›</a:t>
            </a:fld>
            <a:endParaRPr lang="en-US"/>
          </a:p>
        </p:txBody>
      </p:sp>
    </p:spTree>
    <p:extLst>
      <p:ext uri="{BB962C8B-B14F-4D97-AF65-F5344CB8AC3E}">
        <p14:creationId xmlns:p14="http://schemas.microsoft.com/office/powerpoint/2010/main" val="39166989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E1BEF9F-7AF8-4F46-9B1F-4B61AEA79B1F}" type="datetimeFigureOut">
              <a:rPr lang="en-US" smtClean="0"/>
              <a:t>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C395865-A849-4A3F-ACD9-05BA7493BAF0}" type="slidenum">
              <a:rPr lang="en-US" smtClean="0"/>
              <a:t>‹#›</a:t>
            </a:fld>
            <a:endParaRPr lang="en-US"/>
          </a:p>
        </p:txBody>
      </p:sp>
    </p:spTree>
    <p:extLst>
      <p:ext uri="{BB962C8B-B14F-4D97-AF65-F5344CB8AC3E}">
        <p14:creationId xmlns:p14="http://schemas.microsoft.com/office/powerpoint/2010/main" val="28470144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E1BEF9F-7AF8-4F46-9B1F-4B61AEA79B1F}" type="datetimeFigureOut">
              <a:rPr lang="en-US" smtClean="0"/>
              <a:t>11/9/2025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C395865-A849-4A3F-ACD9-05BA7493BAF0}" type="slidenum">
              <a:rPr lang="en-US" smtClean="0"/>
              <a:t>‹#›</a:t>
            </a:fld>
            <a:endParaRPr lang="en-US"/>
          </a:p>
        </p:txBody>
      </p:sp>
    </p:spTree>
    <p:extLst>
      <p:ext uri="{BB962C8B-B14F-4D97-AF65-F5344CB8AC3E}">
        <p14:creationId xmlns:p14="http://schemas.microsoft.com/office/powerpoint/2010/main" val="13657119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E1BEF9F-7AF8-4F46-9B1F-4B61AEA79B1F}" type="datetimeFigureOut">
              <a:rPr lang="en-US" smtClean="0"/>
              <a:t>11/9/2025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C395865-A849-4A3F-ACD9-05BA7493BAF0}" type="slidenum">
              <a:rPr lang="en-US" smtClean="0"/>
              <a:t>‹#›</a:t>
            </a:fld>
            <a:endParaRPr lang="en-US"/>
          </a:p>
        </p:txBody>
      </p:sp>
    </p:spTree>
    <p:extLst>
      <p:ext uri="{BB962C8B-B14F-4D97-AF65-F5344CB8AC3E}">
        <p14:creationId xmlns:p14="http://schemas.microsoft.com/office/powerpoint/2010/main" val="16216960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E1BEF9F-7AF8-4F46-9B1F-4B61AEA79B1F}" type="datetimeFigureOut">
              <a:rPr lang="en-US" smtClean="0"/>
              <a:t>11/9/2025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C395865-A849-4A3F-ACD9-05BA7493BAF0}" type="slidenum">
              <a:rPr lang="en-US" smtClean="0"/>
              <a:t>‹#›</a:t>
            </a:fld>
            <a:endParaRPr lang="en-US"/>
          </a:p>
        </p:txBody>
      </p:sp>
    </p:spTree>
    <p:extLst>
      <p:ext uri="{BB962C8B-B14F-4D97-AF65-F5344CB8AC3E}">
        <p14:creationId xmlns:p14="http://schemas.microsoft.com/office/powerpoint/2010/main" val="39425820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E1BEF9F-7AF8-4F46-9B1F-4B61AEA79B1F}" type="datetimeFigureOut">
              <a:rPr lang="en-US" smtClean="0"/>
              <a:t>11/9/2025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C395865-A849-4A3F-ACD9-05BA7493BAF0}" type="slidenum">
              <a:rPr lang="en-US" smtClean="0"/>
              <a:t>‹#›</a:t>
            </a:fld>
            <a:endParaRPr lang="en-US"/>
          </a:p>
        </p:txBody>
      </p:sp>
    </p:spTree>
    <p:extLst>
      <p:ext uri="{BB962C8B-B14F-4D97-AF65-F5344CB8AC3E}">
        <p14:creationId xmlns:p14="http://schemas.microsoft.com/office/powerpoint/2010/main" val="14403535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E1BEF9F-7AF8-4F46-9B1F-4B61AEA79B1F}" type="datetimeFigureOut">
              <a:rPr lang="en-US" smtClean="0"/>
              <a:t>11/9/2025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C395865-A849-4A3F-ACD9-05BA7493BAF0}" type="slidenum">
              <a:rPr lang="en-US" smtClean="0"/>
              <a:t>‹#›</a:t>
            </a:fld>
            <a:endParaRPr lang="en-US"/>
          </a:p>
        </p:txBody>
      </p:sp>
    </p:spTree>
    <p:extLst>
      <p:ext uri="{BB962C8B-B14F-4D97-AF65-F5344CB8AC3E}">
        <p14:creationId xmlns:p14="http://schemas.microsoft.com/office/powerpoint/2010/main" val="33837749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E1BEF9F-7AF8-4F46-9B1F-4B61AEA79B1F}" type="datetimeFigureOut">
              <a:rPr lang="en-US" smtClean="0"/>
              <a:t>11/9/2025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C395865-A849-4A3F-ACD9-05BA7493BAF0}" type="slidenum">
              <a:rPr lang="en-US" smtClean="0"/>
              <a:t>‹#›</a:t>
            </a:fld>
            <a:endParaRPr lang="en-US"/>
          </a:p>
        </p:txBody>
      </p:sp>
    </p:spTree>
    <p:extLst>
      <p:ext uri="{BB962C8B-B14F-4D97-AF65-F5344CB8AC3E}">
        <p14:creationId xmlns:p14="http://schemas.microsoft.com/office/powerpoint/2010/main" val="35233733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E1BEF9F-7AF8-4F46-9B1F-4B61AEA79B1F}" type="datetimeFigureOut">
              <a:rPr lang="en-US" smtClean="0"/>
              <a:t>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C395865-A849-4A3F-ACD9-05BA7493BAF0}" type="slidenum">
              <a:rPr lang="en-US" smtClean="0"/>
              <a:t>‹#›</a:t>
            </a:fld>
            <a:endParaRPr lang="en-US"/>
          </a:p>
        </p:txBody>
      </p:sp>
    </p:spTree>
    <p:extLst>
      <p:ext uri="{BB962C8B-B14F-4D97-AF65-F5344CB8AC3E}">
        <p14:creationId xmlns:p14="http://schemas.microsoft.com/office/powerpoint/2010/main" val="27066921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E1BEF9F-7AF8-4F46-9B1F-4B61AEA79B1F}" type="datetimeFigureOut">
              <a:rPr lang="en-US" smtClean="0"/>
              <a:t>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C395865-A849-4A3F-ACD9-05BA7493BAF0}" type="slidenum">
              <a:rPr lang="en-US" smtClean="0"/>
              <a:t>‹#›</a:t>
            </a:fld>
            <a:endParaRPr lang="en-US"/>
          </a:p>
        </p:txBody>
      </p:sp>
    </p:spTree>
    <p:extLst>
      <p:ext uri="{BB962C8B-B14F-4D97-AF65-F5344CB8AC3E}">
        <p14:creationId xmlns:p14="http://schemas.microsoft.com/office/powerpoint/2010/main" val="2692740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E1BEF9F-7AF8-4F46-9B1F-4B61AEA79B1F}" type="datetimeFigureOut">
              <a:rPr lang="en-US" smtClean="0"/>
              <a:t>11/9/2025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C395865-A849-4A3F-ACD9-05BA7493BAF0}" type="slidenum">
              <a:rPr lang="en-US" smtClean="0"/>
              <a:t>‹#›</a:t>
            </a:fld>
            <a:endParaRPr lang="en-US"/>
          </a:p>
        </p:txBody>
      </p:sp>
    </p:spTree>
    <p:extLst>
      <p:ext uri="{BB962C8B-B14F-4D97-AF65-F5344CB8AC3E}">
        <p14:creationId xmlns:p14="http://schemas.microsoft.com/office/powerpoint/2010/main" val="3687424052"/>
      </p:ext>
    </p:extLst>
  </p:cSld>
  <p:clrMap bg1="lt1" tx1="dk1" bg2="lt2" tx2="dk2" accent1="accent1" accent2="accent2" accent3="accent3" accent4="accent4" accent5="accent5" accent6="accent6" hlink="hlink" folHlink="folHlink"/>
  <p:sldLayoutIdLst>
    <p:sldLayoutId id="2147483955" r:id="rId1"/>
    <p:sldLayoutId id="2147483956" r:id="rId2"/>
    <p:sldLayoutId id="2147483957" r:id="rId3"/>
    <p:sldLayoutId id="2147483958" r:id="rId4"/>
    <p:sldLayoutId id="2147483959" r:id="rId5"/>
    <p:sldLayoutId id="2147483960" r:id="rId6"/>
    <p:sldLayoutId id="2147483961" r:id="rId7"/>
    <p:sldLayoutId id="2147483962" r:id="rId8"/>
    <p:sldLayoutId id="2147483963" r:id="rId9"/>
    <p:sldLayoutId id="2147483964" r:id="rId10"/>
    <p:sldLayoutId id="214748396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7.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4.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5.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6.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17.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18.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19.xml.rels><?xml version="1.0" encoding="UTF-8" standalone="yes"?>
<Relationships xmlns="http://schemas.openxmlformats.org/package/2006/relationships"><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_rels/slide20.xml.rels><?xml version="1.0" encoding="UTF-8" standalone="yes"?>
<Relationships xmlns="http://schemas.openxmlformats.org/package/2006/relationships"><Relationship Id="rId3" Type="http://schemas.openxmlformats.org/officeDocument/2006/relationships/diagramData" Target="../diagrams/data10.xml"/><Relationship Id="rId7" Type="http://schemas.microsoft.com/office/2007/relationships/diagramDrawing" Target="../diagrams/drawing10.xm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diagramColors" Target="../diagrams/colors10.xml"/><Relationship Id="rId5" Type="http://schemas.openxmlformats.org/officeDocument/2006/relationships/diagramQuickStyle" Target="../diagrams/quickStyle10.xml"/><Relationship Id="rId4" Type="http://schemas.openxmlformats.org/officeDocument/2006/relationships/diagramLayout" Target="../diagrams/layout10.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24.emf"/><Relationship Id="rId4" Type="http://schemas.openxmlformats.org/officeDocument/2006/relationships/package" Target="../embeddings/Microsoft_Excel_Worksheet.xlsx"/></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chart" Target="../charts/chart1.xml"/></Relationships>
</file>

<file path=ppt/slides/_rels/slide23.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25.png"/></Relationships>
</file>

<file path=ppt/slides/_rels/slide2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29.png"/></Relationships>
</file>

<file path=ppt/slides/_rels/slide2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32.svg"/><Relationship Id="rId4" Type="http://schemas.openxmlformats.org/officeDocument/2006/relationships/image" Target="../media/image31.png"/></Relationships>
</file>

<file path=ppt/slides/_rels/slide28.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image" Target="../media/image16.png"/><Relationship Id="rId18" Type="http://schemas.openxmlformats.org/officeDocument/2006/relationships/image" Target="../media/image19.png"/><Relationship Id="rId3" Type="http://schemas.openxmlformats.org/officeDocument/2006/relationships/image" Target="../media/image6.png"/><Relationship Id="rId21" Type="http://schemas.openxmlformats.org/officeDocument/2006/relationships/image" Target="../media/image34.png"/><Relationship Id="rId7" Type="http://schemas.openxmlformats.org/officeDocument/2006/relationships/image" Target="../media/image10.png"/><Relationship Id="rId12" Type="http://schemas.openxmlformats.org/officeDocument/2006/relationships/image" Target="../media/image15.png"/><Relationship Id="rId17" Type="http://schemas.openxmlformats.org/officeDocument/2006/relationships/image" Target="../media/image21.png"/><Relationship Id="rId2" Type="http://schemas.openxmlformats.org/officeDocument/2006/relationships/image" Target="../media/image2.png"/><Relationship Id="rId16" Type="http://schemas.openxmlformats.org/officeDocument/2006/relationships/image" Target="../media/image20.png"/><Relationship Id="rId20" Type="http://schemas.openxmlformats.org/officeDocument/2006/relationships/image" Target="../media/image33.png"/><Relationship Id="rId1" Type="http://schemas.openxmlformats.org/officeDocument/2006/relationships/slideLayout" Target="../slideLayouts/slideLayout7.xml"/><Relationship Id="rId6" Type="http://schemas.openxmlformats.org/officeDocument/2006/relationships/image" Target="../media/image9.png"/><Relationship Id="rId11" Type="http://schemas.openxmlformats.org/officeDocument/2006/relationships/image" Target="../media/image14.png"/><Relationship Id="rId5" Type="http://schemas.openxmlformats.org/officeDocument/2006/relationships/image" Target="../media/image8.png"/><Relationship Id="rId15" Type="http://schemas.openxmlformats.org/officeDocument/2006/relationships/image" Target="../media/image22.png"/><Relationship Id="rId10" Type="http://schemas.openxmlformats.org/officeDocument/2006/relationships/image" Target="../media/image13.png"/><Relationship Id="rId19" Type="http://schemas.openxmlformats.org/officeDocument/2006/relationships/image" Target="../media/image18.png"/><Relationship Id="rId4" Type="http://schemas.openxmlformats.org/officeDocument/2006/relationships/image" Target="../media/image7.png"/><Relationship Id="rId9" Type="http://schemas.openxmlformats.org/officeDocument/2006/relationships/image" Target="../media/image11.png"/><Relationship Id="rId14" Type="http://schemas.openxmlformats.org/officeDocument/2006/relationships/image" Target="../media/image17.png"/></Relationships>
</file>

<file path=ppt/slides/_rels/slide29.xml.rels><?xml version="1.0" encoding="UTF-8" standalone="yes"?>
<Relationships xmlns="http://schemas.openxmlformats.org/package/2006/relationships"><Relationship Id="rId8" Type="http://schemas.openxmlformats.org/officeDocument/2006/relationships/hyperlink" Target="https://www.rescana.com/post/kadokawa-corporation-and-niconico-cyberattack-june-2024-ransomware-breach-and-system-vulnerabilities" TargetMode="External"/><Relationship Id="rId3" Type="http://schemas.openxmlformats.org/officeDocument/2006/relationships/hyperlink" Target="https://www.saglik.gov.tr/TR-3501/saglik-bakanligi-hastanelerine-yonelik-siber-saldiri-girisimine-iliskin-basin-aciklamasi-18052016.html" TargetMode="External"/><Relationship Id="rId7" Type="http://schemas.openxmlformats.org/officeDocument/2006/relationships/hyperlink" Target="https://www.strongdm.com/what-is/t-mobile-data-breach" TargetMode="Externa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hyperlink" Target="https://www.theguardian.com/technology/2025/jun/21/internet-users-advised-to-change-passwords-after-16bn-logins-exposed" TargetMode="External"/><Relationship Id="rId5" Type="http://schemas.openxmlformats.org/officeDocument/2006/relationships/hyperlink" Target="https://www.theverge.com/23892245/moveit-cyberattacks-clop-ransomware-government-business" TargetMode="External"/><Relationship Id="rId4" Type="http://schemas.openxmlformats.org/officeDocument/2006/relationships/hyperlink" Target="https://www.cumhuriyet.com.tr/turkiye/kvkk-dan-turk-tabipleri-birligi-ne-yonelik-yapilan-siber-saldiriya-iliskin-duyuru-veri-ihlalinden-107-bin-kisi-etkilenmis-olabilir-2426658" TargetMode="External"/><Relationship Id="rId9" Type="http://schemas.openxmlformats.org/officeDocument/2006/relationships/hyperlink" Target="https://www.microsoft.com/tr-tr/security/business/security-101/what-is-a-data-breach" TargetMode="External"/></Relationships>
</file>

<file path=ppt/slides/_rels/slide30.xml.rels><?xml version="1.0" encoding="UTF-8" standalone="yes"?>
<Relationships xmlns="http://schemas.openxmlformats.org/package/2006/relationships"><Relationship Id="rId3" Type="http://schemas.openxmlformats.org/officeDocument/2006/relationships/hyperlink" Target="https://www.academia.edu/6520364/Big_Data_Business_Guide_Complete_Big_Data_Overview_for_Enterprises_Example_of_Big_data_Projects" TargetMode="External"/><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hyperlink" Target="https://www.aa.com.tr/tr/bilim-teknoloji/kvkkden-sosyal-medya-platformu-twitche-veri-sizintisi-nedeniyle-2-milyon-lira-ceza/3395339" TargetMode="External"/><Relationship Id="rId4" Type="http://schemas.openxmlformats.org/officeDocument/2006/relationships/hyperlink" Target="https://tr.wikipedia.org/wiki/B%C3%BCy%C3%BCk_veri" TargetMode="External"/></Relationships>
</file>

<file path=ppt/slides/_rels/slide3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096A17-2D11-3275-3D07-BB84C1B74B3E}"/>
            </a:ext>
          </a:extLst>
        </p:cNvPr>
        <p:cNvGrpSpPr/>
        <p:nvPr/>
      </p:nvGrpSpPr>
      <p:grpSpPr>
        <a:xfrm>
          <a:off x="0" y="0"/>
          <a:ext cx="0" cy="0"/>
          <a:chOff x="0" y="0"/>
          <a:chExt cx="0" cy="0"/>
        </a:xfrm>
      </p:grpSpPr>
      <p:pic>
        <p:nvPicPr>
          <p:cNvPr id="4" name="Picture 3" descr="A blue and red background with a map and a shield&#10;&#10;AI-generated content may be incorrect.">
            <a:extLst>
              <a:ext uri="{FF2B5EF4-FFF2-40B4-BE49-F238E27FC236}">
                <a16:creationId xmlns:a16="http://schemas.microsoft.com/office/drawing/2014/main" id="{4CCA6572-B19D-0973-2AAE-B3C08584A625}"/>
              </a:ext>
            </a:extLst>
          </p:cNvPr>
          <p:cNvPicPr>
            <a:picLocks noChangeAspect="1"/>
          </p:cNvPicPr>
          <p:nvPr/>
        </p:nvPicPr>
        <p:blipFill>
          <a:blip r:embed="rId2">
            <a:extLst>
              <a:ext uri="{28A0092B-C50C-407E-A947-70E740481C1C}">
                <a14:useLocalDpi xmlns:a14="http://schemas.microsoft.com/office/drawing/2010/main" val="0"/>
              </a:ext>
            </a:extLst>
          </a:blip>
          <a:srcRect t="14198" b="1533"/>
          <a:stretch>
            <a:fillRect/>
          </a:stretch>
        </p:blipFill>
        <p:spPr>
          <a:xfrm>
            <a:off x="-3047" y="13658"/>
            <a:ext cx="12191999" cy="6857990"/>
          </a:xfrm>
          <a:prstGeom prst="rect">
            <a:avLst/>
          </a:prstGeom>
        </p:spPr>
      </p:pic>
      <p:sp>
        <p:nvSpPr>
          <p:cNvPr id="2" name="Rectangle 1">
            <a:extLst>
              <a:ext uri="{FF2B5EF4-FFF2-40B4-BE49-F238E27FC236}">
                <a16:creationId xmlns:a16="http://schemas.microsoft.com/office/drawing/2014/main" id="{C79E1861-9920-0A4A-9440-41D9B7EA1708}"/>
              </a:ext>
            </a:extLst>
          </p:cNvPr>
          <p:cNvSpPr/>
          <p:nvPr/>
        </p:nvSpPr>
        <p:spPr>
          <a:xfrm>
            <a:off x="1100051" y="590037"/>
            <a:ext cx="10058400" cy="5705231"/>
          </a:xfrm>
          <a:prstGeom prst="rect">
            <a:avLst/>
          </a:prstGeom>
          <a:effectLst>
            <a:outerShdw blurRad="50800" dist="38100" dir="2700000" algn="tl" rotWithShape="0">
              <a:prstClr val="black">
                <a:alpha val="40000"/>
              </a:prstClr>
            </a:outerShdw>
          </a:effectLst>
        </p:spPr>
        <p:txBody>
          <a:bodyPr vert="horz" lIns="91440" tIns="45720" rIns="91440" bIns="45720" rtlCol="0" anchor="b">
            <a:normAutofit/>
          </a:bodyPr>
          <a:lstStyle/>
          <a:p>
            <a:pPr algn="ctr">
              <a:lnSpc>
                <a:spcPct val="90000"/>
              </a:lnSpc>
              <a:spcBef>
                <a:spcPct val="0"/>
              </a:spcBef>
              <a:spcAft>
                <a:spcPts val="600"/>
              </a:spcAft>
            </a:pPr>
            <a:r>
              <a:rPr lang="tr-TR" sz="6200" b="0" cap="none" spc="0" dirty="0">
                <a:ln w="0"/>
                <a:solidFill>
                  <a:schemeClr val="bg1">
                    <a:lumMod val="85000"/>
                  </a:schemeClr>
                </a:solidFill>
                <a:effectLst>
                  <a:outerShdw blurRad="38100" dist="19050" dir="2700000" algn="tl" rotWithShape="0">
                    <a:schemeClr val="dk1">
                      <a:alpha val="40000"/>
                    </a:schemeClr>
                  </a:outerShdw>
                </a:effectLst>
                <a:latin typeface="+mj-lt"/>
                <a:ea typeface="+mj-ea"/>
                <a:cs typeface="+mj-cs"/>
              </a:rPr>
              <a:t>BÜYÜK VERİ TEKNOLOJİLERİ</a:t>
            </a:r>
          </a:p>
          <a:p>
            <a:pPr algn="ctr">
              <a:lnSpc>
                <a:spcPct val="90000"/>
              </a:lnSpc>
              <a:spcBef>
                <a:spcPct val="0"/>
              </a:spcBef>
              <a:spcAft>
                <a:spcPts val="600"/>
              </a:spcAft>
            </a:pPr>
            <a:endParaRPr lang="tr-TR" sz="5200" b="0" cap="none" spc="0" dirty="0">
              <a:ln w="0"/>
              <a:solidFill>
                <a:schemeClr val="bg1">
                  <a:lumMod val="85000"/>
                </a:schemeClr>
              </a:solidFill>
              <a:effectLst>
                <a:outerShdw blurRad="38100" dist="19050" dir="2700000" algn="tl" rotWithShape="0">
                  <a:schemeClr val="dk1">
                    <a:alpha val="40000"/>
                  </a:schemeClr>
                </a:outerShdw>
              </a:effectLst>
              <a:latin typeface="+mj-lt"/>
              <a:ea typeface="+mj-ea"/>
              <a:cs typeface="+mj-cs"/>
            </a:endParaRPr>
          </a:p>
          <a:p>
            <a:pPr algn="ctr">
              <a:lnSpc>
                <a:spcPct val="90000"/>
              </a:lnSpc>
              <a:spcBef>
                <a:spcPct val="0"/>
              </a:spcBef>
              <a:spcAft>
                <a:spcPts val="600"/>
              </a:spcAft>
            </a:pPr>
            <a:r>
              <a:rPr lang="tr-TR" sz="4400" b="0" cap="none" spc="0" dirty="0">
                <a:ln w="0"/>
                <a:solidFill>
                  <a:schemeClr val="bg1">
                    <a:lumMod val="85000"/>
                  </a:schemeClr>
                </a:solidFill>
                <a:effectLst>
                  <a:outerShdw blurRad="38100" dist="19050" dir="2700000" algn="tl" rotWithShape="0">
                    <a:schemeClr val="dk1">
                      <a:alpha val="40000"/>
                    </a:schemeClr>
                  </a:outerShdw>
                </a:effectLst>
                <a:latin typeface="+mj-lt"/>
                <a:ea typeface="+mj-ea"/>
                <a:cs typeface="+mj-cs"/>
              </a:rPr>
              <a:t>PROF. DR. ORHAN ER</a:t>
            </a:r>
          </a:p>
          <a:p>
            <a:pPr algn="ctr">
              <a:lnSpc>
                <a:spcPct val="90000"/>
              </a:lnSpc>
              <a:spcBef>
                <a:spcPct val="0"/>
              </a:spcBef>
              <a:spcAft>
                <a:spcPts val="600"/>
              </a:spcAft>
            </a:pPr>
            <a:endParaRPr lang="tr-TR" sz="4400" b="0" cap="none" spc="0" dirty="0">
              <a:ln w="0"/>
              <a:solidFill>
                <a:schemeClr val="bg1">
                  <a:lumMod val="85000"/>
                </a:schemeClr>
              </a:solidFill>
              <a:effectLst>
                <a:outerShdw blurRad="38100" dist="19050" dir="2700000" algn="tl" rotWithShape="0">
                  <a:schemeClr val="dk1">
                    <a:alpha val="40000"/>
                  </a:schemeClr>
                </a:outerShdw>
              </a:effectLst>
              <a:latin typeface="+mj-lt"/>
              <a:ea typeface="+mj-ea"/>
              <a:cs typeface="+mj-cs"/>
            </a:endParaRPr>
          </a:p>
          <a:p>
            <a:pPr algn="ctr">
              <a:lnSpc>
                <a:spcPct val="90000"/>
              </a:lnSpc>
              <a:spcBef>
                <a:spcPct val="0"/>
              </a:spcBef>
              <a:spcAft>
                <a:spcPts val="600"/>
              </a:spcAft>
            </a:pPr>
            <a:r>
              <a:rPr lang="en-US" sz="4400" b="0" cap="none" spc="0" dirty="0">
                <a:ln w="0"/>
                <a:solidFill>
                  <a:schemeClr val="bg1">
                    <a:lumMod val="85000"/>
                  </a:schemeClr>
                </a:solidFill>
                <a:effectLst>
                  <a:outerShdw blurRad="38100" dist="19050" dir="2700000" algn="tl" rotWithShape="0">
                    <a:schemeClr val="dk1">
                      <a:alpha val="40000"/>
                    </a:schemeClr>
                  </a:outerShdw>
                </a:effectLst>
                <a:latin typeface="+mj-lt"/>
                <a:ea typeface="+mj-ea"/>
                <a:cs typeface="+mj-cs"/>
              </a:rPr>
              <a:t>GÜLFİZ POYRAZ</a:t>
            </a:r>
            <a:endParaRPr lang="tr-TR" sz="4400" b="0" cap="none" spc="0" dirty="0">
              <a:ln w="0"/>
              <a:solidFill>
                <a:schemeClr val="bg1">
                  <a:lumMod val="85000"/>
                </a:schemeClr>
              </a:solidFill>
              <a:effectLst>
                <a:outerShdw blurRad="38100" dist="19050" dir="2700000" algn="tl" rotWithShape="0">
                  <a:schemeClr val="dk1">
                    <a:alpha val="40000"/>
                  </a:schemeClr>
                </a:outerShdw>
              </a:effectLst>
              <a:latin typeface="+mj-lt"/>
              <a:ea typeface="+mj-ea"/>
              <a:cs typeface="+mj-cs"/>
            </a:endParaRPr>
          </a:p>
          <a:p>
            <a:pPr algn="ctr">
              <a:lnSpc>
                <a:spcPct val="90000"/>
              </a:lnSpc>
              <a:spcBef>
                <a:spcPct val="0"/>
              </a:spcBef>
              <a:spcAft>
                <a:spcPts val="600"/>
              </a:spcAft>
            </a:pPr>
            <a:r>
              <a:rPr lang="en-US" sz="4400" dirty="0">
                <a:ln w="0"/>
                <a:solidFill>
                  <a:schemeClr val="bg1">
                    <a:lumMod val="85000"/>
                  </a:schemeClr>
                </a:solidFill>
                <a:effectLst>
                  <a:outerShdw blurRad="38100" dist="19050" dir="2700000" algn="tl" rotWithShape="0">
                    <a:schemeClr val="dk1">
                      <a:alpha val="40000"/>
                    </a:schemeClr>
                  </a:outerShdw>
                </a:effectLst>
              </a:rPr>
              <a:t>6006179</a:t>
            </a:r>
          </a:p>
          <a:p>
            <a:pPr algn="ctr">
              <a:lnSpc>
                <a:spcPct val="90000"/>
              </a:lnSpc>
              <a:spcBef>
                <a:spcPct val="0"/>
              </a:spcBef>
              <a:spcAft>
                <a:spcPts val="600"/>
              </a:spcAft>
            </a:pPr>
            <a:endParaRPr lang="en-US" sz="5200" b="0" cap="none" spc="0" dirty="0">
              <a:ln w="0"/>
              <a:solidFill>
                <a:srgbClr val="FFFFFF"/>
              </a:solidFill>
              <a:effectLst>
                <a:outerShdw blurRad="38100" dist="19050" dir="2700000" algn="tl" rotWithShape="0">
                  <a:schemeClr val="dk1">
                    <a:alpha val="40000"/>
                  </a:schemeClr>
                </a:outerShdw>
              </a:effectLst>
              <a:latin typeface="+mj-lt"/>
              <a:ea typeface="+mj-ea"/>
              <a:cs typeface="+mj-cs"/>
            </a:endParaRPr>
          </a:p>
        </p:txBody>
      </p:sp>
      <p:sp>
        <p:nvSpPr>
          <p:cNvPr id="3" name="Rectangle 2">
            <a:extLst>
              <a:ext uri="{FF2B5EF4-FFF2-40B4-BE49-F238E27FC236}">
                <a16:creationId xmlns:a16="http://schemas.microsoft.com/office/drawing/2014/main" id="{AA38DB83-8446-F479-EE11-A2A8E424E7CF}"/>
              </a:ext>
            </a:extLst>
          </p:cNvPr>
          <p:cNvSpPr/>
          <p:nvPr/>
        </p:nvSpPr>
        <p:spPr>
          <a:xfrm>
            <a:off x="1100051" y="4072043"/>
            <a:ext cx="10058400" cy="1282707"/>
          </a:xfrm>
          <a:prstGeom prst="rect">
            <a:avLst/>
          </a:prstGeom>
          <a:effectLst>
            <a:outerShdw blurRad="50800" dist="38100" dir="2700000" algn="tl" rotWithShape="0">
              <a:prstClr val="black">
                <a:alpha val="40000"/>
              </a:prstClr>
            </a:outerShdw>
          </a:effectLst>
        </p:spPr>
        <p:txBody>
          <a:bodyPr vert="horz" lIns="91440" tIns="45720" rIns="91440" bIns="45720" rtlCol="0">
            <a:normAutofit/>
          </a:bodyPr>
          <a:lstStyle/>
          <a:p>
            <a:pPr algn="ctr">
              <a:lnSpc>
                <a:spcPct val="90000"/>
              </a:lnSpc>
              <a:spcBef>
                <a:spcPts val="1000"/>
              </a:spcBef>
            </a:pPr>
            <a:endParaRPr lang="en-US" sz="2400" b="0" cap="none" spc="0" dirty="0">
              <a:ln w="0"/>
              <a:solidFill>
                <a:srgbClr val="FFFFFF"/>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27362596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and red background with a map and a shield&#10;&#10;AI-generated content may be incorrect.">
            <a:extLst>
              <a:ext uri="{FF2B5EF4-FFF2-40B4-BE49-F238E27FC236}">
                <a16:creationId xmlns:a16="http://schemas.microsoft.com/office/drawing/2014/main" id="{96F8C023-3CB4-647A-0A9B-BC7DA5E9287E}"/>
              </a:ext>
            </a:extLst>
          </p:cNvPr>
          <p:cNvPicPr>
            <a:picLocks noChangeAspect="1"/>
          </p:cNvPicPr>
          <p:nvPr/>
        </p:nvPicPr>
        <p:blipFill>
          <a:blip r:embed="rId2">
            <a:extLst>
              <a:ext uri="{28A0092B-C50C-407E-A947-70E740481C1C}">
                <a14:useLocalDpi xmlns:a14="http://schemas.microsoft.com/office/drawing/2010/main" val="0"/>
              </a:ext>
            </a:extLst>
          </a:blip>
          <a:srcRect t="14198" b="1532"/>
          <a:stretch>
            <a:fillRect/>
          </a:stretch>
        </p:blipFill>
        <p:spPr>
          <a:xfrm>
            <a:off x="0" y="-30349"/>
            <a:ext cx="12239828" cy="6888349"/>
          </a:xfrm>
          <a:prstGeom prst="rect">
            <a:avLst/>
          </a:prstGeom>
        </p:spPr>
      </p:pic>
      <p:sp>
        <p:nvSpPr>
          <p:cNvPr id="3" name="TextBox 2">
            <a:extLst>
              <a:ext uri="{FF2B5EF4-FFF2-40B4-BE49-F238E27FC236}">
                <a16:creationId xmlns:a16="http://schemas.microsoft.com/office/drawing/2014/main" id="{A796F43C-8B40-72F8-7885-22DCC9269D83}"/>
              </a:ext>
            </a:extLst>
          </p:cNvPr>
          <p:cNvSpPr txBox="1"/>
          <p:nvPr/>
        </p:nvSpPr>
        <p:spPr>
          <a:xfrm>
            <a:off x="1916634" y="1529509"/>
            <a:ext cx="8344059" cy="3631901"/>
          </a:xfrm>
          <a:prstGeom prst="rect">
            <a:avLst/>
          </a:prstGeom>
        </p:spPr>
        <p:txBody>
          <a:bodyPr vert="horz" lIns="91440" tIns="45720" rIns="91440" bIns="45720" rtlCol="0" anchor="t">
            <a:normAutofit lnSpcReduction="10000"/>
          </a:bodyPr>
          <a:lstStyle/>
          <a:p>
            <a:pPr algn="ctr">
              <a:lnSpc>
                <a:spcPct val="90000"/>
              </a:lnSpc>
              <a:spcBef>
                <a:spcPct val="0"/>
              </a:spcBef>
              <a:spcAft>
                <a:spcPts val="600"/>
              </a:spcAft>
            </a:pPr>
            <a:r>
              <a:rPr lang="en-US" sz="5200" b="1" dirty="0">
                <a:solidFill>
                  <a:schemeClr val="bg1">
                    <a:lumMod val="85000"/>
                  </a:schemeClr>
                </a:solidFill>
                <a:latin typeface="+mj-lt"/>
                <a:ea typeface="+mj-ea"/>
                <a:cs typeface="+mj-cs"/>
              </a:rPr>
              <a:t>BÜYÜK VERİ İHLALLERİ:</a:t>
            </a:r>
            <a:endParaRPr lang="tr-TR" sz="5200" b="1" dirty="0">
              <a:solidFill>
                <a:schemeClr val="bg1">
                  <a:lumMod val="85000"/>
                </a:schemeClr>
              </a:solidFill>
              <a:latin typeface="+mj-lt"/>
              <a:ea typeface="+mj-ea"/>
              <a:cs typeface="+mj-cs"/>
            </a:endParaRPr>
          </a:p>
          <a:p>
            <a:pPr algn="ctr">
              <a:lnSpc>
                <a:spcPct val="90000"/>
              </a:lnSpc>
              <a:spcBef>
                <a:spcPct val="0"/>
              </a:spcBef>
              <a:spcAft>
                <a:spcPts val="600"/>
              </a:spcAft>
            </a:pPr>
            <a:r>
              <a:rPr lang="en-US" sz="5200" b="1" dirty="0">
                <a:solidFill>
                  <a:schemeClr val="bg1">
                    <a:lumMod val="85000"/>
                  </a:schemeClr>
                </a:solidFill>
                <a:latin typeface="+mj-lt"/>
                <a:ea typeface="+mj-ea"/>
                <a:cs typeface="+mj-cs"/>
              </a:rPr>
              <a:t>2020–2025 </a:t>
            </a:r>
            <a:endParaRPr lang="tr-TR" sz="5200" b="1" dirty="0">
              <a:solidFill>
                <a:schemeClr val="bg1">
                  <a:lumMod val="85000"/>
                </a:schemeClr>
              </a:solidFill>
              <a:latin typeface="+mj-lt"/>
              <a:ea typeface="+mj-ea"/>
              <a:cs typeface="+mj-cs"/>
            </a:endParaRPr>
          </a:p>
          <a:p>
            <a:pPr algn="ctr">
              <a:lnSpc>
                <a:spcPct val="90000"/>
              </a:lnSpc>
              <a:spcBef>
                <a:spcPct val="0"/>
              </a:spcBef>
              <a:spcAft>
                <a:spcPts val="600"/>
              </a:spcAft>
            </a:pPr>
            <a:r>
              <a:rPr lang="en-US" sz="5200" b="1" dirty="0">
                <a:solidFill>
                  <a:schemeClr val="bg1">
                    <a:lumMod val="85000"/>
                  </a:schemeClr>
                </a:solidFill>
                <a:latin typeface="+mj-lt"/>
                <a:ea typeface="+mj-ea"/>
                <a:cs typeface="+mj-cs"/>
              </a:rPr>
              <a:t>TÜRKİYE VE DÜNYA ANALİZİ</a:t>
            </a:r>
          </a:p>
        </p:txBody>
      </p:sp>
    </p:spTree>
    <p:extLst>
      <p:ext uri="{BB962C8B-B14F-4D97-AF65-F5344CB8AC3E}">
        <p14:creationId xmlns:p14="http://schemas.microsoft.com/office/powerpoint/2010/main" val="38630543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896DC6-437F-AF71-8FE8-B6A1B75E5931}"/>
            </a:ext>
          </a:extLst>
        </p:cNvPr>
        <p:cNvGrpSpPr/>
        <p:nvPr/>
      </p:nvGrpSpPr>
      <p:grpSpPr>
        <a:xfrm>
          <a:off x="0" y="0"/>
          <a:ext cx="0" cy="0"/>
          <a:chOff x="0" y="0"/>
          <a:chExt cx="0" cy="0"/>
        </a:xfrm>
      </p:grpSpPr>
      <p:pic>
        <p:nvPicPr>
          <p:cNvPr id="5" name="Picture 4" descr="A blue and red background with a map and a shield&#10;&#10;AI-generated content may be incorrect.">
            <a:extLst>
              <a:ext uri="{FF2B5EF4-FFF2-40B4-BE49-F238E27FC236}">
                <a16:creationId xmlns:a16="http://schemas.microsoft.com/office/drawing/2014/main" id="{8F08426E-3401-5437-4F78-9C675E8F395F}"/>
              </a:ext>
            </a:extLst>
          </p:cNvPr>
          <p:cNvPicPr>
            <a:picLocks noChangeAspect="1"/>
          </p:cNvPicPr>
          <p:nvPr/>
        </p:nvPicPr>
        <p:blipFill>
          <a:blip r:embed="rId3">
            <a:extLst>
              <a:ext uri="{28A0092B-C50C-407E-A947-70E740481C1C}">
                <a14:useLocalDpi xmlns:a14="http://schemas.microsoft.com/office/drawing/2010/main" val="0"/>
              </a:ext>
            </a:extLst>
          </a:blip>
          <a:srcRect t="14198" b="1533"/>
          <a:stretch>
            <a:fillRect/>
          </a:stretch>
        </p:blipFill>
        <p:spPr>
          <a:xfrm>
            <a:off x="0" y="0"/>
            <a:ext cx="12191980" cy="6857990"/>
          </a:xfrm>
          <a:prstGeom prst="rect">
            <a:avLst/>
          </a:prstGeom>
        </p:spPr>
      </p:pic>
      <p:sp>
        <p:nvSpPr>
          <p:cNvPr id="2" name="Rectangle 1">
            <a:extLst>
              <a:ext uri="{FF2B5EF4-FFF2-40B4-BE49-F238E27FC236}">
                <a16:creationId xmlns:a16="http://schemas.microsoft.com/office/drawing/2014/main" id="{65DBEB90-33B8-3ADB-9A70-37D5E76536C6}"/>
              </a:ext>
            </a:extLst>
          </p:cNvPr>
          <p:cNvSpPr/>
          <p:nvPr/>
        </p:nvSpPr>
        <p:spPr>
          <a:xfrm>
            <a:off x="523875" y="425950"/>
            <a:ext cx="11210925" cy="744836"/>
          </a:xfrm>
          <a:prstGeom prst="rect">
            <a:avLst/>
          </a:prstGeom>
        </p:spPr>
        <p:txBody>
          <a:bodyPr vert="horz" lIns="91440" tIns="45720" rIns="91440" bIns="45720" rtlCol="0" anchor="ctr">
            <a:normAutofit/>
          </a:bodyPr>
          <a:lstStyle/>
          <a:p>
            <a:pPr algn="ctr">
              <a:lnSpc>
                <a:spcPct val="90000"/>
              </a:lnSpc>
              <a:spcBef>
                <a:spcPct val="0"/>
              </a:spcBef>
              <a:spcAft>
                <a:spcPts val="600"/>
              </a:spcAft>
            </a:pPr>
            <a:r>
              <a:rPr lang="en-US" sz="4400" b="1" cap="none" spc="0" dirty="0">
                <a:ln w="0"/>
                <a:solidFill>
                  <a:schemeClr val="bg1">
                    <a:lumMod val="85000"/>
                  </a:schemeClr>
                </a:solidFill>
                <a:effectLst>
                  <a:outerShdw blurRad="38100" dist="19050" dir="2700000" algn="tl" rotWithShape="0">
                    <a:schemeClr val="dk1">
                      <a:alpha val="40000"/>
                    </a:schemeClr>
                  </a:outerShdw>
                </a:effectLst>
                <a:latin typeface="Arial" panose="020B0604020202020204" pitchFamily="34" charset="0"/>
                <a:ea typeface="+mj-ea"/>
                <a:cs typeface="Arial" panose="020B0604020202020204" pitchFamily="34" charset="0"/>
              </a:rPr>
              <a:t>İÇİNDEKİLER</a:t>
            </a:r>
          </a:p>
        </p:txBody>
      </p:sp>
      <p:sp>
        <p:nvSpPr>
          <p:cNvPr id="3" name="Rectangle 2">
            <a:extLst>
              <a:ext uri="{FF2B5EF4-FFF2-40B4-BE49-F238E27FC236}">
                <a16:creationId xmlns:a16="http://schemas.microsoft.com/office/drawing/2014/main" id="{C3D511BD-EECB-6108-52C3-F8A061F3BFD9}"/>
              </a:ext>
            </a:extLst>
          </p:cNvPr>
          <p:cNvSpPr/>
          <p:nvPr/>
        </p:nvSpPr>
        <p:spPr>
          <a:xfrm>
            <a:off x="683322" y="1813784"/>
            <a:ext cx="9907341" cy="4185761"/>
          </a:xfrm>
          <a:prstGeom prst="rect">
            <a:avLst/>
          </a:prstGeom>
          <a:noFill/>
        </p:spPr>
        <p:txBody>
          <a:bodyPr wrap="square" lIns="91440" tIns="45720" rIns="91440" bIns="45720">
            <a:spAutoFit/>
          </a:bodyPr>
          <a:lstStyle/>
          <a:p>
            <a:r>
              <a:rPr lang="tr-TR" sz="1400" b="1" cap="none" spc="50" dirty="0">
                <a:ln w="0"/>
                <a:solidFill>
                  <a:schemeClr val="bg1">
                    <a:lumMod val="95000"/>
                  </a:schemeClr>
                </a:solidFill>
                <a:effectLst>
                  <a:innerShdw blurRad="63500" dist="50800" dir="13500000">
                    <a:srgbClr val="000000">
                      <a:alpha val="50000"/>
                    </a:srgbClr>
                  </a:innerShdw>
                </a:effectLst>
                <a:latin typeface="Arial" panose="020B0604020202020204" pitchFamily="34" charset="0"/>
                <a:cs typeface="Arial" panose="020B0604020202020204" pitchFamily="34" charset="0"/>
              </a:rPr>
              <a:t>1.Anahtar Kelimeler																	4</a:t>
            </a:r>
          </a:p>
          <a:p>
            <a:r>
              <a:rPr lang="tr-TR" sz="1400" b="1" spc="50" dirty="0">
                <a:ln w="0"/>
                <a:solidFill>
                  <a:schemeClr val="bg1">
                    <a:lumMod val="95000"/>
                  </a:schemeClr>
                </a:solidFill>
                <a:effectLst>
                  <a:innerShdw blurRad="63500" dist="50800" dir="13500000">
                    <a:srgbClr val="000000">
                      <a:alpha val="50000"/>
                    </a:srgbClr>
                  </a:innerShdw>
                </a:effectLst>
                <a:latin typeface="Arial" panose="020B0604020202020204" pitchFamily="34" charset="0"/>
                <a:cs typeface="Arial" panose="020B0604020202020204" pitchFamily="34" charset="0"/>
              </a:rPr>
              <a:t>2</a:t>
            </a:r>
            <a:r>
              <a:rPr lang="tr-TR" sz="1400" b="1" cap="none" spc="50" dirty="0">
                <a:ln w="0"/>
                <a:solidFill>
                  <a:schemeClr val="bg1">
                    <a:lumMod val="95000"/>
                  </a:schemeClr>
                </a:solidFill>
                <a:effectLst>
                  <a:innerShdw blurRad="63500" dist="50800" dir="13500000">
                    <a:srgbClr val="000000">
                      <a:alpha val="50000"/>
                    </a:srgbClr>
                  </a:innerShdw>
                </a:effectLst>
                <a:latin typeface="Arial" panose="020B0604020202020204" pitchFamily="34" charset="0"/>
                <a:cs typeface="Arial" panose="020B0604020202020204" pitchFamily="34" charset="0"/>
              </a:rPr>
              <a:t>.Büyük veri nedir?																	5</a:t>
            </a:r>
          </a:p>
          <a:p>
            <a:r>
              <a:rPr lang="tr-TR" sz="1400" b="1" spc="50" dirty="0">
                <a:ln w="0"/>
                <a:solidFill>
                  <a:schemeClr val="bg1">
                    <a:lumMod val="95000"/>
                  </a:schemeClr>
                </a:solidFill>
                <a:effectLst>
                  <a:innerShdw blurRad="63500" dist="50800" dir="13500000">
                    <a:srgbClr val="000000">
                      <a:alpha val="50000"/>
                    </a:srgbClr>
                  </a:innerShdw>
                </a:effectLst>
                <a:latin typeface="Arial" panose="020B0604020202020204" pitchFamily="34" charset="0"/>
                <a:cs typeface="Arial" panose="020B0604020202020204" pitchFamily="34" charset="0"/>
              </a:rPr>
              <a:t>3.Veri ihlali nedir?																	6</a:t>
            </a:r>
            <a:endParaRPr lang="tr-TR" sz="1400" b="1" cap="none" spc="50" dirty="0">
              <a:ln w="0"/>
              <a:solidFill>
                <a:schemeClr val="bg1">
                  <a:lumMod val="95000"/>
                </a:schemeClr>
              </a:solidFill>
              <a:effectLst>
                <a:innerShdw blurRad="63500" dist="50800" dir="13500000">
                  <a:srgbClr val="000000">
                    <a:alpha val="50000"/>
                  </a:srgbClr>
                </a:innerShdw>
              </a:effectLst>
              <a:latin typeface="Arial" panose="020B0604020202020204" pitchFamily="34" charset="0"/>
              <a:cs typeface="Arial" panose="020B0604020202020204" pitchFamily="34" charset="0"/>
            </a:endParaRPr>
          </a:p>
          <a:p>
            <a:r>
              <a:rPr lang="tr-TR" sz="1400" b="1" spc="50" dirty="0">
                <a:ln w="0"/>
                <a:solidFill>
                  <a:schemeClr val="bg1">
                    <a:lumMod val="95000"/>
                  </a:schemeClr>
                </a:solidFill>
                <a:effectLst>
                  <a:innerShdw blurRad="63500" dist="50800" dir="13500000">
                    <a:srgbClr val="000000">
                      <a:alpha val="50000"/>
                    </a:srgbClr>
                  </a:innerShdw>
                </a:effectLst>
                <a:latin typeface="Arial" panose="020B0604020202020204" pitchFamily="34" charset="0"/>
                <a:cs typeface="Arial" panose="020B0604020202020204" pitchFamily="34" charset="0"/>
              </a:rPr>
              <a:t>4</a:t>
            </a:r>
            <a:r>
              <a:rPr lang="tr-TR" sz="1400" b="1" cap="none" spc="50" dirty="0">
                <a:ln w="0"/>
                <a:solidFill>
                  <a:schemeClr val="bg1">
                    <a:lumMod val="95000"/>
                  </a:schemeClr>
                </a:solidFill>
                <a:effectLst>
                  <a:innerShdw blurRad="63500" dist="50800" dir="13500000">
                    <a:srgbClr val="000000">
                      <a:alpha val="50000"/>
                    </a:srgbClr>
                  </a:innerShdw>
                </a:effectLst>
                <a:latin typeface="Arial" panose="020B0604020202020204" pitchFamily="34" charset="0"/>
                <a:cs typeface="Arial" panose="020B0604020202020204" pitchFamily="34" charset="0"/>
              </a:rPr>
              <a:t>.Veri ihlal türleri nelerdir?.															7</a:t>
            </a:r>
          </a:p>
          <a:p>
            <a:r>
              <a:rPr lang="tr-TR" sz="1400" b="1" spc="50" dirty="0">
                <a:ln w="0"/>
                <a:solidFill>
                  <a:schemeClr val="bg1">
                    <a:lumMod val="95000"/>
                  </a:schemeClr>
                </a:solidFill>
                <a:effectLst>
                  <a:innerShdw blurRad="63500" dist="50800" dir="13500000">
                    <a:srgbClr val="000000">
                      <a:alpha val="50000"/>
                    </a:srgbClr>
                  </a:innerShdw>
                </a:effectLst>
                <a:latin typeface="Arial" panose="020B0604020202020204" pitchFamily="34" charset="0"/>
                <a:cs typeface="Arial" panose="020B0604020202020204" pitchFamily="34" charset="0"/>
              </a:rPr>
              <a:t>5.</a:t>
            </a:r>
            <a:r>
              <a:rPr lang="tr-TR" sz="1400" b="1" kern="100" dirty="0">
                <a:solidFill>
                  <a:schemeClr val="bg1">
                    <a:lumMod val="95000"/>
                  </a:schemeClr>
                </a:solidFill>
                <a:latin typeface="Arial" panose="020B0604020202020204" pitchFamily="34" charset="0"/>
                <a:ea typeface="Aptos" panose="020B0004020202020204" pitchFamily="34" charset="0"/>
                <a:cs typeface="Arial" panose="020B0604020202020204" pitchFamily="34" charset="0"/>
              </a:rPr>
              <a:t>Yaygın Veri İhlal Hedefleri Nelerdir?														8</a:t>
            </a:r>
          </a:p>
          <a:p>
            <a:r>
              <a:rPr lang="tr-TR" sz="1400" b="1" kern="100" dirty="0">
                <a:solidFill>
                  <a:schemeClr val="bg1">
                    <a:lumMod val="95000"/>
                  </a:schemeClr>
                </a:solidFill>
                <a:latin typeface="Arial" panose="020B0604020202020204" pitchFamily="34" charset="0"/>
                <a:ea typeface="Aptos" panose="020B0004020202020204" pitchFamily="34" charset="0"/>
                <a:cs typeface="Arial" panose="020B0604020202020204" pitchFamily="34" charset="0"/>
              </a:rPr>
              <a:t>6.</a:t>
            </a:r>
            <a:r>
              <a:rPr lang="tr-TR" sz="1400" b="1" dirty="0">
                <a:solidFill>
                  <a:schemeClr val="bg1">
                    <a:lumMod val="95000"/>
                  </a:schemeClr>
                </a:solidFill>
                <a:latin typeface="Arial" panose="020B0604020202020204" pitchFamily="34" charset="0"/>
                <a:cs typeface="Arial" panose="020B0604020202020204" pitchFamily="34" charset="0"/>
              </a:rPr>
              <a:t> Küresel Ölçekte Artan Riskler															8 </a:t>
            </a:r>
          </a:p>
          <a:p>
            <a:r>
              <a:rPr lang="tr-TR" sz="1400" b="1" kern="100" dirty="0">
                <a:solidFill>
                  <a:schemeClr val="bg1">
                    <a:lumMod val="95000"/>
                  </a:schemeClr>
                </a:solidFill>
                <a:latin typeface="Arial" panose="020B0604020202020204" pitchFamily="34" charset="0"/>
                <a:ea typeface="Aptos" panose="020B0004020202020204" pitchFamily="34" charset="0"/>
                <a:cs typeface="Arial" panose="020B0604020202020204" pitchFamily="34" charset="0"/>
              </a:rPr>
              <a:t>7.</a:t>
            </a:r>
            <a:r>
              <a:rPr lang="tr-TR" sz="1400" b="1" dirty="0">
                <a:solidFill>
                  <a:schemeClr val="accent1">
                    <a:lumMod val="25000"/>
                  </a:schemeClr>
                </a:solidFill>
                <a:latin typeface="Arial" panose="020B0604020202020204" pitchFamily="34" charset="0"/>
                <a:cs typeface="Arial" panose="020B0604020202020204" pitchFamily="34" charset="0"/>
              </a:rPr>
              <a:t> </a:t>
            </a:r>
            <a:r>
              <a:rPr lang="tr-TR" sz="1400" b="1" dirty="0">
                <a:solidFill>
                  <a:schemeClr val="bg1">
                    <a:lumMod val="95000"/>
                  </a:schemeClr>
                </a:solidFill>
                <a:latin typeface="Arial" panose="020B0604020202020204" pitchFamily="34" charset="0"/>
                <a:cs typeface="Arial" panose="020B0604020202020204" pitchFamily="34" charset="0"/>
              </a:rPr>
              <a:t>2020–2025 Yılları Arası  Küresel Veri İhlalleri												10</a:t>
            </a:r>
          </a:p>
          <a:p>
            <a:r>
              <a:rPr lang="tr-TR" sz="1400" b="1" kern="100" dirty="0">
                <a:solidFill>
                  <a:schemeClr val="bg1">
                    <a:lumMod val="95000"/>
                  </a:schemeClr>
                </a:solidFill>
                <a:latin typeface="Arial" panose="020B0604020202020204" pitchFamily="34" charset="0"/>
                <a:ea typeface="Aptos" panose="020B0004020202020204" pitchFamily="34" charset="0"/>
                <a:cs typeface="Arial" panose="020B0604020202020204" pitchFamily="34" charset="0"/>
              </a:rPr>
              <a:t>8.Yıllara göre Küresel Veri İhlalleri														11</a:t>
            </a:r>
          </a:p>
          <a:p>
            <a:r>
              <a:rPr lang="tr-TR" sz="1400" b="1" kern="100" dirty="0">
                <a:solidFill>
                  <a:schemeClr val="bg1">
                    <a:lumMod val="95000"/>
                  </a:schemeClr>
                </a:solidFill>
                <a:latin typeface="Arial" panose="020B0604020202020204" pitchFamily="34" charset="0"/>
                <a:ea typeface="Aptos" panose="020B0004020202020204" pitchFamily="34" charset="0"/>
                <a:cs typeface="Arial" panose="020B0604020202020204" pitchFamily="34" charset="0"/>
              </a:rPr>
              <a:t>9.20250-2025 Yılları Arası Küresel Ölçekte Veri İhlallerinde Karşılaştırmalı Analizler					21</a:t>
            </a:r>
          </a:p>
          <a:p>
            <a:pPr marL="285750" indent="-14288">
              <a:buFont typeface="Arial" panose="020B0604020202020204" pitchFamily="34" charset="0"/>
              <a:buChar char="•"/>
            </a:pPr>
            <a:r>
              <a:rPr lang="tr-TR" sz="1400" b="1" kern="100" spc="50" dirty="0">
                <a:ln w="0"/>
                <a:solidFill>
                  <a:schemeClr val="bg1">
                    <a:lumMod val="95000"/>
                  </a:schemeClr>
                </a:solidFill>
                <a:effectLst>
                  <a:innerShdw blurRad="63500" dist="50800" dir="13500000">
                    <a:srgbClr val="000000">
                      <a:alpha val="50000"/>
                    </a:srgbClr>
                  </a:innerShdw>
                </a:effectLst>
                <a:latin typeface="Arial" panose="020B0604020202020204" pitchFamily="34" charset="0"/>
                <a:cs typeface="Arial" panose="020B0604020202020204" pitchFamily="34" charset="0"/>
              </a:rPr>
              <a:t>  	İhlal Hedeflerine göre </a:t>
            </a:r>
            <a:r>
              <a:rPr lang="tr-TR" sz="1400" b="1" kern="100" dirty="0">
                <a:solidFill>
                  <a:schemeClr val="bg1">
                    <a:lumMod val="95000"/>
                  </a:schemeClr>
                </a:solidFill>
                <a:latin typeface="Arial" panose="020B0604020202020204" pitchFamily="34" charset="0"/>
                <a:ea typeface="Aptos" panose="020B0004020202020204" pitchFamily="34" charset="0"/>
                <a:cs typeface="Arial" panose="020B0604020202020204" pitchFamily="34" charset="0"/>
              </a:rPr>
              <a:t>Karşılaştırmalı Analizler											22</a:t>
            </a:r>
          </a:p>
          <a:p>
            <a:pPr marL="285750" indent="-14288">
              <a:buFont typeface="Arial" panose="020B0604020202020204" pitchFamily="34" charset="0"/>
              <a:buChar char="•"/>
            </a:pPr>
            <a:r>
              <a:rPr lang="tr-TR" sz="1400" b="1" kern="100" spc="50" dirty="0">
                <a:ln w="0"/>
                <a:solidFill>
                  <a:schemeClr val="bg1">
                    <a:lumMod val="95000"/>
                  </a:schemeClr>
                </a:solidFill>
                <a:effectLst>
                  <a:innerShdw blurRad="63500" dist="50800" dir="13500000">
                    <a:srgbClr val="000000">
                      <a:alpha val="50000"/>
                    </a:srgbClr>
                  </a:innerShdw>
                </a:effectLst>
                <a:latin typeface="Arial" panose="020B0604020202020204" pitchFamily="34" charset="0"/>
                <a:cs typeface="Arial" panose="020B0604020202020204" pitchFamily="34" charset="0"/>
              </a:rPr>
              <a:t> 	İhlal Sayısına  göre </a:t>
            </a:r>
            <a:r>
              <a:rPr lang="tr-TR" sz="1400" b="1" kern="100" dirty="0">
                <a:solidFill>
                  <a:schemeClr val="bg1">
                    <a:lumMod val="95000"/>
                  </a:schemeClr>
                </a:solidFill>
                <a:latin typeface="Arial" panose="020B0604020202020204" pitchFamily="34" charset="0"/>
                <a:ea typeface="Aptos" panose="020B0004020202020204" pitchFamily="34" charset="0"/>
                <a:cs typeface="Arial" panose="020B0604020202020204" pitchFamily="34" charset="0"/>
              </a:rPr>
              <a:t>Karşılaştırmalı Analizler											23</a:t>
            </a:r>
          </a:p>
          <a:p>
            <a:pPr marL="285750" indent="-14288">
              <a:buFont typeface="Arial" panose="020B0604020202020204" pitchFamily="34" charset="0"/>
              <a:buChar char="•"/>
            </a:pPr>
            <a:r>
              <a:rPr lang="tr-TR" sz="1400" b="1" kern="100" spc="50" dirty="0">
                <a:ln w="0"/>
                <a:solidFill>
                  <a:schemeClr val="bg1">
                    <a:lumMod val="95000"/>
                  </a:schemeClr>
                </a:solidFill>
                <a:effectLst>
                  <a:innerShdw blurRad="63500" dist="50800" dir="13500000">
                    <a:srgbClr val="000000">
                      <a:alpha val="50000"/>
                    </a:srgbClr>
                  </a:innerShdw>
                </a:effectLst>
                <a:latin typeface="Arial" panose="020B0604020202020204" pitchFamily="34" charset="0"/>
                <a:cs typeface="Arial" panose="020B0604020202020204" pitchFamily="34" charset="0"/>
              </a:rPr>
              <a:t> 	Saldırıların Hedeflerine göre </a:t>
            </a:r>
            <a:r>
              <a:rPr lang="tr-TR" sz="1400" b="1" kern="100" dirty="0">
                <a:solidFill>
                  <a:schemeClr val="bg1">
                    <a:lumMod val="95000"/>
                  </a:schemeClr>
                </a:solidFill>
                <a:latin typeface="Arial" panose="020B0604020202020204" pitchFamily="34" charset="0"/>
                <a:ea typeface="Aptos" panose="020B0004020202020204" pitchFamily="34" charset="0"/>
                <a:cs typeface="Arial" panose="020B0604020202020204" pitchFamily="34" charset="0"/>
              </a:rPr>
              <a:t>Karşılaştırmalı Analizler									24</a:t>
            </a:r>
          </a:p>
          <a:p>
            <a:pPr marL="285750" indent="-14288">
              <a:buFont typeface="Arial" panose="020B0604020202020204" pitchFamily="34" charset="0"/>
              <a:buChar char="•"/>
            </a:pPr>
            <a:r>
              <a:rPr lang="tr-TR" sz="1400" b="1" kern="100" spc="50" dirty="0">
                <a:ln w="0"/>
                <a:solidFill>
                  <a:schemeClr val="bg1">
                    <a:lumMod val="95000"/>
                  </a:schemeClr>
                </a:solidFill>
                <a:effectLst>
                  <a:innerShdw blurRad="63500" dist="50800" dir="13500000">
                    <a:srgbClr val="000000">
                      <a:alpha val="50000"/>
                    </a:srgbClr>
                  </a:innerShdw>
                </a:effectLst>
                <a:latin typeface="Arial" panose="020B0604020202020204" pitchFamily="34" charset="0"/>
                <a:cs typeface="Arial" panose="020B0604020202020204" pitchFamily="34" charset="0"/>
              </a:rPr>
              <a:t> 	Sonuç Türlerine göre </a:t>
            </a:r>
            <a:r>
              <a:rPr lang="tr-TR" sz="1400" b="1" kern="100" dirty="0">
                <a:solidFill>
                  <a:schemeClr val="bg1">
                    <a:lumMod val="95000"/>
                  </a:schemeClr>
                </a:solidFill>
                <a:latin typeface="Arial" panose="020B0604020202020204" pitchFamily="34" charset="0"/>
                <a:ea typeface="Aptos" panose="020B0004020202020204" pitchFamily="34" charset="0"/>
                <a:cs typeface="Arial" panose="020B0604020202020204" pitchFamily="34" charset="0"/>
              </a:rPr>
              <a:t>Karşılaştırmalı Analizler											25</a:t>
            </a:r>
          </a:p>
          <a:p>
            <a:pPr marL="285750" indent="-14288">
              <a:buFont typeface="Arial" panose="020B0604020202020204" pitchFamily="34" charset="0"/>
              <a:buChar char="•"/>
            </a:pPr>
            <a:r>
              <a:rPr lang="tr-TR" sz="1400" b="1" kern="100" spc="50" dirty="0">
                <a:ln w="0"/>
                <a:solidFill>
                  <a:schemeClr val="bg1">
                    <a:lumMod val="95000"/>
                  </a:schemeClr>
                </a:solidFill>
                <a:effectLst>
                  <a:innerShdw blurRad="63500" dist="50800" dir="13500000">
                    <a:srgbClr val="000000">
                      <a:alpha val="50000"/>
                    </a:srgbClr>
                  </a:innerShdw>
                </a:effectLst>
                <a:latin typeface="Arial" panose="020B0604020202020204" pitchFamily="34" charset="0"/>
                <a:cs typeface="Arial" panose="020B0604020202020204" pitchFamily="34" charset="0"/>
              </a:rPr>
              <a:t>  	Etkilenen Kişi ve Kurumlara göre </a:t>
            </a:r>
            <a:r>
              <a:rPr lang="tr-TR" sz="1400" b="1" kern="100" dirty="0">
                <a:solidFill>
                  <a:schemeClr val="bg1">
                    <a:lumMod val="95000"/>
                  </a:schemeClr>
                </a:solidFill>
                <a:latin typeface="Arial" panose="020B0604020202020204" pitchFamily="34" charset="0"/>
                <a:ea typeface="Aptos" panose="020B0004020202020204" pitchFamily="34" charset="0"/>
                <a:cs typeface="Arial" panose="020B0604020202020204" pitchFamily="34" charset="0"/>
              </a:rPr>
              <a:t>Karşılaştırmalı Analizler								26</a:t>
            </a:r>
          </a:p>
          <a:p>
            <a:r>
              <a:rPr lang="tr-TR" sz="1400" b="1" kern="100" dirty="0">
                <a:solidFill>
                  <a:schemeClr val="bg1">
                    <a:lumMod val="95000"/>
                  </a:schemeClr>
                </a:solidFill>
                <a:latin typeface="Arial" panose="020B0604020202020204" pitchFamily="34" charset="0"/>
                <a:ea typeface="Aptos" panose="020B0004020202020204" pitchFamily="34" charset="0"/>
                <a:cs typeface="Arial" panose="020B0604020202020204" pitchFamily="34" charset="0"/>
              </a:rPr>
              <a:t>10.2020-2025 Yılları Arası Siber Saldırıların Tematik Dağılımı										27</a:t>
            </a:r>
          </a:p>
          <a:p>
            <a:r>
              <a:rPr lang="tr-TR" sz="1400" b="1" kern="100" dirty="0">
                <a:solidFill>
                  <a:schemeClr val="bg1">
                    <a:lumMod val="95000"/>
                  </a:schemeClr>
                </a:solidFill>
                <a:latin typeface="Arial" panose="020B0604020202020204" pitchFamily="34" charset="0"/>
                <a:ea typeface="Aptos" panose="020B0004020202020204" pitchFamily="34" charset="0"/>
                <a:cs typeface="Arial" panose="020B0604020202020204" pitchFamily="34" charset="0"/>
              </a:rPr>
              <a:t>11.Bulgular, Sonuçlar ve Kurumsal Öneriler													28</a:t>
            </a:r>
          </a:p>
          <a:p>
            <a:r>
              <a:rPr lang="tr-TR" sz="1400" b="1" kern="100" dirty="0">
                <a:solidFill>
                  <a:schemeClr val="bg1">
                    <a:lumMod val="95000"/>
                  </a:schemeClr>
                </a:solidFill>
                <a:latin typeface="Arial" panose="020B0604020202020204" pitchFamily="34" charset="0"/>
                <a:ea typeface="Aptos" panose="020B0004020202020204" pitchFamily="34" charset="0"/>
                <a:cs typeface="Arial" panose="020B0604020202020204" pitchFamily="34" charset="0"/>
              </a:rPr>
              <a:t>12.Kaynakça																		29</a:t>
            </a:r>
          </a:p>
          <a:p>
            <a:r>
              <a:rPr lang="tr-TR" sz="1400" b="1" kern="100" dirty="0">
                <a:solidFill>
                  <a:schemeClr val="bg1">
                    <a:lumMod val="95000"/>
                  </a:schemeClr>
                </a:solidFill>
                <a:latin typeface="Arial" panose="020B0604020202020204" pitchFamily="34" charset="0"/>
                <a:ea typeface="Aptos" panose="020B0004020202020204" pitchFamily="34" charset="0"/>
                <a:cs typeface="Arial" panose="020B0604020202020204" pitchFamily="34" charset="0"/>
              </a:rPr>
              <a:t>13.Teşekkür																		31</a:t>
            </a:r>
          </a:p>
          <a:p>
            <a:pPr algn="ctr"/>
            <a:r>
              <a:rPr lang="tr-TR" sz="1400" b="1" cap="none" spc="50" dirty="0">
                <a:ln w="0"/>
                <a:solidFill>
                  <a:schemeClr val="bg2"/>
                </a:solidFill>
                <a:effectLst>
                  <a:innerShdw blurRad="63500" dist="50800" dir="13500000">
                    <a:srgbClr val="000000">
                      <a:alpha val="50000"/>
                    </a:srgbClr>
                  </a:innerShdw>
                </a:effectLst>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3916233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2" name="Picture 1">
            <a:extLst>
              <a:ext uri="{FF2B5EF4-FFF2-40B4-BE49-F238E27FC236}">
                <a16:creationId xmlns:a16="http://schemas.microsoft.com/office/drawing/2014/main" id="{D065231C-A507-2FE7-36CF-06C8640E4536}"/>
              </a:ext>
            </a:extLst>
          </p:cNvPr>
          <p:cNvPicPr>
            <a:picLocks noChangeAspect="1"/>
          </p:cNvPicPr>
          <p:nvPr/>
        </p:nvPicPr>
        <p:blipFill>
          <a:blip r:embed="rId2"/>
          <a:srcRect t="19"/>
          <a:stretch>
            <a:fillRect/>
          </a:stretch>
        </p:blipFill>
        <p:spPr>
          <a:xfrm>
            <a:off x="20" y="0"/>
            <a:ext cx="12191980" cy="6856718"/>
          </a:xfrm>
          <a:prstGeom prst="rect">
            <a:avLst/>
          </a:prstGeom>
        </p:spPr>
      </p:pic>
      <p:sp>
        <p:nvSpPr>
          <p:cNvPr id="4" name="TextBox 3">
            <a:extLst>
              <a:ext uri="{FF2B5EF4-FFF2-40B4-BE49-F238E27FC236}">
                <a16:creationId xmlns:a16="http://schemas.microsoft.com/office/drawing/2014/main" id="{26215531-1D07-5623-5E6A-18C6E67A73D0}"/>
              </a:ext>
            </a:extLst>
          </p:cNvPr>
          <p:cNvSpPr txBox="1"/>
          <p:nvPr/>
        </p:nvSpPr>
        <p:spPr>
          <a:xfrm>
            <a:off x="2462530" y="479625"/>
            <a:ext cx="6194066" cy="584775"/>
          </a:xfrm>
          <a:prstGeom prst="rect">
            <a:avLst/>
          </a:prstGeom>
          <a:noFill/>
        </p:spPr>
        <p:txBody>
          <a:bodyPr wrap="square">
            <a:spAutoFit/>
          </a:bodyPr>
          <a:lstStyle/>
          <a:p>
            <a:pPr algn="ctr"/>
            <a:r>
              <a:rPr lang="tr-TR" sz="3200"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Anahtar Kelimler</a:t>
            </a:r>
            <a:endParaRPr lang="tr-TR" sz="3200" dirty="0">
              <a:effectLst>
                <a:outerShdw blurRad="38100" dist="38100" dir="2700000" algn="tl">
                  <a:srgbClr val="000000">
                    <a:alpha val="43137"/>
                  </a:srgbClr>
                </a:outerShdw>
              </a:effectLst>
            </a:endParaRPr>
          </a:p>
        </p:txBody>
      </p:sp>
      <p:sp>
        <p:nvSpPr>
          <p:cNvPr id="6" name="TextBox 5">
            <a:extLst>
              <a:ext uri="{FF2B5EF4-FFF2-40B4-BE49-F238E27FC236}">
                <a16:creationId xmlns:a16="http://schemas.microsoft.com/office/drawing/2014/main" id="{7C22D3D9-D9C8-E645-41FB-59390A778D77}"/>
              </a:ext>
            </a:extLst>
          </p:cNvPr>
          <p:cNvSpPr txBox="1"/>
          <p:nvPr/>
        </p:nvSpPr>
        <p:spPr>
          <a:xfrm>
            <a:off x="902885" y="1064398"/>
            <a:ext cx="2813144" cy="2462213"/>
          </a:xfrm>
          <a:prstGeom prst="rect">
            <a:avLst/>
          </a:prstGeom>
          <a:noFill/>
        </p:spPr>
        <p:txBody>
          <a:bodyPr wrap="square">
            <a:spAutoFit/>
          </a:bodyPr>
          <a:lstStyle/>
          <a:p>
            <a:pPr>
              <a:buNone/>
            </a:pPr>
            <a:r>
              <a:rPr lang="tr-TR" sz="1400" b="1" dirty="0">
                <a:latin typeface="Arial" panose="020B0604020202020204" pitchFamily="34" charset="0"/>
                <a:cs typeface="Arial" panose="020B0604020202020204" pitchFamily="34" charset="0"/>
              </a:rPr>
              <a:t>Temel Kavramlar</a:t>
            </a:r>
          </a:p>
          <a:p>
            <a:pPr>
              <a:buFont typeface="Arial" panose="020B0604020202020204" pitchFamily="34" charset="0"/>
              <a:buChar char="•"/>
            </a:pPr>
            <a:r>
              <a:rPr lang="tr-TR" sz="1400" dirty="0">
                <a:latin typeface="Arial" panose="020B0604020202020204" pitchFamily="34" charset="0"/>
                <a:cs typeface="Arial" panose="020B0604020202020204" pitchFamily="34" charset="0"/>
              </a:rPr>
              <a:t>Büyük veri (</a:t>
            </a:r>
            <a:r>
              <a:rPr lang="tr-TR" sz="1400" dirty="0" err="1">
                <a:latin typeface="Arial" panose="020B0604020202020204" pitchFamily="34" charset="0"/>
                <a:cs typeface="Arial" panose="020B0604020202020204" pitchFamily="34" charset="0"/>
              </a:rPr>
              <a:t>Big</a:t>
            </a:r>
            <a:r>
              <a:rPr lang="tr-TR" sz="1400" dirty="0">
                <a:latin typeface="Arial" panose="020B0604020202020204" pitchFamily="34" charset="0"/>
                <a:cs typeface="Arial" panose="020B0604020202020204" pitchFamily="34" charset="0"/>
              </a:rPr>
              <a:t> Data)</a:t>
            </a:r>
          </a:p>
          <a:p>
            <a:pPr>
              <a:buFont typeface="Arial" panose="020B0604020202020204" pitchFamily="34" charset="0"/>
              <a:buChar char="•"/>
            </a:pPr>
            <a:r>
              <a:rPr lang="tr-TR" sz="1400" dirty="0">
                <a:latin typeface="Arial" panose="020B0604020202020204" pitchFamily="34" charset="0"/>
                <a:cs typeface="Arial" panose="020B0604020202020204" pitchFamily="34" charset="0"/>
              </a:rPr>
              <a:t>Veri ihlali (Data </a:t>
            </a:r>
            <a:r>
              <a:rPr lang="tr-TR" sz="1400" dirty="0" err="1">
                <a:latin typeface="Arial" panose="020B0604020202020204" pitchFamily="34" charset="0"/>
                <a:cs typeface="Arial" panose="020B0604020202020204" pitchFamily="34" charset="0"/>
              </a:rPr>
              <a:t>Breach</a:t>
            </a:r>
            <a:r>
              <a:rPr lang="tr-TR" sz="1400" dirty="0">
                <a:latin typeface="Arial" panose="020B0604020202020204" pitchFamily="34" charset="0"/>
                <a:cs typeface="Arial" panose="020B0604020202020204" pitchFamily="34" charset="0"/>
              </a:rPr>
              <a:t>)</a:t>
            </a:r>
          </a:p>
          <a:p>
            <a:pPr>
              <a:buFont typeface="Arial" panose="020B0604020202020204" pitchFamily="34" charset="0"/>
              <a:buChar char="•"/>
            </a:pPr>
            <a:r>
              <a:rPr lang="tr-TR" sz="1400" dirty="0">
                <a:latin typeface="Arial" panose="020B0604020202020204" pitchFamily="34" charset="0"/>
                <a:cs typeface="Arial" panose="020B0604020202020204" pitchFamily="34" charset="0"/>
              </a:rPr>
              <a:t>Siber saldırı (</a:t>
            </a:r>
            <a:r>
              <a:rPr lang="tr-TR" sz="1400" dirty="0" err="1">
                <a:latin typeface="Arial" panose="020B0604020202020204" pitchFamily="34" charset="0"/>
                <a:cs typeface="Arial" panose="020B0604020202020204" pitchFamily="34" charset="0"/>
              </a:rPr>
              <a:t>Cyberattack</a:t>
            </a:r>
            <a:r>
              <a:rPr lang="tr-TR" sz="1400" dirty="0">
                <a:latin typeface="Arial" panose="020B0604020202020204" pitchFamily="34" charset="0"/>
                <a:cs typeface="Arial" panose="020B0604020202020204" pitchFamily="34" charset="0"/>
              </a:rPr>
              <a:t>)</a:t>
            </a:r>
          </a:p>
          <a:p>
            <a:pPr>
              <a:buFont typeface="Arial" panose="020B0604020202020204" pitchFamily="34" charset="0"/>
              <a:buChar char="•"/>
            </a:pPr>
            <a:r>
              <a:rPr lang="tr-TR" sz="1400" dirty="0">
                <a:latin typeface="Arial" panose="020B0604020202020204" pitchFamily="34" charset="0"/>
                <a:cs typeface="Arial" panose="020B0604020202020204" pitchFamily="34" charset="0"/>
              </a:rPr>
              <a:t>Dijital güvenlik</a:t>
            </a:r>
          </a:p>
          <a:p>
            <a:pPr>
              <a:buFont typeface="Arial" panose="020B0604020202020204" pitchFamily="34" charset="0"/>
              <a:buChar char="•"/>
            </a:pPr>
            <a:r>
              <a:rPr lang="tr-TR" sz="1400" dirty="0">
                <a:latin typeface="Arial" panose="020B0604020202020204" pitchFamily="34" charset="0"/>
                <a:cs typeface="Arial" panose="020B0604020202020204" pitchFamily="34" charset="0"/>
              </a:rPr>
              <a:t>Kişisel veriler (PII)</a:t>
            </a:r>
          </a:p>
          <a:p>
            <a:pPr>
              <a:buFont typeface="Arial" panose="020B0604020202020204" pitchFamily="34" charset="0"/>
              <a:buChar char="•"/>
            </a:pPr>
            <a:r>
              <a:rPr lang="tr-TR" sz="1400" dirty="0">
                <a:latin typeface="Arial" panose="020B0604020202020204" pitchFamily="34" charset="0"/>
                <a:cs typeface="Arial" panose="020B0604020202020204" pitchFamily="34" charset="0"/>
              </a:rPr>
              <a:t>Korumalı sağlık bilgileri (PHI)</a:t>
            </a:r>
          </a:p>
          <a:p>
            <a:pPr>
              <a:buFont typeface="Arial" panose="020B0604020202020204" pitchFamily="34" charset="0"/>
              <a:buChar char="•"/>
            </a:pPr>
            <a:r>
              <a:rPr lang="tr-TR" sz="1400" dirty="0">
                <a:latin typeface="Arial" panose="020B0604020202020204" pitchFamily="34" charset="0"/>
                <a:cs typeface="Arial" panose="020B0604020202020204" pitchFamily="34" charset="0"/>
              </a:rPr>
              <a:t>Fikri mülkiyet (IP)</a:t>
            </a:r>
          </a:p>
          <a:p>
            <a:pPr>
              <a:buFont typeface="Arial" panose="020B0604020202020204" pitchFamily="34" charset="0"/>
              <a:buChar char="•"/>
            </a:pPr>
            <a:r>
              <a:rPr lang="tr-TR" sz="1400" dirty="0">
                <a:latin typeface="Arial" panose="020B0604020202020204" pitchFamily="34" charset="0"/>
                <a:cs typeface="Arial" panose="020B0604020202020204" pitchFamily="34" charset="0"/>
              </a:rPr>
              <a:t>Finansal veriler</a:t>
            </a:r>
          </a:p>
          <a:p>
            <a:pPr>
              <a:buFont typeface="Arial" panose="020B0604020202020204" pitchFamily="34" charset="0"/>
              <a:buChar char="•"/>
            </a:pPr>
            <a:r>
              <a:rPr lang="tr-TR" sz="1400" dirty="0">
                <a:latin typeface="Arial" panose="020B0604020202020204" pitchFamily="34" charset="0"/>
                <a:cs typeface="Arial" panose="020B0604020202020204" pitchFamily="34" charset="0"/>
              </a:rPr>
              <a:t>İş açısından kritik veriler</a:t>
            </a:r>
          </a:p>
          <a:p>
            <a:pPr>
              <a:buFont typeface="Arial" panose="020B0604020202020204" pitchFamily="34" charset="0"/>
              <a:buChar char="•"/>
            </a:pPr>
            <a:r>
              <a:rPr lang="tr-TR" sz="1400" dirty="0" err="1">
                <a:latin typeface="Arial" panose="020B0604020202020204" pitchFamily="34" charset="0"/>
                <a:cs typeface="Arial" panose="020B0604020202020204" pitchFamily="34" charset="0"/>
              </a:rPr>
              <a:t>Operasyonel</a:t>
            </a:r>
            <a:r>
              <a:rPr lang="tr-TR" sz="1400" dirty="0">
                <a:latin typeface="Arial" panose="020B0604020202020204" pitchFamily="34" charset="0"/>
                <a:cs typeface="Arial" panose="020B0604020202020204" pitchFamily="34" charset="0"/>
              </a:rPr>
              <a:t> veriler</a:t>
            </a:r>
          </a:p>
        </p:txBody>
      </p:sp>
      <p:sp>
        <p:nvSpPr>
          <p:cNvPr id="9" name="TextBox 8">
            <a:extLst>
              <a:ext uri="{FF2B5EF4-FFF2-40B4-BE49-F238E27FC236}">
                <a16:creationId xmlns:a16="http://schemas.microsoft.com/office/drawing/2014/main" id="{E94B1EA3-177B-8AE9-0E2E-47504DB1CDEA}"/>
              </a:ext>
            </a:extLst>
          </p:cNvPr>
          <p:cNvSpPr txBox="1"/>
          <p:nvPr/>
        </p:nvSpPr>
        <p:spPr>
          <a:xfrm>
            <a:off x="4385002" y="1064398"/>
            <a:ext cx="3945909" cy="2462213"/>
          </a:xfrm>
          <a:prstGeom prst="rect">
            <a:avLst/>
          </a:prstGeom>
          <a:noFill/>
        </p:spPr>
        <p:txBody>
          <a:bodyPr wrap="square">
            <a:spAutoFit/>
          </a:bodyPr>
          <a:lstStyle/>
          <a:p>
            <a:pPr>
              <a:buNone/>
            </a:pPr>
            <a:r>
              <a:rPr lang="tr-TR" sz="1400" b="1" dirty="0">
                <a:latin typeface="Arial" panose="020B0604020202020204" pitchFamily="34" charset="0"/>
                <a:cs typeface="Arial" panose="020B0604020202020204" pitchFamily="34" charset="0"/>
              </a:rPr>
              <a:t>İhlal Türleri ve Saldırı Biçimleri</a:t>
            </a:r>
          </a:p>
          <a:p>
            <a:pPr>
              <a:buFont typeface="Arial" panose="020B0604020202020204" pitchFamily="34" charset="0"/>
              <a:buChar char="•"/>
            </a:pPr>
            <a:r>
              <a:rPr lang="tr-TR" sz="1400" dirty="0">
                <a:latin typeface="Arial" panose="020B0604020202020204" pitchFamily="34" charset="0"/>
                <a:cs typeface="Arial" panose="020B0604020202020204" pitchFamily="34" charset="0"/>
              </a:rPr>
              <a:t>Fidye yazılımı (</a:t>
            </a:r>
            <a:r>
              <a:rPr lang="tr-TR" sz="1400" dirty="0" err="1">
                <a:latin typeface="Arial" panose="020B0604020202020204" pitchFamily="34" charset="0"/>
                <a:cs typeface="Arial" panose="020B0604020202020204" pitchFamily="34" charset="0"/>
              </a:rPr>
              <a:t>Ransomware</a:t>
            </a:r>
            <a:r>
              <a:rPr lang="tr-TR" sz="1400" dirty="0">
                <a:latin typeface="Arial" panose="020B0604020202020204" pitchFamily="34" charset="0"/>
                <a:cs typeface="Arial" panose="020B0604020202020204" pitchFamily="34" charset="0"/>
              </a:rPr>
              <a:t>)</a:t>
            </a:r>
          </a:p>
          <a:p>
            <a:pPr>
              <a:buFont typeface="Arial" panose="020B0604020202020204" pitchFamily="34" charset="0"/>
              <a:buChar char="•"/>
            </a:pPr>
            <a:r>
              <a:rPr lang="tr-TR" sz="1400" dirty="0">
                <a:latin typeface="Arial" panose="020B0604020202020204" pitchFamily="34" charset="0"/>
                <a:cs typeface="Arial" panose="020B0604020202020204" pitchFamily="34" charset="0"/>
              </a:rPr>
              <a:t>Veri sızıntısı (Data </a:t>
            </a:r>
            <a:r>
              <a:rPr lang="tr-TR" sz="1400" dirty="0" err="1">
                <a:latin typeface="Arial" panose="020B0604020202020204" pitchFamily="34" charset="0"/>
                <a:cs typeface="Arial" panose="020B0604020202020204" pitchFamily="34" charset="0"/>
              </a:rPr>
              <a:t>Leak</a:t>
            </a:r>
            <a:r>
              <a:rPr lang="tr-TR" sz="1400" dirty="0">
                <a:latin typeface="Arial" panose="020B0604020202020204" pitchFamily="34" charset="0"/>
                <a:cs typeface="Arial" panose="020B0604020202020204" pitchFamily="34" charset="0"/>
              </a:rPr>
              <a:t>)</a:t>
            </a:r>
          </a:p>
          <a:p>
            <a:pPr>
              <a:buFont typeface="Arial" panose="020B0604020202020204" pitchFamily="34" charset="0"/>
              <a:buChar char="•"/>
            </a:pPr>
            <a:r>
              <a:rPr lang="tr-TR" sz="1400" dirty="0">
                <a:latin typeface="Arial" panose="020B0604020202020204" pitchFamily="34" charset="0"/>
                <a:cs typeface="Arial" panose="020B0604020202020204" pitchFamily="34" charset="0"/>
              </a:rPr>
              <a:t>Kimlik bilgisi ele geçirme</a:t>
            </a:r>
          </a:p>
          <a:p>
            <a:pPr>
              <a:buFont typeface="Arial" panose="020B0604020202020204" pitchFamily="34" charset="0"/>
              <a:buChar char="•"/>
            </a:pPr>
            <a:r>
              <a:rPr lang="tr-TR" sz="1400" dirty="0">
                <a:latin typeface="Arial" panose="020B0604020202020204" pitchFamily="34" charset="0"/>
                <a:cs typeface="Arial" panose="020B0604020202020204" pitchFamily="34" charset="0"/>
              </a:rPr>
              <a:t>Tedarik zinciri saldırısı (</a:t>
            </a:r>
            <a:r>
              <a:rPr lang="tr-TR" sz="1400" dirty="0" err="1">
                <a:latin typeface="Arial" panose="020B0604020202020204" pitchFamily="34" charset="0"/>
                <a:cs typeface="Arial" panose="020B0604020202020204" pitchFamily="34" charset="0"/>
              </a:rPr>
              <a:t>Supply-chain</a:t>
            </a:r>
            <a:r>
              <a:rPr lang="tr-TR" sz="1400" dirty="0">
                <a:latin typeface="Arial" panose="020B0604020202020204" pitchFamily="34" charset="0"/>
                <a:cs typeface="Arial" panose="020B0604020202020204" pitchFamily="34" charset="0"/>
              </a:rPr>
              <a:t> </a:t>
            </a:r>
            <a:r>
              <a:rPr lang="tr-TR" sz="1400" dirty="0" err="1">
                <a:latin typeface="Arial" panose="020B0604020202020204" pitchFamily="34" charset="0"/>
                <a:cs typeface="Arial" panose="020B0604020202020204" pitchFamily="34" charset="0"/>
              </a:rPr>
              <a:t>attack</a:t>
            </a:r>
            <a:r>
              <a:rPr lang="tr-TR" sz="1400" dirty="0">
                <a:latin typeface="Arial" panose="020B0604020202020204" pitchFamily="34" charset="0"/>
                <a:cs typeface="Arial" panose="020B0604020202020204" pitchFamily="34" charset="0"/>
              </a:rPr>
              <a:t>)</a:t>
            </a:r>
          </a:p>
          <a:p>
            <a:pPr>
              <a:buFont typeface="Arial" panose="020B0604020202020204" pitchFamily="34" charset="0"/>
              <a:buChar char="•"/>
            </a:pPr>
            <a:r>
              <a:rPr lang="tr-TR" sz="1400" dirty="0">
                <a:latin typeface="Arial" panose="020B0604020202020204" pitchFamily="34" charset="0"/>
                <a:cs typeface="Arial" panose="020B0604020202020204" pitchFamily="34" charset="0"/>
              </a:rPr>
              <a:t>Sosyal mühendislik (</a:t>
            </a:r>
            <a:r>
              <a:rPr lang="tr-TR" sz="1400" dirty="0" err="1">
                <a:latin typeface="Arial" panose="020B0604020202020204" pitchFamily="34" charset="0"/>
                <a:cs typeface="Arial" panose="020B0604020202020204" pitchFamily="34" charset="0"/>
              </a:rPr>
              <a:t>Social</a:t>
            </a:r>
            <a:r>
              <a:rPr lang="tr-TR" sz="1400" dirty="0">
                <a:latin typeface="Arial" panose="020B0604020202020204" pitchFamily="34" charset="0"/>
                <a:cs typeface="Arial" panose="020B0604020202020204" pitchFamily="34" charset="0"/>
              </a:rPr>
              <a:t> </a:t>
            </a:r>
            <a:r>
              <a:rPr lang="tr-TR" sz="1400" dirty="0" err="1">
                <a:latin typeface="Arial" panose="020B0604020202020204" pitchFamily="34" charset="0"/>
                <a:cs typeface="Arial" panose="020B0604020202020204" pitchFamily="34" charset="0"/>
              </a:rPr>
              <a:t>engineering</a:t>
            </a:r>
            <a:r>
              <a:rPr lang="tr-TR" sz="1400" dirty="0">
                <a:latin typeface="Arial" panose="020B0604020202020204" pitchFamily="34" charset="0"/>
                <a:cs typeface="Arial" panose="020B0604020202020204" pitchFamily="34" charset="0"/>
              </a:rPr>
              <a:t>)</a:t>
            </a:r>
          </a:p>
          <a:p>
            <a:pPr>
              <a:buFont typeface="Arial" panose="020B0604020202020204" pitchFamily="34" charset="0"/>
              <a:buChar char="•"/>
            </a:pPr>
            <a:r>
              <a:rPr lang="tr-TR" sz="1400" dirty="0">
                <a:latin typeface="Arial" panose="020B0604020202020204" pitchFamily="34" charset="0"/>
                <a:cs typeface="Arial" panose="020B0604020202020204" pitchFamily="34" charset="0"/>
              </a:rPr>
              <a:t>Açık istismar (</a:t>
            </a:r>
            <a:r>
              <a:rPr lang="tr-TR" sz="1400" dirty="0" err="1">
                <a:latin typeface="Arial" panose="020B0604020202020204" pitchFamily="34" charset="0"/>
                <a:cs typeface="Arial" panose="020B0604020202020204" pitchFamily="34" charset="0"/>
              </a:rPr>
              <a:t>Exploit</a:t>
            </a:r>
            <a:r>
              <a:rPr lang="tr-TR" sz="1400" dirty="0">
                <a:latin typeface="Arial" panose="020B0604020202020204" pitchFamily="34" charset="0"/>
                <a:cs typeface="Arial" panose="020B0604020202020204" pitchFamily="34" charset="0"/>
              </a:rPr>
              <a:t>)</a:t>
            </a:r>
          </a:p>
          <a:p>
            <a:pPr>
              <a:buFont typeface="Arial" panose="020B0604020202020204" pitchFamily="34" charset="0"/>
              <a:buChar char="•"/>
            </a:pPr>
            <a:r>
              <a:rPr lang="tr-TR" sz="1400" dirty="0" err="1">
                <a:latin typeface="Arial" panose="020B0604020202020204" pitchFamily="34" charset="0"/>
                <a:cs typeface="Arial" panose="020B0604020202020204" pitchFamily="34" charset="0"/>
              </a:rPr>
              <a:t>Operasyonel</a:t>
            </a:r>
            <a:r>
              <a:rPr lang="tr-TR" sz="1400" dirty="0">
                <a:latin typeface="Arial" panose="020B0604020202020204" pitchFamily="34" charset="0"/>
                <a:cs typeface="Arial" panose="020B0604020202020204" pitchFamily="34" charset="0"/>
              </a:rPr>
              <a:t> kesinti</a:t>
            </a:r>
          </a:p>
          <a:p>
            <a:pPr>
              <a:buFont typeface="Arial" panose="020B0604020202020204" pitchFamily="34" charset="0"/>
              <a:buChar char="•"/>
            </a:pPr>
            <a:r>
              <a:rPr lang="tr-TR" sz="1400" dirty="0">
                <a:latin typeface="Arial" panose="020B0604020202020204" pitchFamily="34" charset="0"/>
                <a:cs typeface="Arial" panose="020B0604020202020204" pitchFamily="34" charset="0"/>
              </a:rPr>
              <a:t>Veri gaspı (</a:t>
            </a:r>
            <a:r>
              <a:rPr lang="tr-TR" sz="1400" dirty="0" err="1">
                <a:latin typeface="Arial" panose="020B0604020202020204" pitchFamily="34" charset="0"/>
                <a:cs typeface="Arial" panose="020B0604020202020204" pitchFamily="34" charset="0"/>
              </a:rPr>
              <a:t>Extortion</a:t>
            </a:r>
            <a:r>
              <a:rPr lang="tr-TR" sz="1400" dirty="0">
                <a:latin typeface="Arial" panose="020B0604020202020204" pitchFamily="34" charset="0"/>
                <a:cs typeface="Arial" panose="020B0604020202020204" pitchFamily="34" charset="0"/>
              </a:rPr>
              <a:t>)</a:t>
            </a:r>
          </a:p>
          <a:p>
            <a:pPr>
              <a:buFont typeface="Arial" panose="020B0604020202020204" pitchFamily="34" charset="0"/>
              <a:buChar char="•"/>
            </a:pPr>
            <a:r>
              <a:rPr lang="tr-TR" sz="1400" dirty="0">
                <a:latin typeface="Arial" panose="020B0604020202020204" pitchFamily="34" charset="0"/>
                <a:cs typeface="Arial" panose="020B0604020202020204" pitchFamily="34" charset="0"/>
              </a:rPr>
              <a:t>Yetkisiz erişim</a:t>
            </a:r>
          </a:p>
          <a:p>
            <a:pPr>
              <a:buFont typeface="Arial" panose="020B0604020202020204" pitchFamily="34" charset="0"/>
              <a:buChar char="•"/>
            </a:pPr>
            <a:r>
              <a:rPr lang="tr-TR" sz="1400" dirty="0">
                <a:latin typeface="Arial" panose="020B0604020202020204" pitchFamily="34" charset="0"/>
                <a:cs typeface="Arial" panose="020B0604020202020204" pitchFamily="34" charset="0"/>
              </a:rPr>
              <a:t>Kimlik doğrulama zafiyeti</a:t>
            </a:r>
            <a:endParaRPr lang="tr-TR" dirty="0">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248E9BC0-1425-35A5-A24C-67F8C1FD797A}"/>
              </a:ext>
            </a:extLst>
          </p:cNvPr>
          <p:cNvSpPr txBox="1"/>
          <p:nvPr/>
        </p:nvSpPr>
        <p:spPr>
          <a:xfrm>
            <a:off x="8160547" y="1064399"/>
            <a:ext cx="3242158" cy="2246769"/>
          </a:xfrm>
          <a:prstGeom prst="rect">
            <a:avLst/>
          </a:prstGeom>
          <a:noFill/>
        </p:spPr>
        <p:txBody>
          <a:bodyPr wrap="square">
            <a:spAutoFit/>
          </a:bodyPr>
          <a:lstStyle/>
          <a:p>
            <a:pPr>
              <a:buNone/>
            </a:pPr>
            <a:r>
              <a:rPr lang="tr-TR" sz="1400" b="1" dirty="0">
                <a:latin typeface="Arial" panose="020B0604020202020204" pitchFamily="34" charset="0"/>
                <a:cs typeface="Arial" panose="020B0604020202020204" pitchFamily="34" charset="0"/>
              </a:rPr>
              <a:t>Kurumsal ve </a:t>
            </a:r>
            <a:r>
              <a:rPr lang="tr-TR" sz="1400" b="1" dirty="0" err="1">
                <a:latin typeface="Arial" panose="020B0604020202020204" pitchFamily="34" charset="0"/>
                <a:cs typeface="Arial" panose="020B0604020202020204" pitchFamily="34" charset="0"/>
              </a:rPr>
              <a:t>Sektörel</a:t>
            </a:r>
            <a:r>
              <a:rPr lang="tr-TR" sz="1400" b="1" dirty="0">
                <a:latin typeface="Arial" panose="020B0604020202020204" pitchFamily="34" charset="0"/>
                <a:cs typeface="Arial" panose="020B0604020202020204" pitchFamily="34" charset="0"/>
              </a:rPr>
              <a:t> Temalar</a:t>
            </a:r>
          </a:p>
          <a:p>
            <a:pPr>
              <a:buFont typeface="Arial" panose="020B0604020202020204" pitchFamily="34" charset="0"/>
              <a:buChar char="•"/>
            </a:pPr>
            <a:r>
              <a:rPr lang="tr-TR" sz="1400" dirty="0">
                <a:latin typeface="Arial" panose="020B0604020202020204" pitchFamily="34" charset="0"/>
                <a:cs typeface="Arial" panose="020B0604020202020204" pitchFamily="34" charset="0"/>
              </a:rPr>
              <a:t>Sağlık sektörü</a:t>
            </a:r>
          </a:p>
          <a:p>
            <a:pPr>
              <a:buFont typeface="Arial" panose="020B0604020202020204" pitchFamily="34" charset="0"/>
              <a:buChar char="•"/>
            </a:pPr>
            <a:r>
              <a:rPr lang="tr-TR" sz="1400" dirty="0">
                <a:latin typeface="Arial" panose="020B0604020202020204" pitchFamily="34" charset="0"/>
                <a:cs typeface="Arial" panose="020B0604020202020204" pitchFamily="34" charset="0"/>
              </a:rPr>
              <a:t>Finans sektörü</a:t>
            </a:r>
          </a:p>
          <a:p>
            <a:pPr>
              <a:buFont typeface="Arial" panose="020B0604020202020204" pitchFamily="34" charset="0"/>
              <a:buChar char="•"/>
            </a:pPr>
            <a:r>
              <a:rPr lang="tr-TR" sz="1400" dirty="0">
                <a:latin typeface="Arial" panose="020B0604020202020204" pitchFamily="34" charset="0"/>
                <a:cs typeface="Arial" panose="020B0604020202020204" pitchFamily="34" charset="0"/>
              </a:rPr>
              <a:t>Kamu kurumları</a:t>
            </a:r>
          </a:p>
          <a:p>
            <a:pPr>
              <a:buFont typeface="Arial" panose="020B0604020202020204" pitchFamily="34" charset="0"/>
              <a:buChar char="•"/>
            </a:pPr>
            <a:r>
              <a:rPr lang="tr-TR" sz="1400" dirty="0">
                <a:latin typeface="Arial" panose="020B0604020202020204" pitchFamily="34" charset="0"/>
                <a:cs typeface="Arial" panose="020B0604020202020204" pitchFamily="34" charset="0"/>
              </a:rPr>
              <a:t>Teknoloji şirketleri</a:t>
            </a:r>
          </a:p>
          <a:p>
            <a:pPr>
              <a:buFont typeface="Arial" panose="020B0604020202020204" pitchFamily="34" charset="0"/>
              <a:buChar char="•"/>
            </a:pPr>
            <a:r>
              <a:rPr lang="tr-TR" sz="1400" dirty="0">
                <a:latin typeface="Arial" panose="020B0604020202020204" pitchFamily="34" charset="0"/>
                <a:cs typeface="Arial" panose="020B0604020202020204" pitchFamily="34" charset="0"/>
              </a:rPr>
              <a:t>Üretim ve tedarik zinciri</a:t>
            </a:r>
          </a:p>
          <a:p>
            <a:pPr>
              <a:buFont typeface="Arial" panose="020B0604020202020204" pitchFamily="34" charset="0"/>
              <a:buChar char="•"/>
            </a:pPr>
            <a:r>
              <a:rPr lang="tr-TR" sz="1400" dirty="0">
                <a:latin typeface="Arial" panose="020B0604020202020204" pitchFamily="34" charset="0"/>
                <a:cs typeface="Arial" panose="020B0604020202020204" pitchFamily="34" charset="0"/>
              </a:rPr>
              <a:t>Kurumsal güvenlik politikaları</a:t>
            </a:r>
          </a:p>
          <a:p>
            <a:pPr>
              <a:buFont typeface="Arial" panose="020B0604020202020204" pitchFamily="34" charset="0"/>
              <a:buChar char="•"/>
            </a:pPr>
            <a:r>
              <a:rPr lang="tr-TR" sz="1400" dirty="0">
                <a:latin typeface="Arial" panose="020B0604020202020204" pitchFamily="34" charset="0"/>
                <a:cs typeface="Arial" panose="020B0604020202020204" pitchFamily="34" charset="0"/>
              </a:rPr>
              <a:t>Risk yönetimi</a:t>
            </a:r>
          </a:p>
          <a:p>
            <a:pPr>
              <a:buFont typeface="Arial" panose="020B0604020202020204" pitchFamily="34" charset="0"/>
              <a:buChar char="•"/>
            </a:pPr>
            <a:r>
              <a:rPr lang="tr-TR" sz="1400" dirty="0">
                <a:latin typeface="Arial" panose="020B0604020202020204" pitchFamily="34" charset="0"/>
                <a:cs typeface="Arial" panose="020B0604020202020204" pitchFamily="34" charset="0"/>
              </a:rPr>
              <a:t>Kriz iletişimi</a:t>
            </a:r>
          </a:p>
          <a:p>
            <a:pPr>
              <a:buFont typeface="Arial" panose="020B0604020202020204" pitchFamily="34" charset="0"/>
              <a:buChar char="•"/>
            </a:pPr>
            <a:r>
              <a:rPr lang="tr-TR" sz="1400" dirty="0">
                <a:latin typeface="Arial" panose="020B0604020202020204" pitchFamily="34" charset="0"/>
                <a:cs typeface="Arial" panose="020B0604020202020204" pitchFamily="34" charset="0"/>
              </a:rPr>
              <a:t>KVKK ve GDPR uyumu</a:t>
            </a:r>
          </a:p>
        </p:txBody>
      </p:sp>
      <p:sp>
        <p:nvSpPr>
          <p:cNvPr id="13" name="TextBox 12">
            <a:extLst>
              <a:ext uri="{FF2B5EF4-FFF2-40B4-BE49-F238E27FC236}">
                <a16:creationId xmlns:a16="http://schemas.microsoft.com/office/drawing/2014/main" id="{DD2FEE7E-4AC3-9F29-B874-6C0FB455264D}"/>
              </a:ext>
            </a:extLst>
          </p:cNvPr>
          <p:cNvSpPr txBox="1"/>
          <p:nvPr/>
        </p:nvSpPr>
        <p:spPr>
          <a:xfrm>
            <a:off x="1561721" y="3753260"/>
            <a:ext cx="3524096" cy="2462213"/>
          </a:xfrm>
          <a:prstGeom prst="rect">
            <a:avLst/>
          </a:prstGeom>
          <a:noFill/>
        </p:spPr>
        <p:txBody>
          <a:bodyPr wrap="square">
            <a:spAutoFit/>
          </a:bodyPr>
          <a:lstStyle/>
          <a:p>
            <a:pPr>
              <a:buNone/>
            </a:pPr>
            <a:r>
              <a:rPr lang="tr-TR" sz="1400" b="1" dirty="0">
                <a:latin typeface="Arial" panose="020B0604020202020204" pitchFamily="34" charset="0"/>
                <a:cs typeface="Arial" panose="020B0604020202020204" pitchFamily="34" charset="0"/>
              </a:rPr>
              <a:t>Analiz ve Bulgulara Yönelik Anahtarlar</a:t>
            </a:r>
          </a:p>
          <a:p>
            <a:pPr>
              <a:buFont typeface="Arial" panose="020B0604020202020204" pitchFamily="34" charset="0"/>
              <a:buChar char="•"/>
            </a:pPr>
            <a:r>
              <a:rPr lang="tr-TR" sz="1400" dirty="0">
                <a:latin typeface="Arial" panose="020B0604020202020204" pitchFamily="34" charset="0"/>
                <a:cs typeface="Arial" panose="020B0604020202020204" pitchFamily="34" charset="0"/>
              </a:rPr>
              <a:t>2020–2025 veri ihlalleri</a:t>
            </a:r>
          </a:p>
          <a:p>
            <a:pPr>
              <a:buFont typeface="Arial" panose="020B0604020202020204" pitchFamily="34" charset="0"/>
              <a:buChar char="•"/>
            </a:pPr>
            <a:r>
              <a:rPr lang="tr-TR" sz="1400" dirty="0">
                <a:latin typeface="Arial" panose="020B0604020202020204" pitchFamily="34" charset="0"/>
                <a:cs typeface="Arial" panose="020B0604020202020204" pitchFamily="34" charset="0"/>
              </a:rPr>
              <a:t>Küresel ölçekte veri sızıntıları</a:t>
            </a:r>
          </a:p>
          <a:p>
            <a:pPr>
              <a:buFont typeface="Arial" panose="020B0604020202020204" pitchFamily="34" charset="0"/>
              <a:buChar char="•"/>
            </a:pPr>
            <a:r>
              <a:rPr lang="tr-TR" sz="1400" dirty="0">
                <a:latin typeface="Arial" panose="020B0604020202020204" pitchFamily="34" charset="0"/>
                <a:cs typeface="Arial" panose="020B0604020202020204" pitchFamily="34" charset="0"/>
              </a:rPr>
              <a:t>Ekonomik motivasyon (%70)</a:t>
            </a:r>
          </a:p>
          <a:p>
            <a:pPr>
              <a:buFont typeface="Arial" panose="020B0604020202020204" pitchFamily="34" charset="0"/>
              <a:buChar char="•"/>
            </a:pPr>
            <a:r>
              <a:rPr lang="tr-TR" sz="1400" dirty="0">
                <a:latin typeface="Arial" panose="020B0604020202020204" pitchFamily="34" charset="0"/>
                <a:cs typeface="Arial" panose="020B0604020202020204" pitchFamily="34" charset="0"/>
              </a:rPr>
              <a:t>Finansal kazanç odaklı saldırılar</a:t>
            </a:r>
          </a:p>
          <a:p>
            <a:pPr>
              <a:buFont typeface="Arial" panose="020B0604020202020204" pitchFamily="34" charset="0"/>
              <a:buChar char="•"/>
            </a:pPr>
            <a:r>
              <a:rPr lang="tr-TR" sz="1400" dirty="0" err="1">
                <a:latin typeface="Arial" panose="020B0604020202020204" pitchFamily="34" charset="0"/>
                <a:cs typeface="Arial" panose="020B0604020202020204" pitchFamily="34" charset="0"/>
              </a:rPr>
              <a:t>Sektörel</a:t>
            </a:r>
            <a:r>
              <a:rPr lang="tr-TR" sz="1400" dirty="0">
                <a:latin typeface="Arial" panose="020B0604020202020204" pitchFamily="34" charset="0"/>
                <a:cs typeface="Arial" panose="020B0604020202020204" pitchFamily="34" charset="0"/>
              </a:rPr>
              <a:t> karşılaştırmalı analiz</a:t>
            </a:r>
          </a:p>
          <a:p>
            <a:pPr>
              <a:buFont typeface="Arial" panose="020B0604020202020204" pitchFamily="34" charset="0"/>
              <a:buChar char="•"/>
            </a:pPr>
            <a:r>
              <a:rPr lang="tr-TR" sz="1400" dirty="0">
                <a:latin typeface="Arial" panose="020B0604020202020204" pitchFamily="34" charset="0"/>
                <a:cs typeface="Arial" panose="020B0604020202020204" pitchFamily="34" charset="0"/>
              </a:rPr>
              <a:t>Sonuç türlerine göre etkiler</a:t>
            </a:r>
          </a:p>
          <a:p>
            <a:pPr>
              <a:buFont typeface="Arial" panose="020B0604020202020204" pitchFamily="34" charset="0"/>
              <a:buChar char="•"/>
            </a:pPr>
            <a:r>
              <a:rPr lang="tr-TR" sz="1400" dirty="0">
                <a:latin typeface="Arial" panose="020B0604020202020204" pitchFamily="34" charset="0"/>
                <a:cs typeface="Arial" panose="020B0604020202020204" pitchFamily="34" charset="0"/>
              </a:rPr>
              <a:t>Etkilenen kişi ve kurum sayısı</a:t>
            </a:r>
          </a:p>
          <a:p>
            <a:pPr>
              <a:buFont typeface="Arial" panose="020B0604020202020204" pitchFamily="34" charset="0"/>
              <a:buChar char="•"/>
            </a:pPr>
            <a:r>
              <a:rPr lang="tr-TR" sz="1400" dirty="0">
                <a:latin typeface="Arial" panose="020B0604020202020204" pitchFamily="34" charset="0"/>
                <a:cs typeface="Arial" panose="020B0604020202020204" pitchFamily="34" charset="0"/>
              </a:rPr>
              <a:t>Tematik analiz (Tedarik zinciri,</a:t>
            </a:r>
          </a:p>
          <a:p>
            <a:r>
              <a:rPr lang="tr-TR" sz="1400" dirty="0">
                <a:latin typeface="Arial" panose="020B0604020202020204" pitchFamily="34" charset="0"/>
                <a:cs typeface="Arial" panose="020B0604020202020204" pitchFamily="34" charset="0"/>
              </a:rPr>
              <a:t>    Kimlik güvenliği, Finansal saldırılar, </a:t>
            </a:r>
          </a:p>
          <a:p>
            <a:r>
              <a:rPr lang="tr-TR" sz="1400" dirty="0">
                <a:latin typeface="Arial" panose="020B0604020202020204" pitchFamily="34" charset="0"/>
                <a:cs typeface="Arial" panose="020B0604020202020204" pitchFamily="34" charset="0"/>
              </a:rPr>
              <a:t>    Kamu-özel etkiler)</a:t>
            </a:r>
          </a:p>
        </p:txBody>
      </p:sp>
      <p:sp>
        <p:nvSpPr>
          <p:cNvPr id="16" name="TextBox 15">
            <a:extLst>
              <a:ext uri="{FF2B5EF4-FFF2-40B4-BE49-F238E27FC236}">
                <a16:creationId xmlns:a16="http://schemas.microsoft.com/office/drawing/2014/main" id="{8939348D-6975-503B-CE79-565FDF206133}"/>
              </a:ext>
            </a:extLst>
          </p:cNvPr>
          <p:cNvSpPr txBox="1"/>
          <p:nvPr/>
        </p:nvSpPr>
        <p:spPr>
          <a:xfrm>
            <a:off x="5917233" y="3753260"/>
            <a:ext cx="3734369" cy="2246769"/>
          </a:xfrm>
          <a:prstGeom prst="rect">
            <a:avLst/>
          </a:prstGeom>
          <a:noFill/>
        </p:spPr>
        <p:txBody>
          <a:bodyPr wrap="square">
            <a:spAutoFit/>
          </a:bodyPr>
          <a:lstStyle/>
          <a:p>
            <a:pPr>
              <a:buNone/>
            </a:pPr>
            <a:r>
              <a:rPr lang="tr-TR" sz="1400" b="1" dirty="0">
                <a:latin typeface="Arial" panose="020B0604020202020204" pitchFamily="34" charset="0"/>
                <a:cs typeface="Arial" panose="020B0604020202020204" pitchFamily="34" charset="0"/>
              </a:rPr>
              <a:t>Sonuç ve Önerilerde Öne Çıkan Anahtarlar</a:t>
            </a:r>
          </a:p>
          <a:p>
            <a:pPr>
              <a:buFont typeface="Arial" panose="020B0604020202020204" pitchFamily="34" charset="0"/>
              <a:buChar char="•"/>
            </a:pPr>
            <a:r>
              <a:rPr lang="tr-TR" sz="1400" dirty="0">
                <a:latin typeface="Arial" panose="020B0604020202020204" pitchFamily="34" charset="0"/>
                <a:cs typeface="Arial" panose="020B0604020202020204" pitchFamily="34" charset="0"/>
              </a:rPr>
              <a:t>Çok faktörlü kimlik doğrulama (MFA)</a:t>
            </a:r>
          </a:p>
          <a:p>
            <a:pPr>
              <a:buFont typeface="Arial" panose="020B0604020202020204" pitchFamily="34" charset="0"/>
              <a:buChar char="•"/>
            </a:pPr>
            <a:r>
              <a:rPr lang="tr-TR" sz="1400" dirty="0">
                <a:latin typeface="Arial" panose="020B0604020202020204" pitchFamily="34" charset="0"/>
                <a:cs typeface="Arial" panose="020B0604020202020204" pitchFamily="34" charset="0"/>
              </a:rPr>
              <a:t>Veri maskeleme ve anonimleştirme</a:t>
            </a:r>
          </a:p>
          <a:p>
            <a:pPr>
              <a:buFont typeface="Arial" panose="020B0604020202020204" pitchFamily="34" charset="0"/>
              <a:buChar char="•"/>
            </a:pPr>
            <a:r>
              <a:rPr lang="tr-TR" sz="1400" dirty="0">
                <a:latin typeface="Arial" panose="020B0604020202020204" pitchFamily="34" charset="0"/>
                <a:cs typeface="Arial" panose="020B0604020202020204" pitchFamily="34" charset="0"/>
              </a:rPr>
              <a:t>Yedekleme ve felaket kurtarma planı</a:t>
            </a:r>
          </a:p>
          <a:p>
            <a:pPr>
              <a:buFont typeface="Arial" panose="020B0604020202020204" pitchFamily="34" charset="0"/>
              <a:buChar char="•"/>
            </a:pPr>
            <a:r>
              <a:rPr lang="tr-TR" sz="1400" dirty="0">
                <a:latin typeface="Arial" panose="020B0604020202020204" pitchFamily="34" charset="0"/>
                <a:cs typeface="Arial" panose="020B0604020202020204" pitchFamily="34" charset="0"/>
              </a:rPr>
              <a:t>Zero </a:t>
            </a:r>
            <a:r>
              <a:rPr lang="tr-TR" sz="1400" dirty="0" err="1">
                <a:latin typeface="Arial" panose="020B0604020202020204" pitchFamily="34" charset="0"/>
                <a:cs typeface="Arial" panose="020B0604020202020204" pitchFamily="34" charset="0"/>
              </a:rPr>
              <a:t>Trust</a:t>
            </a:r>
            <a:r>
              <a:rPr lang="tr-TR" sz="1400" dirty="0">
                <a:latin typeface="Arial" panose="020B0604020202020204" pitchFamily="34" charset="0"/>
                <a:cs typeface="Arial" panose="020B0604020202020204" pitchFamily="34" charset="0"/>
              </a:rPr>
              <a:t> (Sıfır güven) modeli</a:t>
            </a:r>
          </a:p>
          <a:p>
            <a:pPr>
              <a:buFont typeface="Arial" panose="020B0604020202020204" pitchFamily="34" charset="0"/>
              <a:buChar char="•"/>
            </a:pPr>
            <a:r>
              <a:rPr lang="tr-TR" sz="1400" dirty="0">
                <a:latin typeface="Arial" panose="020B0604020202020204" pitchFamily="34" charset="0"/>
                <a:cs typeface="Arial" panose="020B0604020202020204" pitchFamily="34" charset="0"/>
              </a:rPr>
              <a:t>Farkındalık ve eğitim programları</a:t>
            </a:r>
          </a:p>
          <a:p>
            <a:pPr>
              <a:buFont typeface="Arial" panose="020B0604020202020204" pitchFamily="34" charset="0"/>
              <a:buChar char="•"/>
            </a:pPr>
            <a:r>
              <a:rPr lang="tr-TR" sz="1400" dirty="0">
                <a:latin typeface="Arial" panose="020B0604020202020204" pitchFamily="34" charset="0"/>
                <a:cs typeface="Arial" panose="020B0604020202020204" pitchFamily="34" charset="0"/>
              </a:rPr>
              <a:t>Ulusal siber güvenlik işbirliği</a:t>
            </a:r>
          </a:p>
          <a:p>
            <a:pPr>
              <a:buFont typeface="Arial" panose="020B0604020202020204" pitchFamily="34" charset="0"/>
              <a:buChar char="•"/>
            </a:pPr>
            <a:r>
              <a:rPr lang="tr-TR" sz="1400" dirty="0">
                <a:latin typeface="Arial" panose="020B0604020202020204" pitchFamily="34" charset="0"/>
                <a:cs typeface="Arial" panose="020B0604020202020204" pitchFamily="34" charset="0"/>
              </a:rPr>
              <a:t>Kriz iletişim protokolü</a:t>
            </a:r>
          </a:p>
          <a:p>
            <a:pPr>
              <a:buFont typeface="Arial" panose="020B0604020202020204" pitchFamily="34" charset="0"/>
              <a:buChar char="•"/>
            </a:pPr>
            <a:r>
              <a:rPr lang="tr-TR" sz="1400" dirty="0">
                <a:latin typeface="Arial" panose="020B0604020202020204" pitchFamily="34" charset="0"/>
                <a:cs typeface="Arial" panose="020B0604020202020204" pitchFamily="34" charset="0"/>
              </a:rPr>
              <a:t>Bağımsız siber denetim</a:t>
            </a:r>
          </a:p>
        </p:txBody>
      </p:sp>
      <p:pic>
        <p:nvPicPr>
          <p:cNvPr id="19" name="Picture 18" descr="A shield with a keyhole&#10;&#10;AI-generated content may be incorrect.">
            <a:extLst>
              <a:ext uri="{FF2B5EF4-FFF2-40B4-BE49-F238E27FC236}">
                <a16:creationId xmlns:a16="http://schemas.microsoft.com/office/drawing/2014/main" id="{BBFB1165-0DA4-18A4-A37F-7EB3EB61B398}"/>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9623662" y="3753260"/>
            <a:ext cx="2013234" cy="1673198"/>
          </a:xfrm>
          <a:prstGeom prst="rect">
            <a:avLst/>
          </a:prstGeom>
        </p:spPr>
      </p:pic>
    </p:spTree>
    <p:extLst>
      <p:ext uri="{BB962C8B-B14F-4D97-AF65-F5344CB8AC3E}">
        <p14:creationId xmlns:p14="http://schemas.microsoft.com/office/powerpoint/2010/main" val="6752414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67000"/>
              </a:schemeClr>
            </a:gs>
            <a:gs pos="7000">
              <a:schemeClr val="accent1">
                <a:lumMod val="97000"/>
                <a:lumOff val="3000"/>
              </a:schemeClr>
            </a:gs>
            <a:gs pos="60000">
              <a:schemeClr val="accent2">
                <a:lumMod val="20000"/>
                <a:lumOff val="80000"/>
              </a:schemeClr>
            </a:gs>
          </a:gsLst>
          <a:lin ang="16200000" scaled="1"/>
        </a:gradFill>
        <a:effectLst/>
      </p:bgPr>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2FD47E15-50AF-2BD7-77B0-C54C8E3E46CE}"/>
              </a:ext>
            </a:extLst>
          </p:cNvPr>
          <p:cNvSpPr txBox="1"/>
          <p:nvPr/>
        </p:nvSpPr>
        <p:spPr>
          <a:xfrm>
            <a:off x="4299045" y="283400"/>
            <a:ext cx="7466383" cy="646331"/>
          </a:xfrm>
          <a:prstGeom prst="rect">
            <a:avLst/>
          </a:prstGeom>
          <a:noFill/>
        </p:spPr>
        <p:txBody>
          <a:bodyPr wrap="square">
            <a:spAutoFit/>
          </a:bodyPr>
          <a:lstStyle/>
          <a:p>
            <a:pPr algn="ctr"/>
            <a:r>
              <a:rPr lang="en-US" sz="3600"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Büyük Veri </a:t>
            </a:r>
            <a:r>
              <a:rPr lang="en-US" sz="3600" dirty="0">
                <a:effectLst>
                  <a:outerShdw blurRad="38100" dist="38100" dir="2700000" algn="tl">
                    <a:srgbClr val="000000">
                      <a:alpha val="43137"/>
                    </a:srgbClr>
                  </a:outerShdw>
                </a:effectLst>
                <a:latin typeface="Arial" panose="020B0604020202020204" pitchFamily="34" charset="0"/>
                <a:ea typeface="Tahoma" panose="020B0604030504040204" pitchFamily="34" charset="0"/>
                <a:cs typeface="Arial" panose="020B0604020202020204" pitchFamily="34" charset="0"/>
              </a:rPr>
              <a:t>Nedir</a:t>
            </a:r>
            <a:r>
              <a:rPr lang="en-US" sz="3600"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a:t>
            </a:r>
            <a:endParaRPr lang="en-US" sz="3600" dirty="0">
              <a:effectLst>
                <a:outerShdw blurRad="38100" dist="38100" dir="2700000" algn="tl">
                  <a:srgbClr val="000000">
                    <a:alpha val="43137"/>
                  </a:srgbClr>
                </a:outerShdw>
              </a:effectLst>
            </a:endParaRPr>
          </a:p>
        </p:txBody>
      </p:sp>
      <p:sp>
        <p:nvSpPr>
          <p:cNvPr id="12" name="TextBox 11">
            <a:extLst>
              <a:ext uri="{FF2B5EF4-FFF2-40B4-BE49-F238E27FC236}">
                <a16:creationId xmlns:a16="http://schemas.microsoft.com/office/drawing/2014/main" id="{189D0467-7747-0CDF-F493-C0AA0E9D5DCE}"/>
              </a:ext>
            </a:extLst>
          </p:cNvPr>
          <p:cNvSpPr txBox="1"/>
          <p:nvPr/>
        </p:nvSpPr>
        <p:spPr>
          <a:xfrm>
            <a:off x="4701654" y="1236806"/>
            <a:ext cx="6830705" cy="4557273"/>
          </a:xfrm>
          <a:prstGeom prst="rect">
            <a:avLst/>
          </a:prstGeom>
          <a:noFill/>
        </p:spPr>
        <p:txBody>
          <a:bodyPr wrap="square">
            <a:spAutoFit/>
          </a:bodyPr>
          <a:lstStyle/>
          <a:p>
            <a:pPr marL="285750" indent="-285750" algn="just">
              <a:lnSpc>
                <a:spcPct val="115000"/>
              </a:lnSpc>
              <a:spcAft>
                <a:spcPts val="800"/>
              </a:spcAft>
              <a:buFont typeface="Arial" panose="020B0604020202020204" pitchFamily="34" charset="0"/>
              <a:buChar char="•"/>
            </a:pPr>
            <a:r>
              <a:rPr lang="tr-TR" sz="1400" kern="100" dirty="0">
                <a:effectLst/>
                <a:latin typeface="Arial" panose="020B0604020202020204" pitchFamily="34" charset="0"/>
                <a:ea typeface="Aptos" panose="020B0004020202020204" pitchFamily="34" charset="0"/>
                <a:cs typeface="Arial" panose="020B0604020202020204" pitchFamily="34" charset="0"/>
              </a:rPr>
              <a:t>Büyük Veri, boyut, hız ve çeşitlilik bakımından geleneksel yöntemlerle işlenemeyen dev veri yığınlarını ifade eder. Sosyal medya, </a:t>
            </a:r>
            <a:r>
              <a:rPr lang="tr-TR" sz="1400" kern="100" dirty="0" err="1">
                <a:effectLst/>
                <a:latin typeface="Arial" panose="020B0604020202020204" pitchFamily="34" charset="0"/>
                <a:ea typeface="Aptos" panose="020B0004020202020204" pitchFamily="34" charset="0"/>
                <a:cs typeface="Arial" panose="020B0604020202020204" pitchFamily="34" charset="0"/>
              </a:rPr>
              <a:t>bloglar</a:t>
            </a:r>
            <a:r>
              <a:rPr lang="tr-TR" sz="1400" kern="100" dirty="0">
                <a:effectLst/>
                <a:latin typeface="Arial" panose="020B0604020202020204" pitchFamily="34" charset="0"/>
                <a:ea typeface="Aptos" panose="020B0004020202020204" pitchFamily="34" charset="0"/>
                <a:cs typeface="Arial" panose="020B0604020202020204" pitchFamily="34" charset="0"/>
              </a:rPr>
              <a:t>, fotoğraflar, videolar, </a:t>
            </a:r>
            <a:r>
              <a:rPr lang="tr-TR" sz="1400" kern="100" dirty="0" err="1">
                <a:effectLst/>
                <a:latin typeface="Arial" panose="020B0604020202020204" pitchFamily="34" charset="0"/>
                <a:ea typeface="Aptos" panose="020B0004020202020204" pitchFamily="34" charset="0"/>
                <a:cs typeface="Arial" panose="020B0604020202020204" pitchFamily="34" charset="0"/>
              </a:rPr>
              <a:t>sensörler</a:t>
            </a:r>
            <a:r>
              <a:rPr lang="tr-TR" sz="1400" kern="100" dirty="0">
                <a:effectLst/>
                <a:latin typeface="Arial" panose="020B0604020202020204" pitchFamily="34" charset="0"/>
                <a:ea typeface="Aptos" panose="020B0004020202020204" pitchFamily="34" charset="0"/>
                <a:cs typeface="Arial" panose="020B0604020202020204" pitchFamily="34" charset="0"/>
              </a:rPr>
              <a:t> ve </a:t>
            </a:r>
            <a:r>
              <a:rPr lang="tr-TR" sz="1400" kern="100" dirty="0" err="1">
                <a:effectLst/>
                <a:latin typeface="Arial" panose="020B0604020202020204" pitchFamily="34" charset="0"/>
                <a:ea typeface="Aptos" panose="020B0004020202020204" pitchFamily="34" charset="0"/>
                <a:cs typeface="Arial" panose="020B0604020202020204" pitchFamily="34" charset="0"/>
              </a:rPr>
              <a:t>log</a:t>
            </a:r>
            <a:r>
              <a:rPr lang="tr-TR" sz="1400" kern="100" dirty="0">
                <a:effectLst/>
                <a:latin typeface="Arial" panose="020B0604020202020204" pitchFamily="34" charset="0"/>
                <a:ea typeface="Aptos" panose="020B0004020202020204" pitchFamily="34" charset="0"/>
                <a:cs typeface="Arial" panose="020B0604020202020204" pitchFamily="34" charset="0"/>
              </a:rPr>
              <a:t> dosyaları gibi farklı kaynaklardan toplanan verilerin anlamlı ve işlenebilir hale getirilmiş biçimidir.</a:t>
            </a:r>
          </a:p>
          <a:p>
            <a:pPr marL="285750" indent="-285750" algn="just">
              <a:lnSpc>
                <a:spcPct val="115000"/>
              </a:lnSpc>
              <a:spcAft>
                <a:spcPts val="800"/>
              </a:spcAft>
              <a:buFont typeface="Arial" panose="020B0604020202020204" pitchFamily="34" charset="0"/>
              <a:buChar char="•"/>
              <a:tabLst>
                <a:tab pos="457200" algn="l"/>
              </a:tabLst>
            </a:pPr>
            <a:r>
              <a:rPr lang="tr-TR" sz="1400" kern="100" dirty="0">
                <a:effectLst/>
                <a:latin typeface="Arial" panose="020B0604020202020204" pitchFamily="34" charset="0"/>
                <a:ea typeface="Aptos" panose="020B0004020202020204" pitchFamily="34" charset="0"/>
                <a:cs typeface="Arial" panose="020B0604020202020204" pitchFamily="34" charset="0"/>
              </a:rPr>
              <a:t>Doğru analiz yöntemleriyle değerlendirildiğinde büyük veri, </a:t>
            </a:r>
            <a:r>
              <a:rPr lang="tr-TR" sz="1400" kern="100" dirty="0">
                <a:latin typeface="Arial" panose="020B0604020202020204" pitchFamily="34" charset="0"/>
                <a:ea typeface="Aptos" panose="020B0004020202020204" pitchFamily="34" charset="0"/>
                <a:cs typeface="Arial" panose="020B0604020202020204" pitchFamily="34" charset="0"/>
              </a:rPr>
              <a:t>ş</a:t>
            </a:r>
            <a:r>
              <a:rPr lang="tr-TR" sz="1400" kern="100" dirty="0">
                <a:effectLst/>
                <a:latin typeface="Arial" panose="020B0604020202020204" pitchFamily="34" charset="0"/>
                <a:ea typeface="Aptos" panose="020B0004020202020204" pitchFamily="34" charset="0"/>
                <a:cs typeface="Arial" panose="020B0604020202020204" pitchFamily="34" charset="0"/>
              </a:rPr>
              <a:t>irketlerin stratejik karar alma süreçlerini güçlendirir, risk yönetimini iyileştirir, </a:t>
            </a:r>
            <a:r>
              <a:rPr lang="tr-TR" sz="1400" kern="100" dirty="0" err="1">
                <a:latin typeface="Arial" panose="020B0604020202020204" pitchFamily="34" charset="0"/>
                <a:ea typeface="Aptos" panose="020B0004020202020204" pitchFamily="34" charset="0"/>
                <a:cs typeface="Arial" panose="020B0604020202020204" pitchFamily="34" charset="0"/>
              </a:rPr>
              <a:t>i</a:t>
            </a:r>
            <a:r>
              <a:rPr lang="tr-TR" sz="1400" kern="100" dirty="0" err="1">
                <a:effectLst/>
                <a:latin typeface="Arial" panose="020B0604020202020204" pitchFamily="34" charset="0"/>
                <a:ea typeface="Aptos" panose="020B0004020202020204" pitchFamily="34" charset="0"/>
                <a:cs typeface="Arial" panose="020B0604020202020204" pitchFamily="34" charset="0"/>
              </a:rPr>
              <a:t>novasyon</a:t>
            </a:r>
            <a:r>
              <a:rPr lang="tr-TR" sz="1400" kern="100" dirty="0">
                <a:effectLst/>
                <a:latin typeface="Arial" panose="020B0604020202020204" pitchFamily="34" charset="0"/>
                <a:ea typeface="Aptos" panose="020B0004020202020204" pitchFamily="34" charset="0"/>
                <a:cs typeface="Arial" panose="020B0604020202020204" pitchFamily="34" charset="0"/>
              </a:rPr>
              <a:t> ve rekabet avantajı sağlar.</a:t>
            </a:r>
          </a:p>
          <a:p>
            <a:pPr marL="285750" indent="-285750" algn="just">
              <a:lnSpc>
                <a:spcPct val="115000"/>
              </a:lnSpc>
              <a:spcAft>
                <a:spcPts val="800"/>
              </a:spcAft>
              <a:buFont typeface="Arial" panose="020B0604020202020204" pitchFamily="34" charset="0"/>
              <a:buChar char="•"/>
              <a:tabLst>
                <a:tab pos="457200" algn="l"/>
              </a:tabLst>
            </a:pPr>
            <a:r>
              <a:rPr lang="tr-TR" sz="1400" kern="100" dirty="0">
                <a:effectLst/>
                <a:latin typeface="Arial" panose="020B0604020202020204" pitchFamily="34" charset="0"/>
                <a:ea typeface="Aptos" panose="020B0004020202020204" pitchFamily="34" charset="0"/>
                <a:cs typeface="Arial" panose="020B0604020202020204" pitchFamily="34" charset="0"/>
              </a:rPr>
              <a:t>İlişkisel </a:t>
            </a:r>
            <a:r>
              <a:rPr lang="tr-TR" sz="1400" kern="100" dirty="0" err="1">
                <a:effectLst/>
                <a:latin typeface="Arial" panose="020B0604020202020204" pitchFamily="34" charset="0"/>
                <a:ea typeface="Aptos" panose="020B0004020202020204" pitchFamily="34" charset="0"/>
                <a:cs typeface="Arial" panose="020B0604020202020204" pitchFamily="34" charset="0"/>
              </a:rPr>
              <a:t>veritabanları</a:t>
            </a:r>
            <a:r>
              <a:rPr lang="tr-TR" sz="1400" kern="100" dirty="0">
                <a:effectLst/>
                <a:latin typeface="Arial" panose="020B0604020202020204" pitchFamily="34" charset="0"/>
                <a:ea typeface="Aptos" panose="020B0004020202020204" pitchFamily="34" charset="0"/>
                <a:cs typeface="Arial" panose="020B0604020202020204" pitchFamily="34" charset="0"/>
              </a:rPr>
              <a:t> gigabaytlarla sınırlıyken, büyük veri sistemleri </a:t>
            </a:r>
            <a:r>
              <a:rPr lang="tr-TR" sz="1400" kern="100" dirty="0" err="1">
                <a:effectLst/>
                <a:latin typeface="Arial" panose="020B0604020202020204" pitchFamily="34" charset="0"/>
                <a:ea typeface="Aptos" panose="020B0004020202020204" pitchFamily="34" charset="0"/>
                <a:cs typeface="Arial" panose="020B0604020202020204" pitchFamily="34" charset="0"/>
              </a:rPr>
              <a:t>petabayt</a:t>
            </a:r>
            <a:r>
              <a:rPr lang="tr-TR" sz="1400" kern="100" dirty="0">
                <a:effectLst/>
                <a:latin typeface="Arial" panose="020B0604020202020204" pitchFamily="34" charset="0"/>
                <a:ea typeface="Aptos" panose="020B0004020202020204" pitchFamily="34" charset="0"/>
                <a:cs typeface="Arial" panose="020B0604020202020204" pitchFamily="34" charset="0"/>
              </a:rPr>
              <a:t> seviyelerinde veri saklayabilir. Bulut bilişimin yaygınlaşması, veri işleme maliyetlerini düşürmüş ve erişimi kolaylaştırmıştır.</a:t>
            </a:r>
          </a:p>
          <a:p>
            <a:pPr marL="285750" indent="-285750" algn="just">
              <a:lnSpc>
                <a:spcPct val="115000"/>
              </a:lnSpc>
              <a:spcAft>
                <a:spcPts val="800"/>
              </a:spcAft>
              <a:buFont typeface="Arial" panose="020B0604020202020204" pitchFamily="34" charset="0"/>
              <a:buChar char="•"/>
            </a:pPr>
            <a:r>
              <a:rPr lang="tr-TR" sz="1400" kern="100" dirty="0">
                <a:effectLst/>
                <a:latin typeface="Arial" panose="020B0604020202020204" pitchFamily="34" charset="0"/>
                <a:ea typeface="Aptos" panose="020B0004020202020204" pitchFamily="34" charset="0"/>
                <a:cs typeface="Arial" panose="020B0604020202020204" pitchFamily="34" charset="0"/>
              </a:rPr>
              <a:t>Büyük Veri çağında her birey, dijital cihazlarla etkileşim yoluyla veri üreticisine dönüşmüştür. Verinin zaman, yer, miktar ve çeşit boyutları bu dönüşümün itici gücüdür.</a:t>
            </a:r>
          </a:p>
          <a:p>
            <a:pPr marL="285750" indent="-285750" algn="just">
              <a:lnSpc>
                <a:spcPct val="115000"/>
              </a:lnSpc>
              <a:spcAft>
                <a:spcPts val="800"/>
              </a:spcAft>
              <a:buFont typeface="Arial" panose="020B0604020202020204" pitchFamily="34" charset="0"/>
              <a:buChar char="•"/>
            </a:pPr>
            <a:r>
              <a:rPr lang="tr-TR" sz="1400" kern="100" dirty="0">
                <a:effectLst/>
                <a:latin typeface="Arial" panose="020B0604020202020204" pitchFamily="34" charset="0"/>
                <a:ea typeface="Aptos" panose="020B0004020202020204" pitchFamily="34" charset="0"/>
                <a:cs typeface="Arial" panose="020B0604020202020204" pitchFamily="34" charset="0"/>
              </a:rPr>
              <a:t>Büyük veri, şirketler için yalnızca bilgi değil; yeni iş fırsatlarının, iş zekâsının ve sonsuz </a:t>
            </a:r>
            <a:r>
              <a:rPr lang="tr-TR" sz="1400" kern="100" dirty="0" err="1">
                <a:effectLst/>
                <a:latin typeface="Arial" panose="020B0604020202020204" pitchFamily="34" charset="0"/>
                <a:ea typeface="Aptos" panose="020B0004020202020204" pitchFamily="34" charset="0"/>
                <a:cs typeface="Arial" panose="020B0604020202020204" pitchFamily="34" charset="0"/>
              </a:rPr>
              <a:t>inovasyonun</a:t>
            </a:r>
            <a:r>
              <a:rPr lang="tr-TR" sz="1400" kern="100" dirty="0">
                <a:effectLst/>
                <a:latin typeface="Arial" panose="020B0604020202020204" pitchFamily="34" charset="0"/>
                <a:ea typeface="Aptos" panose="020B0004020202020204" pitchFamily="34" charset="0"/>
                <a:cs typeface="Arial" panose="020B0604020202020204" pitchFamily="34" charset="0"/>
              </a:rPr>
              <a:t> kaynağıdır</a:t>
            </a:r>
            <a:r>
              <a:rPr lang="tr-TR" sz="1200" kern="100" dirty="0">
                <a:effectLst/>
                <a:latin typeface="Arial" panose="020B0604020202020204" pitchFamily="34" charset="0"/>
                <a:ea typeface="Aptos" panose="020B0004020202020204" pitchFamily="34" charset="0"/>
                <a:cs typeface="Arial" panose="020B0604020202020204" pitchFamily="34" charset="0"/>
              </a:rPr>
              <a:t>.</a:t>
            </a:r>
          </a:p>
          <a:p>
            <a:pPr marL="285750" indent="-285750">
              <a:lnSpc>
                <a:spcPct val="115000"/>
              </a:lnSpc>
              <a:spcAft>
                <a:spcPts val="800"/>
              </a:spcAft>
              <a:buFont typeface="Arial" panose="020B0604020202020204" pitchFamily="34" charset="0"/>
              <a:buChar char="•"/>
            </a:pPr>
            <a:endParaRPr lang="tr-TR" sz="1400" dirty="0"/>
          </a:p>
        </p:txBody>
      </p:sp>
      <p:pic>
        <p:nvPicPr>
          <p:cNvPr id="13" name="Picture 12" descr="A blue and red background with a map and a shield&#10;&#10;AI-generated content may be incorrect.">
            <a:extLst>
              <a:ext uri="{FF2B5EF4-FFF2-40B4-BE49-F238E27FC236}">
                <a16:creationId xmlns:a16="http://schemas.microsoft.com/office/drawing/2014/main" id="{73F4B591-C773-48D3-C8C4-32E90CE2A880}"/>
              </a:ext>
            </a:extLst>
          </p:cNvPr>
          <p:cNvPicPr>
            <a:picLocks noChangeAspect="1"/>
          </p:cNvPicPr>
          <p:nvPr/>
        </p:nvPicPr>
        <p:blipFill>
          <a:blip r:embed="rId2">
            <a:extLst>
              <a:ext uri="{28A0092B-C50C-407E-A947-70E740481C1C}">
                <a14:useLocalDpi xmlns:a14="http://schemas.microsoft.com/office/drawing/2010/main" val="0"/>
              </a:ext>
            </a:extLst>
          </a:blip>
          <a:srcRect l="13767" r="26698" b="-1"/>
          <a:stretch>
            <a:fillRect/>
          </a:stretch>
        </p:blipFill>
        <p:spPr>
          <a:xfrm>
            <a:off x="21" y="10"/>
            <a:ext cx="4299024" cy="6857990"/>
          </a:xfrm>
          <a:custGeom>
            <a:avLst/>
            <a:gdLst/>
            <a:ahLst/>
            <a:cxnLst/>
            <a:rect l="l" t="t" r="r" b="b"/>
            <a:pathLst>
              <a:path w="6116569" h="6879321">
                <a:moveTo>
                  <a:pt x="0" y="0"/>
                </a:moveTo>
                <a:lnTo>
                  <a:pt x="2935851" y="0"/>
                </a:lnTo>
                <a:cubicBezTo>
                  <a:pt x="3035710" y="10660"/>
                  <a:pt x="3138421" y="17767"/>
                  <a:pt x="3238280" y="31980"/>
                </a:cubicBezTo>
                <a:cubicBezTo>
                  <a:pt x="3817462" y="106602"/>
                  <a:pt x="3127009" y="277163"/>
                  <a:pt x="3660541" y="550772"/>
                </a:cubicBezTo>
                <a:cubicBezTo>
                  <a:pt x="3706191" y="575645"/>
                  <a:pt x="3757546" y="579199"/>
                  <a:pt x="3808902" y="589860"/>
                </a:cubicBezTo>
                <a:cubicBezTo>
                  <a:pt x="4008620" y="625393"/>
                  <a:pt x="4211192" y="618286"/>
                  <a:pt x="4413762" y="625393"/>
                </a:cubicBezTo>
                <a:cubicBezTo>
                  <a:pt x="4465118" y="628946"/>
                  <a:pt x="4525033" y="625393"/>
                  <a:pt x="4567830" y="721333"/>
                </a:cubicBezTo>
                <a:cubicBezTo>
                  <a:pt x="4425175" y="724888"/>
                  <a:pt x="4305344" y="731994"/>
                  <a:pt x="4171247" y="792401"/>
                </a:cubicBezTo>
                <a:cubicBezTo>
                  <a:pt x="4239722" y="859916"/>
                  <a:pt x="4322462" y="795955"/>
                  <a:pt x="4376671" y="842148"/>
                </a:cubicBezTo>
                <a:cubicBezTo>
                  <a:pt x="4428027" y="888342"/>
                  <a:pt x="4470824" y="891896"/>
                  <a:pt x="4527887" y="813722"/>
                </a:cubicBezTo>
                <a:cubicBezTo>
                  <a:pt x="4556417" y="774634"/>
                  <a:pt x="4604920" y="778187"/>
                  <a:pt x="4633452" y="799508"/>
                </a:cubicBezTo>
                <a:cubicBezTo>
                  <a:pt x="4781813" y="913216"/>
                  <a:pt x="4778960" y="909662"/>
                  <a:pt x="4947293" y="870576"/>
                </a:cubicBezTo>
                <a:cubicBezTo>
                  <a:pt x="5055712" y="845701"/>
                  <a:pt x="5166983" y="806615"/>
                  <a:pt x="5263988" y="820828"/>
                </a:cubicBezTo>
                <a:cubicBezTo>
                  <a:pt x="5275401" y="867022"/>
                  <a:pt x="5263988" y="888342"/>
                  <a:pt x="5249723" y="895449"/>
                </a:cubicBezTo>
                <a:cubicBezTo>
                  <a:pt x="5021475" y="1005604"/>
                  <a:pt x="4975825" y="1122864"/>
                  <a:pt x="4744723" y="1197485"/>
                </a:cubicBezTo>
                <a:cubicBezTo>
                  <a:pt x="4724751" y="1268552"/>
                  <a:pt x="4807491" y="1275660"/>
                  <a:pt x="4767548" y="1346727"/>
                </a:cubicBezTo>
                <a:cubicBezTo>
                  <a:pt x="4693367" y="1407134"/>
                  <a:pt x="4610627" y="1346727"/>
                  <a:pt x="4539299" y="1421348"/>
                </a:cubicBezTo>
                <a:cubicBezTo>
                  <a:pt x="4550712" y="1471094"/>
                  <a:pt x="4610627" y="1432008"/>
                  <a:pt x="4607773" y="1485309"/>
                </a:cubicBezTo>
                <a:cubicBezTo>
                  <a:pt x="4604920" y="1517288"/>
                  <a:pt x="4593508" y="1527948"/>
                  <a:pt x="4579242" y="1535055"/>
                </a:cubicBezTo>
                <a:cubicBezTo>
                  <a:pt x="4776107" y="1538608"/>
                  <a:pt x="5383820" y="1574142"/>
                  <a:pt x="5278255" y="1609676"/>
                </a:cubicBezTo>
                <a:cubicBezTo>
                  <a:pt x="5418057" y="1698511"/>
                  <a:pt x="5623481" y="1609676"/>
                  <a:pt x="5771843" y="1630997"/>
                </a:cubicBezTo>
                <a:cubicBezTo>
                  <a:pt x="5925911" y="1652316"/>
                  <a:pt x="6171278" y="1719830"/>
                  <a:pt x="6105656" y="1748257"/>
                </a:cubicBezTo>
                <a:cubicBezTo>
                  <a:pt x="6031475" y="1780238"/>
                  <a:pt x="5766136" y="2146235"/>
                  <a:pt x="5691955" y="2167555"/>
                </a:cubicBezTo>
                <a:cubicBezTo>
                  <a:pt x="5606362" y="2188875"/>
                  <a:pt x="5589243" y="2217302"/>
                  <a:pt x="5475118" y="2348776"/>
                </a:cubicBezTo>
                <a:cubicBezTo>
                  <a:pt x="5398085" y="2437610"/>
                  <a:pt x="5709074" y="2238623"/>
                  <a:pt x="5826051" y="2291922"/>
                </a:cubicBezTo>
                <a:cubicBezTo>
                  <a:pt x="5868848" y="2309690"/>
                  <a:pt x="5552153" y="2554872"/>
                  <a:pt x="5552153" y="2597513"/>
                </a:cubicBezTo>
                <a:cubicBezTo>
                  <a:pt x="5549300" y="2640153"/>
                  <a:pt x="5577831" y="2647260"/>
                  <a:pt x="5603508" y="2647260"/>
                </a:cubicBezTo>
                <a:cubicBezTo>
                  <a:pt x="5660571" y="2647260"/>
                  <a:pt x="5640599" y="2686346"/>
                  <a:pt x="5700515" y="2679240"/>
                </a:cubicBezTo>
                <a:cubicBezTo>
                  <a:pt x="5523622" y="2800055"/>
                  <a:pt x="5418057" y="2778734"/>
                  <a:pt x="5246870" y="2888889"/>
                </a:cubicBezTo>
                <a:cubicBezTo>
                  <a:pt x="5164130" y="2942189"/>
                  <a:pt x="4921615" y="3119857"/>
                  <a:pt x="4836022" y="3169605"/>
                </a:cubicBezTo>
                <a:cubicBezTo>
                  <a:pt x="4801785" y="3187371"/>
                  <a:pt x="4758988" y="3173158"/>
                  <a:pt x="4736163" y="3233565"/>
                </a:cubicBezTo>
                <a:cubicBezTo>
                  <a:pt x="4770400" y="3279759"/>
                  <a:pt x="4816050" y="3254885"/>
                  <a:pt x="4853141" y="3233565"/>
                </a:cubicBezTo>
                <a:cubicBezTo>
                  <a:pt x="4944440" y="3176711"/>
                  <a:pt x="4935881" y="3190925"/>
                  <a:pt x="4944440" y="3226459"/>
                </a:cubicBezTo>
                <a:cubicBezTo>
                  <a:pt x="4972972" y="3350827"/>
                  <a:pt x="5044300" y="3308186"/>
                  <a:pt x="5109921" y="3283313"/>
                </a:cubicBezTo>
                <a:cubicBezTo>
                  <a:pt x="5303932" y="3208692"/>
                  <a:pt x="5500797" y="3215799"/>
                  <a:pt x="5694809" y="3141178"/>
                </a:cubicBezTo>
                <a:cubicBezTo>
                  <a:pt x="5714781" y="3134070"/>
                  <a:pt x="5612068" y="3283313"/>
                  <a:pt x="5566419" y="3301079"/>
                </a:cubicBezTo>
                <a:cubicBezTo>
                  <a:pt x="5515063" y="3322399"/>
                  <a:pt x="5452294" y="3311739"/>
                  <a:pt x="5415203" y="3397020"/>
                </a:cubicBezTo>
                <a:cubicBezTo>
                  <a:pt x="5477972" y="3414787"/>
                  <a:pt x="5552153" y="3372147"/>
                  <a:pt x="5612068" y="3432554"/>
                </a:cubicBezTo>
                <a:cubicBezTo>
                  <a:pt x="5469413" y="3528494"/>
                  <a:pt x="5329610" y="3535601"/>
                  <a:pt x="5206927" y="3599562"/>
                </a:cubicBezTo>
                <a:cubicBezTo>
                  <a:pt x="5192661" y="3706163"/>
                  <a:pt x="5272548" y="3663523"/>
                  <a:pt x="5301079" y="3723930"/>
                </a:cubicBezTo>
                <a:cubicBezTo>
                  <a:pt x="5072830" y="3844745"/>
                  <a:pt x="4564977" y="4232062"/>
                  <a:pt x="4507915" y="4306683"/>
                </a:cubicBezTo>
                <a:cubicBezTo>
                  <a:pt x="4390937" y="4463031"/>
                  <a:pt x="3900202" y="4562525"/>
                  <a:pt x="3982942" y="4587399"/>
                </a:cubicBezTo>
                <a:cubicBezTo>
                  <a:pt x="4051417" y="4608719"/>
                  <a:pt x="4119891" y="4587399"/>
                  <a:pt x="4185513" y="4541205"/>
                </a:cubicBezTo>
                <a:cubicBezTo>
                  <a:pt x="4291078" y="4466584"/>
                  <a:pt x="5010062" y="4523438"/>
                  <a:pt x="5212633" y="4455924"/>
                </a:cubicBezTo>
                <a:cubicBezTo>
                  <a:pt x="5241164" y="4445264"/>
                  <a:pt x="5283960" y="4409730"/>
                  <a:pt x="5312492" y="4473691"/>
                </a:cubicBezTo>
                <a:cubicBezTo>
                  <a:pt x="5098508" y="4704659"/>
                  <a:pt x="4833169" y="4654913"/>
                  <a:pt x="4596361" y="4818368"/>
                </a:cubicBezTo>
                <a:cubicBezTo>
                  <a:pt x="4684807" y="4917861"/>
                  <a:pt x="4776107" y="4907202"/>
                  <a:pt x="4873113" y="4885882"/>
                </a:cubicBezTo>
                <a:cubicBezTo>
                  <a:pt x="4895938" y="4878775"/>
                  <a:pt x="4930175" y="4871668"/>
                  <a:pt x="4935881" y="4914309"/>
                </a:cubicBezTo>
                <a:cubicBezTo>
                  <a:pt x="4941587" y="4967609"/>
                  <a:pt x="4898790" y="4978270"/>
                  <a:pt x="4873113" y="5003143"/>
                </a:cubicBezTo>
                <a:cubicBezTo>
                  <a:pt x="4833169" y="5038676"/>
                  <a:pt x="4773254" y="4999590"/>
                  <a:pt x="4721898" y="5095530"/>
                </a:cubicBezTo>
                <a:cubicBezTo>
                  <a:pt x="4873113" y="5067104"/>
                  <a:pt x="4998650" y="5020910"/>
                  <a:pt x="5132745" y="4949842"/>
                </a:cubicBezTo>
                <a:cubicBezTo>
                  <a:pt x="5121333" y="5006696"/>
                  <a:pt x="5081390" y="5035123"/>
                  <a:pt x="5101362" y="5081317"/>
                </a:cubicBezTo>
                <a:cubicBezTo>
                  <a:pt x="5118480" y="5116850"/>
                  <a:pt x="5164130" y="5131063"/>
                  <a:pt x="5138452" y="5198578"/>
                </a:cubicBezTo>
                <a:cubicBezTo>
                  <a:pt x="5067125" y="5273199"/>
                  <a:pt x="4967265" y="5258986"/>
                  <a:pt x="4904497" y="5362033"/>
                </a:cubicBezTo>
                <a:cubicBezTo>
                  <a:pt x="4818903" y="5507721"/>
                  <a:pt x="4684807" y="5564575"/>
                  <a:pt x="4579242" y="5674729"/>
                </a:cubicBezTo>
                <a:cubicBezTo>
                  <a:pt x="4545005" y="5713816"/>
                  <a:pt x="4313903" y="5841738"/>
                  <a:pt x="4253988" y="5884379"/>
                </a:cubicBezTo>
                <a:cubicBezTo>
                  <a:pt x="4168395" y="5944786"/>
                  <a:pt x="4071389" y="5966106"/>
                  <a:pt x="3985795" y="6069153"/>
                </a:cubicBezTo>
                <a:cubicBezTo>
                  <a:pt x="4065682" y="6086921"/>
                  <a:pt x="4134157" y="5990979"/>
                  <a:pt x="4231163" y="6030066"/>
                </a:cubicBezTo>
                <a:cubicBezTo>
                  <a:pt x="4074242" y="6133114"/>
                  <a:pt x="3931586" y="6182861"/>
                  <a:pt x="3814609" y="6317889"/>
                </a:cubicBezTo>
                <a:cubicBezTo>
                  <a:pt x="3800343" y="6335656"/>
                  <a:pt x="3771812" y="6332102"/>
                  <a:pt x="3751840" y="6339209"/>
                </a:cubicBezTo>
                <a:cubicBezTo>
                  <a:pt x="3529298" y="6406723"/>
                  <a:pt x="3309608" y="6467130"/>
                  <a:pt x="3089919" y="6563071"/>
                </a:cubicBezTo>
                <a:cubicBezTo>
                  <a:pt x="3041416" y="6584392"/>
                  <a:pt x="2955823" y="6595052"/>
                  <a:pt x="2961529" y="6662566"/>
                </a:cubicBezTo>
                <a:cubicBezTo>
                  <a:pt x="2972941" y="6765613"/>
                  <a:pt x="3055681" y="6687439"/>
                  <a:pt x="3107038" y="6673226"/>
                </a:cubicBezTo>
                <a:cubicBezTo>
                  <a:pt x="3269664" y="6634138"/>
                  <a:pt x="3432292" y="6570178"/>
                  <a:pt x="3594919" y="6591499"/>
                </a:cubicBezTo>
                <a:cubicBezTo>
                  <a:pt x="3483648" y="6637693"/>
                  <a:pt x="3372376" y="6680332"/>
                  <a:pt x="3261106" y="6726527"/>
                </a:cubicBezTo>
                <a:cubicBezTo>
                  <a:pt x="3386642" y="6705206"/>
                  <a:pt x="3495061" y="6786934"/>
                  <a:pt x="3620597" y="6740740"/>
                </a:cubicBezTo>
                <a:cubicBezTo>
                  <a:pt x="3660541" y="6726527"/>
                  <a:pt x="3700484" y="6765613"/>
                  <a:pt x="3703337" y="6826020"/>
                </a:cubicBezTo>
                <a:cubicBezTo>
                  <a:pt x="3706191" y="6847340"/>
                  <a:pt x="3700484" y="6865108"/>
                  <a:pt x="3689072" y="6879321"/>
                </a:cubicBezTo>
                <a:lnTo>
                  <a:pt x="0" y="6879321"/>
                </a:lnTo>
                <a:close/>
              </a:path>
            </a:pathLst>
          </a:custGeom>
        </p:spPr>
      </p:pic>
    </p:spTree>
    <p:extLst>
      <p:ext uri="{BB962C8B-B14F-4D97-AF65-F5344CB8AC3E}">
        <p14:creationId xmlns:p14="http://schemas.microsoft.com/office/powerpoint/2010/main" val="42237943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67000"/>
              </a:schemeClr>
            </a:gs>
            <a:gs pos="7000">
              <a:schemeClr val="accent1">
                <a:lumMod val="97000"/>
                <a:lumOff val="3000"/>
              </a:schemeClr>
            </a:gs>
            <a:gs pos="60000">
              <a:schemeClr val="accent2">
                <a:lumMod val="20000"/>
                <a:lumOff val="80000"/>
              </a:schemeClr>
            </a:gs>
          </a:gsLst>
          <a:lin ang="162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07075" y="245557"/>
            <a:ext cx="7444853" cy="788426"/>
          </a:xfrm>
        </p:spPr>
        <p:txBody>
          <a:bodyPr>
            <a:normAutofit/>
          </a:bodyPr>
          <a:lstStyle/>
          <a:p>
            <a:pPr algn="ctr"/>
            <a:r>
              <a:rPr lang="tr-TR" sz="3600"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Veri İhlali Nedir?</a:t>
            </a:r>
          </a:p>
        </p:txBody>
      </p:sp>
      <p:sp>
        <p:nvSpPr>
          <p:cNvPr id="3" name="Content Placeholder 2"/>
          <p:cNvSpPr>
            <a:spLocks noGrp="1"/>
          </p:cNvSpPr>
          <p:nvPr>
            <p:ph idx="1"/>
          </p:nvPr>
        </p:nvSpPr>
        <p:spPr>
          <a:xfrm>
            <a:off x="818866" y="1289713"/>
            <a:ext cx="6462215" cy="4493975"/>
          </a:xfrm>
        </p:spPr>
        <p:txBody>
          <a:bodyPr>
            <a:normAutofit fontScale="25000" lnSpcReduction="20000"/>
          </a:bodyPr>
          <a:lstStyle/>
          <a:p>
            <a:pPr algn="just"/>
            <a:r>
              <a:rPr lang="tr-TR" sz="5600" dirty="0">
                <a:latin typeface="Arial" panose="020B0604020202020204" pitchFamily="34" charset="0"/>
                <a:cs typeface="Arial" panose="020B0604020202020204" pitchFamily="34" charset="0"/>
              </a:rPr>
              <a:t>Küresel ölçekte artan siber tehditler ile birlikte veri ihlalleri günümüzde büyük önem kazanmıştır.</a:t>
            </a:r>
          </a:p>
          <a:p>
            <a:pPr algn="just"/>
            <a:r>
              <a:rPr lang="tr-TR" sz="5600" dirty="0">
                <a:latin typeface="Arial" panose="020B0604020202020204" pitchFamily="34" charset="0"/>
                <a:cs typeface="Arial" panose="020B0604020202020204" pitchFamily="34" charset="0"/>
              </a:rPr>
              <a:t>Veri ihlali, kişisel veya kurumsal verilerin yetkisiz kişilerce erişilmesi, paylaşılması, çalınması, kopyalanması, değiştirilmesi veya kullanılmasını ifade eder.</a:t>
            </a:r>
          </a:p>
          <a:p>
            <a:pPr algn="just"/>
            <a:r>
              <a:rPr lang="tr-TR" sz="5600" dirty="0">
                <a:latin typeface="Arial" panose="020B0604020202020204" pitchFamily="34" charset="0"/>
                <a:cs typeface="Arial" panose="020B0604020202020204" pitchFamily="34" charset="0"/>
              </a:rPr>
              <a:t>Bu durum, gizli veya hassas bilgilerin sahibinin izni olmadan ele geçirilmesiyle oluşan bir güvenlik ihlalidir.</a:t>
            </a:r>
          </a:p>
          <a:p>
            <a:pPr algn="just"/>
            <a:r>
              <a:rPr lang="tr-TR" sz="5600" dirty="0">
                <a:latin typeface="Arial" panose="020B0604020202020204" pitchFamily="34" charset="0"/>
                <a:cs typeface="Arial" panose="020B0604020202020204" pitchFamily="34" charset="0"/>
              </a:rPr>
              <a:t>Veri ihlalleri; küçük işletmelerden kamu kurumlarına kadar her ölçekten kuruluşu etkileyebilir.</a:t>
            </a:r>
          </a:p>
          <a:p>
            <a:pPr algn="just"/>
            <a:r>
              <a:rPr lang="tr-TR" sz="5600" dirty="0">
                <a:latin typeface="Arial" panose="020B0604020202020204" pitchFamily="34" charset="0"/>
                <a:cs typeface="Arial" panose="020B0604020202020204" pitchFamily="34" charset="0"/>
              </a:rPr>
              <a:t>Banka hesapları, finansal veriler, sağlık bilgileri, müşteri kayıtları, fikri mülkiyet gibi kritik bilgilerin sızdırılmasına yol açabilir.</a:t>
            </a:r>
          </a:p>
          <a:p>
            <a:pPr marL="0" indent="0" algn="just">
              <a:buNone/>
            </a:pPr>
            <a:endParaRPr lang="tr-TR" sz="5600" dirty="0">
              <a:latin typeface="Arial" panose="020B0604020202020204" pitchFamily="34" charset="0"/>
              <a:cs typeface="Arial" panose="020B0604020202020204" pitchFamily="34" charset="0"/>
            </a:endParaRPr>
          </a:p>
          <a:p>
            <a:pPr algn="just"/>
            <a:r>
              <a:rPr lang="tr-TR" sz="5600" dirty="0">
                <a:latin typeface="Arial" panose="020B0604020202020204" pitchFamily="34" charset="0"/>
                <a:cs typeface="Arial" panose="020B0604020202020204" pitchFamily="34" charset="0"/>
              </a:rPr>
              <a:t>Kasıtlı (saldırı, sabotaj) ya da kasıtsız (insan hatası, yetersiz güvenlik) biçimlerde gerçekleşebilir.</a:t>
            </a:r>
          </a:p>
          <a:p>
            <a:pPr algn="just"/>
            <a:endParaRPr lang="tr-TR" sz="5600" dirty="0">
              <a:latin typeface="Arial" panose="020B0604020202020204" pitchFamily="34" charset="0"/>
              <a:cs typeface="Arial" panose="020B0604020202020204" pitchFamily="34" charset="0"/>
            </a:endParaRPr>
          </a:p>
          <a:p>
            <a:pPr marL="0" indent="0" algn="just">
              <a:buNone/>
            </a:pPr>
            <a:r>
              <a:rPr lang="tr-TR" sz="5600" b="1" dirty="0">
                <a:latin typeface="Arial" panose="020B0604020202020204" pitchFamily="34" charset="0"/>
                <a:cs typeface="Arial" panose="020B0604020202020204" pitchFamily="34" charset="0"/>
              </a:rPr>
              <a:t>Sonuçları:</a:t>
            </a:r>
            <a:endParaRPr lang="tr-TR" sz="4800" b="1" dirty="0">
              <a:latin typeface="Arial" panose="020B0604020202020204" pitchFamily="34" charset="0"/>
              <a:cs typeface="Arial" panose="020B0604020202020204" pitchFamily="34" charset="0"/>
            </a:endParaRPr>
          </a:p>
          <a:p>
            <a:pPr lvl="0" algn="just"/>
            <a:r>
              <a:rPr lang="tr-TR" sz="5600" dirty="0">
                <a:latin typeface="Arial" panose="020B0604020202020204" pitchFamily="34" charset="0"/>
                <a:cs typeface="Arial" panose="020B0604020202020204" pitchFamily="34" charset="0"/>
              </a:rPr>
              <a:t>İtibar kaybı</a:t>
            </a:r>
          </a:p>
          <a:p>
            <a:pPr lvl="0" algn="just"/>
            <a:r>
              <a:rPr lang="tr-TR" sz="5600" dirty="0">
                <a:latin typeface="Arial" panose="020B0604020202020204" pitchFamily="34" charset="0"/>
                <a:cs typeface="Arial" panose="020B0604020202020204" pitchFamily="34" charset="0"/>
              </a:rPr>
              <a:t>Finansal zarar</a:t>
            </a:r>
          </a:p>
          <a:p>
            <a:pPr lvl="0" algn="just"/>
            <a:r>
              <a:rPr lang="tr-TR" sz="5600" dirty="0">
                <a:latin typeface="Arial" panose="020B0604020202020204" pitchFamily="34" charset="0"/>
                <a:cs typeface="Arial" panose="020B0604020202020204" pitchFamily="34" charset="0"/>
              </a:rPr>
              <a:t>Faaliyet kesintileri</a:t>
            </a:r>
          </a:p>
          <a:p>
            <a:pPr lvl="0" algn="just"/>
            <a:r>
              <a:rPr lang="tr-TR" sz="5600" dirty="0">
                <a:latin typeface="Arial" panose="020B0604020202020204" pitchFamily="34" charset="0"/>
                <a:cs typeface="Arial" panose="020B0604020202020204" pitchFamily="34" charset="0"/>
              </a:rPr>
              <a:t>Yasal yaptırımlar ve fikri mülkiyet kaybı</a:t>
            </a:r>
          </a:p>
          <a:p>
            <a:pPr marL="0" indent="0" algn="just">
              <a:buNone/>
            </a:pPr>
            <a:br>
              <a:rPr lang="tr-TR" sz="5600" dirty="0">
                <a:latin typeface="Arial" panose="020B0604020202020204" pitchFamily="34" charset="0"/>
                <a:cs typeface="Arial" panose="020B0604020202020204" pitchFamily="34" charset="0"/>
              </a:rPr>
            </a:br>
            <a:endParaRPr lang="tr-TR" sz="5600" dirty="0">
              <a:latin typeface="Arial" panose="020B0604020202020204" pitchFamily="34" charset="0"/>
              <a:cs typeface="Arial" panose="020B0604020202020204" pitchFamily="34" charset="0"/>
            </a:endParaRPr>
          </a:p>
        </p:txBody>
      </p:sp>
      <p:pic>
        <p:nvPicPr>
          <p:cNvPr id="4" name="Picture 3" descr="A blue and red background with a map and a shield&#10;&#10;AI-generated content may be incorrect.">
            <a:extLst>
              <a:ext uri="{FF2B5EF4-FFF2-40B4-BE49-F238E27FC236}">
                <a16:creationId xmlns:a16="http://schemas.microsoft.com/office/drawing/2014/main" id="{6FA590EA-CE58-65B2-15E6-6E8D467A545A}"/>
              </a:ext>
            </a:extLst>
          </p:cNvPr>
          <p:cNvPicPr>
            <a:picLocks noChangeAspect="1"/>
          </p:cNvPicPr>
          <p:nvPr/>
        </p:nvPicPr>
        <p:blipFill>
          <a:blip r:embed="rId2">
            <a:extLst>
              <a:ext uri="{28A0092B-C50C-407E-A947-70E740481C1C}">
                <a14:useLocalDpi xmlns:a14="http://schemas.microsoft.com/office/drawing/2010/main" val="0"/>
              </a:ext>
            </a:extLst>
          </a:blip>
          <a:srcRect l="14516" r="27447" b="-1"/>
          <a:stretch>
            <a:fillRect/>
          </a:stretch>
        </p:blipFill>
        <p:spPr>
          <a:xfrm>
            <a:off x="7335672" y="-112532"/>
            <a:ext cx="4921606"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67000"/>
              </a:schemeClr>
            </a:gs>
            <a:gs pos="7000">
              <a:schemeClr val="accent1">
                <a:lumMod val="97000"/>
                <a:lumOff val="3000"/>
              </a:schemeClr>
            </a:gs>
            <a:gs pos="60000">
              <a:schemeClr val="accent2">
                <a:lumMod val="20000"/>
                <a:lumOff val="80000"/>
              </a:schemeClr>
            </a:gs>
          </a:gsLst>
          <a:lin ang="16200000" scaled="1"/>
        </a:gra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284AC13-F77D-AE47-7CBB-359DCB895932}"/>
              </a:ext>
            </a:extLst>
          </p:cNvPr>
          <p:cNvSpPr/>
          <p:nvPr/>
        </p:nvSpPr>
        <p:spPr>
          <a:xfrm>
            <a:off x="4561554" y="160547"/>
            <a:ext cx="7630446" cy="1006416"/>
          </a:xfrm>
          <a:prstGeom prst="rect">
            <a:avLst/>
          </a:prstGeom>
        </p:spPr>
        <p:txBody>
          <a:bodyPr vert="horz" lIns="91440" tIns="45720" rIns="91440" bIns="45720" rtlCol="0" anchor="ctr">
            <a:noAutofit/>
          </a:bodyPr>
          <a:lstStyle/>
          <a:p>
            <a:pPr algn="ctr" defTabSz="914400">
              <a:lnSpc>
                <a:spcPct val="90000"/>
              </a:lnSpc>
              <a:spcBef>
                <a:spcPct val="0"/>
              </a:spcBef>
              <a:spcAft>
                <a:spcPts val="600"/>
              </a:spcAft>
            </a:pPr>
            <a:r>
              <a:rPr lang="tr-TR" sz="3600" dirty="0">
                <a:effectLst>
                  <a:outerShdw blurRad="38100" dist="38100" dir="2700000" algn="tl">
                    <a:srgbClr val="000000">
                      <a:alpha val="43137"/>
                    </a:srgbClr>
                  </a:outerShdw>
                </a:effectLst>
                <a:latin typeface="Arial" panose="020B0604020202020204" pitchFamily="34" charset="0"/>
                <a:ea typeface="+mj-ea"/>
                <a:cs typeface="Arial" panose="020B0604020202020204" pitchFamily="34" charset="0"/>
              </a:rPr>
              <a:t>Veri İhlal Türleri Nelerdir?</a:t>
            </a:r>
          </a:p>
        </p:txBody>
      </p:sp>
      <p:pic>
        <p:nvPicPr>
          <p:cNvPr id="4" name="Picture 3" descr="A blue and red background with a map and a shield&#10;&#10;AI-generated content may be incorrect.">
            <a:extLst>
              <a:ext uri="{FF2B5EF4-FFF2-40B4-BE49-F238E27FC236}">
                <a16:creationId xmlns:a16="http://schemas.microsoft.com/office/drawing/2014/main" id="{95FC8088-D610-9B80-C85D-017B9559252B}"/>
              </a:ext>
            </a:extLst>
          </p:cNvPr>
          <p:cNvPicPr>
            <a:picLocks noChangeAspect="1"/>
          </p:cNvPicPr>
          <p:nvPr/>
        </p:nvPicPr>
        <p:blipFill>
          <a:blip r:embed="rId2">
            <a:extLst>
              <a:ext uri="{28A0092B-C50C-407E-A947-70E740481C1C}">
                <a14:useLocalDpi xmlns:a14="http://schemas.microsoft.com/office/drawing/2010/main" val="0"/>
              </a:ext>
            </a:extLst>
          </a:blip>
          <a:srcRect l="10282" r="23213" b="-1"/>
          <a:stretch>
            <a:fillRect/>
          </a:stretch>
        </p:blipFill>
        <p:spPr>
          <a:xfrm>
            <a:off x="0" y="10"/>
            <a:ext cx="4561554" cy="6857990"/>
          </a:xfrm>
          <a:custGeom>
            <a:avLst/>
            <a:gdLst/>
            <a:ahLst/>
            <a:cxnLst/>
            <a:rect l="l" t="t" r="r" b="b"/>
            <a:pathLst>
              <a:path w="6832674" h="6858000">
                <a:moveTo>
                  <a:pt x="0" y="0"/>
                </a:moveTo>
                <a:lnTo>
                  <a:pt x="6832674" y="0"/>
                </a:lnTo>
                <a:lnTo>
                  <a:pt x="6749707" y="183520"/>
                </a:lnTo>
                <a:cubicBezTo>
                  <a:pt x="6327787" y="1181050"/>
                  <a:pt x="6094475" y="2277779"/>
                  <a:pt x="6094475" y="3429000"/>
                </a:cubicBezTo>
                <a:cubicBezTo>
                  <a:pt x="6094475" y="4580222"/>
                  <a:pt x="6327787" y="5676950"/>
                  <a:pt x="6749707" y="6674481"/>
                </a:cubicBezTo>
                <a:lnTo>
                  <a:pt x="6832674" y="6858000"/>
                </a:lnTo>
                <a:lnTo>
                  <a:pt x="0" y="6858000"/>
                </a:lnTo>
                <a:close/>
              </a:path>
            </a:pathLst>
          </a:custGeom>
        </p:spPr>
      </p:pic>
      <p:sp>
        <p:nvSpPr>
          <p:cNvPr id="3" name="TextBox 2">
            <a:extLst>
              <a:ext uri="{FF2B5EF4-FFF2-40B4-BE49-F238E27FC236}">
                <a16:creationId xmlns:a16="http://schemas.microsoft.com/office/drawing/2014/main" id="{9B07E540-933D-7675-1F0F-FCA7CD8F03D9}"/>
              </a:ext>
            </a:extLst>
          </p:cNvPr>
          <p:cNvSpPr txBox="1"/>
          <p:nvPr/>
        </p:nvSpPr>
        <p:spPr>
          <a:xfrm>
            <a:off x="4752623" y="1282889"/>
            <a:ext cx="7027632" cy="5276797"/>
          </a:xfrm>
          <a:prstGeom prst="rect">
            <a:avLst/>
          </a:prstGeom>
        </p:spPr>
        <p:txBody>
          <a:bodyPr vert="horz" lIns="91440" tIns="45720" rIns="91440" bIns="45720" rtlCol="0">
            <a:noAutofit/>
          </a:bodyPr>
          <a:lstStyle/>
          <a:p>
            <a:pPr algn="just" defTabSz="914400">
              <a:lnSpc>
                <a:spcPct val="90000"/>
              </a:lnSpc>
              <a:spcAft>
                <a:spcPts val="600"/>
              </a:spcAft>
            </a:pPr>
            <a:r>
              <a:rPr lang="tr-TR" sz="1600" b="1" dirty="0">
                <a:latin typeface="Arial" panose="020B0604020202020204" pitchFamily="34" charset="0"/>
                <a:cs typeface="Arial" panose="020B0604020202020204" pitchFamily="34" charset="0"/>
              </a:rPr>
              <a:t>Dış Veri İhlalleri: </a:t>
            </a:r>
            <a:r>
              <a:rPr lang="tr-TR" sz="1400" dirty="0">
                <a:latin typeface="Arial" panose="020B0604020202020204" pitchFamily="34" charset="0"/>
                <a:cs typeface="Arial" panose="020B0604020202020204" pitchFamily="34" charset="0"/>
              </a:rPr>
              <a:t>Kuruluş dışından gelen saldırılardır.</a:t>
            </a:r>
          </a:p>
          <a:p>
            <a:pPr marL="285750" lvl="0" indent="-228600" algn="just" defTabSz="914400">
              <a:lnSpc>
                <a:spcPct val="90000"/>
              </a:lnSpc>
              <a:spcAft>
                <a:spcPts val="600"/>
              </a:spcAft>
              <a:buFont typeface="Arial" panose="020B0604020202020204" pitchFamily="34" charset="0"/>
              <a:buChar char="•"/>
            </a:pPr>
            <a:r>
              <a:rPr lang="tr-TR" sz="1400" b="1" dirty="0">
                <a:solidFill>
                  <a:schemeClr val="accent1">
                    <a:lumMod val="50000"/>
                  </a:schemeClr>
                </a:solidFill>
                <a:latin typeface="Arial" panose="020B0604020202020204" pitchFamily="34" charset="0"/>
                <a:cs typeface="Arial" panose="020B0604020202020204" pitchFamily="34" charset="0"/>
              </a:rPr>
              <a:t>Korsan Siber Saldırıları: </a:t>
            </a:r>
            <a:r>
              <a:rPr lang="tr-TR" sz="1400" dirty="0">
                <a:latin typeface="Arial" panose="020B0604020202020204" pitchFamily="34" charset="0"/>
                <a:cs typeface="Arial" panose="020B0604020202020204" pitchFamily="34" charset="0"/>
              </a:rPr>
              <a:t>Sisteme yetkisiz erişimle veri sızdırma veya zarar verme.</a:t>
            </a:r>
          </a:p>
          <a:p>
            <a:pPr marL="285750" lvl="0" indent="-228600" algn="just" defTabSz="914400">
              <a:lnSpc>
                <a:spcPct val="90000"/>
              </a:lnSpc>
              <a:spcAft>
                <a:spcPts val="600"/>
              </a:spcAft>
              <a:buFont typeface="Arial" panose="020B0604020202020204" pitchFamily="34" charset="0"/>
              <a:buChar char="•"/>
            </a:pPr>
            <a:r>
              <a:rPr lang="tr-TR" sz="1400" b="1" dirty="0">
                <a:solidFill>
                  <a:schemeClr val="accent1">
                    <a:lumMod val="50000"/>
                  </a:schemeClr>
                </a:solidFill>
                <a:latin typeface="Arial" panose="020B0604020202020204" pitchFamily="34" charset="0"/>
                <a:cs typeface="Arial" panose="020B0604020202020204" pitchFamily="34" charset="0"/>
              </a:rPr>
              <a:t>Kimlik Avı ve Sosyal Mühendislik: </a:t>
            </a:r>
            <a:r>
              <a:rPr lang="tr-TR" sz="1400" dirty="0">
                <a:latin typeface="Arial" panose="020B0604020202020204" pitchFamily="34" charset="0"/>
                <a:cs typeface="Arial" panose="020B0604020202020204" pitchFamily="34" charset="0"/>
              </a:rPr>
              <a:t>Sahte e-postalarla kullanıcıları kandırarak bilgi çalma.</a:t>
            </a:r>
          </a:p>
          <a:p>
            <a:pPr marL="285750" lvl="0" indent="-228600" algn="just" defTabSz="914400">
              <a:lnSpc>
                <a:spcPct val="90000"/>
              </a:lnSpc>
              <a:spcAft>
                <a:spcPts val="600"/>
              </a:spcAft>
              <a:buFont typeface="Arial" panose="020B0604020202020204" pitchFamily="34" charset="0"/>
              <a:buChar char="•"/>
            </a:pPr>
            <a:r>
              <a:rPr lang="tr-TR" sz="1400" b="1" dirty="0">
                <a:solidFill>
                  <a:schemeClr val="accent1">
                    <a:lumMod val="50000"/>
                  </a:schemeClr>
                </a:solidFill>
                <a:latin typeface="Arial" panose="020B0604020202020204" pitchFamily="34" charset="0"/>
                <a:cs typeface="Arial" panose="020B0604020202020204" pitchFamily="34" charset="0"/>
              </a:rPr>
              <a:t>Fidye Yazılımları: </a:t>
            </a:r>
            <a:r>
              <a:rPr lang="tr-TR" sz="1400" dirty="0">
                <a:latin typeface="Arial" panose="020B0604020202020204" pitchFamily="34" charset="0"/>
                <a:cs typeface="Arial" panose="020B0604020202020204" pitchFamily="34" charset="0"/>
              </a:rPr>
              <a:t>Verileri şifreleyip erişimi engelleyerek fidye talep eden kötü amaçlı yazılımlar.</a:t>
            </a:r>
          </a:p>
          <a:p>
            <a:pPr marL="285750" lvl="0" indent="-228600" algn="just" defTabSz="914400">
              <a:lnSpc>
                <a:spcPct val="90000"/>
              </a:lnSpc>
              <a:spcAft>
                <a:spcPts val="600"/>
              </a:spcAft>
              <a:buFont typeface="Arial" panose="020B0604020202020204" pitchFamily="34" charset="0"/>
              <a:buChar char="•"/>
            </a:pPr>
            <a:r>
              <a:rPr lang="tr-TR" sz="1400" b="1" dirty="0">
                <a:solidFill>
                  <a:schemeClr val="accent1">
                    <a:lumMod val="50000"/>
                  </a:schemeClr>
                </a:solidFill>
                <a:latin typeface="Arial" panose="020B0604020202020204" pitchFamily="34" charset="0"/>
                <a:cs typeface="Arial" panose="020B0604020202020204" pitchFamily="34" charset="0"/>
              </a:rPr>
              <a:t>Kötü Amaçlı Yazılımlar (</a:t>
            </a:r>
            <a:r>
              <a:rPr lang="tr-TR" sz="1400" b="1" dirty="0" err="1">
                <a:solidFill>
                  <a:schemeClr val="accent1">
                    <a:lumMod val="50000"/>
                  </a:schemeClr>
                </a:solidFill>
                <a:latin typeface="Arial" panose="020B0604020202020204" pitchFamily="34" charset="0"/>
                <a:cs typeface="Arial" panose="020B0604020202020204" pitchFamily="34" charset="0"/>
              </a:rPr>
              <a:t>Malware</a:t>
            </a:r>
            <a:r>
              <a:rPr lang="tr-TR" sz="1400" b="1" dirty="0">
                <a:solidFill>
                  <a:schemeClr val="accent1">
                    <a:lumMod val="50000"/>
                  </a:schemeClr>
                </a:solidFill>
                <a:latin typeface="Arial" panose="020B0604020202020204" pitchFamily="34" charset="0"/>
                <a:cs typeface="Arial" panose="020B0604020202020204" pitchFamily="34" charset="0"/>
              </a:rPr>
              <a:t>): </a:t>
            </a:r>
            <a:r>
              <a:rPr lang="tr-TR" sz="1400" dirty="0">
                <a:latin typeface="Arial" panose="020B0604020202020204" pitchFamily="34" charset="0"/>
                <a:cs typeface="Arial" panose="020B0604020202020204" pitchFamily="34" charset="0"/>
              </a:rPr>
              <a:t>Cihazların çalışmasını bozarak verileri erişilemez hale getirme.</a:t>
            </a:r>
          </a:p>
          <a:p>
            <a:pPr marL="285750" lvl="0" indent="-228600" algn="just" defTabSz="914400">
              <a:lnSpc>
                <a:spcPct val="90000"/>
              </a:lnSpc>
              <a:spcAft>
                <a:spcPts val="600"/>
              </a:spcAft>
              <a:buFont typeface="Arial" panose="020B0604020202020204" pitchFamily="34" charset="0"/>
              <a:buChar char="•"/>
            </a:pPr>
            <a:r>
              <a:rPr lang="tr-TR" sz="1400" b="1" dirty="0" err="1">
                <a:solidFill>
                  <a:schemeClr val="accent1">
                    <a:lumMod val="50000"/>
                  </a:schemeClr>
                </a:solidFill>
                <a:latin typeface="Arial" panose="020B0604020202020204" pitchFamily="34" charset="0"/>
                <a:cs typeface="Arial" panose="020B0604020202020204" pitchFamily="34" charset="0"/>
              </a:rPr>
              <a:t>DDoS</a:t>
            </a:r>
            <a:r>
              <a:rPr lang="tr-TR" sz="1400" b="1" dirty="0">
                <a:solidFill>
                  <a:schemeClr val="accent1">
                    <a:lumMod val="50000"/>
                  </a:schemeClr>
                </a:solidFill>
                <a:latin typeface="Arial" panose="020B0604020202020204" pitchFamily="34" charset="0"/>
                <a:cs typeface="Arial" panose="020B0604020202020204" pitchFamily="34" charset="0"/>
              </a:rPr>
              <a:t> Saldırıları: </a:t>
            </a:r>
            <a:r>
              <a:rPr lang="tr-TR" sz="1400" dirty="0">
                <a:latin typeface="Arial" panose="020B0604020202020204" pitchFamily="34" charset="0"/>
                <a:cs typeface="Arial" panose="020B0604020202020204" pitchFamily="34" charset="0"/>
              </a:rPr>
              <a:t>Aşırı ağ trafiğiyle sunucuları çökertme ve hizmeti engelleme.</a:t>
            </a:r>
          </a:p>
          <a:p>
            <a:pPr marL="285750" lvl="0" indent="-228600" algn="just" defTabSz="914400">
              <a:lnSpc>
                <a:spcPct val="90000"/>
              </a:lnSpc>
              <a:spcAft>
                <a:spcPts val="600"/>
              </a:spcAft>
              <a:buFont typeface="Arial" panose="020B0604020202020204" pitchFamily="34" charset="0"/>
              <a:buChar char="•"/>
            </a:pPr>
            <a:r>
              <a:rPr lang="tr-TR" sz="1400" b="1" dirty="0">
                <a:solidFill>
                  <a:schemeClr val="accent1">
                    <a:lumMod val="50000"/>
                  </a:schemeClr>
                </a:solidFill>
                <a:latin typeface="Arial" panose="020B0604020202020204" pitchFamily="34" charset="0"/>
                <a:cs typeface="Arial" panose="020B0604020202020204" pitchFamily="34" charset="0"/>
              </a:rPr>
              <a:t>Kurumsal E-Posta Ele Geçirme (BEC): </a:t>
            </a:r>
            <a:r>
              <a:rPr lang="tr-TR" sz="1400" dirty="0">
                <a:latin typeface="Arial" panose="020B0604020202020204" pitchFamily="34" charset="0"/>
                <a:cs typeface="Arial" panose="020B0604020202020204" pitchFamily="34" charset="0"/>
              </a:rPr>
              <a:t>Sahte yöneticilerle para veya bilgi transferi sağlama dolandırıcılığı.</a:t>
            </a:r>
          </a:p>
          <a:p>
            <a:pPr marL="285750" lvl="0" indent="-228600" algn="just" defTabSz="914400">
              <a:lnSpc>
                <a:spcPct val="90000"/>
              </a:lnSpc>
              <a:spcAft>
                <a:spcPts val="600"/>
              </a:spcAft>
              <a:buFont typeface="Arial" panose="020B0604020202020204" pitchFamily="34" charset="0"/>
              <a:buChar char="•"/>
            </a:pPr>
            <a:endParaRPr lang="tr-TR" sz="1200" dirty="0">
              <a:latin typeface="Arial" panose="020B0604020202020204" pitchFamily="34" charset="0"/>
              <a:cs typeface="Arial" panose="020B0604020202020204" pitchFamily="34" charset="0"/>
            </a:endParaRPr>
          </a:p>
          <a:p>
            <a:pPr algn="just" defTabSz="914400">
              <a:lnSpc>
                <a:spcPct val="90000"/>
              </a:lnSpc>
              <a:spcAft>
                <a:spcPts val="600"/>
              </a:spcAft>
            </a:pPr>
            <a:r>
              <a:rPr lang="tr-TR" sz="1200" dirty="0">
                <a:latin typeface="Arial" panose="020B0604020202020204" pitchFamily="34" charset="0"/>
                <a:cs typeface="Arial" panose="020B0604020202020204" pitchFamily="34" charset="0"/>
              </a:rPr>
              <a:t> </a:t>
            </a:r>
            <a:r>
              <a:rPr lang="tr-TR" sz="1600" b="1" dirty="0">
                <a:latin typeface="Arial" panose="020B0604020202020204" pitchFamily="34" charset="0"/>
                <a:cs typeface="Arial" panose="020B0604020202020204" pitchFamily="34" charset="0"/>
              </a:rPr>
              <a:t>İç Veri İhlalleri: </a:t>
            </a:r>
            <a:r>
              <a:rPr lang="tr-TR" sz="1400" dirty="0">
                <a:latin typeface="Arial" panose="020B0604020202020204" pitchFamily="34" charset="0"/>
                <a:cs typeface="Arial" panose="020B0604020202020204" pitchFamily="34" charset="0"/>
              </a:rPr>
              <a:t>Kuruluş içindeki yetkili kişilerin eylemleriyle oluşur.</a:t>
            </a:r>
          </a:p>
          <a:p>
            <a:pPr marL="285750" lvl="0" indent="-228600" algn="just" defTabSz="914400">
              <a:lnSpc>
                <a:spcPct val="90000"/>
              </a:lnSpc>
              <a:spcAft>
                <a:spcPts val="600"/>
              </a:spcAft>
              <a:buFont typeface="Arial" panose="020B0604020202020204" pitchFamily="34" charset="0"/>
              <a:buChar char="•"/>
            </a:pPr>
            <a:r>
              <a:rPr lang="tr-TR" sz="1400" b="1" dirty="0">
                <a:solidFill>
                  <a:schemeClr val="accent1">
                    <a:lumMod val="50000"/>
                  </a:schemeClr>
                </a:solidFill>
                <a:latin typeface="Arial" panose="020B0604020202020204" pitchFamily="34" charset="0"/>
                <a:cs typeface="Arial" panose="020B0604020202020204" pitchFamily="34" charset="0"/>
              </a:rPr>
              <a:t>İç Siber Tehditler: </a:t>
            </a:r>
            <a:r>
              <a:rPr lang="tr-TR" sz="1400" dirty="0">
                <a:latin typeface="Arial" panose="020B0604020202020204" pitchFamily="34" charset="0"/>
                <a:cs typeface="Arial" panose="020B0604020202020204" pitchFamily="34" charset="0"/>
              </a:rPr>
              <a:t>Çalışan veya iş ortaklarının erişim yetkilerini kötüye kullanması.</a:t>
            </a:r>
          </a:p>
          <a:p>
            <a:pPr marL="285750" lvl="0" indent="-228600" algn="just" defTabSz="914400">
              <a:lnSpc>
                <a:spcPct val="90000"/>
              </a:lnSpc>
              <a:spcAft>
                <a:spcPts val="600"/>
              </a:spcAft>
              <a:buFont typeface="Arial" panose="020B0604020202020204" pitchFamily="34" charset="0"/>
              <a:buChar char="•"/>
            </a:pPr>
            <a:r>
              <a:rPr lang="tr-TR" sz="1400" b="1" dirty="0">
                <a:solidFill>
                  <a:schemeClr val="accent1">
                    <a:lumMod val="50000"/>
                  </a:schemeClr>
                </a:solidFill>
                <a:latin typeface="Arial" panose="020B0604020202020204" pitchFamily="34" charset="0"/>
                <a:cs typeface="Arial" panose="020B0604020202020204" pitchFamily="34" charset="0"/>
              </a:rPr>
              <a:t>Verilerin Yanlışlıkla İfşası: </a:t>
            </a:r>
            <a:r>
              <a:rPr lang="tr-TR" sz="1400" dirty="0">
                <a:latin typeface="Arial" panose="020B0604020202020204" pitchFamily="34" charset="0"/>
                <a:cs typeface="Arial" panose="020B0604020202020204" pitchFamily="34" charset="0"/>
              </a:rPr>
              <a:t>İnsan hatası veya zayıf güvenlik politikaları nedeniyle verilerin açığa çıkması</a:t>
            </a:r>
            <a:r>
              <a:rPr lang="tr-TR" sz="1400" dirty="0"/>
              <a:t>.</a:t>
            </a:r>
          </a:p>
          <a:p>
            <a:pPr algn="just" defTabSz="914400">
              <a:lnSpc>
                <a:spcPct val="90000"/>
              </a:lnSpc>
              <a:spcAft>
                <a:spcPts val="600"/>
              </a:spcAft>
            </a:pPr>
            <a:br>
              <a:rPr lang="tr-TR" sz="1400" dirty="0"/>
            </a:br>
            <a:endParaRPr lang="tr-TR" sz="1400" dirty="0"/>
          </a:p>
        </p:txBody>
      </p:sp>
    </p:spTree>
    <p:extLst>
      <p:ext uri="{BB962C8B-B14F-4D97-AF65-F5344CB8AC3E}">
        <p14:creationId xmlns:p14="http://schemas.microsoft.com/office/powerpoint/2010/main" val="6083916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67000"/>
              </a:schemeClr>
            </a:gs>
            <a:gs pos="7000">
              <a:schemeClr val="accent1">
                <a:lumMod val="97000"/>
                <a:lumOff val="3000"/>
              </a:schemeClr>
            </a:gs>
            <a:gs pos="60000">
              <a:schemeClr val="accent2">
                <a:lumMod val="20000"/>
                <a:lumOff val="80000"/>
              </a:schemeClr>
            </a:gs>
          </a:gsLst>
          <a:lin ang="16200000" scaled="1"/>
        </a:gradFill>
        <a:effectLst/>
      </p:bgPr>
    </p:bg>
    <p:spTree>
      <p:nvGrpSpPr>
        <p:cNvPr id="1" name=""/>
        <p:cNvGrpSpPr/>
        <p:nvPr/>
      </p:nvGrpSpPr>
      <p:grpSpPr>
        <a:xfrm>
          <a:off x="0" y="0"/>
          <a:ext cx="0" cy="0"/>
          <a:chOff x="0" y="0"/>
          <a:chExt cx="0" cy="0"/>
        </a:xfrm>
      </p:grpSpPr>
      <p:pic>
        <p:nvPicPr>
          <p:cNvPr id="10" name="Picture 9" descr="A blue screen with a shield and a world map&#10;&#10;AI-generated content may be incorrect.">
            <a:extLst>
              <a:ext uri="{FF2B5EF4-FFF2-40B4-BE49-F238E27FC236}">
                <a16:creationId xmlns:a16="http://schemas.microsoft.com/office/drawing/2014/main" id="{4CC97956-9786-F9AC-5F89-FE7E1A2C4302}"/>
              </a:ext>
            </a:extLst>
          </p:cNvPr>
          <p:cNvPicPr>
            <a:picLocks noChangeAspect="1"/>
          </p:cNvPicPr>
          <p:nvPr/>
        </p:nvPicPr>
        <p:blipFill>
          <a:blip r:embed="rId3">
            <a:extLst>
              <a:ext uri="{28A0092B-C50C-407E-A947-70E740481C1C}">
                <a14:useLocalDpi xmlns:a14="http://schemas.microsoft.com/office/drawing/2010/main" val="0"/>
              </a:ext>
            </a:extLst>
          </a:blip>
          <a:srcRect l="17372" r="11487" b="-1"/>
          <a:stretch>
            <a:fillRect/>
          </a:stretch>
        </p:blipFill>
        <p:spPr>
          <a:xfrm>
            <a:off x="7226491" y="10"/>
            <a:ext cx="4965509" cy="6857990"/>
          </a:xfrm>
          <a:custGeom>
            <a:avLst/>
            <a:gdLst/>
            <a:ahLst/>
            <a:cxnLst/>
            <a:rect l="l" t="t" r="r" b="b"/>
            <a:pathLst>
              <a:path w="7308978" h="6858000">
                <a:moveTo>
                  <a:pt x="0" y="0"/>
                </a:moveTo>
                <a:lnTo>
                  <a:pt x="7308978" y="0"/>
                </a:lnTo>
                <a:lnTo>
                  <a:pt x="7308978" y="6858000"/>
                </a:lnTo>
                <a:lnTo>
                  <a:pt x="0" y="6858000"/>
                </a:lnTo>
                <a:lnTo>
                  <a:pt x="62983" y="6788730"/>
                </a:lnTo>
                <a:cubicBezTo>
                  <a:pt x="773509" y="5928900"/>
                  <a:pt x="1212978" y="4741056"/>
                  <a:pt x="1212978" y="3429000"/>
                </a:cubicBezTo>
                <a:cubicBezTo>
                  <a:pt x="1212978" y="2116944"/>
                  <a:pt x="773509" y="929100"/>
                  <a:pt x="62983" y="69271"/>
                </a:cubicBezTo>
                <a:close/>
              </a:path>
            </a:pathLst>
          </a:custGeom>
        </p:spPr>
      </p:pic>
      <p:sp>
        <p:nvSpPr>
          <p:cNvPr id="4" name="TextBox 3">
            <a:extLst>
              <a:ext uri="{FF2B5EF4-FFF2-40B4-BE49-F238E27FC236}">
                <a16:creationId xmlns:a16="http://schemas.microsoft.com/office/drawing/2014/main" id="{8A5A326B-9A3C-1404-20AB-8EA624CD9777}"/>
              </a:ext>
            </a:extLst>
          </p:cNvPr>
          <p:cNvSpPr txBox="1"/>
          <p:nvPr/>
        </p:nvSpPr>
        <p:spPr>
          <a:xfrm>
            <a:off x="-154784" y="537448"/>
            <a:ext cx="8130383" cy="1243584"/>
          </a:xfrm>
          <a:prstGeom prst="rect">
            <a:avLst/>
          </a:prstGeom>
        </p:spPr>
        <p:txBody>
          <a:bodyPr vert="horz" lIns="91440" tIns="45720" rIns="91440" bIns="45720" rtlCol="0" anchor="ctr">
            <a:noAutofit/>
          </a:bodyPr>
          <a:lstStyle/>
          <a:p>
            <a:pPr marL="457200" defTabSz="914400">
              <a:lnSpc>
                <a:spcPct val="90000"/>
              </a:lnSpc>
              <a:spcBef>
                <a:spcPct val="0"/>
              </a:spcBef>
              <a:spcAft>
                <a:spcPts val="800"/>
              </a:spcAft>
            </a:pPr>
            <a:r>
              <a:rPr lang="tr-TR" sz="3600" dirty="0">
                <a:effectLst>
                  <a:outerShdw blurRad="38100" dist="38100" dir="2700000" algn="tl">
                    <a:srgbClr val="000000">
                      <a:alpha val="43137"/>
                    </a:srgbClr>
                  </a:outerShdw>
                </a:effectLst>
                <a:latin typeface="Arial" panose="020B0604020202020204" pitchFamily="34" charset="0"/>
                <a:ea typeface="+mj-ea"/>
                <a:cs typeface="Arial" panose="020B0604020202020204" pitchFamily="34" charset="0"/>
              </a:rPr>
              <a:t>Yaygın Veri İhlal Hedefleri Nelerdir</a:t>
            </a:r>
            <a:r>
              <a:rPr lang="tr-TR" sz="3600" dirty="0">
                <a:effectLst>
                  <a:outerShdw blurRad="38100" dist="38100" dir="2700000" algn="tl">
                    <a:srgbClr val="000000">
                      <a:alpha val="43137"/>
                    </a:srgbClr>
                  </a:outerShdw>
                </a:effectLst>
                <a:latin typeface="+mj-lt"/>
                <a:ea typeface="+mj-ea"/>
                <a:cs typeface="+mj-cs"/>
              </a:rPr>
              <a:t>?</a:t>
            </a:r>
          </a:p>
        </p:txBody>
      </p:sp>
      <p:sp>
        <p:nvSpPr>
          <p:cNvPr id="6" name="TextBox 5">
            <a:extLst>
              <a:ext uri="{FF2B5EF4-FFF2-40B4-BE49-F238E27FC236}">
                <a16:creationId xmlns:a16="http://schemas.microsoft.com/office/drawing/2014/main" id="{EC9DE590-FAB4-7D35-2CEB-C80FF946796C}"/>
              </a:ext>
            </a:extLst>
          </p:cNvPr>
          <p:cNvSpPr txBox="1"/>
          <p:nvPr/>
        </p:nvSpPr>
        <p:spPr>
          <a:xfrm>
            <a:off x="630011" y="1781032"/>
            <a:ext cx="6045958" cy="4383445"/>
          </a:xfrm>
          <a:prstGeom prst="rect">
            <a:avLst/>
          </a:prstGeom>
          <a:noFill/>
        </p:spPr>
        <p:txBody>
          <a:bodyPr vert="horz" lIns="91440" tIns="45720" rIns="91440" bIns="45720" rtlCol="0" anchor="t">
            <a:normAutofit/>
          </a:bodyPr>
          <a:lstStyle/>
          <a:p>
            <a:pPr marL="228600" algn="just" defTabSz="914400">
              <a:lnSpc>
                <a:spcPct val="90000"/>
              </a:lnSpc>
              <a:spcAft>
                <a:spcPts val="800"/>
              </a:spcAft>
            </a:pPr>
            <a:r>
              <a:rPr lang="tr-TR" sz="1400" dirty="0">
                <a:effectLst/>
                <a:latin typeface="Arial" panose="020B0604020202020204" pitchFamily="34" charset="0"/>
                <a:cs typeface="Arial" panose="020B0604020202020204" pitchFamily="34" charset="0"/>
              </a:rPr>
              <a:t>Siber saldırıların hedef aldıkları bilgi türleri,</a:t>
            </a:r>
          </a:p>
          <a:p>
            <a:pPr marL="342900" lvl="0" indent="-228600" algn="just" defTabSz="914400">
              <a:lnSpc>
                <a:spcPct val="90000"/>
              </a:lnSpc>
              <a:spcAft>
                <a:spcPts val="800"/>
              </a:spcAft>
              <a:buSzPts val="1000"/>
              <a:buFont typeface="Arial" panose="020B0604020202020204" pitchFamily="34" charset="0"/>
              <a:buChar char="•"/>
              <a:tabLst>
                <a:tab pos="457200" algn="l"/>
              </a:tabLst>
            </a:pPr>
            <a:r>
              <a:rPr lang="tr-TR" sz="1400" b="1" dirty="0">
                <a:solidFill>
                  <a:schemeClr val="accent1">
                    <a:lumMod val="50000"/>
                  </a:schemeClr>
                </a:solidFill>
                <a:effectLst/>
                <a:latin typeface="Arial" panose="020B0604020202020204" pitchFamily="34" charset="0"/>
                <a:cs typeface="Arial" panose="020B0604020202020204" pitchFamily="34" charset="0"/>
              </a:rPr>
              <a:t>Kişisel Bilgiler (PII):</a:t>
            </a:r>
            <a:r>
              <a:rPr lang="tr-TR" sz="1400" dirty="0">
                <a:solidFill>
                  <a:schemeClr val="accent1">
                    <a:lumMod val="50000"/>
                  </a:schemeClr>
                </a:solidFill>
                <a:effectLst/>
                <a:latin typeface="Arial" panose="020B0604020202020204" pitchFamily="34" charset="0"/>
                <a:cs typeface="Arial" panose="020B0604020202020204" pitchFamily="34" charset="0"/>
              </a:rPr>
              <a:t> </a:t>
            </a:r>
            <a:r>
              <a:rPr lang="tr-TR" sz="1400" dirty="0">
                <a:effectLst/>
                <a:latin typeface="Arial" panose="020B0604020202020204" pitchFamily="34" charset="0"/>
                <a:cs typeface="Arial" panose="020B0604020202020204" pitchFamily="34" charset="0"/>
              </a:rPr>
              <a:t>Ad, T.C. kimlik, doğum tarihi, telefon, adres, e-posta vb.</a:t>
            </a:r>
          </a:p>
          <a:p>
            <a:pPr marL="342900" lvl="0" indent="-228600" algn="just" defTabSz="914400">
              <a:lnSpc>
                <a:spcPct val="90000"/>
              </a:lnSpc>
              <a:spcAft>
                <a:spcPts val="800"/>
              </a:spcAft>
              <a:buSzPts val="1000"/>
              <a:buFont typeface="Arial" panose="020B0604020202020204" pitchFamily="34" charset="0"/>
              <a:buChar char="•"/>
              <a:tabLst>
                <a:tab pos="457200" algn="l"/>
              </a:tabLst>
            </a:pPr>
            <a:r>
              <a:rPr lang="tr-TR" sz="1400" b="1" dirty="0">
                <a:solidFill>
                  <a:schemeClr val="accent1">
                    <a:lumMod val="50000"/>
                  </a:schemeClr>
                </a:solidFill>
                <a:effectLst/>
                <a:latin typeface="Arial" panose="020B0604020202020204" pitchFamily="34" charset="0"/>
                <a:cs typeface="Arial" panose="020B0604020202020204" pitchFamily="34" charset="0"/>
              </a:rPr>
              <a:t>Korumalı Sağlık Bilgileri (PHI):</a:t>
            </a:r>
            <a:r>
              <a:rPr lang="tr-TR" sz="1400" dirty="0">
                <a:solidFill>
                  <a:schemeClr val="accent1">
                    <a:lumMod val="50000"/>
                  </a:schemeClr>
                </a:solidFill>
                <a:effectLst/>
                <a:latin typeface="Arial" panose="020B0604020202020204" pitchFamily="34" charset="0"/>
                <a:cs typeface="Arial" panose="020B0604020202020204" pitchFamily="34" charset="0"/>
              </a:rPr>
              <a:t> </a:t>
            </a:r>
            <a:r>
              <a:rPr lang="tr-TR" sz="1400" dirty="0">
                <a:effectLst/>
                <a:latin typeface="Arial" panose="020B0604020202020204" pitchFamily="34" charset="0"/>
                <a:cs typeface="Arial" panose="020B0604020202020204" pitchFamily="34" charset="0"/>
              </a:rPr>
              <a:t>Hasta kayıtları, sağlık geçmişi, sigorta ve hesap numaraları.</a:t>
            </a:r>
          </a:p>
          <a:p>
            <a:pPr marL="342900" lvl="0" indent="-228600" algn="just" defTabSz="914400">
              <a:lnSpc>
                <a:spcPct val="90000"/>
              </a:lnSpc>
              <a:spcAft>
                <a:spcPts val="800"/>
              </a:spcAft>
              <a:buSzPts val="1000"/>
              <a:buFont typeface="Arial" panose="020B0604020202020204" pitchFamily="34" charset="0"/>
              <a:buChar char="•"/>
              <a:tabLst>
                <a:tab pos="457200" algn="l"/>
              </a:tabLst>
            </a:pPr>
            <a:r>
              <a:rPr lang="tr-TR" sz="1400" b="1" dirty="0">
                <a:solidFill>
                  <a:schemeClr val="accent1">
                    <a:lumMod val="50000"/>
                  </a:schemeClr>
                </a:solidFill>
                <a:effectLst/>
                <a:latin typeface="Arial" panose="020B0604020202020204" pitchFamily="34" charset="0"/>
                <a:cs typeface="Arial" panose="020B0604020202020204" pitchFamily="34" charset="0"/>
              </a:rPr>
              <a:t>Fikri Mülkiyet (IP):</a:t>
            </a:r>
            <a:r>
              <a:rPr lang="tr-TR" sz="1400" dirty="0">
                <a:solidFill>
                  <a:schemeClr val="accent1">
                    <a:lumMod val="50000"/>
                  </a:schemeClr>
                </a:solidFill>
                <a:effectLst/>
                <a:latin typeface="Arial" panose="020B0604020202020204" pitchFamily="34" charset="0"/>
                <a:cs typeface="Arial" panose="020B0604020202020204" pitchFamily="34" charset="0"/>
              </a:rPr>
              <a:t> </a:t>
            </a:r>
            <a:r>
              <a:rPr lang="tr-TR" sz="1400" dirty="0">
                <a:effectLst/>
                <a:latin typeface="Arial" panose="020B0604020202020204" pitchFamily="34" charset="0"/>
                <a:cs typeface="Arial" panose="020B0604020202020204" pitchFamily="34" charset="0"/>
              </a:rPr>
              <a:t>Patent, telif hakkı, ticari sırlar, logolar, yazılımlar, dijital içerikler.</a:t>
            </a:r>
          </a:p>
          <a:p>
            <a:pPr marL="342900" lvl="0" indent="-228600" algn="just" defTabSz="914400">
              <a:lnSpc>
                <a:spcPct val="90000"/>
              </a:lnSpc>
              <a:spcAft>
                <a:spcPts val="800"/>
              </a:spcAft>
              <a:buSzPts val="1000"/>
              <a:buFont typeface="Arial" panose="020B0604020202020204" pitchFamily="34" charset="0"/>
              <a:buChar char="•"/>
              <a:tabLst>
                <a:tab pos="457200" algn="l"/>
              </a:tabLst>
            </a:pPr>
            <a:r>
              <a:rPr lang="tr-TR" sz="1400" b="1" dirty="0">
                <a:solidFill>
                  <a:schemeClr val="accent1">
                    <a:lumMod val="50000"/>
                  </a:schemeClr>
                </a:solidFill>
                <a:effectLst/>
                <a:latin typeface="Arial" panose="020B0604020202020204" pitchFamily="34" charset="0"/>
                <a:cs typeface="Arial" panose="020B0604020202020204" pitchFamily="34" charset="0"/>
              </a:rPr>
              <a:t>Finansal Veriler:</a:t>
            </a:r>
            <a:r>
              <a:rPr lang="tr-TR" sz="1400" dirty="0">
                <a:solidFill>
                  <a:schemeClr val="accent1">
                    <a:lumMod val="50000"/>
                  </a:schemeClr>
                </a:solidFill>
                <a:effectLst/>
                <a:latin typeface="Arial" panose="020B0604020202020204" pitchFamily="34" charset="0"/>
                <a:cs typeface="Arial" panose="020B0604020202020204" pitchFamily="34" charset="0"/>
              </a:rPr>
              <a:t> </a:t>
            </a:r>
            <a:r>
              <a:rPr lang="tr-TR" sz="1400" dirty="0">
                <a:effectLst/>
                <a:latin typeface="Arial" panose="020B0604020202020204" pitchFamily="34" charset="0"/>
                <a:cs typeface="Arial" panose="020B0604020202020204" pitchFamily="34" charset="0"/>
              </a:rPr>
              <a:t>Kredi/banka kartı numaraları, ödeme kayıtları, şirket finansal dosyaları.</a:t>
            </a:r>
          </a:p>
          <a:p>
            <a:pPr marL="342900" lvl="0" indent="-228600" algn="just" defTabSz="914400">
              <a:lnSpc>
                <a:spcPct val="90000"/>
              </a:lnSpc>
              <a:spcAft>
                <a:spcPts val="800"/>
              </a:spcAft>
              <a:buSzPts val="1000"/>
              <a:buFont typeface="Arial" panose="020B0604020202020204" pitchFamily="34" charset="0"/>
              <a:buChar char="•"/>
              <a:tabLst>
                <a:tab pos="457200" algn="l"/>
              </a:tabLst>
            </a:pPr>
            <a:r>
              <a:rPr lang="tr-TR" sz="1400" b="1" dirty="0">
                <a:solidFill>
                  <a:schemeClr val="accent1">
                    <a:lumMod val="50000"/>
                  </a:schemeClr>
                </a:solidFill>
                <a:effectLst/>
                <a:latin typeface="Arial" panose="020B0604020202020204" pitchFamily="34" charset="0"/>
                <a:cs typeface="Arial" panose="020B0604020202020204" pitchFamily="34" charset="0"/>
              </a:rPr>
              <a:t>İş Açısından Kritik Veriler</a:t>
            </a:r>
            <a:r>
              <a:rPr lang="tr-TR" sz="1400" b="1" dirty="0">
                <a:effectLst/>
                <a:latin typeface="Arial" panose="020B0604020202020204" pitchFamily="34" charset="0"/>
                <a:cs typeface="Arial" panose="020B0604020202020204" pitchFamily="34" charset="0"/>
              </a:rPr>
              <a:t>:</a:t>
            </a:r>
            <a:r>
              <a:rPr lang="tr-TR" sz="1400" dirty="0">
                <a:effectLst/>
                <a:latin typeface="Arial" panose="020B0604020202020204" pitchFamily="34" charset="0"/>
                <a:cs typeface="Arial" panose="020B0604020202020204" pitchFamily="34" charset="0"/>
              </a:rPr>
              <a:t> Kaynak kodları, birleşme-satın alma dosyaları, iş planları.</a:t>
            </a:r>
          </a:p>
          <a:p>
            <a:pPr marL="342900" lvl="0" indent="-228600" algn="just" defTabSz="914400">
              <a:lnSpc>
                <a:spcPct val="90000"/>
              </a:lnSpc>
              <a:spcAft>
                <a:spcPts val="800"/>
              </a:spcAft>
              <a:buSzPts val="1000"/>
              <a:buFont typeface="Arial" panose="020B0604020202020204" pitchFamily="34" charset="0"/>
              <a:buChar char="•"/>
              <a:tabLst>
                <a:tab pos="457200" algn="l"/>
              </a:tabLst>
            </a:pPr>
            <a:r>
              <a:rPr lang="tr-TR" sz="1400" b="1" dirty="0" err="1">
                <a:solidFill>
                  <a:schemeClr val="accent1">
                    <a:lumMod val="50000"/>
                  </a:schemeClr>
                </a:solidFill>
                <a:effectLst/>
                <a:latin typeface="Arial" panose="020B0604020202020204" pitchFamily="34" charset="0"/>
                <a:cs typeface="Arial" panose="020B0604020202020204" pitchFamily="34" charset="0"/>
              </a:rPr>
              <a:t>Operasyonel</a:t>
            </a:r>
            <a:r>
              <a:rPr lang="tr-TR" sz="1400" b="1" dirty="0">
                <a:solidFill>
                  <a:schemeClr val="accent1">
                    <a:lumMod val="50000"/>
                  </a:schemeClr>
                </a:solidFill>
                <a:effectLst/>
                <a:latin typeface="Arial" panose="020B0604020202020204" pitchFamily="34" charset="0"/>
                <a:cs typeface="Arial" panose="020B0604020202020204" pitchFamily="34" charset="0"/>
              </a:rPr>
              <a:t> Veriler:</a:t>
            </a:r>
            <a:r>
              <a:rPr lang="tr-TR" sz="1400" dirty="0">
                <a:solidFill>
                  <a:schemeClr val="accent1">
                    <a:lumMod val="50000"/>
                  </a:schemeClr>
                </a:solidFill>
                <a:effectLst/>
                <a:latin typeface="Arial" panose="020B0604020202020204" pitchFamily="34" charset="0"/>
                <a:cs typeface="Arial" panose="020B0604020202020204" pitchFamily="34" charset="0"/>
              </a:rPr>
              <a:t> </a:t>
            </a:r>
            <a:r>
              <a:rPr lang="tr-TR" sz="1400" dirty="0">
                <a:effectLst/>
                <a:latin typeface="Arial" panose="020B0604020202020204" pitchFamily="34" charset="0"/>
                <a:cs typeface="Arial" panose="020B0604020202020204" pitchFamily="34" charset="0"/>
              </a:rPr>
              <a:t>Faturalar, satış raporları, yasal belgeler, BT sistem dosyaları şeklinde sayılabilir.</a:t>
            </a:r>
          </a:p>
          <a:p>
            <a:pPr marL="114300" lvl="0" algn="just" defTabSz="914400">
              <a:lnSpc>
                <a:spcPct val="90000"/>
              </a:lnSpc>
              <a:spcAft>
                <a:spcPts val="800"/>
              </a:spcAft>
              <a:buSzPts val="1000"/>
              <a:tabLst>
                <a:tab pos="457200" algn="l"/>
              </a:tabLst>
            </a:pPr>
            <a:r>
              <a:rPr lang="tr-TR" sz="1400" dirty="0">
                <a:effectLst/>
                <a:latin typeface="Arial" panose="020B0604020202020204" pitchFamily="34" charset="0"/>
                <a:cs typeface="Arial" panose="020B0604020202020204" pitchFamily="34" charset="0"/>
              </a:rPr>
              <a:t>Sonuç olarak, Veri ihlalleri, dijital çağda kurumların karşı karşıya kaldığı en önemli risklerden biridir. Bu nedenle kuruluşlar, </a:t>
            </a:r>
            <a:r>
              <a:rPr lang="tr-TR" sz="1400" b="1" dirty="0">
                <a:effectLst/>
                <a:latin typeface="Arial" panose="020B0604020202020204" pitchFamily="34" charset="0"/>
                <a:cs typeface="Arial" panose="020B0604020202020204" pitchFamily="34" charset="0"/>
              </a:rPr>
              <a:t>siber güvenlik önlemleri</a:t>
            </a:r>
            <a:r>
              <a:rPr lang="tr-TR" sz="1400" dirty="0">
                <a:effectLst/>
                <a:latin typeface="Arial" panose="020B0604020202020204" pitchFamily="34" charset="0"/>
                <a:cs typeface="Arial" panose="020B0604020202020204" pitchFamily="34" charset="0"/>
              </a:rPr>
              <a:t>ni güçlendirmeli, </a:t>
            </a:r>
            <a:r>
              <a:rPr lang="tr-TR" sz="1400" b="1" dirty="0">
                <a:effectLst/>
                <a:latin typeface="Arial" panose="020B0604020202020204" pitchFamily="34" charset="0"/>
                <a:cs typeface="Arial" panose="020B0604020202020204" pitchFamily="34" charset="0"/>
              </a:rPr>
              <a:t>veri koruma politikalarını</a:t>
            </a:r>
            <a:r>
              <a:rPr lang="tr-TR" sz="1400" dirty="0">
                <a:effectLst/>
                <a:latin typeface="Arial" panose="020B0604020202020204" pitchFamily="34" charset="0"/>
                <a:cs typeface="Arial" panose="020B0604020202020204" pitchFamily="34" charset="0"/>
              </a:rPr>
              <a:t> sürekli güncellemelidir.</a:t>
            </a:r>
          </a:p>
        </p:txBody>
      </p:sp>
    </p:spTree>
    <p:extLst>
      <p:ext uri="{BB962C8B-B14F-4D97-AF65-F5344CB8AC3E}">
        <p14:creationId xmlns:p14="http://schemas.microsoft.com/office/powerpoint/2010/main" val="14480205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67000"/>
              </a:schemeClr>
            </a:gs>
            <a:gs pos="7000">
              <a:schemeClr val="accent2">
                <a:lumMod val="40000"/>
                <a:lumOff val="60000"/>
              </a:schemeClr>
            </a:gs>
            <a:gs pos="59000">
              <a:schemeClr val="accent2">
                <a:lumMod val="20000"/>
                <a:lumOff val="80000"/>
              </a:schemeClr>
            </a:gs>
          </a:gsLst>
          <a:lin ang="162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28801" y="582194"/>
            <a:ext cx="7441931" cy="1390747"/>
          </a:xfrm>
        </p:spPr>
        <p:txBody>
          <a:bodyPr>
            <a:normAutofit/>
          </a:bodyPr>
          <a:lstStyle/>
          <a:p>
            <a:r>
              <a:rPr lang="tr-TR" sz="3600"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Küresel Ölçekte Artan Riskler </a:t>
            </a:r>
          </a:p>
        </p:txBody>
      </p:sp>
      <p:sp>
        <p:nvSpPr>
          <p:cNvPr id="3" name="Content Placeholder 2"/>
          <p:cNvSpPr>
            <a:spLocks noGrp="1"/>
          </p:cNvSpPr>
          <p:nvPr>
            <p:ph idx="1"/>
          </p:nvPr>
        </p:nvSpPr>
        <p:spPr>
          <a:xfrm>
            <a:off x="728801" y="1705970"/>
            <a:ext cx="6081432" cy="3691719"/>
          </a:xfrm>
        </p:spPr>
        <p:txBody>
          <a:bodyPr>
            <a:noAutofit/>
          </a:bodyPr>
          <a:lstStyle/>
          <a:p>
            <a:r>
              <a:rPr lang="tr-TR" sz="1400" dirty="0">
                <a:latin typeface="Arial" panose="020B0604020202020204" pitchFamily="34" charset="0"/>
                <a:cs typeface="Arial" panose="020B0604020202020204" pitchFamily="34" charset="0"/>
              </a:rPr>
              <a:t>2020 yılından bu yana her yıl ortalama 10 büyük ölçekli veri ihlali olayı yaşanmaktadır.</a:t>
            </a:r>
          </a:p>
          <a:p>
            <a:r>
              <a:rPr lang="tr-TR" sz="1400" dirty="0">
                <a:latin typeface="Arial" panose="020B0604020202020204" pitchFamily="34" charset="0"/>
                <a:cs typeface="Arial" panose="020B0604020202020204" pitchFamily="34" charset="0"/>
              </a:rPr>
              <a:t>Dijitalleşmenin hızlanmasıyla birlikte büyük veri ihlalleri, yalnızca yerel değil küresel ölçekte ciddi bir tehdit haline gelmiştir.</a:t>
            </a:r>
          </a:p>
          <a:p>
            <a:r>
              <a:rPr lang="tr-TR" sz="1400" dirty="0">
                <a:latin typeface="Arial" panose="020B0604020202020204" pitchFamily="34" charset="0"/>
                <a:cs typeface="Arial" panose="020B0604020202020204" pitchFamily="34" charset="0"/>
              </a:rPr>
              <a:t> Saldırılar artık sınır tanımamakta;  </a:t>
            </a:r>
          </a:p>
          <a:p>
            <a:pPr marL="0" indent="0">
              <a:buNone/>
            </a:pPr>
            <a:r>
              <a:rPr lang="tr-TR" sz="1400" dirty="0">
                <a:latin typeface="Arial" panose="020B0604020202020204" pitchFamily="34" charset="0"/>
                <a:cs typeface="Arial" panose="020B0604020202020204" pitchFamily="34" charset="0"/>
              </a:rPr>
              <a:t>           Finans</a:t>
            </a:r>
          </a:p>
          <a:p>
            <a:pPr marL="0" indent="0">
              <a:buNone/>
            </a:pPr>
            <a:r>
              <a:rPr lang="tr-TR" sz="1400" dirty="0">
                <a:latin typeface="Arial" panose="020B0604020202020204" pitchFamily="34" charset="0"/>
                <a:cs typeface="Arial" panose="020B0604020202020204" pitchFamily="34" charset="0"/>
              </a:rPr>
              <a:t>           Sağlık</a:t>
            </a:r>
          </a:p>
          <a:p>
            <a:pPr marL="0" indent="0">
              <a:buNone/>
            </a:pPr>
            <a:r>
              <a:rPr lang="tr-TR" sz="1400" dirty="0">
                <a:latin typeface="Arial" panose="020B0604020202020204" pitchFamily="34" charset="0"/>
                <a:cs typeface="Arial" panose="020B0604020202020204" pitchFamily="34" charset="0"/>
              </a:rPr>
              <a:t>           Eğitim</a:t>
            </a:r>
          </a:p>
          <a:p>
            <a:pPr marL="0" indent="0">
              <a:buNone/>
            </a:pPr>
            <a:r>
              <a:rPr lang="tr-TR" sz="1400" dirty="0">
                <a:latin typeface="Arial" panose="020B0604020202020204" pitchFamily="34" charset="0"/>
                <a:cs typeface="Arial" panose="020B0604020202020204" pitchFamily="34" charset="0"/>
              </a:rPr>
              <a:t>           Kamu gibi farklı sektörlerdeki kurumlar hedef olmaktadır. </a:t>
            </a:r>
          </a:p>
          <a:p>
            <a:r>
              <a:rPr lang="tr-TR" sz="1400" dirty="0">
                <a:latin typeface="Arial" panose="020B0604020202020204" pitchFamily="34" charset="0"/>
                <a:cs typeface="Arial" panose="020B0604020202020204" pitchFamily="34" charset="0"/>
              </a:rPr>
              <a:t>Bu durum, veri güvenliğini uluslararası düzeyde stratejik bir öncelik haline getirmiştir.</a:t>
            </a:r>
          </a:p>
        </p:txBody>
      </p:sp>
      <p:pic>
        <p:nvPicPr>
          <p:cNvPr id="4" name="Picture 3" descr="A blue and red background with a map and a shield&#10;&#10;AI-generated content may be incorrect.">
            <a:extLst>
              <a:ext uri="{FF2B5EF4-FFF2-40B4-BE49-F238E27FC236}">
                <a16:creationId xmlns:a16="http://schemas.microsoft.com/office/drawing/2014/main" id="{48617842-8861-C1BF-92D0-C013BD966F60}"/>
              </a:ext>
            </a:extLst>
          </p:cNvPr>
          <p:cNvPicPr>
            <a:picLocks noChangeAspect="1"/>
          </p:cNvPicPr>
          <p:nvPr/>
        </p:nvPicPr>
        <p:blipFill>
          <a:blip r:embed="rId2">
            <a:extLst>
              <a:ext uri="{28A0092B-C50C-407E-A947-70E740481C1C}">
                <a14:useLocalDpi xmlns:a14="http://schemas.microsoft.com/office/drawing/2010/main" val="0"/>
              </a:ext>
            </a:extLst>
          </a:blip>
          <a:srcRect l="14516" r="27447" b="-1"/>
          <a:stretch>
            <a:fillRect/>
          </a:stretch>
        </p:blipFill>
        <p:spPr>
          <a:xfrm>
            <a:off x="7356143" y="10"/>
            <a:ext cx="4835857"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67000"/>
              </a:schemeClr>
            </a:gs>
            <a:gs pos="11000">
              <a:schemeClr val="accent1">
                <a:lumMod val="97000"/>
                <a:lumOff val="3000"/>
              </a:schemeClr>
            </a:gs>
            <a:gs pos="65000">
              <a:schemeClr val="accent2">
                <a:lumMod val="20000"/>
                <a:lumOff val="80000"/>
              </a:schemeClr>
            </a:gs>
          </a:gsLst>
          <a:lin ang="16200000" scaled="1"/>
        </a:gradFill>
        <a:effectLst/>
      </p:bgPr>
    </p:bg>
    <p:spTree>
      <p:nvGrpSpPr>
        <p:cNvPr id="1" name=""/>
        <p:cNvGrpSpPr/>
        <p:nvPr/>
      </p:nvGrpSpPr>
      <p:grpSpPr>
        <a:xfrm>
          <a:off x="0" y="0"/>
          <a:ext cx="0" cy="0"/>
          <a:chOff x="0" y="0"/>
          <a:chExt cx="0" cy="0"/>
        </a:xfrm>
      </p:grpSpPr>
      <p:sp>
        <p:nvSpPr>
          <p:cNvPr id="40" name="Flowchart: Connector 39">
            <a:extLst>
              <a:ext uri="{FF2B5EF4-FFF2-40B4-BE49-F238E27FC236}">
                <a16:creationId xmlns:a16="http://schemas.microsoft.com/office/drawing/2014/main" id="{82F4A3B8-B5ED-01AD-AA35-167D4621451F}"/>
              </a:ext>
            </a:extLst>
          </p:cNvPr>
          <p:cNvSpPr/>
          <p:nvPr/>
        </p:nvSpPr>
        <p:spPr>
          <a:xfrm>
            <a:off x="10328098" y="3570375"/>
            <a:ext cx="1789859" cy="1704823"/>
          </a:xfrm>
          <a:prstGeom prst="flowChartConnector">
            <a:avLst/>
          </a:prstGeom>
          <a:solidFill>
            <a:schemeClr val="tx2">
              <a:lumMod val="60000"/>
              <a:lumOff val="40000"/>
            </a:schemeClr>
          </a:solidFill>
          <a:ln>
            <a:solidFill>
              <a:schemeClr val="tx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latin typeface="Arial" panose="020B0604020202020204" pitchFamily="34" charset="0"/>
                <a:cs typeface="Arial" panose="020B0604020202020204" pitchFamily="34" charset="0"/>
              </a:rPr>
              <a:t>British Airways IT Outage  </a:t>
            </a:r>
            <a:r>
              <a:rPr lang="en-US" sz="1400" dirty="0" err="1">
                <a:latin typeface="Arial" panose="020B0604020202020204" pitchFamily="34" charset="0"/>
                <a:cs typeface="Arial" panose="020B0604020202020204" pitchFamily="34" charset="0"/>
              </a:rPr>
              <a:t>İngiltere</a:t>
            </a:r>
            <a:r>
              <a:rPr lang="en-US" sz="1400" dirty="0">
                <a:latin typeface="Arial" panose="020B0604020202020204" pitchFamily="34" charset="0"/>
                <a:cs typeface="Arial" panose="020B0604020202020204" pitchFamily="34" charset="0"/>
              </a:rPr>
              <a:t> (2023)</a:t>
            </a:r>
          </a:p>
        </p:txBody>
      </p:sp>
      <p:sp>
        <p:nvSpPr>
          <p:cNvPr id="53" name="Flowchart: Connector 52">
            <a:extLst>
              <a:ext uri="{FF2B5EF4-FFF2-40B4-BE49-F238E27FC236}">
                <a16:creationId xmlns:a16="http://schemas.microsoft.com/office/drawing/2014/main" id="{5D449A51-855F-DCB6-E93A-1292E2CB9355}"/>
              </a:ext>
            </a:extLst>
          </p:cNvPr>
          <p:cNvSpPr/>
          <p:nvPr/>
        </p:nvSpPr>
        <p:spPr>
          <a:xfrm>
            <a:off x="4209907" y="1819181"/>
            <a:ext cx="2547529" cy="2438145"/>
          </a:xfrm>
          <a:prstGeom prst="flowChartConnector">
            <a:avLst/>
          </a:prstGeom>
          <a:solidFill>
            <a:schemeClr val="accent1">
              <a:lumMod val="50000"/>
            </a:schemeClr>
          </a:solid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latin typeface="Arial" panose="020B0604020202020204" pitchFamily="34" charset="0"/>
                <a:cs typeface="Arial" panose="020B0604020202020204" pitchFamily="34" charset="0"/>
              </a:rPr>
              <a:t>MOVEit Exploit </a:t>
            </a:r>
            <a:endParaRPr lang="tr-TR" sz="1400">
              <a:latin typeface="Arial" panose="020B0604020202020204" pitchFamily="34" charset="0"/>
              <a:cs typeface="Arial" panose="020B0604020202020204" pitchFamily="34" charset="0"/>
            </a:endParaRPr>
          </a:p>
          <a:p>
            <a:pPr algn="ctr"/>
            <a:r>
              <a:rPr lang="en-US" sz="1400">
                <a:latin typeface="Arial" panose="020B0604020202020204" pitchFamily="34" charset="0"/>
                <a:cs typeface="Arial" panose="020B0604020202020204" pitchFamily="34" charset="0"/>
              </a:rPr>
              <a:t> Global</a:t>
            </a:r>
            <a:endParaRPr lang="tr-TR" sz="1400">
              <a:latin typeface="Arial" panose="020B0604020202020204" pitchFamily="34" charset="0"/>
              <a:cs typeface="Arial" panose="020B0604020202020204" pitchFamily="34" charset="0"/>
            </a:endParaRPr>
          </a:p>
          <a:p>
            <a:pPr algn="ctr"/>
            <a:r>
              <a:rPr lang="en-US" sz="1400">
                <a:latin typeface="Arial" panose="020B0604020202020204" pitchFamily="34" charset="0"/>
                <a:cs typeface="Arial" panose="020B0604020202020204" pitchFamily="34" charset="0"/>
              </a:rPr>
              <a:t> (2023)</a:t>
            </a:r>
            <a:endParaRPr lang="en-US" sz="1400" dirty="0">
              <a:latin typeface="Arial" panose="020B0604020202020204" pitchFamily="34" charset="0"/>
              <a:cs typeface="Arial" panose="020B0604020202020204" pitchFamily="34" charset="0"/>
            </a:endParaRPr>
          </a:p>
        </p:txBody>
      </p:sp>
      <p:sp>
        <p:nvSpPr>
          <p:cNvPr id="2" name="Title 1"/>
          <p:cNvSpPr>
            <a:spLocks noGrp="1"/>
          </p:cNvSpPr>
          <p:nvPr>
            <p:ph type="title"/>
          </p:nvPr>
        </p:nvSpPr>
        <p:spPr>
          <a:xfrm>
            <a:off x="-236933" y="661438"/>
            <a:ext cx="4276286" cy="1430257"/>
          </a:xfrm>
        </p:spPr>
        <p:txBody>
          <a:bodyPr anchor="b">
            <a:normAutofit fontScale="90000"/>
          </a:bodyPr>
          <a:lstStyle/>
          <a:p>
            <a:pPr algn="ctr"/>
            <a:r>
              <a:rPr lang="en-US" sz="3600" dirty="0">
                <a:solidFill>
                  <a:schemeClr val="accent1">
                    <a:lumMod val="25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2020–2025</a:t>
            </a:r>
            <a:r>
              <a:rPr lang="tr-TR" sz="3600" dirty="0">
                <a:solidFill>
                  <a:schemeClr val="accent1">
                    <a:lumMod val="25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 Yılları Arası </a:t>
            </a:r>
            <a:br>
              <a:rPr lang="tr-TR" sz="3600" dirty="0">
                <a:solidFill>
                  <a:schemeClr val="accent1">
                    <a:lumMod val="25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br>
            <a:r>
              <a:rPr lang="en-US" sz="3600" dirty="0">
                <a:solidFill>
                  <a:schemeClr val="accent1">
                    <a:lumMod val="25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 </a:t>
            </a:r>
            <a:r>
              <a:rPr lang="en-US" sz="3600" dirty="0" err="1">
                <a:solidFill>
                  <a:schemeClr val="accent1">
                    <a:lumMod val="25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Küresel</a:t>
            </a:r>
            <a:r>
              <a:rPr lang="en-US" sz="3600" dirty="0">
                <a:solidFill>
                  <a:schemeClr val="accent1">
                    <a:lumMod val="25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 Veri </a:t>
            </a:r>
            <a:br>
              <a:rPr lang="tr-TR" sz="3600" dirty="0">
                <a:solidFill>
                  <a:schemeClr val="accent1">
                    <a:lumMod val="25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br>
            <a:r>
              <a:rPr lang="en-US" sz="3600" dirty="0" err="1">
                <a:solidFill>
                  <a:schemeClr val="accent1">
                    <a:lumMod val="25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İhlalleri</a:t>
            </a:r>
            <a:endParaRPr lang="en-US" sz="3600" dirty="0">
              <a:solidFill>
                <a:schemeClr val="accent1">
                  <a:lumMod val="25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p:txBody>
      </p:sp>
      <p:sp>
        <p:nvSpPr>
          <p:cNvPr id="43" name="Flowchart: Connector 42">
            <a:extLst>
              <a:ext uri="{FF2B5EF4-FFF2-40B4-BE49-F238E27FC236}">
                <a16:creationId xmlns:a16="http://schemas.microsoft.com/office/drawing/2014/main" id="{044C2FE9-FD23-2624-89FB-BBEEA4C373E1}"/>
              </a:ext>
            </a:extLst>
          </p:cNvPr>
          <p:cNvSpPr/>
          <p:nvPr/>
        </p:nvSpPr>
        <p:spPr>
          <a:xfrm>
            <a:off x="3174736" y="1009143"/>
            <a:ext cx="2099723" cy="2182091"/>
          </a:xfrm>
          <a:prstGeom prst="flowChartConnector">
            <a:avLst/>
          </a:prstGeom>
          <a:solidFill>
            <a:schemeClr val="tx2">
              <a:lumMod val="40000"/>
              <a:lumOff val="60000"/>
            </a:schemeClr>
          </a:solidFill>
          <a:ln>
            <a:solidFill>
              <a:schemeClr val="tx2">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r>
              <a:rPr lang="en-US" sz="1400" b="1" dirty="0" err="1">
                <a:solidFill>
                  <a:schemeClr val="bg1"/>
                </a:solidFill>
                <a:latin typeface="Arial" panose="020B0604020202020204" pitchFamily="34" charset="0"/>
                <a:cs typeface="Arial" panose="020B0604020202020204" pitchFamily="34" charset="0"/>
              </a:rPr>
              <a:t>Niconico</a:t>
            </a:r>
            <a:r>
              <a:rPr lang="en-US" sz="1400" b="1" dirty="0">
                <a:solidFill>
                  <a:schemeClr val="bg1"/>
                </a:solidFill>
                <a:latin typeface="Arial" panose="020B0604020202020204" pitchFamily="34" charset="0"/>
                <a:cs typeface="Arial" panose="020B0604020202020204" pitchFamily="34" charset="0"/>
              </a:rPr>
              <a:t> / Kadokawa Attack  </a:t>
            </a:r>
            <a:r>
              <a:rPr lang="en-US" sz="1400" b="1" dirty="0" err="1">
                <a:solidFill>
                  <a:schemeClr val="bg1"/>
                </a:solidFill>
                <a:latin typeface="Arial" panose="020B0604020202020204" pitchFamily="34" charset="0"/>
                <a:cs typeface="Arial" panose="020B0604020202020204" pitchFamily="34" charset="0"/>
              </a:rPr>
              <a:t>Japonya</a:t>
            </a:r>
            <a:endParaRPr lang="en-US" sz="1400" b="1" dirty="0">
              <a:solidFill>
                <a:schemeClr val="bg1"/>
              </a:solidFill>
              <a:latin typeface="Arial" panose="020B0604020202020204" pitchFamily="34" charset="0"/>
              <a:cs typeface="Arial" panose="020B0604020202020204" pitchFamily="34" charset="0"/>
            </a:endParaRPr>
          </a:p>
          <a:p>
            <a:pPr algn="ctr"/>
            <a:r>
              <a:rPr lang="tr-TR" sz="1400" dirty="0">
                <a:solidFill>
                  <a:schemeClr val="bg1"/>
                </a:solidFill>
                <a:latin typeface="Arial" panose="020B0604020202020204" pitchFamily="34" charset="0"/>
                <a:cs typeface="Arial" panose="020B0604020202020204" pitchFamily="34" charset="0"/>
              </a:rPr>
              <a:t>(2024)</a:t>
            </a:r>
            <a:endParaRPr lang="en-US" sz="1400" dirty="0">
              <a:solidFill>
                <a:schemeClr val="bg1"/>
              </a:solidFill>
              <a:latin typeface="Arial" panose="020B0604020202020204" pitchFamily="34" charset="0"/>
              <a:cs typeface="Arial" panose="020B0604020202020204" pitchFamily="34" charset="0"/>
            </a:endParaRPr>
          </a:p>
        </p:txBody>
      </p:sp>
      <p:sp>
        <p:nvSpPr>
          <p:cNvPr id="56" name="Flowchart: Connector 55">
            <a:extLst>
              <a:ext uri="{FF2B5EF4-FFF2-40B4-BE49-F238E27FC236}">
                <a16:creationId xmlns:a16="http://schemas.microsoft.com/office/drawing/2014/main" id="{A2882F8D-A604-8FF7-20BB-2F5E3456338C}"/>
              </a:ext>
            </a:extLst>
          </p:cNvPr>
          <p:cNvSpPr/>
          <p:nvPr/>
        </p:nvSpPr>
        <p:spPr>
          <a:xfrm>
            <a:off x="5413024" y="4947359"/>
            <a:ext cx="1671724" cy="1793549"/>
          </a:xfrm>
          <a:prstGeom prst="flowChartConnector">
            <a:avLst/>
          </a:prstGeom>
          <a:solidFill>
            <a:schemeClr val="accent1">
              <a:lumMod val="50000"/>
            </a:schemeClr>
          </a:solid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latin typeface="Arial" panose="020B0604020202020204" pitchFamily="34" charset="0"/>
                <a:cs typeface="Arial" panose="020B0604020202020204" pitchFamily="34" charset="0"/>
              </a:rPr>
              <a:t>Twitter Hack  ABD</a:t>
            </a:r>
            <a:endParaRPr lang="tr-TR" sz="1400" dirty="0">
              <a:latin typeface="Arial" panose="020B0604020202020204" pitchFamily="34" charset="0"/>
              <a:cs typeface="Arial" panose="020B0604020202020204" pitchFamily="34" charset="0"/>
            </a:endParaRPr>
          </a:p>
          <a:p>
            <a:pPr algn="ctr"/>
            <a:r>
              <a:rPr lang="en-US" sz="1400" dirty="0">
                <a:latin typeface="Arial" panose="020B0604020202020204" pitchFamily="34" charset="0"/>
                <a:cs typeface="Arial" panose="020B0604020202020204" pitchFamily="34" charset="0"/>
              </a:rPr>
              <a:t> (2020)</a:t>
            </a:r>
          </a:p>
        </p:txBody>
      </p:sp>
      <p:sp>
        <p:nvSpPr>
          <p:cNvPr id="58" name="Flowchart: Connector 57">
            <a:extLst>
              <a:ext uri="{FF2B5EF4-FFF2-40B4-BE49-F238E27FC236}">
                <a16:creationId xmlns:a16="http://schemas.microsoft.com/office/drawing/2014/main" id="{B7FA7472-0FB1-EC51-4C21-11B338E77A81}"/>
              </a:ext>
            </a:extLst>
          </p:cNvPr>
          <p:cNvSpPr/>
          <p:nvPr/>
        </p:nvSpPr>
        <p:spPr>
          <a:xfrm>
            <a:off x="11168240" y="5392669"/>
            <a:ext cx="891371" cy="887331"/>
          </a:xfrm>
          <a:prstGeom prst="flowChartConnector">
            <a:avLst/>
          </a:prstGeom>
          <a:pattFill prst="dkDnDiag">
            <a:fgClr>
              <a:schemeClr val="accent1">
                <a:lumMod val="50000"/>
              </a:schemeClr>
            </a:fgClr>
            <a:bgClr>
              <a:schemeClr val="accent1">
                <a:lumMod val="25000"/>
              </a:schemeClr>
            </a:bgClr>
          </a:patt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tr-TR" sz="1200" dirty="0">
                <a:latin typeface="Arial" panose="020B0604020202020204" pitchFamily="34" charset="0"/>
                <a:cs typeface="Arial" panose="020B0604020202020204" pitchFamily="34" charset="0"/>
              </a:rPr>
              <a:t>2019</a:t>
            </a:r>
            <a:endParaRPr lang="en-US" sz="1200" dirty="0">
              <a:latin typeface="Arial" panose="020B0604020202020204" pitchFamily="34" charset="0"/>
              <a:cs typeface="Arial" panose="020B0604020202020204" pitchFamily="34" charset="0"/>
            </a:endParaRPr>
          </a:p>
        </p:txBody>
      </p:sp>
      <p:sp>
        <p:nvSpPr>
          <p:cNvPr id="61" name="Flowchart: Connector 60">
            <a:extLst>
              <a:ext uri="{FF2B5EF4-FFF2-40B4-BE49-F238E27FC236}">
                <a16:creationId xmlns:a16="http://schemas.microsoft.com/office/drawing/2014/main" id="{007DD832-39EB-9E8E-8948-1E25265A20AD}"/>
              </a:ext>
            </a:extLst>
          </p:cNvPr>
          <p:cNvSpPr/>
          <p:nvPr/>
        </p:nvSpPr>
        <p:spPr>
          <a:xfrm>
            <a:off x="3815065" y="3775118"/>
            <a:ext cx="2039395" cy="1932709"/>
          </a:xfrm>
          <a:prstGeom prst="flowChartConnector">
            <a:avLst/>
          </a:prstGeom>
          <a:solidFill>
            <a:schemeClr val="tx2">
              <a:lumMod val="60000"/>
              <a:lumOff val="40000"/>
            </a:schemeClr>
          </a:solidFill>
          <a:ln>
            <a:solidFill>
              <a:schemeClr val="tx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latin typeface="Arial" panose="020B0604020202020204" pitchFamily="34" charset="0"/>
                <a:cs typeface="Arial" panose="020B0604020202020204" pitchFamily="34" charset="0"/>
              </a:rPr>
              <a:t>HSE Ransomware  İrlanda</a:t>
            </a:r>
            <a:endParaRPr lang="tr-TR" sz="1400" dirty="0">
              <a:latin typeface="Arial" panose="020B0604020202020204" pitchFamily="34" charset="0"/>
              <a:cs typeface="Arial" panose="020B0604020202020204" pitchFamily="34" charset="0"/>
            </a:endParaRPr>
          </a:p>
          <a:p>
            <a:pPr algn="ctr"/>
            <a:r>
              <a:rPr lang="en-US" sz="1400" dirty="0">
                <a:latin typeface="Arial" panose="020B0604020202020204" pitchFamily="34" charset="0"/>
                <a:cs typeface="Arial" panose="020B0604020202020204" pitchFamily="34" charset="0"/>
              </a:rPr>
              <a:t> (202</a:t>
            </a:r>
            <a:r>
              <a:rPr lang="tr-TR" sz="1400" dirty="0">
                <a:latin typeface="Arial" panose="020B0604020202020204" pitchFamily="34" charset="0"/>
                <a:cs typeface="Arial" panose="020B0604020202020204" pitchFamily="34" charset="0"/>
              </a:rPr>
              <a:t>1</a:t>
            </a:r>
            <a:r>
              <a:rPr lang="en-US" sz="1400" dirty="0">
                <a:latin typeface="Arial" panose="020B0604020202020204" pitchFamily="34" charset="0"/>
                <a:cs typeface="Arial" panose="020B0604020202020204" pitchFamily="34" charset="0"/>
              </a:rPr>
              <a:t>)</a:t>
            </a:r>
          </a:p>
        </p:txBody>
      </p:sp>
      <p:sp>
        <p:nvSpPr>
          <p:cNvPr id="54" name="Flowchart: Connector 53">
            <a:extLst>
              <a:ext uri="{FF2B5EF4-FFF2-40B4-BE49-F238E27FC236}">
                <a16:creationId xmlns:a16="http://schemas.microsoft.com/office/drawing/2014/main" id="{5C77753F-FD3A-1C71-4F70-2A6388A6A3CC}"/>
              </a:ext>
            </a:extLst>
          </p:cNvPr>
          <p:cNvSpPr/>
          <p:nvPr/>
        </p:nvSpPr>
        <p:spPr>
          <a:xfrm>
            <a:off x="6791750" y="-95169"/>
            <a:ext cx="1814449" cy="1840506"/>
          </a:xfrm>
          <a:prstGeom prst="flowChartConnector">
            <a:avLst/>
          </a:prstGeom>
          <a:solidFill>
            <a:schemeClr val="accent1">
              <a:lumMod val="50000"/>
            </a:schemeClr>
          </a:solid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latin typeface="Arial" panose="020B0604020202020204" pitchFamily="34" charset="0"/>
                <a:cs typeface="Arial" panose="020B0604020202020204" pitchFamily="34" charset="0"/>
              </a:rPr>
              <a:t>Snowflake Incident  Global </a:t>
            </a:r>
            <a:endParaRPr lang="tr-TR" sz="1400" dirty="0">
              <a:latin typeface="Arial" panose="020B0604020202020204" pitchFamily="34" charset="0"/>
              <a:cs typeface="Arial" panose="020B0604020202020204" pitchFamily="34" charset="0"/>
            </a:endParaRPr>
          </a:p>
          <a:p>
            <a:pPr algn="ctr"/>
            <a:r>
              <a:rPr lang="en-US" sz="1400" dirty="0">
                <a:latin typeface="Arial" panose="020B0604020202020204" pitchFamily="34" charset="0"/>
                <a:cs typeface="Arial" panose="020B0604020202020204" pitchFamily="34" charset="0"/>
              </a:rPr>
              <a:t>(2025)</a:t>
            </a:r>
          </a:p>
        </p:txBody>
      </p:sp>
      <p:sp>
        <p:nvSpPr>
          <p:cNvPr id="48" name="Flowchart: Connector 47">
            <a:extLst>
              <a:ext uri="{FF2B5EF4-FFF2-40B4-BE49-F238E27FC236}">
                <a16:creationId xmlns:a16="http://schemas.microsoft.com/office/drawing/2014/main" id="{44B667A3-4EE4-E615-8D38-1D7BF3E39233}"/>
              </a:ext>
            </a:extLst>
          </p:cNvPr>
          <p:cNvSpPr/>
          <p:nvPr/>
        </p:nvSpPr>
        <p:spPr>
          <a:xfrm>
            <a:off x="9193260" y="651850"/>
            <a:ext cx="2998740" cy="3045511"/>
          </a:xfrm>
          <a:prstGeom prst="flowChartConnector">
            <a:avLst/>
          </a:prstGeom>
          <a:solidFill>
            <a:schemeClr val="accent4"/>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latin typeface="Arial" panose="020B0604020202020204" pitchFamily="34" charset="0"/>
                <a:cs typeface="Arial" panose="020B0604020202020204" pitchFamily="34" charset="0"/>
              </a:rPr>
              <a:t>Global 16 Billion Credentials Leak  Global </a:t>
            </a:r>
            <a:endParaRPr lang="tr-TR" sz="1400">
              <a:latin typeface="Arial" panose="020B0604020202020204" pitchFamily="34" charset="0"/>
              <a:cs typeface="Arial" panose="020B0604020202020204" pitchFamily="34" charset="0"/>
            </a:endParaRPr>
          </a:p>
          <a:p>
            <a:pPr algn="ctr"/>
            <a:r>
              <a:rPr lang="en-US" sz="1400">
                <a:latin typeface="Arial" panose="020B0604020202020204" pitchFamily="34" charset="0"/>
                <a:cs typeface="Arial" panose="020B0604020202020204" pitchFamily="34" charset="0"/>
              </a:rPr>
              <a:t>(2025)</a:t>
            </a:r>
            <a:endParaRPr lang="en-US" sz="1400" dirty="0">
              <a:latin typeface="Arial" panose="020B0604020202020204" pitchFamily="34" charset="0"/>
              <a:cs typeface="Arial" panose="020B0604020202020204" pitchFamily="34" charset="0"/>
            </a:endParaRPr>
          </a:p>
        </p:txBody>
      </p:sp>
      <p:sp>
        <p:nvSpPr>
          <p:cNvPr id="13" name="Flowchart: Connector 12">
            <a:extLst>
              <a:ext uri="{FF2B5EF4-FFF2-40B4-BE49-F238E27FC236}">
                <a16:creationId xmlns:a16="http://schemas.microsoft.com/office/drawing/2014/main" id="{D15A974D-A511-D5A0-4C6F-0659CC62D15A}"/>
              </a:ext>
            </a:extLst>
          </p:cNvPr>
          <p:cNvSpPr/>
          <p:nvPr/>
        </p:nvSpPr>
        <p:spPr>
          <a:xfrm>
            <a:off x="4538148" y="277199"/>
            <a:ext cx="1381537" cy="1370574"/>
          </a:xfrm>
          <a:prstGeom prst="flowChartConnector">
            <a:avLst/>
          </a:prstGeom>
          <a:pattFill prst="dkDnDiag">
            <a:fgClr>
              <a:schemeClr val="accent1">
                <a:lumMod val="50000"/>
              </a:schemeClr>
            </a:fgClr>
            <a:bgClr>
              <a:schemeClr val="tx1"/>
            </a:bgClr>
          </a:patt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latin typeface="Arial" panose="020B0604020202020204" pitchFamily="34" charset="0"/>
                <a:cs typeface="Arial" panose="020B0604020202020204" pitchFamily="34" charset="0"/>
              </a:rPr>
              <a:t>Hasta </a:t>
            </a:r>
            <a:r>
              <a:rPr lang="en-US" sz="1400" dirty="0" err="1">
                <a:latin typeface="Arial" panose="020B0604020202020204" pitchFamily="34" charset="0"/>
                <a:cs typeface="Arial" panose="020B0604020202020204" pitchFamily="34" charset="0"/>
              </a:rPr>
              <a:t>verileri</a:t>
            </a:r>
            <a:r>
              <a:rPr lang="en-US" sz="1400" dirty="0">
                <a:latin typeface="Arial" panose="020B0604020202020204" pitchFamily="34" charset="0"/>
                <a:cs typeface="Arial" panose="020B0604020202020204" pitchFamily="34" charset="0"/>
              </a:rPr>
              <a:t> Türkiye </a:t>
            </a:r>
            <a:endParaRPr lang="tr-TR" sz="1400" dirty="0">
              <a:latin typeface="Arial" panose="020B0604020202020204" pitchFamily="34" charset="0"/>
              <a:cs typeface="Arial" panose="020B0604020202020204" pitchFamily="34" charset="0"/>
            </a:endParaRPr>
          </a:p>
          <a:p>
            <a:pPr algn="ctr"/>
            <a:r>
              <a:rPr lang="en-US" sz="1400" dirty="0">
                <a:latin typeface="Arial" panose="020B0604020202020204" pitchFamily="34" charset="0"/>
                <a:cs typeface="Arial" panose="020B0604020202020204" pitchFamily="34" charset="0"/>
              </a:rPr>
              <a:t>(2025)</a:t>
            </a:r>
          </a:p>
        </p:txBody>
      </p:sp>
      <p:sp>
        <p:nvSpPr>
          <p:cNvPr id="14" name="Flowchart: Connector 13">
            <a:extLst>
              <a:ext uri="{FF2B5EF4-FFF2-40B4-BE49-F238E27FC236}">
                <a16:creationId xmlns:a16="http://schemas.microsoft.com/office/drawing/2014/main" id="{18315250-1FBB-F6B2-B49E-49B1EE14E1C8}"/>
              </a:ext>
            </a:extLst>
          </p:cNvPr>
          <p:cNvSpPr/>
          <p:nvPr/>
        </p:nvSpPr>
        <p:spPr>
          <a:xfrm>
            <a:off x="8476077" y="398223"/>
            <a:ext cx="1544905" cy="1517340"/>
          </a:xfrm>
          <a:prstGeom prst="flowChartConnector">
            <a:avLst/>
          </a:prstGeom>
          <a:pattFill prst="dkDnDiag">
            <a:fgClr>
              <a:schemeClr val="accent1">
                <a:lumMod val="50000"/>
              </a:schemeClr>
            </a:fgClr>
            <a:bgClr>
              <a:schemeClr val="tx1"/>
            </a:bgClr>
          </a:patt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latin typeface="Arial" panose="020B0604020202020204" pitchFamily="34" charset="0"/>
                <a:cs typeface="Arial" panose="020B0604020202020204" pitchFamily="34" charset="0"/>
              </a:rPr>
              <a:t>Türk </a:t>
            </a:r>
            <a:r>
              <a:rPr lang="en-US" sz="1400" dirty="0" err="1">
                <a:latin typeface="Arial" panose="020B0604020202020204" pitchFamily="34" charset="0"/>
                <a:cs typeface="Arial" panose="020B0604020202020204" pitchFamily="34" charset="0"/>
              </a:rPr>
              <a:t>Tabipler</a:t>
            </a:r>
            <a:r>
              <a:rPr lang="tr-TR"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Birliği</a:t>
            </a:r>
            <a:r>
              <a:rPr lang="en-US" sz="1400" dirty="0">
                <a:latin typeface="Arial" panose="020B0604020202020204" pitchFamily="34" charset="0"/>
                <a:cs typeface="Arial" panose="020B0604020202020204" pitchFamily="34" charset="0"/>
              </a:rPr>
              <a:t>   Türkiye (2025)</a:t>
            </a:r>
          </a:p>
        </p:txBody>
      </p:sp>
      <p:sp>
        <p:nvSpPr>
          <p:cNvPr id="16" name="Flowchart: Connector 15">
            <a:extLst>
              <a:ext uri="{FF2B5EF4-FFF2-40B4-BE49-F238E27FC236}">
                <a16:creationId xmlns:a16="http://schemas.microsoft.com/office/drawing/2014/main" id="{2CF4E074-8775-EA15-89FA-A54D01212380}"/>
              </a:ext>
            </a:extLst>
          </p:cNvPr>
          <p:cNvSpPr/>
          <p:nvPr/>
        </p:nvSpPr>
        <p:spPr>
          <a:xfrm>
            <a:off x="5615567" y="808835"/>
            <a:ext cx="1693382" cy="1743419"/>
          </a:xfrm>
          <a:prstGeom prst="flowChartConnector">
            <a:avLst/>
          </a:prstGeom>
          <a:pattFill prst="dkDnDiag">
            <a:fgClr>
              <a:schemeClr val="accent1">
                <a:lumMod val="50000"/>
              </a:schemeClr>
            </a:fgClr>
            <a:bgClr>
              <a:schemeClr val="tx1"/>
            </a:bgClr>
          </a:patt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latin typeface="Arial" panose="020B0604020202020204" pitchFamily="34" charset="0"/>
                <a:cs typeface="Arial" panose="020B0604020202020204" pitchFamily="34" charset="0"/>
              </a:rPr>
              <a:t>Bold LLC Data Breach  </a:t>
            </a:r>
            <a:endParaRPr lang="tr-TR" sz="1400" dirty="0">
              <a:latin typeface="Arial" panose="020B0604020202020204" pitchFamily="34" charset="0"/>
              <a:cs typeface="Arial" panose="020B0604020202020204" pitchFamily="34" charset="0"/>
            </a:endParaRPr>
          </a:p>
          <a:p>
            <a:pPr algn="ctr"/>
            <a:r>
              <a:rPr lang="en-US" sz="1400" dirty="0">
                <a:latin typeface="Arial" panose="020B0604020202020204" pitchFamily="34" charset="0"/>
                <a:cs typeface="Arial" panose="020B0604020202020204" pitchFamily="34" charset="0"/>
              </a:rPr>
              <a:t>Türkiye</a:t>
            </a:r>
            <a:endParaRPr lang="tr-TR" sz="1400" dirty="0">
              <a:latin typeface="Arial" panose="020B0604020202020204" pitchFamily="34" charset="0"/>
              <a:cs typeface="Arial" panose="020B0604020202020204" pitchFamily="34" charset="0"/>
            </a:endParaRPr>
          </a:p>
          <a:p>
            <a:pPr algn="ctr"/>
            <a:r>
              <a:rPr lang="en-US" sz="1400" dirty="0">
                <a:latin typeface="Arial" panose="020B0604020202020204" pitchFamily="34" charset="0"/>
                <a:cs typeface="Arial" panose="020B0604020202020204" pitchFamily="34" charset="0"/>
              </a:rPr>
              <a:t> (2025)</a:t>
            </a:r>
          </a:p>
        </p:txBody>
      </p:sp>
      <p:sp>
        <p:nvSpPr>
          <p:cNvPr id="51" name="Flowchart: Connector 50">
            <a:extLst>
              <a:ext uri="{FF2B5EF4-FFF2-40B4-BE49-F238E27FC236}">
                <a16:creationId xmlns:a16="http://schemas.microsoft.com/office/drawing/2014/main" id="{7DDC89A2-F1A4-14D1-C0D2-61DF178F9C6E}"/>
              </a:ext>
            </a:extLst>
          </p:cNvPr>
          <p:cNvSpPr/>
          <p:nvPr/>
        </p:nvSpPr>
        <p:spPr>
          <a:xfrm>
            <a:off x="7524184" y="5258357"/>
            <a:ext cx="1440873" cy="1416823"/>
          </a:xfrm>
          <a:prstGeom prst="flowChartConnector">
            <a:avLst/>
          </a:prstGeom>
          <a:pattFill prst="dkDnDiag">
            <a:fgClr>
              <a:schemeClr val="accent2">
                <a:lumMod val="50000"/>
              </a:schemeClr>
            </a:fgClr>
            <a:bgClr>
              <a:schemeClr val="tx1"/>
            </a:bgClr>
          </a:pattFill>
          <a:ln>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bg1"/>
                </a:solidFill>
                <a:latin typeface="Arial" panose="020B0604020202020204" pitchFamily="34" charset="0"/>
                <a:cs typeface="Arial" panose="020B0604020202020204" pitchFamily="34" charset="0"/>
              </a:rPr>
              <a:t>Gratis Veri </a:t>
            </a:r>
            <a:r>
              <a:rPr lang="en-US" sz="1400" dirty="0" err="1">
                <a:solidFill>
                  <a:schemeClr val="bg1"/>
                </a:solidFill>
                <a:latin typeface="Arial" panose="020B0604020202020204" pitchFamily="34" charset="0"/>
                <a:cs typeface="Arial" panose="020B0604020202020204" pitchFamily="34" charset="0"/>
              </a:rPr>
              <a:t>İhlali</a:t>
            </a:r>
            <a:r>
              <a:rPr lang="en-US" sz="1400" dirty="0">
                <a:solidFill>
                  <a:schemeClr val="bg1"/>
                </a:solidFill>
                <a:latin typeface="Arial" panose="020B0604020202020204" pitchFamily="34" charset="0"/>
                <a:cs typeface="Arial" panose="020B0604020202020204" pitchFamily="34" charset="0"/>
              </a:rPr>
              <a:t>  Türkiye (2020)</a:t>
            </a:r>
          </a:p>
        </p:txBody>
      </p:sp>
      <p:sp>
        <p:nvSpPr>
          <p:cNvPr id="47" name="Flowchart: Connector 46">
            <a:extLst>
              <a:ext uri="{FF2B5EF4-FFF2-40B4-BE49-F238E27FC236}">
                <a16:creationId xmlns:a16="http://schemas.microsoft.com/office/drawing/2014/main" id="{6513EDD5-A169-A1BA-EE07-28FA1A091736}"/>
              </a:ext>
            </a:extLst>
          </p:cNvPr>
          <p:cNvSpPr/>
          <p:nvPr/>
        </p:nvSpPr>
        <p:spPr>
          <a:xfrm>
            <a:off x="3412827" y="4910705"/>
            <a:ext cx="1309917" cy="1328759"/>
          </a:xfrm>
          <a:prstGeom prst="flowChartConnector">
            <a:avLst/>
          </a:prstGeom>
          <a:pattFill prst="dkDnDiag">
            <a:fgClr>
              <a:schemeClr val="accent2">
                <a:lumMod val="50000"/>
              </a:schemeClr>
            </a:fgClr>
            <a:bgClr>
              <a:schemeClr val="accent1">
                <a:lumMod val="25000"/>
              </a:schemeClr>
            </a:bgClr>
          </a:pattFill>
          <a:ln>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err="1">
                <a:latin typeface="Arial" panose="020B0604020202020204" pitchFamily="34" charset="0"/>
                <a:cs typeface="Arial" panose="020B0604020202020204" pitchFamily="34" charset="0"/>
              </a:rPr>
              <a:t>Verisi</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Sızıntısı</a:t>
            </a:r>
            <a:r>
              <a:rPr lang="en-US" sz="1400" dirty="0">
                <a:latin typeface="Arial" panose="020B0604020202020204" pitchFamily="34" charset="0"/>
                <a:cs typeface="Arial" panose="020B0604020202020204" pitchFamily="34" charset="0"/>
              </a:rPr>
              <a:t> Türkiye (2020)</a:t>
            </a:r>
          </a:p>
        </p:txBody>
      </p:sp>
      <p:sp>
        <p:nvSpPr>
          <p:cNvPr id="42" name="Flowchart: Connector 41">
            <a:extLst>
              <a:ext uri="{FF2B5EF4-FFF2-40B4-BE49-F238E27FC236}">
                <a16:creationId xmlns:a16="http://schemas.microsoft.com/office/drawing/2014/main" id="{0F98877B-0238-6C97-7C45-67CD84A62198}"/>
              </a:ext>
            </a:extLst>
          </p:cNvPr>
          <p:cNvSpPr/>
          <p:nvPr/>
        </p:nvSpPr>
        <p:spPr>
          <a:xfrm>
            <a:off x="-69857" y="3108776"/>
            <a:ext cx="1837249" cy="1831288"/>
          </a:xfrm>
          <a:prstGeom prst="flowChartConnector">
            <a:avLst/>
          </a:prstGeom>
          <a:solidFill>
            <a:schemeClr val="tx2">
              <a:lumMod val="60000"/>
              <a:lumOff val="40000"/>
            </a:schemeClr>
          </a:solidFill>
          <a:ln>
            <a:solidFill>
              <a:schemeClr val="tx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Arial" panose="020B0604020202020204" pitchFamily="34" charset="0"/>
                <a:cs typeface="Arial" panose="020B0604020202020204" pitchFamily="34" charset="0"/>
              </a:rPr>
              <a:t>Microsoft </a:t>
            </a:r>
            <a:r>
              <a:rPr lang="en-US" sz="1400" dirty="0">
                <a:latin typeface="Arial" panose="020B0604020202020204" pitchFamily="34" charset="0"/>
                <a:cs typeface="Arial" panose="020B0604020202020204" pitchFamily="34" charset="0"/>
              </a:rPr>
              <a:t>Exchange Server Attack </a:t>
            </a:r>
            <a:endParaRPr lang="tr-TR" sz="1400" dirty="0">
              <a:latin typeface="Arial" panose="020B0604020202020204" pitchFamily="34" charset="0"/>
              <a:cs typeface="Arial" panose="020B0604020202020204" pitchFamily="34" charset="0"/>
            </a:endParaRPr>
          </a:p>
          <a:p>
            <a:pPr algn="ctr"/>
            <a:r>
              <a:rPr lang="en-US" sz="1400" dirty="0">
                <a:latin typeface="Arial" panose="020B0604020202020204" pitchFamily="34" charset="0"/>
                <a:cs typeface="Arial" panose="020B0604020202020204" pitchFamily="34" charset="0"/>
              </a:rPr>
              <a:t>Global </a:t>
            </a:r>
            <a:r>
              <a:rPr lang="tr-TR" sz="1400" dirty="0">
                <a:latin typeface="Arial" panose="020B0604020202020204" pitchFamily="34" charset="0"/>
                <a:cs typeface="Arial" panose="020B0604020202020204" pitchFamily="34" charset="0"/>
              </a:rPr>
              <a:t>  </a:t>
            </a:r>
          </a:p>
          <a:p>
            <a:pPr algn="ctr"/>
            <a:r>
              <a:rPr lang="en-US" sz="1400" dirty="0">
                <a:latin typeface="Arial" panose="020B0604020202020204" pitchFamily="34" charset="0"/>
                <a:cs typeface="Arial" panose="020B0604020202020204" pitchFamily="34" charset="0"/>
              </a:rPr>
              <a:t>(202</a:t>
            </a:r>
            <a:r>
              <a:rPr lang="tr-TR" sz="1400" dirty="0">
                <a:latin typeface="Arial" panose="020B0604020202020204" pitchFamily="34" charset="0"/>
                <a:cs typeface="Arial" panose="020B0604020202020204" pitchFamily="34" charset="0"/>
              </a:rPr>
              <a:t>1</a:t>
            </a:r>
            <a:r>
              <a:rPr lang="en-US" dirty="0">
                <a:latin typeface="Arial" panose="020B0604020202020204" pitchFamily="34" charset="0"/>
                <a:cs typeface="Arial" panose="020B0604020202020204" pitchFamily="34" charset="0"/>
              </a:rPr>
              <a:t>)</a:t>
            </a:r>
            <a:endParaRPr lang="en-US" dirty="0"/>
          </a:p>
        </p:txBody>
      </p:sp>
      <p:sp>
        <p:nvSpPr>
          <p:cNvPr id="49" name="Flowchart: Connector 48">
            <a:extLst>
              <a:ext uri="{FF2B5EF4-FFF2-40B4-BE49-F238E27FC236}">
                <a16:creationId xmlns:a16="http://schemas.microsoft.com/office/drawing/2014/main" id="{84EC4A1E-E9BC-5674-9DF8-08A72ABFF070}"/>
              </a:ext>
            </a:extLst>
          </p:cNvPr>
          <p:cNvSpPr/>
          <p:nvPr/>
        </p:nvSpPr>
        <p:spPr>
          <a:xfrm>
            <a:off x="2094807" y="2457667"/>
            <a:ext cx="2252351" cy="2443879"/>
          </a:xfrm>
          <a:prstGeom prst="flowChartConnector">
            <a:avLst/>
          </a:prstGeom>
          <a:solidFill>
            <a:schemeClr val="accent4">
              <a:lumMod val="75000"/>
            </a:schemeClr>
          </a:solidFill>
          <a:ln>
            <a:solidFill>
              <a:schemeClr val="accent1">
                <a:lumMod val="50000"/>
              </a:schemeClr>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it-IT" sz="1400" dirty="0">
                <a:solidFill>
                  <a:schemeClr val="bg1"/>
                </a:solidFill>
                <a:latin typeface="Arial" panose="020B0604020202020204" pitchFamily="34" charset="0"/>
                <a:cs typeface="Arial" panose="020B0604020202020204" pitchFamily="34" charset="0"/>
              </a:rPr>
              <a:t>Vastaamo Data Breach</a:t>
            </a:r>
            <a:endParaRPr lang="tr-TR" sz="1400" dirty="0">
              <a:solidFill>
                <a:schemeClr val="bg1"/>
              </a:solidFill>
              <a:latin typeface="Arial" panose="020B0604020202020204" pitchFamily="34" charset="0"/>
              <a:cs typeface="Arial" panose="020B0604020202020204" pitchFamily="34" charset="0"/>
            </a:endParaRPr>
          </a:p>
          <a:p>
            <a:pPr algn="ctr"/>
            <a:r>
              <a:rPr lang="it-IT" sz="1400" dirty="0">
                <a:solidFill>
                  <a:schemeClr val="bg1"/>
                </a:solidFill>
                <a:latin typeface="Arial" panose="020B0604020202020204" pitchFamily="34" charset="0"/>
                <a:cs typeface="Arial" panose="020B0604020202020204" pitchFamily="34" charset="0"/>
              </a:rPr>
              <a:t> Finlandiya</a:t>
            </a:r>
            <a:endParaRPr lang="tr-TR" sz="1400" dirty="0">
              <a:solidFill>
                <a:schemeClr val="bg1"/>
              </a:solidFill>
              <a:latin typeface="Arial" panose="020B0604020202020204" pitchFamily="34" charset="0"/>
              <a:cs typeface="Arial" panose="020B0604020202020204" pitchFamily="34" charset="0"/>
            </a:endParaRPr>
          </a:p>
          <a:p>
            <a:pPr algn="ctr"/>
            <a:r>
              <a:rPr lang="tr-TR" sz="1400" dirty="0">
                <a:solidFill>
                  <a:schemeClr val="bg1"/>
                </a:solidFill>
                <a:latin typeface="Arial" panose="020B0604020202020204" pitchFamily="34" charset="0"/>
                <a:cs typeface="Arial" panose="020B0604020202020204" pitchFamily="34" charset="0"/>
              </a:rPr>
              <a:t> </a:t>
            </a:r>
            <a:r>
              <a:rPr lang="it-IT" sz="1400" dirty="0">
                <a:solidFill>
                  <a:schemeClr val="bg1"/>
                </a:solidFill>
                <a:latin typeface="Arial" panose="020B0604020202020204" pitchFamily="34" charset="0"/>
                <a:cs typeface="Arial" panose="020B0604020202020204" pitchFamily="34" charset="0"/>
              </a:rPr>
              <a:t>(202</a:t>
            </a:r>
            <a:r>
              <a:rPr lang="tr-TR" sz="1400" dirty="0">
                <a:solidFill>
                  <a:schemeClr val="bg1"/>
                </a:solidFill>
                <a:latin typeface="Arial" panose="020B0604020202020204" pitchFamily="34" charset="0"/>
                <a:cs typeface="Arial" panose="020B0604020202020204" pitchFamily="34" charset="0"/>
              </a:rPr>
              <a:t>0)</a:t>
            </a:r>
            <a:endParaRPr lang="en-US" sz="1400" dirty="0">
              <a:solidFill>
                <a:schemeClr val="bg1"/>
              </a:solidFill>
              <a:latin typeface="Arial" panose="020B0604020202020204" pitchFamily="34" charset="0"/>
              <a:cs typeface="Arial" panose="020B0604020202020204" pitchFamily="34" charset="0"/>
            </a:endParaRPr>
          </a:p>
        </p:txBody>
      </p:sp>
      <p:sp>
        <p:nvSpPr>
          <p:cNvPr id="41" name="Flowchart: Connector 40">
            <a:extLst>
              <a:ext uri="{FF2B5EF4-FFF2-40B4-BE49-F238E27FC236}">
                <a16:creationId xmlns:a16="http://schemas.microsoft.com/office/drawing/2014/main" id="{4811F179-1702-3226-BD51-36ECA1FBE4A8}"/>
              </a:ext>
            </a:extLst>
          </p:cNvPr>
          <p:cNvSpPr/>
          <p:nvPr/>
        </p:nvSpPr>
        <p:spPr>
          <a:xfrm>
            <a:off x="6863271" y="1478777"/>
            <a:ext cx="2434214" cy="2505602"/>
          </a:xfrm>
          <a:prstGeom prst="flowChartConnector">
            <a:avLst/>
          </a:prstGeom>
          <a:solidFill>
            <a:schemeClr val="accent1">
              <a:lumMod val="75000"/>
            </a:schemeClr>
          </a:solidFill>
          <a:ln>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latin typeface="Arial" panose="020B0604020202020204" pitchFamily="34" charset="0"/>
                <a:cs typeface="Arial" panose="020B0604020202020204" pitchFamily="34" charset="0"/>
              </a:rPr>
              <a:t>T-Mobile Breach  ABD </a:t>
            </a:r>
            <a:endParaRPr lang="tr-TR" sz="1400" dirty="0">
              <a:latin typeface="Arial" panose="020B0604020202020204" pitchFamily="34" charset="0"/>
              <a:cs typeface="Arial" panose="020B0604020202020204" pitchFamily="34" charset="0"/>
            </a:endParaRPr>
          </a:p>
          <a:p>
            <a:pPr algn="ctr"/>
            <a:r>
              <a:rPr lang="en-US" sz="1400" dirty="0">
                <a:latin typeface="Arial" panose="020B0604020202020204" pitchFamily="34" charset="0"/>
                <a:cs typeface="Arial" panose="020B0604020202020204" pitchFamily="34" charset="0"/>
              </a:rPr>
              <a:t>(2023)</a:t>
            </a:r>
          </a:p>
        </p:txBody>
      </p:sp>
      <p:sp>
        <p:nvSpPr>
          <p:cNvPr id="45" name="Flowchart: Connector 44">
            <a:extLst>
              <a:ext uri="{FF2B5EF4-FFF2-40B4-BE49-F238E27FC236}">
                <a16:creationId xmlns:a16="http://schemas.microsoft.com/office/drawing/2014/main" id="{07B8F374-6167-24BF-4F39-EE55A5C4866D}"/>
              </a:ext>
            </a:extLst>
          </p:cNvPr>
          <p:cNvSpPr/>
          <p:nvPr/>
        </p:nvSpPr>
        <p:spPr>
          <a:xfrm>
            <a:off x="8132253" y="3241017"/>
            <a:ext cx="2380081" cy="2272986"/>
          </a:xfrm>
          <a:prstGeom prst="flowChartConnector">
            <a:avLst/>
          </a:prstGeom>
          <a:solidFill>
            <a:schemeClr val="accent1">
              <a:lumMod val="50000"/>
            </a:schemeClr>
          </a:solid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latin typeface="Arial" panose="020B0604020202020204" pitchFamily="34" charset="0"/>
                <a:cs typeface="Arial" panose="020B0604020202020204" pitchFamily="34" charset="0"/>
              </a:rPr>
              <a:t>RedCross Data Breach </a:t>
            </a:r>
            <a:endParaRPr lang="tr-TR" sz="1400" dirty="0">
              <a:latin typeface="Arial" panose="020B0604020202020204" pitchFamily="34" charset="0"/>
              <a:cs typeface="Arial" panose="020B0604020202020204" pitchFamily="34" charset="0"/>
            </a:endParaRPr>
          </a:p>
          <a:p>
            <a:pPr algn="ct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İsviçre</a:t>
            </a:r>
            <a:r>
              <a:rPr lang="en-US" sz="1400" dirty="0">
                <a:latin typeface="Arial" panose="020B0604020202020204" pitchFamily="34" charset="0"/>
                <a:cs typeface="Arial" panose="020B0604020202020204" pitchFamily="34" charset="0"/>
              </a:rPr>
              <a:t> </a:t>
            </a:r>
            <a:endParaRPr lang="tr-TR" sz="1400" dirty="0">
              <a:latin typeface="Arial" panose="020B0604020202020204" pitchFamily="34" charset="0"/>
              <a:cs typeface="Arial" panose="020B0604020202020204" pitchFamily="34" charset="0"/>
            </a:endParaRPr>
          </a:p>
          <a:p>
            <a:pPr algn="ctr"/>
            <a:r>
              <a:rPr lang="en-US" sz="1400" dirty="0">
                <a:latin typeface="Arial" panose="020B0604020202020204" pitchFamily="34" charset="0"/>
                <a:cs typeface="Arial" panose="020B0604020202020204" pitchFamily="34" charset="0"/>
              </a:rPr>
              <a:t>(2022)</a:t>
            </a:r>
          </a:p>
        </p:txBody>
      </p:sp>
      <p:sp>
        <p:nvSpPr>
          <p:cNvPr id="46" name="Flowchart: Connector 45">
            <a:extLst>
              <a:ext uri="{FF2B5EF4-FFF2-40B4-BE49-F238E27FC236}">
                <a16:creationId xmlns:a16="http://schemas.microsoft.com/office/drawing/2014/main" id="{9D13E9D9-DA18-0EEC-FA50-FA6646249D7A}"/>
              </a:ext>
            </a:extLst>
          </p:cNvPr>
          <p:cNvSpPr/>
          <p:nvPr/>
        </p:nvSpPr>
        <p:spPr>
          <a:xfrm>
            <a:off x="1167506" y="2230138"/>
            <a:ext cx="1395399" cy="1297010"/>
          </a:xfrm>
          <a:prstGeom prst="flowChartConnector">
            <a:avLst/>
          </a:prstGeom>
          <a:solidFill>
            <a:schemeClr val="accent1">
              <a:lumMod val="50000"/>
            </a:schemeClr>
          </a:solidFill>
          <a:ln>
            <a:solidFill>
              <a:schemeClr val="tx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latin typeface="Arial" panose="020B0604020202020204" pitchFamily="34" charset="0"/>
                <a:cs typeface="Arial" panose="020B0604020202020204" pitchFamily="34" charset="0"/>
              </a:rPr>
              <a:t>Santander Bank Leak  </a:t>
            </a:r>
            <a:endParaRPr lang="tr-TR" sz="1400" dirty="0">
              <a:latin typeface="Arial" panose="020B0604020202020204" pitchFamily="34" charset="0"/>
              <a:cs typeface="Arial" panose="020B0604020202020204" pitchFamily="34" charset="0"/>
            </a:endParaRPr>
          </a:p>
          <a:p>
            <a:pPr algn="ctr"/>
            <a:r>
              <a:rPr lang="en-US" sz="1400" dirty="0" err="1">
                <a:latin typeface="Arial" panose="020B0604020202020204" pitchFamily="34" charset="0"/>
                <a:cs typeface="Arial" panose="020B0604020202020204" pitchFamily="34" charset="0"/>
              </a:rPr>
              <a:t>İspanya</a:t>
            </a:r>
            <a:endParaRPr lang="tr-TR" sz="1400" dirty="0">
              <a:latin typeface="Arial" panose="020B0604020202020204" pitchFamily="34" charset="0"/>
              <a:cs typeface="Arial" panose="020B0604020202020204" pitchFamily="34" charset="0"/>
            </a:endParaRPr>
          </a:p>
          <a:p>
            <a:pPr algn="ctr"/>
            <a:r>
              <a:rPr lang="en-US" sz="1400" dirty="0">
                <a:latin typeface="Arial" panose="020B0604020202020204" pitchFamily="34" charset="0"/>
                <a:cs typeface="Arial" panose="020B0604020202020204" pitchFamily="34" charset="0"/>
              </a:rPr>
              <a:t> (2024)</a:t>
            </a:r>
            <a:endParaRPr lang="en-US" dirty="0">
              <a:latin typeface="Arial" panose="020B0604020202020204" pitchFamily="34" charset="0"/>
              <a:cs typeface="Arial" panose="020B0604020202020204" pitchFamily="34" charset="0"/>
            </a:endParaRPr>
          </a:p>
        </p:txBody>
      </p:sp>
      <p:sp>
        <p:nvSpPr>
          <p:cNvPr id="55" name="Flowchart: Connector 54">
            <a:extLst>
              <a:ext uri="{FF2B5EF4-FFF2-40B4-BE49-F238E27FC236}">
                <a16:creationId xmlns:a16="http://schemas.microsoft.com/office/drawing/2014/main" id="{7DC5A8FA-BC26-E3EB-1455-977BF34000AE}"/>
              </a:ext>
            </a:extLst>
          </p:cNvPr>
          <p:cNvSpPr/>
          <p:nvPr/>
        </p:nvSpPr>
        <p:spPr>
          <a:xfrm>
            <a:off x="6167951" y="3294883"/>
            <a:ext cx="2380082" cy="2159684"/>
          </a:xfrm>
          <a:prstGeom prst="flowChartConnector">
            <a:avLst/>
          </a:prstGeom>
          <a:solidFill>
            <a:schemeClr val="accent4"/>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dirty="0">
                <a:latin typeface="Arial" panose="020B0604020202020204" pitchFamily="34" charset="0"/>
                <a:cs typeface="Arial" panose="020B0604020202020204" pitchFamily="34" charset="0"/>
              </a:rPr>
              <a:t>Toyota Supplier Hack</a:t>
            </a:r>
            <a:endParaRPr lang="tr-TR" sz="1400" dirty="0">
              <a:latin typeface="Arial" panose="020B0604020202020204" pitchFamily="34" charset="0"/>
              <a:cs typeface="Arial" panose="020B0604020202020204" pitchFamily="34" charset="0"/>
            </a:endParaRPr>
          </a:p>
          <a:p>
            <a:pPr algn="ctr"/>
            <a:r>
              <a:rPr lang="fr-FR" sz="1400" dirty="0">
                <a:latin typeface="Arial" panose="020B0604020202020204" pitchFamily="34" charset="0"/>
                <a:cs typeface="Arial" panose="020B0604020202020204" pitchFamily="34" charset="0"/>
              </a:rPr>
              <a:t>  </a:t>
            </a:r>
            <a:r>
              <a:rPr lang="fr-FR" sz="1400" dirty="0" err="1">
                <a:latin typeface="Arial" panose="020B0604020202020204" pitchFamily="34" charset="0"/>
                <a:cs typeface="Arial" panose="020B0604020202020204" pitchFamily="34" charset="0"/>
              </a:rPr>
              <a:t>Japonya</a:t>
            </a:r>
            <a:endParaRPr lang="tr-TR" sz="1400" dirty="0">
              <a:latin typeface="Arial" panose="020B0604020202020204" pitchFamily="34" charset="0"/>
              <a:cs typeface="Arial" panose="020B0604020202020204" pitchFamily="34" charset="0"/>
            </a:endParaRPr>
          </a:p>
          <a:p>
            <a:pPr algn="ctr"/>
            <a:r>
              <a:rPr lang="fr-FR" sz="1400" dirty="0">
                <a:latin typeface="Arial" panose="020B0604020202020204" pitchFamily="34" charset="0"/>
                <a:cs typeface="Arial" panose="020B0604020202020204" pitchFamily="34" charset="0"/>
              </a:rPr>
              <a:t> (2022)</a:t>
            </a:r>
            <a:endParaRPr lang="en-US" sz="1400" dirty="0">
              <a:latin typeface="Arial" panose="020B0604020202020204" pitchFamily="34" charset="0"/>
              <a:cs typeface="Arial" panose="020B0604020202020204" pitchFamily="34" charset="0"/>
            </a:endParaRPr>
          </a:p>
        </p:txBody>
      </p:sp>
      <p:sp>
        <p:nvSpPr>
          <p:cNvPr id="52" name="Flowchart: Connector 51">
            <a:extLst>
              <a:ext uri="{FF2B5EF4-FFF2-40B4-BE49-F238E27FC236}">
                <a16:creationId xmlns:a16="http://schemas.microsoft.com/office/drawing/2014/main" id="{20367346-0CE2-A781-AC44-BADA85851308}"/>
              </a:ext>
            </a:extLst>
          </p:cNvPr>
          <p:cNvSpPr/>
          <p:nvPr/>
        </p:nvSpPr>
        <p:spPr>
          <a:xfrm>
            <a:off x="1350365" y="4035157"/>
            <a:ext cx="1395400" cy="1283539"/>
          </a:xfrm>
          <a:prstGeom prst="flowChartConnector">
            <a:avLst/>
          </a:prstGeom>
          <a:pattFill prst="dkDnDiag">
            <a:fgClr>
              <a:schemeClr val="accent1">
                <a:lumMod val="50000"/>
              </a:schemeClr>
            </a:fgClr>
            <a:bgClr>
              <a:schemeClr val="tx1"/>
            </a:bgClr>
          </a:patt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err="1">
                <a:latin typeface="Arial" panose="020B0604020202020204" pitchFamily="34" charset="0"/>
                <a:cs typeface="Arial" panose="020B0604020202020204" pitchFamily="34" charset="0"/>
              </a:rPr>
              <a:t>Sağlık</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Bakanlığı</a:t>
            </a:r>
            <a:r>
              <a:rPr lang="en-US" sz="1400" dirty="0">
                <a:latin typeface="Arial" panose="020B0604020202020204" pitchFamily="34" charset="0"/>
                <a:cs typeface="Arial" panose="020B0604020202020204" pitchFamily="34" charset="0"/>
              </a:rPr>
              <a:t>   Türkiye (2021)</a:t>
            </a:r>
          </a:p>
        </p:txBody>
      </p:sp>
      <p:sp>
        <p:nvSpPr>
          <p:cNvPr id="15" name="Flowchart: Connector 14">
            <a:extLst>
              <a:ext uri="{FF2B5EF4-FFF2-40B4-BE49-F238E27FC236}">
                <a16:creationId xmlns:a16="http://schemas.microsoft.com/office/drawing/2014/main" id="{452D552B-B77E-F34D-E84F-A848FAEB6105}"/>
              </a:ext>
            </a:extLst>
          </p:cNvPr>
          <p:cNvSpPr/>
          <p:nvPr/>
        </p:nvSpPr>
        <p:spPr>
          <a:xfrm>
            <a:off x="9382082" y="4992692"/>
            <a:ext cx="1530775" cy="1469724"/>
          </a:xfrm>
          <a:prstGeom prst="flowChartConnector">
            <a:avLst/>
          </a:prstGeom>
          <a:pattFill prst="dkDnDiag">
            <a:fgClr>
              <a:schemeClr val="accent1">
                <a:lumMod val="50000"/>
              </a:schemeClr>
            </a:fgClr>
            <a:bgClr>
              <a:schemeClr val="tx1"/>
            </a:bgClr>
          </a:patt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latin typeface="Arial" panose="020B0604020202020204" pitchFamily="34" charset="0"/>
                <a:cs typeface="Arial" panose="020B0604020202020204" pitchFamily="34" charset="0"/>
              </a:rPr>
              <a:t>Twitch Veri </a:t>
            </a:r>
            <a:r>
              <a:rPr lang="en-US" sz="1400" dirty="0" err="1">
                <a:latin typeface="Arial" panose="020B0604020202020204" pitchFamily="34" charset="0"/>
                <a:cs typeface="Arial" panose="020B0604020202020204" pitchFamily="34" charset="0"/>
              </a:rPr>
              <a:t>İhlali</a:t>
            </a:r>
            <a:r>
              <a:rPr lang="en-US" sz="1400" dirty="0">
                <a:latin typeface="Arial" panose="020B0604020202020204" pitchFamily="34" charset="0"/>
                <a:cs typeface="Arial" panose="020B0604020202020204" pitchFamily="34" charset="0"/>
              </a:rPr>
              <a:t>  Türkiye (2021)</a:t>
            </a:r>
          </a:p>
        </p:txBody>
      </p:sp>
      <p:sp>
        <p:nvSpPr>
          <p:cNvPr id="26" name="Flowchart: Connector 25">
            <a:extLst>
              <a:ext uri="{FF2B5EF4-FFF2-40B4-BE49-F238E27FC236}">
                <a16:creationId xmlns:a16="http://schemas.microsoft.com/office/drawing/2014/main" id="{D539F442-7DB4-77B9-81EC-E0AEAC44A026}"/>
              </a:ext>
            </a:extLst>
          </p:cNvPr>
          <p:cNvSpPr/>
          <p:nvPr/>
        </p:nvSpPr>
        <p:spPr>
          <a:xfrm>
            <a:off x="10512334" y="6096337"/>
            <a:ext cx="714014" cy="743120"/>
          </a:xfrm>
          <a:prstGeom prst="flowChartConnector">
            <a:avLst/>
          </a:prstGeom>
          <a:pattFill prst="dkDnDiag">
            <a:fgClr>
              <a:schemeClr val="accent1">
                <a:lumMod val="50000"/>
              </a:schemeClr>
            </a:fgClr>
            <a:bgClr>
              <a:schemeClr val="accent1">
                <a:lumMod val="25000"/>
              </a:schemeClr>
            </a:bgClr>
          </a:patt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tr-TR" sz="900" dirty="0">
                <a:latin typeface="Arial" panose="020B0604020202020204" pitchFamily="34" charset="0"/>
                <a:cs typeface="Arial" panose="020B0604020202020204" pitchFamily="34" charset="0"/>
              </a:rPr>
              <a:t>2017</a:t>
            </a:r>
            <a:endParaRPr lang="en-US" sz="900" dirty="0">
              <a:latin typeface="Arial" panose="020B0604020202020204" pitchFamily="34" charset="0"/>
              <a:cs typeface="Arial" panose="020B0604020202020204" pitchFamily="34" charset="0"/>
            </a:endParaRPr>
          </a:p>
        </p:txBody>
      </p:sp>
      <p:sp>
        <p:nvSpPr>
          <p:cNvPr id="27" name="Flowchart: Connector 26">
            <a:extLst>
              <a:ext uri="{FF2B5EF4-FFF2-40B4-BE49-F238E27FC236}">
                <a16:creationId xmlns:a16="http://schemas.microsoft.com/office/drawing/2014/main" id="{32A4AEF1-C951-487F-04E3-D7E7DF9996FE}"/>
              </a:ext>
            </a:extLst>
          </p:cNvPr>
          <p:cNvSpPr/>
          <p:nvPr/>
        </p:nvSpPr>
        <p:spPr>
          <a:xfrm>
            <a:off x="4704245" y="5932026"/>
            <a:ext cx="583509" cy="543184"/>
          </a:xfrm>
          <a:prstGeom prst="flowChartConnector">
            <a:avLst/>
          </a:prstGeom>
          <a:solidFill>
            <a:schemeClr val="tx2">
              <a:lumMod val="40000"/>
              <a:lumOff val="6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tr-TR" sz="800" dirty="0">
                <a:latin typeface="Arial" panose="020B0604020202020204" pitchFamily="34" charset="0"/>
                <a:cs typeface="Arial" panose="020B0604020202020204" pitchFamily="34" charset="0"/>
              </a:rPr>
              <a:t>2015</a:t>
            </a:r>
            <a:endParaRPr lang="en-US" sz="1100" dirty="0">
              <a:latin typeface="Arial" panose="020B0604020202020204" pitchFamily="34" charset="0"/>
              <a:cs typeface="Arial" panose="020B0604020202020204" pitchFamily="34" charset="0"/>
            </a:endParaRPr>
          </a:p>
        </p:txBody>
      </p:sp>
      <p:sp>
        <p:nvSpPr>
          <p:cNvPr id="28" name="Flowchart: Connector 27">
            <a:extLst>
              <a:ext uri="{FF2B5EF4-FFF2-40B4-BE49-F238E27FC236}">
                <a16:creationId xmlns:a16="http://schemas.microsoft.com/office/drawing/2014/main" id="{00A2506B-9CFF-67DD-7C42-0FF1E39B07F4}"/>
              </a:ext>
            </a:extLst>
          </p:cNvPr>
          <p:cNvSpPr/>
          <p:nvPr/>
        </p:nvSpPr>
        <p:spPr>
          <a:xfrm>
            <a:off x="1298692" y="5637492"/>
            <a:ext cx="470562" cy="458845"/>
          </a:xfrm>
          <a:prstGeom prst="flowChartConnector">
            <a:avLst/>
          </a:prstGeom>
          <a:solidFill>
            <a:schemeClr val="accent2">
              <a:lumMod val="75000"/>
            </a:schemeClr>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sz="700" dirty="0">
              <a:latin typeface="Arial" panose="020B0604020202020204" pitchFamily="34" charset="0"/>
              <a:cs typeface="Arial" panose="020B0604020202020204" pitchFamily="34" charset="0"/>
            </a:endParaRPr>
          </a:p>
          <a:p>
            <a:pPr algn="ctr"/>
            <a:r>
              <a:rPr lang="tr-TR" sz="500" dirty="0">
                <a:latin typeface="Arial" panose="020B0604020202020204" pitchFamily="34" charset="0"/>
                <a:cs typeface="Arial" panose="020B0604020202020204" pitchFamily="34" charset="0"/>
              </a:rPr>
              <a:t>2010</a:t>
            </a:r>
          </a:p>
          <a:p>
            <a:pPr algn="ctr"/>
            <a:endParaRPr lang="en-US" sz="800" dirty="0">
              <a:latin typeface="Arial" panose="020B0604020202020204" pitchFamily="34" charset="0"/>
              <a:cs typeface="Arial" panose="020B0604020202020204" pitchFamily="34" charset="0"/>
            </a:endParaRPr>
          </a:p>
        </p:txBody>
      </p:sp>
      <p:sp>
        <p:nvSpPr>
          <p:cNvPr id="44" name="Flowchart: Connector 43">
            <a:extLst>
              <a:ext uri="{FF2B5EF4-FFF2-40B4-BE49-F238E27FC236}">
                <a16:creationId xmlns:a16="http://schemas.microsoft.com/office/drawing/2014/main" id="{C753C7BC-A2A2-021A-25F0-9BBB1CDEF657}"/>
              </a:ext>
            </a:extLst>
          </p:cNvPr>
          <p:cNvSpPr/>
          <p:nvPr/>
        </p:nvSpPr>
        <p:spPr>
          <a:xfrm>
            <a:off x="1988971" y="5048783"/>
            <a:ext cx="1560347" cy="1426427"/>
          </a:xfrm>
          <a:prstGeom prst="flowChartConnector">
            <a:avLst/>
          </a:prstGeom>
          <a:solidFill>
            <a:schemeClr val="accent1">
              <a:lumMod val="75000"/>
            </a:schemeClr>
          </a:solidFill>
          <a:ln>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latin typeface="Arial" panose="020B0604020202020204" pitchFamily="34" charset="0"/>
                <a:cs typeface="Arial" panose="020B0604020202020204" pitchFamily="34" charset="0"/>
              </a:rPr>
              <a:t>SolarWinds Hack  ABD (2020)</a:t>
            </a:r>
          </a:p>
        </p:txBody>
      </p:sp>
      <p:sp>
        <p:nvSpPr>
          <p:cNvPr id="3" name="Flowchart: Connector 2">
            <a:extLst>
              <a:ext uri="{FF2B5EF4-FFF2-40B4-BE49-F238E27FC236}">
                <a16:creationId xmlns:a16="http://schemas.microsoft.com/office/drawing/2014/main" id="{89272F57-DA34-D5E8-BFF6-6933681565D7}"/>
              </a:ext>
            </a:extLst>
          </p:cNvPr>
          <p:cNvSpPr/>
          <p:nvPr/>
        </p:nvSpPr>
        <p:spPr>
          <a:xfrm>
            <a:off x="10666209" y="364832"/>
            <a:ext cx="1364291" cy="1301413"/>
          </a:xfrm>
          <a:prstGeom prst="flowChartConnector">
            <a:avLst/>
          </a:prstGeom>
          <a:pattFill prst="dkDnDiag">
            <a:fgClr>
              <a:schemeClr val="accent1">
                <a:lumMod val="50000"/>
              </a:schemeClr>
            </a:fgClr>
            <a:bgClr>
              <a:schemeClr val="accent1">
                <a:lumMod val="25000"/>
              </a:schemeClr>
            </a:bgClr>
          </a:patt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latin typeface="Arial" panose="020B0604020202020204" pitchFamily="34" charset="0"/>
                <a:cs typeface="Arial" panose="020B0604020202020204" pitchFamily="34" charset="0"/>
              </a:rPr>
              <a:t>Turkish Airlines Data Exposure </a:t>
            </a:r>
            <a:r>
              <a:rPr lang="en-US" sz="1400" dirty="0"/>
              <a:t> Türkiye</a:t>
            </a:r>
          </a:p>
        </p:txBody>
      </p:sp>
      <p:sp>
        <p:nvSpPr>
          <p:cNvPr id="6" name="Flowchart: Connector 5">
            <a:extLst>
              <a:ext uri="{FF2B5EF4-FFF2-40B4-BE49-F238E27FC236}">
                <a16:creationId xmlns:a16="http://schemas.microsoft.com/office/drawing/2014/main" id="{7DBA5DEF-9E29-AD4D-F852-C0B5E4BFABAB}"/>
              </a:ext>
            </a:extLst>
          </p:cNvPr>
          <p:cNvSpPr/>
          <p:nvPr/>
        </p:nvSpPr>
        <p:spPr>
          <a:xfrm>
            <a:off x="683303" y="5082317"/>
            <a:ext cx="555633" cy="555175"/>
          </a:xfrm>
          <a:prstGeom prst="flowChartConnector">
            <a:avLst/>
          </a:prstGeom>
          <a:solidFill>
            <a:schemeClr val="accent2">
              <a:lumMod val="75000"/>
            </a:schemeClr>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tr-TR" sz="700" dirty="0">
                <a:latin typeface="Arial" panose="020B0604020202020204" pitchFamily="34" charset="0"/>
                <a:cs typeface="Arial" panose="020B0604020202020204" pitchFamily="34" charset="0"/>
              </a:rPr>
              <a:t>2018</a:t>
            </a:r>
            <a:endParaRPr lang="en-US" sz="800" dirty="0">
              <a:latin typeface="Arial" panose="020B0604020202020204" pitchFamily="34" charset="0"/>
              <a:cs typeface="Arial" panose="020B0604020202020204"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4855AC9-312C-1438-971C-6182EAD9D828}"/>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2" name="Picture 1">
            <a:extLst>
              <a:ext uri="{FF2B5EF4-FFF2-40B4-BE49-F238E27FC236}">
                <a16:creationId xmlns:a16="http://schemas.microsoft.com/office/drawing/2014/main" id="{16FCFEBE-5C10-F9E9-D825-C68299A459D8}"/>
              </a:ext>
            </a:extLst>
          </p:cNvPr>
          <p:cNvPicPr>
            <a:picLocks noChangeAspect="1"/>
          </p:cNvPicPr>
          <p:nvPr/>
        </p:nvPicPr>
        <p:blipFill>
          <a:blip r:embed="rId2"/>
          <a:srcRect t="19"/>
          <a:stretch>
            <a:fillRect/>
          </a:stretch>
        </p:blipFill>
        <p:spPr>
          <a:xfrm>
            <a:off x="20" y="6824"/>
            <a:ext cx="12191980" cy="6856718"/>
          </a:xfrm>
          <a:prstGeom prst="rect">
            <a:avLst/>
          </a:prstGeom>
        </p:spPr>
      </p:pic>
      <p:sp>
        <p:nvSpPr>
          <p:cNvPr id="3" name="TextBox 2">
            <a:extLst>
              <a:ext uri="{FF2B5EF4-FFF2-40B4-BE49-F238E27FC236}">
                <a16:creationId xmlns:a16="http://schemas.microsoft.com/office/drawing/2014/main" id="{46CA3129-61AC-0799-60A7-1E4F73342F98}"/>
              </a:ext>
            </a:extLst>
          </p:cNvPr>
          <p:cNvSpPr txBox="1"/>
          <p:nvPr/>
        </p:nvSpPr>
        <p:spPr>
          <a:xfrm>
            <a:off x="4240226" y="1119563"/>
            <a:ext cx="7461898" cy="1815882"/>
          </a:xfrm>
          <a:prstGeom prst="rect">
            <a:avLst/>
          </a:prstGeom>
          <a:noFill/>
        </p:spPr>
        <p:txBody>
          <a:bodyPr wrap="square">
            <a:spAutoFit/>
          </a:bodyPr>
          <a:lstStyle/>
          <a:p>
            <a:pPr algn="just"/>
            <a:r>
              <a:rPr lang="tr-TR" sz="1400" dirty="0">
                <a:effectLst>
                  <a:outerShdw blurRad="38100" dist="19050" dir="2700000" algn="tl">
                    <a:schemeClr val="dk1">
                      <a:alpha val="40000"/>
                    </a:schemeClr>
                  </a:outerShdw>
                </a:effectLst>
                <a:latin typeface="Arial" panose="020B0604020202020204" pitchFamily="34" charset="0"/>
                <a:cs typeface="Arial" panose="020B0604020202020204" pitchFamily="34" charset="0"/>
              </a:rPr>
              <a:t>	</a:t>
            </a:r>
            <a:r>
              <a:rPr lang="tr-TR" sz="1400" dirty="0">
                <a:latin typeface="Arial" panose="020B0604020202020204" pitchFamily="34" charset="0"/>
                <a:cs typeface="Arial" panose="020B0604020202020204" pitchFamily="34" charset="0"/>
              </a:rPr>
              <a:t> 2020 yılında gerçekleştirilen siber saldırıda, 69 yüksek profilli </a:t>
            </a:r>
            <a:r>
              <a:rPr lang="tr-TR" sz="1400" dirty="0" err="1">
                <a:latin typeface="Arial" panose="020B0604020202020204" pitchFamily="34" charset="0"/>
                <a:cs typeface="Arial" panose="020B0604020202020204" pitchFamily="34" charset="0"/>
              </a:rPr>
              <a:t>Twitter</a:t>
            </a:r>
            <a:r>
              <a:rPr lang="tr-TR" sz="1400" dirty="0">
                <a:latin typeface="Arial" panose="020B0604020202020204" pitchFamily="34" charset="0"/>
                <a:cs typeface="Arial" panose="020B0604020202020204" pitchFamily="34" charset="0"/>
              </a:rPr>
              <a:t> hesabı, çalışan erişim araçlarına sızılarak ele geçirilmiştir. Saldırganlar, bu hesaplar üzerinden kullanıcıları hedef alan bir </a:t>
            </a:r>
            <a:r>
              <a:rPr lang="tr-TR" sz="1400" dirty="0" err="1">
                <a:latin typeface="Arial" panose="020B0604020202020204" pitchFamily="34" charset="0"/>
                <a:cs typeface="Arial" panose="020B0604020202020204" pitchFamily="34" charset="0"/>
              </a:rPr>
              <a:t>Bitcoin</a:t>
            </a:r>
            <a:r>
              <a:rPr lang="tr-TR" sz="1400" dirty="0">
                <a:latin typeface="Arial" panose="020B0604020202020204" pitchFamily="34" charset="0"/>
                <a:cs typeface="Arial" panose="020B0604020202020204" pitchFamily="34" charset="0"/>
              </a:rPr>
              <a:t> dolandırıcılığı yürütmüş; belirli bir kripto cüzdanına para gönderenlere miktarın iki katını geri ödeyeceklerini vaat etmişlerdir. Kısa süre içerisinde 320 işlem gerçekleşmiş ve yaklaşık 110.000 ABD doları değerinde </a:t>
            </a:r>
            <a:r>
              <a:rPr lang="tr-TR" sz="1400" dirty="0" err="1">
                <a:latin typeface="Arial" panose="020B0604020202020204" pitchFamily="34" charset="0"/>
                <a:cs typeface="Arial" panose="020B0604020202020204" pitchFamily="34" charset="0"/>
              </a:rPr>
              <a:t>Bitcoin</a:t>
            </a:r>
            <a:r>
              <a:rPr lang="tr-TR" sz="1400" dirty="0">
                <a:latin typeface="Arial" panose="020B0604020202020204" pitchFamily="34" charset="0"/>
                <a:cs typeface="Arial" panose="020B0604020202020204" pitchFamily="34" charset="0"/>
              </a:rPr>
              <a:t> haksız kazanç elde edilmiştir. </a:t>
            </a:r>
            <a:r>
              <a:rPr lang="tr-TR" sz="1400" dirty="0" err="1">
                <a:latin typeface="Arial" panose="020B0604020202020204" pitchFamily="34" charset="0"/>
                <a:cs typeface="Arial" panose="020B0604020202020204" pitchFamily="34" charset="0"/>
              </a:rPr>
              <a:t>Twitter</a:t>
            </a:r>
            <a:r>
              <a:rPr lang="tr-TR" sz="1400" dirty="0">
                <a:latin typeface="Arial" panose="020B0604020202020204" pitchFamily="34" charset="0"/>
                <a:cs typeface="Arial" panose="020B0604020202020204" pitchFamily="34" charset="0"/>
              </a:rPr>
              <a:t>, saldırganların idari sistemlere erişim sağlayarak hesapları doğrudan yönettiğini doğrulamıştır. Bu olay, sosyal mühendislik temelli bir siber saldırı olup, elektronik dolandırıcılık, kimlik hırsızlığı ve yetkisiz erişim suçlarını kapsamaktadır. </a:t>
            </a:r>
            <a:endParaRPr lang="tr-TR" dirty="0"/>
          </a:p>
        </p:txBody>
      </p:sp>
      <p:sp>
        <p:nvSpPr>
          <p:cNvPr id="8" name="TextBox 7">
            <a:extLst>
              <a:ext uri="{FF2B5EF4-FFF2-40B4-BE49-F238E27FC236}">
                <a16:creationId xmlns:a16="http://schemas.microsoft.com/office/drawing/2014/main" id="{874D9C6E-53C2-5635-9696-29C5127E3B39}"/>
              </a:ext>
            </a:extLst>
          </p:cNvPr>
          <p:cNvSpPr txBox="1"/>
          <p:nvPr/>
        </p:nvSpPr>
        <p:spPr>
          <a:xfrm>
            <a:off x="4273527" y="3169053"/>
            <a:ext cx="7281367" cy="2308324"/>
          </a:xfrm>
          <a:prstGeom prst="rect">
            <a:avLst/>
          </a:prstGeom>
          <a:noFill/>
        </p:spPr>
        <p:txBody>
          <a:bodyPr wrap="square">
            <a:spAutoFit/>
          </a:bodyPr>
          <a:lstStyle/>
          <a:p>
            <a:pPr algn="just"/>
            <a:r>
              <a:rPr lang="tr-TR" sz="1400" dirty="0">
                <a:latin typeface="Arial" panose="020B0604020202020204" pitchFamily="34" charset="0"/>
                <a:cs typeface="Arial" panose="020B0604020202020204" pitchFamily="34" charset="0"/>
              </a:rPr>
              <a:t> 	2020 yılında gerçekleşen ve Rusya destekli olduğu düşünülen kapsamlı bir siber casusluk saldırısı, ABD federal kurumları başta olmak üzere dünya genelinde binlerce kurumu etkilemiştir. Saldırı, </a:t>
            </a:r>
            <a:r>
              <a:rPr lang="tr-TR" sz="1400" dirty="0" err="1">
                <a:latin typeface="Arial" panose="020B0604020202020204" pitchFamily="34" charset="0"/>
                <a:cs typeface="Arial" panose="020B0604020202020204" pitchFamily="34" charset="0"/>
              </a:rPr>
              <a:t>SolarWinds’in</a:t>
            </a:r>
            <a:r>
              <a:rPr lang="tr-TR" sz="1400" dirty="0">
                <a:latin typeface="Arial" panose="020B0604020202020204" pitchFamily="34" charset="0"/>
                <a:cs typeface="Arial" panose="020B0604020202020204" pitchFamily="34" charset="0"/>
              </a:rPr>
              <a:t> Orion yazılım güncellemesine gizlice enjekte edilen zararlı bir kod aracılığıyla gerçekleştirilmiştir. Bu kod haftalarca pasif halde beklemiş, ardından Kuzey Amerika, Avrupa, Asya ve Orta Doğu’daki birçok kurumun ağlarında etkinleşerek saldırganlara yetkisiz erişim sağlamıştır. Microsoft ve </a:t>
            </a:r>
            <a:r>
              <a:rPr lang="tr-TR" sz="1400" dirty="0" err="1">
                <a:latin typeface="Arial" panose="020B0604020202020204" pitchFamily="34" charset="0"/>
                <a:cs typeface="Arial" panose="020B0604020202020204" pitchFamily="34" charset="0"/>
              </a:rPr>
              <a:t>VMware</a:t>
            </a:r>
            <a:r>
              <a:rPr lang="tr-TR" sz="1400" dirty="0">
                <a:latin typeface="Arial" panose="020B0604020202020204" pitchFamily="34" charset="0"/>
                <a:cs typeface="Arial" panose="020B0604020202020204" pitchFamily="34" charset="0"/>
              </a:rPr>
              <a:t> açıklarının da istismar edilmesiyle saldırının etkisi artmış, yaklaşık 200 kurum zarar görmüştür. Olay, ABD tarihinin en ciddi siber casusluk girişimlerinden biri olarak kabul edilmiştir.</a:t>
            </a:r>
          </a:p>
          <a:p>
            <a:pPr algn="just"/>
            <a:endParaRPr lang="tr-TR" sz="1800" dirty="0">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00320116-B4E6-4121-196A-2A1C9F06680A}"/>
              </a:ext>
            </a:extLst>
          </p:cNvPr>
          <p:cNvSpPr txBox="1"/>
          <p:nvPr/>
        </p:nvSpPr>
        <p:spPr>
          <a:xfrm>
            <a:off x="267019" y="236616"/>
            <a:ext cx="11446212" cy="646331"/>
          </a:xfrm>
          <a:prstGeom prst="rect">
            <a:avLst/>
          </a:prstGeom>
          <a:noFill/>
        </p:spPr>
        <p:txBody>
          <a:bodyPr wrap="square">
            <a:spAutoFit/>
          </a:bodyPr>
          <a:lstStyle/>
          <a:p>
            <a:pPr algn="ctr"/>
            <a:r>
              <a:rPr lang="tr-TR" sz="3600" dirty="0">
                <a:ln w="0"/>
                <a:latin typeface="Arial" panose="020B0604020202020204" pitchFamily="34" charset="0"/>
                <a:cs typeface="Arial" panose="020B0604020202020204" pitchFamily="34" charset="0"/>
              </a:rPr>
              <a:t>Yıllara göre Küresel Veri İhlalleri</a:t>
            </a:r>
            <a:endParaRPr lang="en-US" sz="3600" cap="none" spc="0" dirty="0">
              <a:ln w="0"/>
              <a:solidFill>
                <a:schemeClr val="tx1"/>
              </a:solidFill>
              <a:latin typeface="Arial" panose="020B0604020202020204" pitchFamily="34" charset="0"/>
              <a:cs typeface="Arial" panose="020B0604020202020204" pitchFamily="34" charset="0"/>
            </a:endParaRPr>
          </a:p>
        </p:txBody>
      </p:sp>
      <p:graphicFrame>
        <p:nvGraphicFramePr>
          <p:cNvPr id="16" name="Diagram 15">
            <a:extLst>
              <a:ext uri="{FF2B5EF4-FFF2-40B4-BE49-F238E27FC236}">
                <a16:creationId xmlns:a16="http://schemas.microsoft.com/office/drawing/2014/main" id="{DC1B22DB-8D89-5EDC-D9BD-926F73138B3C}"/>
              </a:ext>
            </a:extLst>
          </p:cNvPr>
          <p:cNvGraphicFramePr/>
          <p:nvPr>
            <p:extLst>
              <p:ext uri="{D42A27DB-BD31-4B8C-83A1-F6EECF244321}">
                <p14:modId xmlns:p14="http://schemas.microsoft.com/office/powerpoint/2010/main" val="2520878995"/>
              </p:ext>
            </p:extLst>
          </p:nvPr>
        </p:nvGraphicFramePr>
        <p:xfrm>
          <a:off x="115746" y="0"/>
          <a:ext cx="4043559" cy="674030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7" name="Rectangle 16">
            <a:extLst>
              <a:ext uri="{FF2B5EF4-FFF2-40B4-BE49-F238E27FC236}">
                <a16:creationId xmlns:a16="http://schemas.microsoft.com/office/drawing/2014/main" id="{1D493134-5D7C-65D1-1331-2BDF4AD8FBC3}"/>
              </a:ext>
            </a:extLst>
          </p:cNvPr>
          <p:cNvSpPr/>
          <p:nvPr/>
        </p:nvSpPr>
        <p:spPr>
          <a:xfrm>
            <a:off x="-117112" y="606222"/>
            <a:ext cx="2605165" cy="523220"/>
          </a:xfrm>
          <a:prstGeom prst="rect">
            <a:avLst/>
          </a:prstGeom>
          <a:noFill/>
        </p:spPr>
        <p:txBody>
          <a:bodyPr wrap="square" lIns="91440" tIns="45720" rIns="91440" bIns="45720">
            <a:spAutoFit/>
          </a:bodyPr>
          <a:lstStyle/>
          <a:p>
            <a:pPr algn="ctr"/>
            <a:r>
              <a:rPr lang="tr-TR" sz="2800" cap="none" spc="0" dirty="0">
                <a:ln w="0"/>
                <a:solidFill>
                  <a:schemeClr val="tx1"/>
                </a:solidFill>
                <a:effectLst>
                  <a:outerShdw blurRad="38100" dist="19050" dir="2700000" algn="tl" rotWithShape="0">
                    <a:schemeClr val="dk1">
                      <a:alpha val="40000"/>
                    </a:schemeClr>
                  </a:outerShdw>
                </a:effectLst>
                <a:latin typeface="Arial" panose="020B0604020202020204" pitchFamily="34" charset="0"/>
                <a:cs typeface="Arial" panose="020B0604020202020204" pitchFamily="34" charset="0"/>
              </a:rPr>
              <a:t>2020</a:t>
            </a:r>
            <a:endParaRPr lang="en-US" sz="2800" cap="none" spc="0" dirty="0">
              <a:ln w="0"/>
              <a:solidFill>
                <a:schemeClr val="tx1"/>
              </a:solidFill>
              <a:effectLst>
                <a:outerShdw blurRad="38100" dist="19050" dir="2700000" algn="tl" rotWithShape="0">
                  <a:schemeClr val="dk1">
                    <a:alpha val="40000"/>
                  </a:schemeClr>
                </a:outerShdw>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289638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38FFE25-CA83-3BF0-36E3-3A8989ADA252}"/>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2" name="Picture 1">
            <a:extLst>
              <a:ext uri="{FF2B5EF4-FFF2-40B4-BE49-F238E27FC236}">
                <a16:creationId xmlns:a16="http://schemas.microsoft.com/office/drawing/2014/main" id="{CF14541E-2907-BCCC-D66D-9EBF32978E35}"/>
              </a:ext>
            </a:extLst>
          </p:cNvPr>
          <p:cNvPicPr>
            <a:picLocks noChangeAspect="1"/>
          </p:cNvPicPr>
          <p:nvPr/>
        </p:nvPicPr>
        <p:blipFill>
          <a:blip r:embed="rId2"/>
          <a:srcRect t="19"/>
          <a:stretch>
            <a:fillRect/>
          </a:stretch>
        </p:blipFill>
        <p:spPr>
          <a:xfrm>
            <a:off x="20" y="1282"/>
            <a:ext cx="12191980" cy="6856718"/>
          </a:xfrm>
          <a:prstGeom prst="rect">
            <a:avLst/>
          </a:prstGeom>
        </p:spPr>
      </p:pic>
      <p:sp>
        <p:nvSpPr>
          <p:cNvPr id="5" name="TextBox 4">
            <a:extLst>
              <a:ext uri="{FF2B5EF4-FFF2-40B4-BE49-F238E27FC236}">
                <a16:creationId xmlns:a16="http://schemas.microsoft.com/office/drawing/2014/main" id="{D76250BE-BCA5-8428-9D22-4B572AD68E52}"/>
              </a:ext>
            </a:extLst>
          </p:cNvPr>
          <p:cNvSpPr txBox="1"/>
          <p:nvPr/>
        </p:nvSpPr>
        <p:spPr>
          <a:xfrm>
            <a:off x="4570920" y="3239416"/>
            <a:ext cx="6953905" cy="1815882"/>
          </a:xfrm>
          <a:prstGeom prst="rect">
            <a:avLst/>
          </a:prstGeom>
          <a:noFill/>
        </p:spPr>
        <p:txBody>
          <a:bodyPr wrap="square">
            <a:spAutoFit/>
          </a:bodyPr>
          <a:lstStyle/>
          <a:p>
            <a:pPr algn="just"/>
            <a:r>
              <a:rPr lang="tr-TR" sz="1400" dirty="0">
                <a:latin typeface="Arial" panose="020B0604020202020204" pitchFamily="34" charset="0"/>
                <a:cs typeface="Arial" panose="020B0604020202020204" pitchFamily="34" charset="0"/>
              </a:rPr>
              <a:t>	2020 yılında Finlandiya merkezli </a:t>
            </a:r>
            <a:r>
              <a:rPr lang="tr-TR" sz="1400" dirty="0" err="1">
                <a:latin typeface="Arial" panose="020B0604020202020204" pitchFamily="34" charset="0"/>
                <a:cs typeface="Arial" panose="020B0604020202020204" pitchFamily="34" charset="0"/>
              </a:rPr>
              <a:t>Vastaamo</a:t>
            </a:r>
            <a:r>
              <a:rPr lang="tr-TR" sz="1400" dirty="0">
                <a:latin typeface="Arial" panose="020B0604020202020204" pitchFamily="34" charset="0"/>
                <a:cs typeface="Arial" panose="020B0604020202020204" pitchFamily="34" charset="0"/>
              </a:rPr>
              <a:t> Psikoterapi Merkezi, hasta </a:t>
            </a:r>
            <a:r>
              <a:rPr lang="tr-TR" sz="1400" dirty="0" err="1">
                <a:latin typeface="Arial" panose="020B0604020202020204" pitchFamily="34" charset="0"/>
                <a:cs typeface="Arial" panose="020B0604020202020204" pitchFamily="34" charset="0"/>
              </a:rPr>
              <a:t>veritabanının</a:t>
            </a:r>
            <a:r>
              <a:rPr lang="tr-TR" sz="1400" dirty="0">
                <a:latin typeface="Arial" panose="020B0604020202020204" pitchFamily="34" charset="0"/>
                <a:cs typeface="Arial" panose="020B0604020202020204" pitchFamily="34" charset="0"/>
              </a:rPr>
              <a:t> ele geçirildiğini kamuoyuna duyurmuştur. Saldırganlar, kurumdan yaklaşık 40 </a:t>
            </a:r>
            <a:r>
              <a:rPr lang="tr-TR" sz="1400" dirty="0" err="1">
                <a:latin typeface="Arial" panose="020B0604020202020204" pitchFamily="34" charset="0"/>
                <a:cs typeface="Arial" panose="020B0604020202020204" pitchFamily="34" charset="0"/>
              </a:rPr>
              <a:t>Bitcoin</a:t>
            </a:r>
            <a:r>
              <a:rPr lang="tr-TR" sz="1400" dirty="0">
                <a:latin typeface="Arial" panose="020B0604020202020204" pitchFamily="34" charset="0"/>
                <a:cs typeface="Arial" panose="020B0604020202020204" pitchFamily="34" charset="0"/>
              </a:rPr>
              <a:t> (yaklaşık 450.000 avro) fidye talep etmiş, ödeme yapılmazsa verileri yayımlamakla tehdit etmiştir. Akabinde yaklaşık 30.000 hastaya kişisel şantaj e-postaları gönderilmiş ve toplam 33.000 danışanın verileri çalınmıştır. Verilerin şifrelenmemiş olması ve sistemdeki güvenlik açıkları ihlalin etkisini artırmıştır. Hassas hasta görüşmeleri ve kişisel bilgilerin sızması, ülke genelinde ciddi psikolojik etkiler yaratmıştır. Olay, Finlandiya tarihinin en büyük siber saldırısı olarak kaydedilmiştir.</a:t>
            </a:r>
            <a:endParaRPr lang="tr-TR" sz="1200" dirty="0">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C3EE3318-5682-F181-6409-47B485F339B1}"/>
              </a:ext>
            </a:extLst>
          </p:cNvPr>
          <p:cNvSpPr txBox="1"/>
          <p:nvPr/>
        </p:nvSpPr>
        <p:spPr>
          <a:xfrm>
            <a:off x="4459795" y="999904"/>
            <a:ext cx="7065030" cy="1815882"/>
          </a:xfrm>
          <a:prstGeom prst="rect">
            <a:avLst/>
          </a:prstGeom>
          <a:noFill/>
        </p:spPr>
        <p:txBody>
          <a:bodyPr wrap="square">
            <a:spAutoFit/>
          </a:bodyPr>
          <a:lstStyle/>
          <a:p>
            <a:pPr algn="just"/>
            <a:r>
              <a:rPr lang="tr-TR" sz="1400" dirty="0">
                <a:latin typeface="Arial" panose="020B0604020202020204" pitchFamily="34" charset="0"/>
                <a:cs typeface="Arial" panose="020B0604020202020204" pitchFamily="34" charset="0"/>
              </a:rPr>
              <a:t> 	2020 yılında Gratis.com platformunda gerçekleşen veri ihlali, 4–6 Mart tarihleri arasında kimliği belirsiz kişiler tarafından gerçekleştirilen yetkisiz erişim girişimleri sonucunda ortaya çıkmıştır. Saldırganlar, şirket dışı kaynaklardan elde ettikleri e-posta adresi ve parolaları kullanarak çoklu IP üzerinden oturum açma denemeleri yapmış, başarısız denemelerin ardından farklı kombinasyonlarla tekrar giriş sağlamışlardır. Bu süreçte 2092 kullanıcının hesap bilgileri doğrulanmış ve kişisel verileri ele geçirilmiştir. 6 Mart 2020’de fark edilen ihlal, kimlik, iletişim ve müşteri işlem verilerinin ifşasına neden olmuştur. Olaydan toplam 2092 kişi etkilenmiştir</a:t>
            </a:r>
            <a:r>
              <a:rPr lang="tr-TR" sz="1400" dirty="0"/>
              <a:t>.</a:t>
            </a:r>
            <a:endParaRPr lang="tr-TR" dirty="0">
              <a:latin typeface="Arial" panose="020B0604020202020204" pitchFamily="34" charset="0"/>
              <a:cs typeface="Arial" panose="020B0604020202020204" pitchFamily="34" charset="0"/>
            </a:endParaRPr>
          </a:p>
        </p:txBody>
      </p:sp>
      <p:graphicFrame>
        <p:nvGraphicFramePr>
          <p:cNvPr id="11" name="Diagram 10">
            <a:extLst>
              <a:ext uri="{FF2B5EF4-FFF2-40B4-BE49-F238E27FC236}">
                <a16:creationId xmlns:a16="http://schemas.microsoft.com/office/drawing/2014/main" id="{55F3A0C8-464C-AFE7-8540-E5190805BF85}"/>
              </a:ext>
            </a:extLst>
          </p:cNvPr>
          <p:cNvGraphicFramePr/>
          <p:nvPr>
            <p:extLst>
              <p:ext uri="{D42A27DB-BD31-4B8C-83A1-F6EECF244321}">
                <p14:modId xmlns:p14="http://schemas.microsoft.com/office/powerpoint/2010/main" val="2290441756"/>
              </p:ext>
            </p:extLst>
          </p:nvPr>
        </p:nvGraphicFramePr>
        <p:xfrm>
          <a:off x="155186" y="-202302"/>
          <a:ext cx="4234690" cy="694388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10" name="Picture 9">
            <a:extLst>
              <a:ext uri="{FF2B5EF4-FFF2-40B4-BE49-F238E27FC236}">
                <a16:creationId xmlns:a16="http://schemas.microsoft.com/office/drawing/2014/main" id="{42DD2221-8851-1F63-9C1F-D48C700F9202}"/>
              </a:ext>
            </a:extLst>
          </p:cNvPr>
          <p:cNvPicPr>
            <a:picLocks noChangeAspect="1"/>
          </p:cNvPicPr>
          <p:nvPr/>
        </p:nvPicPr>
        <p:blipFill>
          <a:blip r:embed="rId8"/>
          <a:stretch>
            <a:fillRect/>
          </a:stretch>
        </p:blipFill>
        <p:spPr>
          <a:xfrm>
            <a:off x="1901508" y="3016155"/>
            <a:ext cx="2172349" cy="2238233"/>
          </a:xfrm>
          <a:prstGeom prst="rect">
            <a:avLst/>
          </a:prstGeom>
        </p:spPr>
      </p:pic>
      <p:sp>
        <p:nvSpPr>
          <p:cNvPr id="15" name="TextBox 14">
            <a:extLst>
              <a:ext uri="{FF2B5EF4-FFF2-40B4-BE49-F238E27FC236}">
                <a16:creationId xmlns:a16="http://schemas.microsoft.com/office/drawing/2014/main" id="{380B31AE-3C56-D8AC-7222-8584A285FC4E}"/>
              </a:ext>
            </a:extLst>
          </p:cNvPr>
          <p:cNvSpPr txBox="1"/>
          <p:nvPr/>
        </p:nvSpPr>
        <p:spPr>
          <a:xfrm>
            <a:off x="-183176" y="476684"/>
            <a:ext cx="2969776" cy="523220"/>
          </a:xfrm>
          <a:prstGeom prst="rect">
            <a:avLst/>
          </a:prstGeom>
          <a:noFill/>
        </p:spPr>
        <p:txBody>
          <a:bodyPr wrap="square">
            <a:spAutoFit/>
          </a:bodyPr>
          <a:lstStyle/>
          <a:p>
            <a:pPr algn="ctr"/>
            <a:r>
              <a:rPr lang="tr-TR" sz="2800" cap="none" spc="0" dirty="0">
                <a:ln w="0"/>
                <a:solidFill>
                  <a:schemeClr val="tx1"/>
                </a:solidFill>
                <a:effectLst>
                  <a:outerShdw blurRad="38100" dist="19050" dir="2700000" algn="tl" rotWithShape="0">
                    <a:schemeClr val="dk1">
                      <a:alpha val="40000"/>
                    </a:schemeClr>
                  </a:outerShdw>
                </a:effectLst>
                <a:latin typeface="Arial" panose="020B0604020202020204" pitchFamily="34" charset="0"/>
                <a:cs typeface="Arial" panose="020B0604020202020204" pitchFamily="34" charset="0"/>
              </a:rPr>
              <a:t>2020</a:t>
            </a:r>
            <a:endParaRPr lang="en-US" sz="2800" cap="none" spc="0" dirty="0">
              <a:ln w="0"/>
              <a:solidFill>
                <a:schemeClr val="tx1"/>
              </a:solidFill>
              <a:effectLst>
                <a:outerShdw blurRad="38100" dist="19050" dir="2700000" algn="tl" rotWithShape="0">
                  <a:schemeClr val="dk1">
                    <a:alpha val="40000"/>
                  </a:schemeClr>
                </a:outerShdw>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244050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67000"/>
              </a:schemeClr>
            </a:gs>
            <a:gs pos="7000">
              <a:schemeClr val="accent2">
                <a:lumMod val="40000"/>
                <a:lumOff val="60000"/>
              </a:schemeClr>
            </a:gs>
            <a:gs pos="59000">
              <a:schemeClr val="accent2">
                <a:lumMod val="20000"/>
                <a:lumOff val="80000"/>
              </a:schemeClr>
            </a:gs>
          </a:gsLst>
          <a:lin ang="16200000" scaled="1"/>
        </a:gra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FE49A948-A722-412E-9BD7-5CF26DA34525}"/>
              </a:ext>
            </a:extLst>
          </p:cNvPr>
          <p:cNvSpPr txBox="1"/>
          <p:nvPr/>
        </p:nvSpPr>
        <p:spPr>
          <a:xfrm>
            <a:off x="-231013" y="554326"/>
            <a:ext cx="3009330" cy="584775"/>
          </a:xfrm>
          <a:prstGeom prst="rect">
            <a:avLst/>
          </a:prstGeom>
          <a:noFill/>
        </p:spPr>
        <p:txBody>
          <a:bodyPr wrap="square">
            <a:spAutoFit/>
          </a:bodyPr>
          <a:lstStyle/>
          <a:p>
            <a:pPr algn="ctr"/>
            <a:r>
              <a:rPr lang="tr-TR" sz="3200" dirty="0">
                <a:ln w="0"/>
                <a:effectLst>
                  <a:outerShdw blurRad="38100" dist="38100" dir="2700000" algn="tl">
                    <a:srgbClr val="000000">
                      <a:alpha val="43137"/>
                    </a:srgbClr>
                  </a:outerShdw>
                </a:effectLst>
                <a:latin typeface="Arial" panose="020B0604020202020204" pitchFamily="34" charset="0"/>
                <a:cs typeface="Arial" panose="020B0604020202020204" pitchFamily="34" charset="0"/>
              </a:rPr>
              <a:t>2021</a:t>
            </a:r>
            <a:endParaRPr lang="en-US" sz="3200" cap="none" spc="0" dirty="0">
              <a:ln w="0"/>
              <a:solidFill>
                <a:schemeClr val="tx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p:txBody>
      </p:sp>
      <p:graphicFrame>
        <p:nvGraphicFramePr>
          <p:cNvPr id="4" name="Diagram 3">
            <a:extLst>
              <a:ext uri="{FF2B5EF4-FFF2-40B4-BE49-F238E27FC236}">
                <a16:creationId xmlns:a16="http://schemas.microsoft.com/office/drawing/2014/main" id="{776727FD-CAB9-37AD-E039-FA69EE41D83E}"/>
              </a:ext>
            </a:extLst>
          </p:cNvPr>
          <p:cNvGraphicFramePr/>
          <p:nvPr>
            <p:extLst>
              <p:ext uri="{D42A27DB-BD31-4B8C-83A1-F6EECF244321}">
                <p14:modId xmlns:p14="http://schemas.microsoft.com/office/powerpoint/2010/main" val="3979959644"/>
              </p:ext>
            </p:extLst>
          </p:nvPr>
        </p:nvGraphicFramePr>
        <p:xfrm>
          <a:off x="178024" y="-19917"/>
          <a:ext cx="4062204" cy="687791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TextBox 8">
            <a:extLst>
              <a:ext uri="{FF2B5EF4-FFF2-40B4-BE49-F238E27FC236}">
                <a16:creationId xmlns:a16="http://schemas.microsoft.com/office/drawing/2014/main" id="{7B334310-08E1-2BD1-5E25-B106636D1FA3}"/>
              </a:ext>
            </a:extLst>
          </p:cNvPr>
          <p:cNvSpPr txBox="1"/>
          <p:nvPr/>
        </p:nvSpPr>
        <p:spPr>
          <a:xfrm>
            <a:off x="4304963" y="1015862"/>
            <a:ext cx="7290925" cy="1877437"/>
          </a:xfrm>
          <a:prstGeom prst="rect">
            <a:avLst/>
          </a:prstGeom>
          <a:noFill/>
        </p:spPr>
        <p:txBody>
          <a:bodyPr wrap="square">
            <a:spAutoFit/>
          </a:bodyPr>
          <a:lstStyle/>
          <a:p>
            <a:pPr algn="just"/>
            <a:r>
              <a:rPr lang="tr-TR" dirty="0">
                <a:latin typeface="Arial" panose="020B0604020202020204" pitchFamily="34" charset="0"/>
                <a:cs typeface="Arial" panose="020B0604020202020204" pitchFamily="34" charset="0"/>
              </a:rPr>
              <a:t>	</a:t>
            </a:r>
            <a:r>
              <a:rPr lang="tr-TR" sz="1400" dirty="0">
                <a:latin typeface="Arial" panose="020B0604020202020204" pitchFamily="34" charset="0"/>
                <a:cs typeface="Arial" panose="020B0604020202020204" pitchFamily="34" charset="0"/>
              </a:rPr>
              <a:t>14 Mayıs 2021 tarihinde İrlanda Sağlık Hizmetleri Yöneticisi (</a:t>
            </a:r>
            <a:r>
              <a:rPr lang="tr-TR" sz="1400" dirty="0" err="1">
                <a:latin typeface="Arial" panose="020B0604020202020204" pitchFamily="34" charset="0"/>
                <a:cs typeface="Arial" panose="020B0604020202020204" pitchFamily="34" charset="0"/>
              </a:rPr>
              <a:t>Health</a:t>
            </a:r>
            <a:r>
              <a:rPr lang="tr-TR" sz="1400" dirty="0">
                <a:latin typeface="Arial" panose="020B0604020202020204" pitchFamily="34" charset="0"/>
                <a:cs typeface="Arial" panose="020B0604020202020204" pitchFamily="34" charset="0"/>
              </a:rPr>
              <a:t> Service </a:t>
            </a:r>
            <a:r>
              <a:rPr lang="tr-TR" sz="1400" dirty="0" err="1">
                <a:latin typeface="Arial" panose="020B0604020202020204" pitchFamily="34" charset="0"/>
                <a:cs typeface="Arial" panose="020B0604020202020204" pitchFamily="34" charset="0"/>
              </a:rPr>
              <a:t>Executive</a:t>
            </a:r>
            <a:r>
              <a:rPr lang="tr-TR" sz="1400" dirty="0">
                <a:latin typeface="Arial" panose="020B0604020202020204" pitchFamily="34" charset="0"/>
                <a:cs typeface="Arial" panose="020B0604020202020204" pitchFamily="34" charset="0"/>
              </a:rPr>
              <a:t> – HSE), </a:t>
            </a:r>
            <a:r>
              <a:rPr lang="tr-TR" sz="1400" dirty="0" err="1">
                <a:latin typeface="Arial" panose="020B0604020202020204" pitchFamily="34" charset="0"/>
                <a:cs typeface="Arial" panose="020B0604020202020204" pitchFamily="34" charset="0"/>
              </a:rPr>
              <a:t>Conti</a:t>
            </a:r>
            <a:r>
              <a:rPr lang="tr-TR" sz="1400" dirty="0">
                <a:latin typeface="Arial" panose="020B0604020202020204" pitchFamily="34" charset="0"/>
                <a:cs typeface="Arial" panose="020B0604020202020204" pitchFamily="34" charset="0"/>
              </a:rPr>
              <a:t> adlı fidye yazılımı aracılığıyla gerçekleştirilen kapsamlı bir siber saldırının hedefi olmuştur. Rusya merkezli “Wizard </a:t>
            </a:r>
            <a:r>
              <a:rPr lang="tr-TR" sz="1400" dirty="0" err="1">
                <a:latin typeface="Arial" panose="020B0604020202020204" pitchFamily="34" charset="0"/>
                <a:cs typeface="Arial" panose="020B0604020202020204" pitchFamily="34" charset="0"/>
              </a:rPr>
              <a:t>Spider</a:t>
            </a:r>
            <a:r>
              <a:rPr lang="tr-TR" sz="1400" dirty="0">
                <a:latin typeface="Arial" panose="020B0604020202020204" pitchFamily="34" charset="0"/>
                <a:cs typeface="Arial" panose="020B0604020202020204" pitchFamily="34" charset="0"/>
              </a:rPr>
              <a:t>” adlı organize suç grubu tarafından düzenlenen bu saldırı, İrlanda kamu kurumlarına yönelik en ciddi siber olaylardan biri olarak kayda geçmiştir. Saldırı sonucunda ülke genelindeki sağlık bilişim altyapısı devre dışı kalmış, hasta kayıtlarına erişim kesilmiş ve sağlık hizmetleri ciddi biçimde aksamıştır. Yaklaşık 520 hastaya ait gizli tıbbi veriler sızdırılmış, olay devletin siber güvenlik kapasitesinin yetersizliğini ortaya koymuştur.</a:t>
            </a:r>
            <a:endParaRPr lang="tr-TR" dirty="0">
              <a:latin typeface="Arial" panose="020B0604020202020204" pitchFamily="34" charset="0"/>
              <a:cs typeface="Arial" panose="020B0604020202020204" pitchFamily="34" charset="0"/>
            </a:endParaRPr>
          </a:p>
        </p:txBody>
      </p:sp>
      <p:sp>
        <p:nvSpPr>
          <p:cNvPr id="13" name="TextBox 12">
            <a:extLst>
              <a:ext uri="{FF2B5EF4-FFF2-40B4-BE49-F238E27FC236}">
                <a16:creationId xmlns:a16="http://schemas.microsoft.com/office/drawing/2014/main" id="{7A60A4FA-7C55-1EAE-7C7D-9D5C674EA0C0}"/>
              </a:ext>
            </a:extLst>
          </p:cNvPr>
          <p:cNvSpPr txBox="1"/>
          <p:nvPr/>
        </p:nvSpPr>
        <p:spPr>
          <a:xfrm>
            <a:off x="4393975" y="3157981"/>
            <a:ext cx="7120991" cy="1661993"/>
          </a:xfrm>
          <a:prstGeom prst="rect">
            <a:avLst/>
          </a:prstGeom>
          <a:noFill/>
        </p:spPr>
        <p:txBody>
          <a:bodyPr wrap="square">
            <a:spAutoFit/>
          </a:bodyPr>
          <a:lstStyle/>
          <a:p>
            <a:pPr algn="just"/>
            <a:r>
              <a:rPr lang="tr-TR" dirty="0"/>
              <a:t>	</a:t>
            </a:r>
            <a:r>
              <a:rPr lang="tr-TR" sz="1400" dirty="0">
                <a:latin typeface="Arial" panose="020B0604020202020204" pitchFamily="34" charset="0"/>
                <a:cs typeface="Arial" panose="020B0604020202020204" pitchFamily="34" charset="0"/>
              </a:rPr>
              <a:t>Sağlık Bakanlığı’na bağlı Diyarbakır, Siirt, Tekirdağ ve Kocaeli illerindeki bazı hastaneler 2021 yılında siber saldırı girişimine maruz kalmış, yalnızca Diyarbakır’daki hastaneler kısmen etkilenmiştir.  Ancak aynı dönemde, bir hastanede çalışan hekimin talimatıyla 789 hastaya ait dosyaların hastane dışına çıkarılması sonucu ciddi bir veri ihlali meydana gelmiştir. Kimlik, iletişim, sağlık ve genetik verilerin sızdığı belirlenmiştir. Ayrıca hastane arşiv odasına yetkisiz kişilerin girebildiği, kamera kayıtlarının geç incelendiği ve ihlalin 17 gün sonra fark edildiği tespit edilmiştir.</a:t>
            </a:r>
            <a:endParaRPr lang="tr-TR"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743959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a:gsLst>
            <a:gs pos="0">
              <a:srgbClr val="00B0F0"/>
            </a:gs>
            <a:gs pos="7000">
              <a:schemeClr val="accent2">
                <a:lumMod val="60000"/>
                <a:lumOff val="40000"/>
              </a:schemeClr>
            </a:gs>
            <a:gs pos="60000">
              <a:schemeClr val="accent2">
                <a:lumMod val="40000"/>
                <a:lumOff val="60000"/>
              </a:schemeClr>
            </a:gs>
            <a:gs pos="100000">
              <a:schemeClr val="accent1">
                <a:lumMod val="30000"/>
                <a:lumOff val="70000"/>
              </a:schemeClr>
            </a:gs>
          </a:gsLst>
          <a:lin ang="16200000" scaled="0"/>
        </a:gradFill>
        <a:effectLst/>
      </p:bgPr>
    </p:bg>
    <p:spTree>
      <p:nvGrpSpPr>
        <p:cNvPr id="1" name=""/>
        <p:cNvGrpSpPr/>
        <p:nvPr/>
      </p:nvGrpSpPr>
      <p:grpSpPr>
        <a:xfrm>
          <a:off x="0" y="0"/>
          <a:ext cx="0" cy="0"/>
          <a:chOff x="0" y="0"/>
          <a:chExt cx="0" cy="0"/>
        </a:xfrm>
      </p:grpSpPr>
      <p:graphicFrame>
        <p:nvGraphicFramePr>
          <p:cNvPr id="11" name="Diagram 10">
            <a:extLst>
              <a:ext uri="{FF2B5EF4-FFF2-40B4-BE49-F238E27FC236}">
                <a16:creationId xmlns:a16="http://schemas.microsoft.com/office/drawing/2014/main" id="{9CFB79F5-9F3C-7DBF-2B71-84B30998DBDA}"/>
              </a:ext>
            </a:extLst>
          </p:cNvPr>
          <p:cNvGraphicFramePr/>
          <p:nvPr>
            <p:extLst>
              <p:ext uri="{D42A27DB-BD31-4B8C-83A1-F6EECF244321}">
                <p14:modId xmlns:p14="http://schemas.microsoft.com/office/powerpoint/2010/main" val="2431107659"/>
              </p:ext>
            </p:extLst>
          </p:nvPr>
        </p:nvGraphicFramePr>
        <p:xfrm>
          <a:off x="129471" y="56644"/>
          <a:ext cx="4207859" cy="667592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4" name="TextBox 13">
            <a:extLst>
              <a:ext uri="{FF2B5EF4-FFF2-40B4-BE49-F238E27FC236}">
                <a16:creationId xmlns:a16="http://schemas.microsoft.com/office/drawing/2014/main" id="{835A7798-5FFA-9953-9433-67620AEF3FA8}"/>
              </a:ext>
            </a:extLst>
          </p:cNvPr>
          <p:cNvSpPr txBox="1"/>
          <p:nvPr/>
        </p:nvSpPr>
        <p:spPr>
          <a:xfrm>
            <a:off x="-312253" y="559800"/>
            <a:ext cx="3133353" cy="584775"/>
          </a:xfrm>
          <a:prstGeom prst="rect">
            <a:avLst/>
          </a:prstGeom>
          <a:noFill/>
        </p:spPr>
        <p:txBody>
          <a:bodyPr wrap="square">
            <a:spAutoFit/>
          </a:bodyPr>
          <a:lstStyle/>
          <a:p>
            <a:pPr algn="ctr"/>
            <a:r>
              <a:rPr lang="tr-TR" sz="3200" dirty="0">
                <a:ln w="0"/>
                <a:effectLst>
                  <a:outerShdw blurRad="38100" dist="38100" dir="2700000" algn="tl">
                    <a:srgbClr val="000000">
                      <a:alpha val="43137"/>
                    </a:srgbClr>
                  </a:outerShdw>
                </a:effectLst>
                <a:latin typeface="Arial" panose="020B0604020202020204" pitchFamily="34" charset="0"/>
                <a:cs typeface="Arial" panose="020B0604020202020204" pitchFamily="34" charset="0"/>
              </a:rPr>
              <a:t>2021</a:t>
            </a:r>
            <a:endParaRPr lang="en-US" sz="3200" cap="none" spc="0" dirty="0">
              <a:ln w="0"/>
              <a:solidFill>
                <a:schemeClr val="tx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p:txBody>
      </p:sp>
      <p:sp>
        <p:nvSpPr>
          <p:cNvPr id="17" name="TextBox 16">
            <a:extLst>
              <a:ext uri="{FF2B5EF4-FFF2-40B4-BE49-F238E27FC236}">
                <a16:creationId xmlns:a16="http://schemas.microsoft.com/office/drawing/2014/main" id="{382C88C9-2036-CD3F-E1AF-3E871F1CD820}"/>
              </a:ext>
            </a:extLst>
          </p:cNvPr>
          <p:cNvSpPr txBox="1"/>
          <p:nvPr/>
        </p:nvSpPr>
        <p:spPr>
          <a:xfrm>
            <a:off x="4497149" y="1063655"/>
            <a:ext cx="7123013" cy="2031325"/>
          </a:xfrm>
          <a:prstGeom prst="rect">
            <a:avLst/>
          </a:prstGeom>
          <a:noFill/>
        </p:spPr>
        <p:txBody>
          <a:bodyPr wrap="square">
            <a:spAutoFit/>
          </a:bodyPr>
          <a:lstStyle/>
          <a:p>
            <a:pPr algn="just">
              <a:buNone/>
            </a:pPr>
            <a:r>
              <a:rPr lang="tr-TR" sz="1400" dirty="0">
                <a:latin typeface="Arial" panose="020B0604020202020204" pitchFamily="34" charset="0"/>
                <a:cs typeface="Arial" panose="020B0604020202020204" pitchFamily="34" charset="0"/>
              </a:rPr>
              <a:t>	Ocak 2021’de Microsoft Exchange Server yazılımında tespit edilen dört sıfır gün açığı, Çin merkezli </a:t>
            </a:r>
            <a:r>
              <a:rPr lang="tr-TR" sz="1400" dirty="0" err="1">
                <a:latin typeface="Arial" panose="020B0604020202020204" pitchFamily="34" charset="0"/>
                <a:cs typeface="Arial" panose="020B0604020202020204" pitchFamily="34" charset="0"/>
              </a:rPr>
              <a:t>Hafnium</a:t>
            </a:r>
            <a:r>
              <a:rPr lang="tr-TR" sz="1400" dirty="0">
                <a:latin typeface="Arial" panose="020B0604020202020204" pitchFamily="34" charset="0"/>
                <a:cs typeface="Arial" panose="020B0604020202020204" pitchFamily="34" charset="0"/>
              </a:rPr>
              <a:t> adlı devlet destekli bir hacker grubunun istismarıyla küresel çapta büyük bir veri ihlaline yol açtı. Saldırganlar, bu açıkları kullanarak e-posta sunucularına ve parolalara erişim sağladı, yönetici ayrıcalıkları elde etti ve arka kapılar yerleştirdi. 250.000’den fazla sunucu etkilendi; ABD, Birleşik Krallık, Avrupa Bankacılık Otoritesi, Norveç Parlamentosu ve Şili Finans Komisyonu saldırıdan zarar gördü. Microsoft 2 Mart 2021’de yamalar yayımlasa da birçok sistem önceden ele geçirilmişti. Olay, küresel siber güvenlik tarihinde en geniş çaplı veri ihlallerinden biri olarak kabul edilmektedir.</a:t>
            </a:r>
          </a:p>
        </p:txBody>
      </p:sp>
      <p:pic>
        <p:nvPicPr>
          <p:cNvPr id="21" name="Picture 20">
            <a:extLst>
              <a:ext uri="{FF2B5EF4-FFF2-40B4-BE49-F238E27FC236}">
                <a16:creationId xmlns:a16="http://schemas.microsoft.com/office/drawing/2014/main" id="{30C6863E-CC08-99A5-2CF0-03AE0CD2C036}"/>
              </a:ext>
            </a:extLst>
          </p:cNvPr>
          <p:cNvPicPr>
            <a:picLocks noChangeAspect="1"/>
          </p:cNvPicPr>
          <p:nvPr/>
        </p:nvPicPr>
        <p:blipFill>
          <a:blip r:embed="rId8"/>
          <a:stretch>
            <a:fillRect/>
          </a:stretch>
        </p:blipFill>
        <p:spPr>
          <a:xfrm>
            <a:off x="1925905" y="1225496"/>
            <a:ext cx="1979431" cy="1461060"/>
          </a:xfrm>
          <a:prstGeom prst="rect">
            <a:avLst/>
          </a:prstGeom>
        </p:spPr>
      </p:pic>
      <p:sp>
        <p:nvSpPr>
          <p:cNvPr id="26" name="TextBox 25">
            <a:extLst>
              <a:ext uri="{FF2B5EF4-FFF2-40B4-BE49-F238E27FC236}">
                <a16:creationId xmlns:a16="http://schemas.microsoft.com/office/drawing/2014/main" id="{53FE1BAD-7009-D785-5E7D-196D66CE29B6}"/>
              </a:ext>
            </a:extLst>
          </p:cNvPr>
          <p:cNvSpPr txBox="1"/>
          <p:nvPr/>
        </p:nvSpPr>
        <p:spPr>
          <a:xfrm>
            <a:off x="4497150" y="3264914"/>
            <a:ext cx="7260578" cy="1815882"/>
          </a:xfrm>
          <a:prstGeom prst="rect">
            <a:avLst/>
          </a:prstGeom>
          <a:noFill/>
        </p:spPr>
        <p:txBody>
          <a:bodyPr wrap="square">
            <a:spAutoFit/>
          </a:bodyPr>
          <a:lstStyle/>
          <a:p>
            <a:pPr algn="just">
              <a:buNone/>
            </a:pPr>
            <a:r>
              <a:rPr lang="tr-TR" sz="1400" dirty="0">
                <a:latin typeface="Arial" panose="020B0604020202020204" pitchFamily="34" charset="0"/>
                <a:cs typeface="Arial" panose="020B0604020202020204" pitchFamily="34" charset="0"/>
              </a:rPr>
              <a:t>	2021 yılında Amazon’a ait canlı yayın platformu </a:t>
            </a:r>
            <a:r>
              <a:rPr lang="tr-TR" sz="1400" dirty="0" err="1">
                <a:latin typeface="Arial" panose="020B0604020202020204" pitchFamily="34" charset="0"/>
                <a:cs typeface="Arial" panose="020B0604020202020204" pitchFamily="34" charset="0"/>
              </a:rPr>
              <a:t>Twitch</a:t>
            </a:r>
            <a:r>
              <a:rPr lang="tr-TR" sz="1400" dirty="0">
                <a:latin typeface="Arial" panose="020B0604020202020204" pitchFamily="34" charset="0"/>
                <a:cs typeface="Arial" panose="020B0604020202020204" pitchFamily="34" charset="0"/>
              </a:rPr>
              <a:t>, 125 GB’lık hassas verinin internete sızdırılmasıyla büyük bir veri ihlali yaşadı. Sızıntıda platformun kaynak kodları, yayıncıların kazanç bilgileri ve kullanıcı verileri yer aldı. </a:t>
            </a:r>
            <a:r>
              <a:rPr lang="tr-TR" sz="1400" dirty="0" err="1">
                <a:latin typeface="Arial" panose="020B0604020202020204" pitchFamily="34" charset="0"/>
                <a:cs typeface="Arial" panose="020B0604020202020204" pitchFamily="34" charset="0"/>
              </a:rPr>
              <a:t>Twitch</a:t>
            </a:r>
            <a:r>
              <a:rPr lang="tr-TR" sz="1400" dirty="0">
                <a:latin typeface="Arial" panose="020B0604020202020204" pitchFamily="34" charset="0"/>
                <a:cs typeface="Arial" panose="020B0604020202020204" pitchFamily="34" charset="0"/>
              </a:rPr>
              <a:t>, olayın bir sunucu yapılandırma hatasından kaynaklandığını açıkladı. Kişisel Verileri Koruma Kurumu’nun incelemesine göre, Türkiye’de 35.274 kullanıcı bu ihlalden etkilendi. KVKK, platformun veri güvenliği önlemlerini olaydan sonra uyguladığını ve risk ile tehdit analizlerinde yetersiz kaldığını belirledi. Olay, sosyal medya tarihindeki en büyük sızıntılardan biri olarak değerlendirildi.</a:t>
            </a:r>
          </a:p>
        </p:txBody>
      </p:sp>
    </p:spTree>
    <p:extLst>
      <p:ext uri="{BB962C8B-B14F-4D97-AF65-F5344CB8AC3E}">
        <p14:creationId xmlns:p14="http://schemas.microsoft.com/office/powerpoint/2010/main" val="13406882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67000"/>
              </a:schemeClr>
            </a:gs>
            <a:gs pos="7000">
              <a:schemeClr val="accent2">
                <a:lumMod val="40000"/>
                <a:lumOff val="60000"/>
              </a:schemeClr>
            </a:gs>
            <a:gs pos="59000">
              <a:schemeClr val="accent2">
                <a:lumMod val="20000"/>
                <a:lumOff val="80000"/>
              </a:schemeClr>
            </a:gs>
          </a:gsLst>
          <a:lin ang="16200000" scaled="1"/>
        </a:gradFill>
        <a:effectLst/>
      </p:bgPr>
    </p:bg>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61C05AB0-B635-E209-7AC4-04F5D3C138E4}"/>
              </a:ext>
            </a:extLst>
          </p:cNvPr>
          <p:cNvSpPr txBox="1"/>
          <p:nvPr/>
        </p:nvSpPr>
        <p:spPr>
          <a:xfrm>
            <a:off x="-730155" y="670225"/>
            <a:ext cx="3699691" cy="584775"/>
          </a:xfrm>
          <a:prstGeom prst="rect">
            <a:avLst/>
          </a:prstGeom>
          <a:noFill/>
        </p:spPr>
        <p:txBody>
          <a:bodyPr wrap="square">
            <a:spAutoFit/>
          </a:bodyPr>
          <a:lstStyle/>
          <a:p>
            <a:pPr algn="ctr"/>
            <a:r>
              <a:rPr lang="tr-TR" sz="3200" dirty="0">
                <a:ln w="0"/>
                <a:effectLst>
                  <a:outerShdw blurRad="38100" dist="38100" dir="2700000" algn="tl">
                    <a:srgbClr val="000000">
                      <a:alpha val="43137"/>
                    </a:srgbClr>
                  </a:outerShdw>
                </a:effectLst>
                <a:latin typeface="Arial" panose="020B0604020202020204" pitchFamily="34" charset="0"/>
                <a:cs typeface="Arial" panose="020B0604020202020204" pitchFamily="34" charset="0"/>
              </a:rPr>
              <a:t>2022</a:t>
            </a:r>
            <a:r>
              <a:rPr lang="tr-TR" sz="1800" dirty="0">
                <a:ln w="0"/>
                <a:effectLst>
                  <a:outerShdw blurRad="38100" dist="38100" dir="2700000" algn="tl">
                    <a:srgbClr val="000000">
                      <a:alpha val="43137"/>
                    </a:srgbClr>
                  </a:outerShdw>
                </a:effectLst>
                <a:latin typeface="Arial" panose="020B0604020202020204" pitchFamily="34" charset="0"/>
                <a:cs typeface="Arial" panose="020B0604020202020204" pitchFamily="34" charset="0"/>
              </a:rPr>
              <a:t> </a:t>
            </a:r>
            <a:endParaRPr lang="en-US" sz="1800" cap="none" spc="0" dirty="0">
              <a:ln w="0"/>
              <a:solidFill>
                <a:schemeClr val="tx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p:txBody>
      </p:sp>
      <p:graphicFrame>
        <p:nvGraphicFramePr>
          <p:cNvPr id="2" name="Diagram 1">
            <a:extLst>
              <a:ext uri="{FF2B5EF4-FFF2-40B4-BE49-F238E27FC236}">
                <a16:creationId xmlns:a16="http://schemas.microsoft.com/office/drawing/2014/main" id="{0A30E444-BAD4-AE7C-7203-2797433F320A}"/>
              </a:ext>
            </a:extLst>
          </p:cNvPr>
          <p:cNvGraphicFramePr/>
          <p:nvPr>
            <p:extLst>
              <p:ext uri="{D42A27DB-BD31-4B8C-83A1-F6EECF244321}">
                <p14:modId xmlns:p14="http://schemas.microsoft.com/office/powerpoint/2010/main" val="840686395"/>
              </p:ext>
            </p:extLst>
          </p:nvPr>
        </p:nvGraphicFramePr>
        <p:xfrm>
          <a:off x="129474" y="89012"/>
          <a:ext cx="3803830" cy="665974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TextBox 5">
            <a:extLst>
              <a:ext uri="{FF2B5EF4-FFF2-40B4-BE49-F238E27FC236}">
                <a16:creationId xmlns:a16="http://schemas.microsoft.com/office/drawing/2014/main" id="{932C825F-E6E5-9582-6EAA-CB286A2C6132}"/>
              </a:ext>
            </a:extLst>
          </p:cNvPr>
          <p:cNvSpPr txBox="1"/>
          <p:nvPr/>
        </p:nvSpPr>
        <p:spPr>
          <a:xfrm>
            <a:off x="4083731" y="1138995"/>
            <a:ext cx="7327219" cy="2246769"/>
          </a:xfrm>
          <a:prstGeom prst="rect">
            <a:avLst/>
          </a:prstGeom>
          <a:noFill/>
        </p:spPr>
        <p:txBody>
          <a:bodyPr wrap="square">
            <a:spAutoFit/>
          </a:bodyPr>
          <a:lstStyle/>
          <a:p>
            <a:pPr algn="just">
              <a:buNone/>
            </a:pPr>
            <a:r>
              <a:rPr lang="tr-TR" sz="1400" dirty="0">
                <a:latin typeface="Arial" panose="020B0604020202020204" pitchFamily="34" charset="0"/>
                <a:cs typeface="Arial" panose="020B0604020202020204" pitchFamily="34" charset="0"/>
              </a:rPr>
              <a:t>	2021 Kasım ayında İsviçre’deki bir yükleniciye yapılan siber saldırı sonucunda Uluslararası Kızılhaç Komitesi (ICRC)’</a:t>
            </a:r>
            <a:r>
              <a:rPr lang="tr-TR" sz="1400" dirty="0" err="1">
                <a:latin typeface="Arial" panose="020B0604020202020204" pitchFamily="34" charset="0"/>
                <a:cs typeface="Arial" panose="020B0604020202020204" pitchFamily="34" charset="0"/>
              </a:rPr>
              <a:t>nin</a:t>
            </a:r>
            <a:r>
              <a:rPr lang="tr-TR" sz="1400" dirty="0">
                <a:latin typeface="Arial" panose="020B0604020202020204" pitchFamily="34" charset="0"/>
                <a:cs typeface="Arial" panose="020B0604020202020204" pitchFamily="34" charset="0"/>
              </a:rPr>
              <a:t> sistemlerine izinsiz erişim sağlanmış ve 60’tan fazla Kızılhaç ve Kızılay derneğine ait 515.000’den fazla savunmasız kişiye ilişkin kişisel veriler çalınmıştır. Etkilenen kişiler arasında savaş mağdurları, kayıplar, tutuklular ve afet nedeniyle ailelerinden ayrılan bireyler bulunmaktadır. Verilerin sızdırıldığına dair bir kanıt bulunmamakla birlikte, ICRC en büyük endişesinin bilgilerin ifşa edilmesi olduğunu açıklamıştır. Kurum, “Aile Bağlarını Geri Yükleme (</a:t>
            </a:r>
            <a:r>
              <a:rPr lang="tr-TR" sz="1400" dirty="0" err="1">
                <a:latin typeface="Arial" panose="020B0604020202020204" pitchFamily="34" charset="0"/>
                <a:cs typeface="Arial" panose="020B0604020202020204" pitchFamily="34" charset="0"/>
              </a:rPr>
              <a:t>Restoring</a:t>
            </a:r>
            <a:r>
              <a:rPr lang="tr-TR" sz="1400" dirty="0">
                <a:latin typeface="Arial" panose="020B0604020202020204" pitchFamily="34" charset="0"/>
                <a:cs typeface="Arial" panose="020B0604020202020204" pitchFamily="34" charset="0"/>
              </a:rPr>
              <a:t> </a:t>
            </a:r>
            <a:r>
              <a:rPr lang="tr-TR" sz="1400" dirty="0" err="1">
                <a:latin typeface="Arial" panose="020B0604020202020204" pitchFamily="34" charset="0"/>
                <a:cs typeface="Arial" panose="020B0604020202020204" pitchFamily="34" charset="0"/>
              </a:rPr>
              <a:t>Family</a:t>
            </a:r>
            <a:r>
              <a:rPr lang="tr-TR" sz="1400" dirty="0">
                <a:latin typeface="Arial" panose="020B0604020202020204" pitchFamily="34" charset="0"/>
                <a:cs typeface="Arial" panose="020B0604020202020204" pitchFamily="34" charset="0"/>
              </a:rPr>
              <a:t> Links)” programını geçici olarak askıya almak zorunda kalmıştır. Genel Direktör Robert </a:t>
            </a:r>
            <a:r>
              <a:rPr lang="tr-TR" sz="1400" dirty="0" err="1">
                <a:latin typeface="Arial" panose="020B0604020202020204" pitchFamily="34" charset="0"/>
                <a:cs typeface="Arial" panose="020B0604020202020204" pitchFamily="34" charset="0"/>
              </a:rPr>
              <a:t>Mardini</a:t>
            </a:r>
            <a:r>
              <a:rPr lang="tr-TR" sz="1400" dirty="0">
                <a:latin typeface="Arial" panose="020B0604020202020204" pitchFamily="34" charset="0"/>
                <a:cs typeface="Arial" panose="020B0604020202020204" pitchFamily="34" charset="0"/>
              </a:rPr>
              <a:t>, bu saldırının “insani değerlere ve savunmasız bireylerin mahremiyetine doğrudan bir tehdit” oluşturduğunu belirtmiştir.</a:t>
            </a:r>
          </a:p>
        </p:txBody>
      </p:sp>
      <p:pic>
        <p:nvPicPr>
          <p:cNvPr id="16" name="Picture 15">
            <a:extLst>
              <a:ext uri="{FF2B5EF4-FFF2-40B4-BE49-F238E27FC236}">
                <a16:creationId xmlns:a16="http://schemas.microsoft.com/office/drawing/2014/main" id="{8EAC6868-A849-3BC5-0C8B-8F487FBC4A39}"/>
              </a:ext>
            </a:extLst>
          </p:cNvPr>
          <p:cNvPicPr>
            <a:picLocks noChangeAspect="1"/>
          </p:cNvPicPr>
          <p:nvPr/>
        </p:nvPicPr>
        <p:blipFill>
          <a:blip r:embed="rId8"/>
          <a:srcRect l="20249" r="19675"/>
          <a:stretch>
            <a:fillRect/>
          </a:stretch>
        </p:blipFill>
        <p:spPr>
          <a:xfrm>
            <a:off x="1666682" y="3196418"/>
            <a:ext cx="1958274" cy="1962319"/>
          </a:xfrm>
          <a:prstGeom prst="rect">
            <a:avLst/>
          </a:prstGeom>
        </p:spPr>
      </p:pic>
      <p:sp>
        <p:nvSpPr>
          <p:cNvPr id="18" name="TextBox 17">
            <a:extLst>
              <a:ext uri="{FF2B5EF4-FFF2-40B4-BE49-F238E27FC236}">
                <a16:creationId xmlns:a16="http://schemas.microsoft.com/office/drawing/2014/main" id="{36FF9C82-643B-B40A-9EB4-88FEB749A1AF}"/>
              </a:ext>
            </a:extLst>
          </p:cNvPr>
          <p:cNvSpPr txBox="1"/>
          <p:nvPr/>
        </p:nvSpPr>
        <p:spPr>
          <a:xfrm>
            <a:off x="4083731" y="3520878"/>
            <a:ext cx="7475017" cy="2523768"/>
          </a:xfrm>
          <a:prstGeom prst="rect">
            <a:avLst/>
          </a:prstGeom>
          <a:noFill/>
        </p:spPr>
        <p:txBody>
          <a:bodyPr wrap="square">
            <a:spAutoFit/>
          </a:bodyPr>
          <a:lstStyle/>
          <a:p>
            <a:pPr algn="just"/>
            <a:r>
              <a:rPr lang="tr-TR" sz="1400" dirty="0">
                <a:latin typeface="Arial" panose="020B0604020202020204" pitchFamily="34" charset="0"/>
                <a:cs typeface="Arial" panose="020B0604020202020204" pitchFamily="34" charset="0"/>
              </a:rPr>
              <a:t>	</a:t>
            </a:r>
            <a:r>
              <a:rPr lang="tr-TR" sz="1400" dirty="0"/>
              <a:t> </a:t>
            </a:r>
            <a:r>
              <a:rPr lang="tr-TR" sz="1400" dirty="0">
                <a:latin typeface="Arial" panose="020B0604020202020204" pitchFamily="34" charset="0"/>
                <a:cs typeface="Arial" panose="020B0604020202020204" pitchFamily="34" charset="0"/>
              </a:rPr>
              <a:t>28 Şubat 2022 tarihinde Toyota Motor Corporation, plastik parça ve elektronik bileşen tedarikçisi </a:t>
            </a:r>
            <a:r>
              <a:rPr lang="tr-TR" sz="1400" dirty="0" err="1">
                <a:latin typeface="Arial" panose="020B0604020202020204" pitchFamily="34" charset="0"/>
                <a:cs typeface="Arial" panose="020B0604020202020204" pitchFamily="34" charset="0"/>
              </a:rPr>
              <a:t>Kojima</a:t>
            </a:r>
            <a:r>
              <a:rPr lang="tr-TR" sz="1400" dirty="0">
                <a:latin typeface="Arial" panose="020B0604020202020204" pitchFamily="34" charset="0"/>
                <a:cs typeface="Arial" panose="020B0604020202020204" pitchFamily="34" charset="0"/>
              </a:rPr>
              <a:t> </a:t>
            </a:r>
            <a:r>
              <a:rPr lang="tr-TR" sz="1400" dirty="0" err="1">
                <a:latin typeface="Arial" panose="020B0604020202020204" pitchFamily="34" charset="0"/>
                <a:cs typeface="Arial" panose="020B0604020202020204" pitchFamily="34" charset="0"/>
              </a:rPr>
              <a:t>Industries’e</a:t>
            </a:r>
            <a:r>
              <a:rPr lang="tr-TR" sz="1400" dirty="0">
                <a:latin typeface="Arial" panose="020B0604020202020204" pitchFamily="34" charset="0"/>
                <a:cs typeface="Arial" panose="020B0604020202020204" pitchFamily="34" charset="0"/>
              </a:rPr>
              <a:t> yönelik gerçekleşen şüpheli bir siber saldırı nedeniyle Japonya’daki tüm üretim faaliyetlerini geçici olarak durdurmuştur. Olay, yaklaşık 13.000 araçlık üretim kaybına neden olmuştur. </a:t>
            </a:r>
            <a:r>
              <a:rPr lang="tr-TR" sz="1400" dirty="0" err="1">
                <a:latin typeface="Arial" panose="020B0604020202020204" pitchFamily="34" charset="0"/>
                <a:cs typeface="Arial" panose="020B0604020202020204" pitchFamily="34" charset="0"/>
              </a:rPr>
              <a:t>Kojima</a:t>
            </a:r>
            <a:r>
              <a:rPr lang="tr-TR" sz="1400" dirty="0">
                <a:latin typeface="Arial" panose="020B0604020202020204" pitchFamily="34" charset="0"/>
                <a:cs typeface="Arial" panose="020B0604020202020204" pitchFamily="34" charset="0"/>
              </a:rPr>
              <a:t> </a:t>
            </a:r>
            <a:r>
              <a:rPr lang="tr-TR" sz="1400" dirty="0" err="1">
                <a:latin typeface="Arial" panose="020B0604020202020204" pitchFamily="34" charset="0"/>
                <a:cs typeface="Arial" panose="020B0604020202020204" pitchFamily="34" charset="0"/>
              </a:rPr>
              <a:t>Industries</a:t>
            </a:r>
            <a:r>
              <a:rPr lang="tr-TR" sz="1400" dirty="0">
                <a:latin typeface="Arial" panose="020B0604020202020204" pitchFamily="34" charset="0"/>
                <a:cs typeface="Arial" panose="020B0604020202020204" pitchFamily="34" charset="0"/>
              </a:rPr>
              <a:t>, saldırı sonrası sunucularının devre dışı kaldığını ve sistemlerinde bir tehdit mesajı tespit edildiğini bildirmiştir. Saldırının faili ve amacı henüz belirlenememiştir. Bu olay, Japonya’nın Ukrayna işgali sonrasında Rusya’ya uyguladığı yaptırımların hemen ardından meydana gelmiş, dolayısıyla jeopolitik bağlamda olası misilleme ihtimallerini gündeme getirmiştir. Japon hükümet yetkilileri, olayın doğrulama aşamasında olduğunu belirtmiş ve benzer tehditlere karşı siber güvenlik tedbirlerinin artırılması yönünde ulusal ölçekte uyarılarda bulunmuştur.</a:t>
            </a:r>
          </a:p>
          <a:p>
            <a:pPr algn="just">
              <a:buNone/>
            </a:pPr>
            <a:endParaRPr lang="tr-TR" dirty="0"/>
          </a:p>
        </p:txBody>
      </p:sp>
    </p:spTree>
    <p:extLst>
      <p:ext uri="{BB962C8B-B14F-4D97-AF65-F5344CB8AC3E}">
        <p14:creationId xmlns:p14="http://schemas.microsoft.com/office/powerpoint/2010/main" val="34254247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20EBAD3-D391-0072-F03C-4790678D356A}"/>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2" name="Picture 1">
            <a:extLst>
              <a:ext uri="{FF2B5EF4-FFF2-40B4-BE49-F238E27FC236}">
                <a16:creationId xmlns:a16="http://schemas.microsoft.com/office/drawing/2014/main" id="{5072E4F7-3E7F-C544-F20B-6FF22806C7F6}"/>
              </a:ext>
            </a:extLst>
          </p:cNvPr>
          <p:cNvPicPr>
            <a:picLocks noChangeAspect="1"/>
          </p:cNvPicPr>
          <p:nvPr/>
        </p:nvPicPr>
        <p:blipFill>
          <a:blip r:embed="rId2"/>
          <a:srcRect t="19"/>
          <a:stretch>
            <a:fillRect/>
          </a:stretch>
        </p:blipFill>
        <p:spPr>
          <a:xfrm>
            <a:off x="21842" y="-10105"/>
            <a:ext cx="12191980" cy="6856718"/>
          </a:xfrm>
          <a:prstGeom prst="rect">
            <a:avLst/>
          </a:prstGeom>
        </p:spPr>
      </p:pic>
      <p:sp>
        <p:nvSpPr>
          <p:cNvPr id="5" name="TextBox 4">
            <a:extLst>
              <a:ext uri="{FF2B5EF4-FFF2-40B4-BE49-F238E27FC236}">
                <a16:creationId xmlns:a16="http://schemas.microsoft.com/office/drawing/2014/main" id="{B5785CCA-8E54-1AAC-7A21-AD2861FEAF4F}"/>
              </a:ext>
            </a:extLst>
          </p:cNvPr>
          <p:cNvSpPr txBox="1"/>
          <p:nvPr/>
        </p:nvSpPr>
        <p:spPr>
          <a:xfrm>
            <a:off x="-544795" y="535540"/>
            <a:ext cx="3277995" cy="584775"/>
          </a:xfrm>
          <a:prstGeom prst="rect">
            <a:avLst/>
          </a:prstGeom>
          <a:noFill/>
        </p:spPr>
        <p:txBody>
          <a:bodyPr wrap="square">
            <a:spAutoFit/>
          </a:bodyPr>
          <a:lstStyle/>
          <a:p>
            <a:pPr algn="ctr"/>
            <a:r>
              <a:rPr lang="tr-TR" sz="3200" dirty="0">
                <a:ln w="0"/>
                <a:effectLst>
                  <a:outerShdw blurRad="38100" dist="38100" dir="2700000" algn="tl">
                    <a:srgbClr val="000000">
                      <a:alpha val="43137"/>
                    </a:srgbClr>
                  </a:outerShdw>
                </a:effectLst>
                <a:latin typeface="Arial" panose="020B0604020202020204" pitchFamily="34" charset="0"/>
                <a:cs typeface="Arial" panose="020B0604020202020204" pitchFamily="34" charset="0"/>
              </a:rPr>
              <a:t>2023 </a:t>
            </a:r>
            <a:endParaRPr lang="en-US" sz="3200" cap="none" spc="0" dirty="0">
              <a:ln w="0"/>
              <a:solidFill>
                <a:schemeClr val="tx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p:txBody>
      </p:sp>
      <p:sp>
        <p:nvSpPr>
          <p:cNvPr id="14" name="TextBox 13">
            <a:extLst>
              <a:ext uri="{FF2B5EF4-FFF2-40B4-BE49-F238E27FC236}">
                <a16:creationId xmlns:a16="http://schemas.microsoft.com/office/drawing/2014/main" id="{4685E6AB-1C21-BAA8-1205-71671B9C8D34}"/>
              </a:ext>
            </a:extLst>
          </p:cNvPr>
          <p:cNvSpPr txBox="1"/>
          <p:nvPr/>
        </p:nvSpPr>
        <p:spPr>
          <a:xfrm>
            <a:off x="6366962" y="1914293"/>
            <a:ext cx="6145530" cy="369332"/>
          </a:xfrm>
          <a:prstGeom prst="rect">
            <a:avLst/>
          </a:prstGeom>
          <a:noFill/>
        </p:spPr>
        <p:txBody>
          <a:bodyPr wrap="square">
            <a:spAutoFit/>
          </a:bodyPr>
          <a:lstStyle/>
          <a:p>
            <a:pPr algn="just"/>
            <a:r>
              <a:rPr lang="tr-TR" dirty="0">
                <a:latin typeface="Arial" panose="020B0604020202020204" pitchFamily="34" charset="0"/>
                <a:cs typeface="Arial" panose="020B0604020202020204" pitchFamily="34" charset="0"/>
              </a:rPr>
              <a:t>.</a:t>
            </a:r>
          </a:p>
        </p:txBody>
      </p:sp>
      <p:graphicFrame>
        <p:nvGraphicFramePr>
          <p:cNvPr id="4" name="Diagram 3">
            <a:extLst>
              <a:ext uri="{FF2B5EF4-FFF2-40B4-BE49-F238E27FC236}">
                <a16:creationId xmlns:a16="http://schemas.microsoft.com/office/drawing/2014/main" id="{2BE87BF5-8CEB-A737-3D7C-5F4C55C46C34}"/>
              </a:ext>
            </a:extLst>
          </p:cNvPr>
          <p:cNvGraphicFramePr/>
          <p:nvPr>
            <p:extLst>
              <p:ext uri="{D42A27DB-BD31-4B8C-83A1-F6EECF244321}">
                <p14:modId xmlns:p14="http://schemas.microsoft.com/office/powerpoint/2010/main" val="18411687"/>
              </p:ext>
            </p:extLst>
          </p:nvPr>
        </p:nvGraphicFramePr>
        <p:xfrm>
          <a:off x="140677" y="-15485"/>
          <a:ext cx="3735533" cy="670545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9" name="TextBox 8">
            <a:extLst>
              <a:ext uri="{FF2B5EF4-FFF2-40B4-BE49-F238E27FC236}">
                <a16:creationId xmlns:a16="http://schemas.microsoft.com/office/drawing/2014/main" id="{6A711493-7050-5847-4EFF-725E3094FD32}"/>
              </a:ext>
            </a:extLst>
          </p:cNvPr>
          <p:cNvSpPr txBox="1"/>
          <p:nvPr/>
        </p:nvSpPr>
        <p:spPr>
          <a:xfrm>
            <a:off x="4216196" y="3287846"/>
            <a:ext cx="7312211" cy="1815882"/>
          </a:xfrm>
          <a:prstGeom prst="rect">
            <a:avLst/>
          </a:prstGeom>
          <a:noFill/>
        </p:spPr>
        <p:txBody>
          <a:bodyPr wrap="square">
            <a:spAutoFit/>
          </a:bodyPr>
          <a:lstStyle/>
          <a:p>
            <a:pPr algn="just">
              <a:buNone/>
            </a:pPr>
            <a:r>
              <a:rPr lang="tr-TR" sz="1400" dirty="0">
                <a:latin typeface="Arial" panose="020B0604020202020204" pitchFamily="34" charset="0"/>
                <a:cs typeface="Arial" panose="020B0604020202020204" pitchFamily="34" charset="0"/>
              </a:rPr>
              <a:t>	Mayıs 2023’te, </a:t>
            </a:r>
            <a:r>
              <a:rPr lang="tr-TR" sz="1400" dirty="0" err="1">
                <a:latin typeface="Arial" panose="020B0604020202020204" pitchFamily="34" charset="0"/>
                <a:cs typeface="Arial" panose="020B0604020202020204" pitchFamily="34" charset="0"/>
              </a:rPr>
              <a:t>Progress</a:t>
            </a:r>
            <a:r>
              <a:rPr lang="tr-TR" sz="1400" dirty="0">
                <a:latin typeface="Arial" panose="020B0604020202020204" pitchFamily="34" charset="0"/>
                <a:cs typeface="Arial" panose="020B0604020202020204" pitchFamily="34" charset="0"/>
              </a:rPr>
              <a:t> </a:t>
            </a:r>
            <a:r>
              <a:rPr lang="tr-TR" sz="1400" dirty="0" err="1">
                <a:latin typeface="Arial" panose="020B0604020202020204" pitchFamily="34" charset="0"/>
                <a:cs typeface="Arial" panose="020B0604020202020204" pitchFamily="34" charset="0"/>
              </a:rPr>
              <a:t>Software’e</a:t>
            </a:r>
            <a:r>
              <a:rPr lang="tr-TR" sz="1400" dirty="0">
                <a:latin typeface="Arial" panose="020B0604020202020204" pitchFamily="34" charset="0"/>
                <a:cs typeface="Arial" panose="020B0604020202020204" pitchFamily="34" charset="0"/>
              </a:rPr>
              <a:t> ait </a:t>
            </a:r>
            <a:r>
              <a:rPr lang="tr-TR" sz="1400" dirty="0" err="1">
                <a:latin typeface="Arial" panose="020B0604020202020204" pitchFamily="34" charset="0"/>
                <a:cs typeface="Arial" panose="020B0604020202020204" pitchFamily="34" charset="0"/>
              </a:rPr>
              <a:t>MOVEit</a:t>
            </a:r>
            <a:r>
              <a:rPr lang="tr-TR" sz="1400" dirty="0">
                <a:latin typeface="Arial" panose="020B0604020202020204" pitchFamily="34" charset="0"/>
                <a:cs typeface="Arial" panose="020B0604020202020204" pitchFamily="34" charset="0"/>
              </a:rPr>
              <a:t> Transfer yazılımında tespit edilen kritik bir güvenlik açığı, fidye yazılım grubu CL0P tarafından istismar edilerek küresel ölçekte ciddi bir veri ihlaline yol açmıştır. SQL enjeksiyonu yoluyla gerçekleştirilen saldırılar, 2.700’den fazla kuruluşun sistemlerini tehlikeye atmış ve yaklaşık 93,3 milyon kişinin kişisel verilerinin ifşa olmasına neden olmuştur. Etkilenen kurumlar arasında kamu kuruluşları, finans ve sağlık sektörü yer almaktadır. Saldırılar, LEMURLOOT adlı özel bir web kabuğu aracılığıyla yürütülmüştür. Olay, dijital tedarik zincirlerindeki sistemik zafiyetleri ortaya koymuş ve siber güvenlik düzenlemelerinin güçlendirilmesini hızlandırmıştır.</a:t>
            </a:r>
          </a:p>
        </p:txBody>
      </p:sp>
      <p:sp>
        <p:nvSpPr>
          <p:cNvPr id="12" name="TextBox 11">
            <a:extLst>
              <a:ext uri="{FF2B5EF4-FFF2-40B4-BE49-F238E27FC236}">
                <a16:creationId xmlns:a16="http://schemas.microsoft.com/office/drawing/2014/main" id="{5D23D716-877E-016E-E143-CC4901C5238C}"/>
              </a:ext>
            </a:extLst>
          </p:cNvPr>
          <p:cNvSpPr txBox="1"/>
          <p:nvPr/>
        </p:nvSpPr>
        <p:spPr>
          <a:xfrm>
            <a:off x="4216196" y="1120315"/>
            <a:ext cx="7312210" cy="1815882"/>
          </a:xfrm>
          <a:prstGeom prst="rect">
            <a:avLst/>
          </a:prstGeom>
          <a:noFill/>
        </p:spPr>
        <p:txBody>
          <a:bodyPr wrap="square">
            <a:spAutoFit/>
          </a:bodyPr>
          <a:lstStyle/>
          <a:p>
            <a:pPr algn="just"/>
            <a:r>
              <a:rPr lang="tr-TR" sz="1400" dirty="0">
                <a:latin typeface="Arial" panose="020B0604020202020204" pitchFamily="34" charset="0"/>
                <a:cs typeface="Arial" panose="020B0604020202020204" pitchFamily="34" charset="0"/>
              </a:rPr>
              <a:t>	</a:t>
            </a:r>
            <a:r>
              <a:rPr lang="tr-TR" sz="1400" dirty="0" err="1">
                <a:latin typeface="Arial" panose="020B0604020202020204" pitchFamily="34" charset="0"/>
                <a:cs typeface="Arial" panose="020B0604020202020204" pitchFamily="34" charset="0"/>
              </a:rPr>
              <a:t>Deutsche</a:t>
            </a:r>
            <a:r>
              <a:rPr lang="tr-TR" sz="1400" dirty="0">
                <a:latin typeface="Arial" panose="020B0604020202020204" pitchFamily="34" charset="0"/>
                <a:cs typeface="Arial" panose="020B0604020202020204" pitchFamily="34" charset="0"/>
              </a:rPr>
              <a:t> Telekom’un iştiraki olan T-Mobile, 2020’li yıllarda birçok büyük çaplı siber saldırının hedefi olmuştur. Ağustos 2021’deki veri ihlali 76,6 milyon, Ocak 2023’teki saldırı ise 37 milyon müşteriyi etkilemiştir. Ayrıca 2022’de yönetim platformuna yetkisiz erişim sağlanmış, 2023’te bazı müşteri kimlik bilgileri çalınmıştır. ABD Federal İletişim Komisyonu (FCC), bu ihlallerin ardından 31,5 milyon dolarlık bir uzlaşma yapılmasını sağlamış,          T-</a:t>
            </a:r>
            <a:r>
              <a:rPr lang="tr-TR" sz="1400" dirty="0" err="1">
                <a:latin typeface="Arial" panose="020B0604020202020204" pitchFamily="34" charset="0"/>
                <a:cs typeface="Arial" panose="020B0604020202020204" pitchFamily="34" charset="0"/>
              </a:rPr>
              <a:t>Mobile’dan</a:t>
            </a:r>
            <a:r>
              <a:rPr lang="tr-TR" sz="1400" dirty="0">
                <a:latin typeface="Arial" panose="020B0604020202020204" pitchFamily="34" charset="0"/>
                <a:cs typeface="Arial" panose="020B0604020202020204" pitchFamily="34" charset="0"/>
              </a:rPr>
              <a:t> güvenlik programını güçlendirmesini istemiştir. Şirket, üç yıl içinde siber güvenlik altyapısını “sıfır güven mimarisi” ve çok faktörlü kimlik doğrulama prensipleriyle yeniden yapılandıracağını açıklamıştır.</a:t>
            </a:r>
          </a:p>
        </p:txBody>
      </p:sp>
    </p:spTree>
    <p:extLst>
      <p:ext uri="{BB962C8B-B14F-4D97-AF65-F5344CB8AC3E}">
        <p14:creationId xmlns:p14="http://schemas.microsoft.com/office/powerpoint/2010/main" val="22496897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2" name="Picture 1">
            <a:extLst>
              <a:ext uri="{FF2B5EF4-FFF2-40B4-BE49-F238E27FC236}">
                <a16:creationId xmlns:a16="http://schemas.microsoft.com/office/drawing/2014/main" id="{5F8B8C22-50D7-DB22-D123-2EEBA9F2D137}"/>
              </a:ext>
            </a:extLst>
          </p:cNvPr>
          <p:cNvPicPr>
            <a:picLocks noChangeAspect="1"/>
          </p:cNvPicPr>
          <p:nvPr/>
        </p:nvPicPr>
        <p:blipFill>
          <a:blip r:embed="rId2"/>
          <a:srcRect t="19"/>
          <a:stretch>
            <a:fillRect/>
          </a:stretch>
        </p:blipFill>
        <p:spPr>
          <a:xfrm>
            <a:off x="20" y="0"/>
            <a:ext cx="12191980" cy="6856718"/>
          </a:xfrm>
          <a:prstGeom prst="rect">
            <a:avLst/>
          </a:prstGeom>
        </p:spPr>
      </p:pic>
      <p:graphicFrame>
        <p:nvGraphicFramePr>
          <p:cNvPr id="9" name="Diagram 8">
            <a:extLst>
              <a:ext uri="{FF2B5EF4-FFF2-40B4-BE49-F238E27FC236}">
                <a16:creationId xmlns:a16="http://schemas.microsoft.com/office/drawing/2014/main" id="{9DC91802-FB86-DDAA-C0CD-CE376FD89985}"/>
              </a:ext>
            </a:extLst>
          </p:cNvPr>
          <p:cNvGraphicFramePr/>
          <p:nvPr>
            <p:extLst>
              <p:ext uri="{D42A27DB-BD31-4B8C-83A1-F6EECF244321}">
                <p14:modId xmlns:p14="http://schemas.microsoft.com/office/powerpoint/2010/main" val="1419891769"/>
              </p:ext>
            </p:extLst>
          </p:nvPr>
        </p:nvGraphicFramePr>
        <p:xfrm>
          <a:off x="135325" y="1504121"/>
          <a:ext cx="3750875" cy="344720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3" name="TextBox 12">
            <a:extLst>
              <a:ext uri="{FF2B5EF4-FFF2-40B4-BE49-F238E27FC236}">
                <a16:creationId xmlns:a16="http://schemas.microsoft.com/office/drawing/2014/main" id="{6EF44928-0A66-FAF3-9214-B8F6119EAC0D}"/>
              </a:ext>
            </a:extLst>
          </p:cNvPr>
          <p:cNvSpPr txBox="1"/>
          <p:nvPr/>
        </p:nvSpPr>
        <p:spPr>
          <a:xfrm>
            <a:off x="-122388" y="1516487"/>
            <a:ext cx="2467547" cy="523220"/>
          </a:xfrm>
          <a:prstGeom prst="rect">
            <a:avLst/>
          </a:prstGeom>
          <a:noFill/>
        </p:spPr>
        <p:txBody>
          <a:bodyPr wrap="square">
            <a:spAutoFit/>
          </a:bodyPr>
          <a:lstStyle/>
          <a:p>
            <a:pPr algn="ctr"/>
            <a:r>
              <a:rPr lang="tr-TR" sz="2800" dirty="0">
                <a:ln w="0"/>
                <a:effectLst>
                  <a:outerShdw blurRad="38100" dist="38100" dir="2700000" algn="tl">
                    <a:srgbClr val="000000">
                      <a:alpha val="43137"/>
                    </a:srgbClr>
                  </a:outerShdw>
                </a:effectLst>
                <a:latin typeface="Arial" panose="020B0604020202020204" pitchFamily="34" charset="0"/>
                <a:cs typeface="Arial" panose="020B0604020202020204" pitchFamily="34" charset="0"/>
              </a:rPr>
              <a:t>2023</a:t>
            </a:r>
            <a:endParaRPr lang="en-US" sz="2800" cap="none" spc="0" dirty="0">
              <a:ln w="0"/>
              <a:solidFill>
                <a:schemeClr val="tx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p:txBody>
      </p:sp>
      <p:sp>
        <p:nvSpPr>
          <p:cNvPr id="17" name="TextBox 16">
            <a:extLst>
              <a:ext uri="{FF2B5EF4-FFF2-40B4-BE49-F238E27FC236}">
                <a16:creationId xmlns:a16="http://schemas.microsoft.com/office/drawing/2014/main" id="{6EEF1E9A-5651-23BE-8984-C270B713740F}"/>
              </a:ext>
            </a:extLst>
          </p:cNvPr>
          <p:cNvSpPr txBox="1"/>
          <p:nvPr/>
        </p:nvSpPr>
        <p:spPr>
          <a:xfrm>
            <a:off x="-289115" y="3171612"/>
            <a:ext cx="2302270" cy="461665"/>
          </a:xfrm>
          <a:prstGeom prst="rect">
            <a:avLst/>
          </a:prstGeom>
          <a:noFill/>
        </p:spPr>
        <p:txBody>
          <a:bodyPr wrap="square">
            <a:spAutoFit/>
          </a:bodyPr>
          <a:lstStyle/>
          <a:p>
            <a:pPr algn="ctr"/>
            <a:endParaRPr lang="en-US" sz="2400" b="1" dirty="0"/>
          </a:p>
        </p:txBody>
      </p:sp>
      <p:sp>
        <p:nvSpPr>
          <p:cNvPr id="20" name="TextBox 19">
            <a:extLst>
              <a:ext uri="{FF2B5EF4-FFF2-40B4-BE49-F238E27FC236}">
                <a16:creationId xmlns:a16="http://schemas.microsoft.com/office/drawing/2014/main" id="{F7534AE2-AA84-4AC8-D4CD-86F5F1048EF7}"/>
              </a:ext>
            </a:extLst>
          </p:cNvPr>
          <p:cNvSpPr txBox="1"/>
          <p:nvPr/>
        </p:nvSpPr>
        <p:spPr>
          <a:xfrm>
            <a:off x="3964461" y="2028019"/>
            <a:ext cx="7278377" cy="1815882"/>
          </a:xfrm>
          <a:prstGeom prst="rect">
            <a:avLst/>
          </a:prstGeom>
          <a:noFill/>
        </p:spPr>
        <p:txBody>
          <a:bodyPr wrap="square">
            <a:spAutoFit/>
          </a:bodyPr>
          <a:lstStyle/>
          <a:p>
            <a:pPr algn="just"/>
            <a:r>
              <a:rPr lang="tr-TR" sz="1400" dirty="0">
                <a:latin typeface="Arial" panose="020B0604020202020204" pitchFamily="34" charset="0"/>
                <a:cs typeface="Arial" panose="020B0604020202020204" pitchFamily="34" charset="0"/>
              </a:rPr>
              <a:t>	2023 yılında, British </a:t>
            </a:r>
            <a:r>
              <a:rPr lang="tr-TR" sz="1400" dirty="0" err="1">
                <a:latin typeface="Arial" panose="020B0604020202020204" pitchFamily="34" charset="0"/>
                <a:cs typeface="Arial" panose="020B0604020202020204" pitchFamily="34" charset="0"/>
              </a:rPr>
              <a:t>Airways</a:t>
            </a:r>
            <a:r>
              <a:rPr lang="tr-TR" sz="1400" dirty="0">
                <a:latin typeface="Arial" panose="020B0604020202020204" pitchFamily="34" charset="0"/>
                <a:cs typeface="Arial" panose="020B0604020202020204" pitchFamily="34" charset="0"/>
              </a:rPr>
              <a:t>, BBC ve diğer birçok kurumun bordro verilerini işleyen üçüncü taraf hizmet sağlayıcısı </a:t>
            </a:r>
            <a:r>
              <a:rPr lang="tr-TR" sz="1400" dirty="0" err="1">
                <a:latin typeface="Arial" panose="020B0604020202020204" pitchFamily="34" charset="0"/>
                <a:cs typeface="Arial" panose="020B0604020202020204" pitchFamily="34" charset="0"/>
              </a:rPr>
              <a:t>Zellis’in</a:t>
            </a:r>
            <a:r>
              <a:rPr lang="tr-TR" sz="1400" dirty="0">
                <a:latin typeface="Arial" panose="020B0604020202020204" pitchFamily="34" charset="0"/>
                <a:cs typeface="Arial" panose="020B0604020202020204" pitchFamily="34" charset="0"/>
              </a:rPr>
              <a:t> kullandığı </a:t>
            </a:r>
            <a:r>
              <a:rPr lang="tr-TR" sz="1400" dirty="0" err="1">
                <a:latin typeface="Arial" panose="020B0604020202020204" pitchFamily="34" charset="0"/>
                <a:cs typeface="Arial" panose="020B0604020202020204" pitchFamily="34" charset="0"/>
              </a:rPr>
              <a:t>MOVEit</a:t>
            </a:r>
            <a:r>
              <a:rPr lang="tr-TR" sz="1400" dirty="0">
                <a:latin typeface="Arial" panose="020B0604020202020204" pitchFamily="34" charset="0"/>
                <a:cs typeface="Arial" panose="020B0604020202020204" pitchFamily="34" charset="0"/>
              </a:rPr>
              <a:t> Transfer yazılımındaki güvenlik açığı, büyük çaplı bir veri ihlaline yol açmıştır. Olay, Rusya merkezli </a:t>
            </a:r>
            <a:r>
              <a:rPr lang="tr-TR" sz="1400" dirty="0" err="1">
                <a:latin typeface="Arial" panose="020B0604020202020204" pitchFamily="34" charset="0"/>
                <a:cs typeface="Arial" panose="020B0604020202020204" pitchFamily="34" charset="0"/>
              </a:rPr>
              <a:t>Clop</a:t>
            </a:r>
            <a:r>
              <a:rPr lang="tr-TR" sz="1400" dirty="0">
                <a:latin typeface="Arial" panose="020B0604020202020204" pitchFamily="34" charset="0"/>
                <a:cs typeface="Arial" panose="020B0604020202020204" pitchFamily="34" charset="0"/>
              </a:rPr>
              <a:t> fidye yazılımı grubu tarafından gerçekleştirilmiştir. Saldırı sonucunda, 100.000’den fazla çalışanın maaş, kimlik ve iletişim bilgilerinin çalınmış olabileceği belirlenmiştir. </a:t>
            </a:r>
            <a:r>
              <a:rPr lang="tr-TR" sz="1400" dirty="0" err="1">
                <a:latin typeface="Arial" panose="020B0604020202020204" pitchFamily="34" charset="0"/>
                <a:cs typeface="Arial" panose="020B0604020202020204" pitchFamily="34" charset="0"/>
              </a:rPr>
              <a:t>Clop</a:t>
            </a:r>
            <a:r>
              <a:rPr lang="tr-TR" sz="1400" dirty="0">
                <a:latin typeface="Arial" panose="020B0604020202020204" pitchFamily="34" charset="0"/>
                <a:cs typeface="Arial" panose="020B0604020202020204" pitchFamily="34" charset="0"/>
              </a:rPr>
              <a:t> grubu, 14 Haziran’a kadar fidye taleplerine yanıt verilmemesi halinde verileri sızdırma tehdidinde bulunmuştur. Bu olay, tedarik zinciri güvenliğinin zayıflıklarını ve dolaylı siber risklerin boyutunu göstermiştir.</a:t>
            </a:r>
          </a:p>
        </p:txBody>
      </p:sp>
    </p:spTree>
    <p:extLst>
      <p:ext uri="{BB962C8B-B14F-4D97-AF65-F5344CB8AC3E}">
        <p14:creationId xmlns:p14="http://schemas.microsoft.com/office/powerpoint/2010/main" val="4780308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765E39C-0D3C-CDCA-AC34-351EED5F37EC}"/>
              </a:ext>
            </a:extLst>
          </p:cNvPr>
          <p:cNvPicPr>
            <a:picLocks noChangeAspect="1"/>
          </p:cNvPicPr>
          <p:nvPr/>
        </p:nvPicPr>
        <p:blipFill>
          <a:blip r:embed="rId2"/>
          <a:srcRect t="19"/>
          <a:stretch>
            <a:fillRect/>
          </a:stretch>
        </p:blipFill>
        <p:spPr>
          <a:xfrm>
            <a:off x="0" y="1282"/>
            <a:ext cx="12191980" cy="6856718"/>
          </a:xfrm>
          <a:prstGeom prst="rect">
            <a:avLst/>
          </a:prstGeom>
        </p:spPr>
      </p:pic>
      <p:graphicFrame>
        <p:nvGraphicFramePr>
          <p:cNvPr id="3" name="Diagram 2">
            <a:extLst>
              <a:ext uri="{FF2B5EF4-FFF2-40B4-BE49-F238E27FC236}">
                <a16:creationId xmlns:a16="http://schemas.microsoft.com/office/drawing/2014/main" id="{DAD05E63-2534-E93E-D11B-7604CAC5DD89}"/>
              </a:ext>
            </a:extLst>
          </p:cNvPr>
          <p:cNvGraphicFramePr/>
          <p:nvPr>
            <p:extLst>
              <p:ext uri="{D42A27DB-BD31-4B8C-83A1-F6EECF244321}">
                <p14:modId xmlns:p14="http://schemas.microsoft.com/office/powerpoint/2010/main" val="931321440"/>
              </p:ext>
            </p:extLst>
          </p:nvPr>
        </p:nvGraphicFramePr>
        <p:xfrm>
          <a:off x="149037" y="-118772"/>
          <a:ext cx="3943640" cy="691856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TextBox 4">
            <a:extLst>
              <a:ext uri="{FF2B5EF4-FFF2-40B4-BE49-F238E27FC236}">
                <a16:creationId xmlns:a16="http://schemas.microsoft.com/office/drawing/2014/main" id="{41603355-5DE1-C865-08E5-D9AAB30FCE42}"/>
              </a:ext>
            </a:extLst>
          </p:cNvPr>
          <p:cNvSpPr txBox="1"/>
          <p:nvPr/>
        </p:nvSpPr>
        <p:spPr>
          <a:xfrm>
            <a:off x="-412184" y="504434"/>
            <a:ext cx="3089787" cy="523220"/>
          </a:xfrm>
          <a:prstGeom prst="rect">
            <a:avLst/>
          </a:prstGeom>
          <a:noFill/>
        </p:spPr>
        <p:txBody>
          <a:bodyPr wrap="square">
            <a:spAutoFit/>
          </a:bodyPr>
          <a:lstStyle/>
          <a:p>
            <a:pPr algn="ctr"/>
            <a:r>
              <a:rPr lang="tr-TR" sz="2800" dirty="0">
                <a:ln w="0"/>
                <a:effectLst>
                  <a:outerShdw blurRad="38100" dist="38100" dir="2700000" algn="tl">
                    <a:srgbClr val="000000">
                      <a:alpha val="43137"/>
                    </a:srgbClr>
                  </a:outerShdw>
                </a:effectLst>
                <a:latin typeface="Arial" panose="020B0604020202020204" pitchFamily="34" charset="0"/>
                <a:cs typeface="Arial" panose="020B0604020202020204" pitchFamily="34" charset="0"/>
              </a:rPr>
              <a:t>2024</a:t>
            </a:r>
            <a:endParaRPr lang="en-US" sz="2800" dirty="0">
              <a:effectLst>
                <a:outerShdw blurRad="38100" dist="38100" dir="2700000" algn="tl">
                  <a:srgbClr val="000000">
                    <a:alpha val="43137"/>
                  </a:srgbClr>
                </a:outerShdw>
              </a:effectLst>
            </a:endParaRPr>
          </a:p>
        </p:txBody>
      </p:sp>
      <p:sp>
        <p:nvSpPr>
          <p:cNvPr id="7" name="TextBox 6">
            <a:extLst>
              <a:ext uri="{FF2B5EF4-FFF2-40B4-BE49-F238E27FC236}">
                <a16:creationId xmlns:a16="http://schemas.microsoft.com/office/drawing/2014/main" id="{4E078202-30B2-32A5-B061-5AD50F87D36C}"/>
              </a:ext>
            </a:extLst>
          </p:cNvPr>
          <p:cNvSpPr txBox="1"/>
          <p:nvPr/>
        </p:nvSpPr>
        <p:spPr>
          <a:xfrm>
            <a:off x="4190093" y="806988"/>
            <a:ext cx="7394763" cy="1877437"/>
          </a:xfrm>
          <a:prstGeom prst="rect">
            <a:avLst/>
          </a:prstGeom>
          <a:noFill/>
        </p:spPr>
        <p:txBody>
          <a:bodyPr wrap="square">
            <a:spAutoFit/>
          </a:bodyPr>
          <a:lstStyle/>
          <a:p>
            <a:pPr algn="just"/>
            <a:r>
              <a:rPr lang="tr-TR" sz="1400" dirty="0">
                <a:latin typeface="Arial" panose="020B0604020202020204" pitchFamily="34" charset="0"/>
                <a:cs typeface="Arial" panose="020B0604020202020204" pitchFamily="34" charset="0"/>
              </a:rPr>
              <a:t>	30 Mayıs 2024’te, </a:t>
            </a:r>
            <a:r>
              <a:rPr lang="tr-TR" sz="1400" dirty="0" err="1">
                <a:latin typeface="Arial" panose="020B0604020202020204" pitchFamily="34" charset="0"/>
                <a:cs typeface="Arial" panose="020B0604020202020204" pitchFamily="34" charset="0"/>
              </a:rPr>
              <a:t>ShinyHunters</a:t>
            </a:r>
            <a:r>
              <a:rPr lang="tr-TR" sz="1400" dirty="0">
                <a:latin typeface="Arial" panose="020B0604020202020204" pitchFamily="34" charset="0"/>
                <a:cs typeface="Arial" panose="020B0604020202020204" pitchFamily="34" charset="0"/>
              </a:rPr>
              <a:t> adlı hacker grubu, İspanya’nın en büyük bankası </a:t>
            </a:r>
            <a:r>
              <a:rPr lang="tr-TR" sz="1400" dirty="0" err="1">
                <a:latin typeface="Arial" panose="020B0604020202020204" pitchFamily="34" charset="0"/>
                <a:cs typeface="Arial" panose="020B0604020202020204" pitchFamily="34" charset="0"/>
              </a:rPr>
              <a:t>Santander’i</a:t>
            </a:r>
            <a:r>
              <a:rPr lang="tr-TR" sz="1400" dirty="0">
                <a:latin typeface="Arial" panose="020B0604020202020204" pitchFamily="34" charset="0"/>
                <a:cs typeface="Arial" panose="020B0604020202020204" pitchFamily="34" charset="0"/>
              </a:rPr>
              <a:t> hedef alan büyük bir siber saldırı düzenlemiştir. Saldırı sonucunda İspanya, Şili ve Uruguay’daki 30 milyon müşteri ile tüm mevcut ve eski çalışanlara ait kişisel veriler ele geçirilmiştir. Grup, çalınan verileri karanlık ağda 2 milyon dolar karşılığında satışa çıkarmıştır. </a:t>
            </a:r>
            <a:r>
              <a:rPr lang="tr-TR" sz="1400" dirty="0" err="1">
                <a:latin typeface="Arial" panose="020B0604020202020204" pitchFamily="34" charset="0"/>
                <a:cs typeface="Arial" panose="020B0604020202020204" pitchFamily="34" charset="0"/>
              </a:rPr>
              <a:t>Santander</a:t>
            </a:r>
            <a:r>
              <a:rPr lang="tr-TR" sz="1400" dirty="0">
                <a:latin typeface="Arial" panose="020B0604020202020204" pitchFamily="34" charset="0"/>
                <a:cs typeface="Arial" panose="020B0604020202020204" pitchFamily="34" charset="0"/>
              </a:rPr>
              <a:t>, saldırıyı doğrulayarak etkilenen müşterilerle iletişime geçtiğini ve güvenlik önlemlerini güçlendirdiğini açıklamıştır. Bu olay, finans sektöründe bölgesel saldırıların küresel etkilere dönüşebileceğini gösteren önemli bir örnek olarak değerlendirilmiştir</a:t>
            </a:r>
            <a:r>
              <a:rPr lang="tr-TR" dirty="0"/>
              <a:t>.</a:t>
            </a:r>
          </a:p>
        </p:txBody>
      </p:sp>
      <p:sp>
        <p:nvSpPr>
          <p:cNvPr id="9" name="TextBox 8">
            <a:extLst>
              <a:ext uri="{FF2B5EF4-FFF2-40B4-BE49-F238E27FC236}">
                <a16:creationId xmlns:a16="http://schemas.microsoft.com/office/drawing/2014/main" id="{EDA12229-DD03-1378-F2B5-C1BB98ABE9E9}"/>
              </a:ext>
            </a:extLst>
          </p:cNvPr>
          <p:cNvSpPr txBox="1"/>
          <p:nvPr/>
        </p:nvSpPr>
        <p:spPr>
          <a:xfrm>
            <a:off x="4241714" y="3241643"/>
            <a:ext cx="7343142" cy="1815882"/>
          </a:xfrm>
          <a:prstGeom prst="rect">
            <a:avLst/>
          </a:prstGeom>
          <a:noFill/>
        </p:spPr>
        <p:txBody>
          <a:bodyPr wrap="square">
            <a:spAutoFit/>
          </a:bodyPr>
          <a:lstStyle/>
          <a:p>
            <a:pPr algn="just">
              <a:buNone/>
            </a:pPr>
            <a:r>
              <a:rPr lang="tr-TR" sz="1400" dirty="0">
                <a:latin typeface="Arial" panose="020B0604020202020204" pitchFamily="34" charset="0"/>
                <a:cs typeface="Arial" panose="020B0604020202020204" pitchFamily="34" charset="0"/>
              </a:rPr>
              <a:t>	8 Haziran 2024 tarihinde, Japonya merkezli </a:t>
            </a:r>
            <a:r>
              <a:rPr lang="tr-TR" sz="1400" dirty="0" err="1">
                <a:latin typeface="Arial" panose="020B0604020202020204" pitchFamily="34" charset="0"/>
                <a:cs typeface="Arial" panose="020B0604020202020204" pitchFamily="34" charset="0"/>
              </a:rPr>
              <a:t>Kadokawa</a:t>
            </a:r>
            <a:r>
              <a:rPr lang="tr-TR" sz="1400" dirty="0">
                <a:latin typeface="Arial" panose="020B0604020202020204" pitchFamily="34" charset="0"/>
                <a:cs typeface="Arial" panose="020B0604020202020204" pitchFamily="34" charset="0"/>
              </a:rPr>
              <a:t> Corporation ve bağlı dijital platformu </a:t>
            </a:r>
            <a:r>
              <a:rPr lang="tr-TR" sz="1400" dirty="0" err="1">
                <a:latin typeface="Arial" panose="020B0604020202020204" pitchFamily="34" charset="0"/>
                <a:cs typeface="Arial" panose="020B0604020202020204" pitchFamily="34" charset="0"/>
              </a:rPr>
              <a:t>Niconico</a:t>
            </a:r>
            <a:r>
              <a:rPr lang="tr-TR" sz="1400" dirty="0">
                <a:latin typeface="Arial" panose="020B0604020202020204" pitchFamily="34" charset="0"/>
                <a:cs typeface="Arial" panose="020B0604020202020204" pitchFamily="34" charset="0"/>
              </a:rPr>
              <a:t>, Rusya bağlantılı </a:t>
            </a:r>
            <a:r>
              <a:rPr lang="tr-TR" sz="1400" dirty="0" err="1">
                <a:latin typeface="Arial" panose="020B0604020202020204" pitchFamily="34" charset="0"/>
                <a:cs typeface="Arial" panose="020B0604020202020204" pitchFamily="34" charset="0"/>
              </a:rPr>
              <a:t>BlackSuit</a:t>
            </a:r>
            <a:r>
              <a:rPr lang="tr-TR" sz="1400" dirty="0">
                <a:latin typeface="Arial" panose="020B0604020202020204" pitchFamily="34" charset="0"/>
                <a:cs typeface="Arial" panose="020B0604020202020204" pitchFamily="34" charset="0"/>
              </a:rPr>
              <a:t> adlı tehdit aktörü tarafından gerçekleştirilen sofistike bir fidye yazılımı saldırısının hedefi olmuştur. </a:t>
            </a:r>
            <a:r>
              <a:rPr lang="tr-TR" sz="1400" dirty="0" err="1">
                <a:latin typeface="Arial" panose="020B0604020202020204" pitchFamily="34" charset="0"/>
                <a:cs typeface="Arial" panose="020B0604020202020204" pitchFamily="34" charset="0"/>
              </a:rPr>
              <a:t>LockBit</a:t>
            </a:r>
            <a:r>
              <a:rPr lang="tr-TR" sz="1400" dirty="0">
                <a:latin typeface="Arial" panose="020B0604020202020204" pitchFamily="34" charset="0"/>
                <a:cs typeface="Arial" panose="020B0604020202020204" pitchFamily="34" charset="0"/>
              </a:rPr>
              <a:t> fidye yazılımının bir türeviyle gerçekleştirilen saldırı sonucunda, kimlik avı yöntemiyle sistemlere yetkisiz erişim sağlanmış ve 254.000’den fazla kullanıcının kişisel verileri ihlal edilmiştir. Saldırganlar, fidye taleplerinin karşılanmaması halinde 1,5 terabayt veriyi ifşa edeceklerini bildirmiştir. Olay, </a:t>
            </a:r>
            <a:r>
              <a:rPr lang="tr-TR" sz="1400" dirty="0" err="1">
                <a:latin typeface="Arial" panose="020B0604020202020204" pitchFamily="34" charset="0"/>
                <a:cs typeface="Arial" panose="020B0604020202020204" pitchFamily="34" charset="0"/>
              </a:rPr>
              <a:t>Kadokawa’nın</a:t>
            </a:r>
            <a:r>
              <a:rPr lang="tr-TR" sz="1400" dirty="0">
                <a:latin typeface="Arial" panose="020B0604020202020204" pitchFamily="34" charset="0"/>
                <a:cs typeface="Arial" panose="020B0604020202020204" pitchFamily="34" charset="0"/>
              </a:rPr>
              <a:t> yayıncılık operasyonlarını sekteye uğratmış, ciddi ekonomik kayıplara yol açmış ve Japonya’nın siber güvenlik altyapısındaki yapısal zafiyetleri açığa çıkarmıştır.</a:t>
            </a:r>
          </a:p>
        </p:txBody>
      </p:sp>
    </p:spTree>
    <p:extLst>
      <p:ext uri="{BB962C8B-B14F-4D97-AF65-F5344CB8AC3E}">
        <p14:creationId xmlns:p14="http://schemas.microsoft.com/office/powerpoint/2010/main" val="35115149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AB8721B-52F9-5825-3DC7-EE5F842FF08F}"/>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2" name="Picture 1">
            <a:extLst>
              <a:ext uri="{FF2B5EF4-FFF2-40B4-BE49-F238E27FC236}">
                <a16:creationId xmlns:a16="http://schemas.microsoft.com/office/drawing/2014/main" id="{7DE7D495-CC6D-831C-F74A-6E40D6470DBE}"/>
              </a:ext>
            </a:extLst>
          </p:cNvPr>
          <p:cNvPicPr>
            <a:picLocks noChangeAspect="1"/>
          </p:cNvPicPr>
          <p:nvPr/>
        </p:nvPicPr>
        <p:blipFill>
          <a:blip r:embed="rId2"/>
          <a:srcRect t="19"/>
          <a:stretch>
            <a:fillRect/>
          </a:stretch>
        </p:blipFill>
        <p:spPr>
          <a:xfrm>
            <a:off x="20" y="1282"/>
            <a:ext cx="12191980" cy="6856718"/>
          </a:xfrm>
          <a:prstGeom prst="rect">
            <a:avLst/>
          </a:prstGeom>
        </p:spPr>
      </p:pic>
      <p:sp>
        <p:nvSpPr>
          <p:cNvPr id="5" name="TextBox 4">
            <a:extLst>
              <a:ext uri="{FF2B5EF4-FFF2-40B4-BE49-F238E27FC236}">
                <a16:creationId xmlns:a16="http://schemas.microsoft.com/office/drawing/2014/main" id="{CEE65236-4D3A-A629-04A1-F8B018198B54}"/>
              </a:ext>
            </a:extLst>
          </p:cNvPr>
          <p:cNvSpPr txBox="1"/>
          <p:nvPr/>
        </p:nvSpPr>
        <p:spPr>
          <a:xfrm>
            <a:off x="-305485" y="751037"/>
            <a:ext cx="3048000" cy="523220"/>
          </a:xfrm>
          <a:prstGeom prst="rect">
            <a:avLst/>
          </a:prstGeom>
          <a:noFill/>
        </p:spPr>
        <p:txBody>
          <a:bodyPr wrap="square">
            <a:spAutoFit/>
          </a:bodyPr>
          <a:lstStyle/>
          <a:p>
            <a:pPr algn="ctr"/>
            <a:r>
              <a:rPr lang="tr-TR" sz="2800" dirty="0">
                <a:ln w="0"/>
                <a:effectLst>
                  <a:outerShdw blurRad="38100" dist="38100" dir="2700000" algn="tl">
                    <a:srgbClr val="000000">
                      <a:alpha val="43137"/>
                    </a:srgbClr>
                  </a:outerShdw>
                </a:effectLst>
                <a:latin typeface="Arial" panose="020B0604020202020204" pitchFamily="34" charset="0"/>
                <a:cs typeface="Arial" panose="020B0604020202020204" pitchFamily="34" charset="0"/>
              </a:rPr>
              <a:t>2025</a:t>
            </a:r>
            <a:endParaRPr lang="en-US" sz="2800" cap="none" spc="0" dirty="0">
              <a:ln w="0"/>
              <a:solidFill>
                <a:schemeClr val="tx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p:txBody>
      </p:sp>
      <p:graphicFrame>
        <p:nvGraphicFramePr>
          <p:cNvPr id="4" name="Diagram 3">
            <a:extLst>
              <a:ext uri="{FF2B5EF4-FFF2-40B4-BE49-F238E27FC236}">
                <a16:creationId xmlns:a16="http://schemas.microsoft.com/office/drawing/2014/main" id="{75EEC5C0-C61C-FDC4-D025-C91B8110ACDE}"/>
              </a:ext>
            </a:extLst>
          </p:cNvPr>
          <p:cNvGraphicFramePr/>
          <p:nvPr>
            <p:extLst>
              <p:ext uri="{D42A27DB-BD31-4B8C-83A1-F6EECF244321}">
                <p14:modId xmlns:p14="http://schemas.microsoft.com/office/powerpoint/2010/main" val="3453369759"/>
              </p:ext>
            </p:extLst>
          </p:nvPr>
        </p:nvGraphicFramePr>
        <p:xfrm>
          <a:off x="280241" y="116416"/>
          <a:ext cx="3578395" cy="674158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TextBox 7">
            <a:extLst>
              <a:ext uri="{FF2B5EF4-FFF2-40B4-BE49-F238E27FC236}">
                <a16:creationId xmlns:a16="http://schemas.microsoft.com/office/drawing/2014/main" id="{860A8098-98CC-73C6-C895-55F2FBB5420A}"/>
              </a:ext>
            </a:extLst>
          </p:cNvPr>
          <p:cNvSpPr txBox="1"/>
          <p:nvPr/>
        </p:nvSpPr>
        <p:spPr>
          <a:xfrm>
            <a:off x="4133419" y="3579163"/>
            <a:ext cx="7154812" cy="1815882"/>
          </a:xfrm>
          <a:prstGeom prst="rect">
            <a:avLst/>
          </a:prstGeom>
          <a:noFill/>
        </p:spPr>
        <p:txBody>
          <a:bodyPr wrap="square">
            <a:spAutoFit/>
          </a:bodyPr>
          <a:lstStyle/>
          <a:p>
            <a:pPr algn="just"/>
            <a:r>
              <a:rPr lang="tr-TR" sz="1400" dirty="0">
                <a:latin typeface="Arial" panose="020B0604020202020204" pitchFamily="34" charset="0"/>
                <a:cs typeface="Arial" panose="020B0604020202020204" pitchFamily="34" charset="0"/>
              </a:rPr>
              <a:t>	2025 yılı başlarında </a:t>
            </a:r>
            <a:r>
              <a:rPr lang="tr-TR" sz="1400" dirty="0" err="1">
                <a:latin typeface="Arial" panose="020B0604020202020204" pitchFamily="34" charset="0"/>
                <a:cs typeface="Arial" panose="020B0604020202020204" pitchFamily="34" charset="0"/>
              </a:rPr>
              <a:t>Cybernews</a:t>
            </a:r>
            <a:r>
              <a:rPr lang="tr-TR" sz="1400" dirty="0">
                <a:latin typeface="Arial" panose="020B0604020202020204" pitchFamily="34" charset="0"/>
                <a:cs typeface="Arial" panose="020B0604020202020204" pitchFamily="34" charset="0"/>
              </a:rPr>
              <a:t> araştırmacıları, internette kısa süreliğine açık kalan 30 ayrı veri kümesinde toplamda 16 milyar oturum açma kaydı bulunduğunu tespit etmiştir. Bu kayıtların büyük bölümü, “</a:t>
            </a:r>
            <a:r>
              <a:rPr lang="tr-TR" sz="1400" dirty="0" err="1">
                <a:latin typeface="Arial" panose="020B0604020202020204" pitchFamily="34" charset="0"/>
                <a:cs typeface="Arial" panose="020B0604020202020204" pitchFamily="34" charset="0"/>
              </a:rPr>
              <a:t>infostealer</a:t>
            </a:r>
            <a:r>
              <a:rPr lang="tr-TR" sz="1400" dirty="0">
                <a:latin typeface="Arial" panose="020B0604020202020204" pitchFamily="34" charset="0"/>
                <a:cs typeface="Arial" panose="020B0604020202020204" pitchFamily="34" charset="0"/>
              </a:rPr>
              <a:t>” olarak bilinen kötü amaçlı yazılımlar aracılığıyla çalınan kimlik bilgilerinden oluşmaktadır. Araştırmada Apple, Google ve Meta platformlarına ait erişim URL’leri yer almasına karşın, bu şirketlerde merkezi bir ihlal saptanmamıştır. Bulgular, siber suçluların erişebileceği veri hacminin boyutunu ve şifre güvenliği ile çok faktörlü kimlik doğrulama gibi önleyici uygulamaların önemini vurgulamıştır. Verilerin %85’i bilgi hırsızlarından kaynaklanmıştır.</a:t>
            </a:r>
          </a:p>
        </p:txBody>
      </p:sp>
      <p:sp>
        <p:nvSpPr>
          <p:cNvPr id="14" name="TextBox 13">
            <a:extLst>
              <a:ext uri="{FF2B5EF4-FFF2-40B4-BE49-F238E27FC236}">
                <a16:creationId xmlns:a16="http://schemas.microsoft.com/office/drawing/2014/main" id="{683F1294-2BA2-718A-CA12-BD79D41AE462}"/>
              </a:ext>
            </a:extLst>
          </p:cNvPr>
          <p:cNvSpPr txBox="1"/>
          <p:nvPr/>
        </p:nvSpPr>
        <p:spPr>
          <a:xfrm>
            <a:off x="4017092" y="1269633"/>
            <a:ext cx="7545643" cy="1815882"/>
          </a:xfrm>
          <a:prstGeom prst="rect">
            <a:avLst/>
          </a:prstGeom>
          <a:noFill/>
        </p:spPr>
        <p:txBody>
          <a:bodyPr wrap="square">
            <a:spAutoFit/>
          </a:bodyPr>
          <a:lstStyle/>
          <a:p>
            <a:pPr algn="just"/>
            <a:r>
              <a:rPr lang="tr-TR" sz="1400" dirty="0">
                <a:latin typeface="Arial" panose="020B0604020202020204" pitchFamily="34" charset="0"/>
                <a:cs typeface="Arial" panose="020B0604020202020204" pitchFamily="34" charset="0"/>
              </a:rPr>
              <a:t>	 2024 yılında bulut tabanlı veri ambarı hizmeti sağlayıcısı </a:t>
            </a:r>
            <a:r>
              <a:rPr lang="tr-TR" sz="1400" dirty="0" err="1">
                <a:latin typeface="Arial" panose="020B0604020202020204" pitchFamily="34" charset="0"/>
                <a:cs typeface="Arial" panose="020B0604020202020204" pitchFamily="34" charset="0"/>
              </a:rPr>
              <a:t>Snowflake</a:t>
            </a:r>
            <a:r>
              <a:rPr lang="tr-TR" sz="1400" dirty="0">
                <a:latin typeface="Arial" panose="020B0604020202020204" pitchFamily="34" charset="0"/>
                <a:cs typeface="Arial" panose="020B0604020202020204" pitchFamily="34" charset="0"/>
              </a:rPr>
              <a:t> </a:t>
            </a:r>
            <a:r>
              <a:rPr lang="tr-TR" sz="1400" dirty="0" err="1">
                <a:latin typeface="Arial" panose="020B0604020202020204" pitchFamily="34" charset="0"/>
                <a:cs typeface="Arial" panose="020B0604020202020204" pitchFamily="34" charset="0"/>
              </a:rPr>
              <a:t>Inc</a:t>
            </a:r>
            <a:r>
              <a:rPr lang="tr-TR" sz="1400" dirty="0">
                <a:latin typeface="Arial" panose="020B0604020202020204" pitchFamily="34" charset="0"/>
                <a:cs typeface="Arial" panose="020B0604020202020204" pitchFamily="34" charset="0"/>
              </a:rPr>
              <a:t>., müşterilerine ait bulut ortamlarında geniş kapsamlı bir yetkisiz erişim olayı yaşamıştır. UNC5537 (diğer adıyla </a:t>
            </a:r>
            <a:r>
              <a:rPr lang="tr-TR" sz="1400" dirty="0" err="1">
                <a:latin typeface="Arial" panose="020B0604020202020204" pitchFamily="34" charset="0"/>
                <a:cs typeface="Arial" panose="020B0604020202020204" pitchFamily="34" charset="0"/>
              </a:rPr>
              <a:t>Scattered</a:t>
            </a:r>
            <a:r>
              <a:rPr lang="tr-TR" sz="1400" dirty="0">
                <a:latin typeface="Arial" panose="020B0604020202020204" pitchFamily="34" charset="0"/>
                <a:cs typeface="Arial" panose="020B0604020202020204" pitchFamily="34" charset="0"/>
              </a:rPr>
              <a:t> </a:t>
            </a:r>
            <a:r>
              <a:rPr lang="tr-TR" sz="1400" dirty="0" err="1">
                <a:latin typeface="Arial" panose="020B0604020202020204" pitchFamily="34" charset="0"/>
                <a:cs typeface="Arial" panose="020B0604020202020204" pitchFamily="34" charset="0"/>
              </a:rPr>
              <a:t>Spider</a:t>
            </a:r>
            <a:r>
              <a:rPr lang="tr-TR" sz="1400" dirty="0">
                <a:latin typeface="Arial" panose="020B0604020202020204" pitchFamily="34" charset="0"/>
                <a:cs typeface="Arial" panose="020B0604020202020204" pitchFamily="34" charset="0"/>
              </a:rPr>
              <a:t> veya </a:t>
            </a:r>
            <a:r>
              <a:rPr lang="tr-TR" sz="1400" dirty="0" err="1">
                <a:latin typeface="Arial" panose="020B0604020202020204" pitchFamily="34" charset="0"/>
                <a:cs typeface="Arial" panose="020B0604020202020204" pitchFamily="34" charset="0"/>
              </a:rPr>
              <a:t>ShinyHunters</a:t>
            </a:r>
            <a:r>
              <a:rPr lang="tr-TR" sz="1400" dirty="0">
                <a:latin typeface="Arial" panose="020B0604020202020204" pitchFamily="34" charset="0"/>
                <a:cs typeface="Arial" panose="020B0604020202020204" pitchFamily="34" charset="0"/>
              </a:rPr>
              <a:t>) adlı tehdit aktörleri, </a:t>
            </a:r>
            <a:r>
              <a:rPr lang="tr-TR" sz="1400" dirty="0" err="1">
                <a:latin typeface="Arial" panose="020B0604020202020204" pitchFamily="34" charset="0"/>
                <a:cs typeface="Arial" panose="020B0604020202020204" pitchFamily="34" charset="0"/>
              </a:rPr>
              <a:t>infostealer</a:t>
            </a:r>
            <a:r>
              <a:rPr lang="tr-TR" sz="1400" dirty="0">
                <a:latin typeface="Arial" panose="020B0604020202020204" pitchFamily="34" charset="0"/>
                <a:cs typeface="Arial" panose="020B0604020202020204" pitchFamily="34" charset="0"/>
              </a:rPr>
              <a:t> yazılımlar aracılığıyla ele geçirilen kimlik bilgilerini kullanarak, çok faktörlü kimlik doğrulama eksikliğinden yararlanmıştır. Bu ihlal sonucunda 160’tan fazla kuruluşun verileri sızdırılmış, aralarında AT&amp;T, </a:t>
            </a:r>
            <a:r>
              <a:rPr lang="tr-TR" sz="1400" dirty="0" err="1">
                <a:latin typeface="Arial" panose="020B0604020202020204" pitchFamily="34" charset="0"/>
                <a:cs typeface="Arial" panose="020B0604020202020204" pitchFamily="34" charset="0"/>
              </a:rPr>
              <a:t>Ticketmaster</a:t>
            </a:r>
            <a:r>
              <a:rPr lang="tr-TR" sz="1400" dirty="0">
                <a:latin typeface="Arial" panose="020B0604020202020204" pitchFamily="34" charset="0"/>
                <a:cs typeface="Arial" panose="020B0604020202020204" pitchFamily="34" charset="0"/>
              </a:rPr>
              <a:t> ve </a:t>
            </a:r>
            <a:r>
              <a:rPr lang="tr-TR" sz="1400" dirty="0" err="1">
                <a:latin typeface="Arial" panose="020B0604020202020204" pitchFamily="34" charset="0"/>
                <a:cs typeface="Arial" panose="020B0604020202020204" pitchFamily="34" charset="0"/>
              </a:rPr>
              <a:t>Santander</a:t>
            </a:r>
            <a:r>
              <a:rPr lang="tr-TR" sz="1400" dirty="0">
                <a:latin typeface="Arial" panose="020B0604020202020204" pitchFamily="34" charset="0"/>
                <a:cs typeface="Arial" panose="020B0604020202020204" pitchFamily="34" charset="0"/>
              </a:rPr>
              <a:t> gibi kurumlar yer almıştır. 2025 yılı boyunca, olayın etkileri, soruşturmalar ve geç bildirimler nedeniyle gündemde kalmış; kimlik ve erişim yönetimi zafiyetlerinin kritik önemi bir kez daha vurgulanmıştır.</a:t>
            </a:r>
          </a:p>
        </p:txBody>
      </p:sp>
    </p:spTree>
    <p:extLst>
      <p:ext uri="{BB962C8B-B14F-4D97-AF65-F5344CB8AC3E}">
        <p14:creationId xmlns:p14="http://schemas.microsoft.com/office/powerpoint/2010/main" val="2591472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6D4A103-EBF6-1F77-FB1B-BA00C8B3B6F5}"/>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2" name="Picture 1">
            <a:extLst>
              <a:ext uri="{FF2B5EF4-FFF2-40B4-BE49-F238E27FC236}">
                <a16:creationId xmlns:a16="http://schemas.microsoft.com/office/drawing/2014/main" id="{79E619B3-1DD1-63A1-EF7F-505476F4F80B}"/>
              </a:ext>
            </a:extLst>
          </p:cNvPr>
          <p:cNvPicPr>
            <a:picLocks noChangeAspect="1"/>
          </p:cNvPicPr>
          <p:nvPr/>
        </p:nvPicPr>
        <p:blipFill>
          <a:blip r:embed="rId2"/>
          <a:srcRect t="19"/>
          <a:stretch>
            <a:fillRect/>
          </a:stretch>
        </p:blipFill>
        <p:spPr>
          <a:xfrm>
            <a:off x="20108" y="-1"/>
            <a:ext cx="12188952" cy="6895571"/>
          </a:xfrm>
          <a:prstGeom prst="rect">
            <a:avLst/>
          </a:prstGeom>
        </p:spPr>
      </p:pic>
      <p:graphicFrame>
        <p:nvGraphicFramePr>
          <p:cNvPr id="4" name="Diagram 3">
            <a:extLst>
              <a:ext uri="{FF2B5EF4-FFF2-40B4-BE49-F238E27FC236}">
                <a16:creationId xmlns:a16="http://schemas.microsoft.com/office/drawing/2014/main" id="{A0066A58-2034-32E0-5715-802EF9C6296B}"/>
              </a:ext>
            </a:extLst>
          </p:cNvPr>
          <p:cNvGraphicFramePr/>
          <p:nvPr>
            <p:extLst>
              <p:ext uri="{D42A27DB-BD31-4B8C-83A1-F6EECF244321}">
                <p14:modId xmlns:p14="http://schemas.microsoft.com/office/powerpoint/2010/main" val="1462035282"/>
              </p:ext>
            </p:extLst>
          </p:nvPr>
        </p:nvGraphicFramePr>
        <p:xfrm>
          <a:off x="154859" y="125361"/>
          <a:ext cx="4137464" cy="632705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TextBox 6">
            <a:extLst>
              <a:ext uri="{FF2B5EF4-FFF2-40B4-BE49-F238E27FC236}">
                <a16:creationId xmlns:a16="http://schemas.microsoft.com/office/drawing/2014/main" id="{88E22723-9107-70DD-9D72-C9D2D33E48DD}"/>
              </a:ext>
            </a:extLst>
          </p:cNvPr>
          <p:cNvSpPr txBox="1"/>
          <p:nvPr/>
        </p:nvSpPr>
        <p:spPr>
          <a:xfrm>
            <a:off x="7220354" y="1951631"/>
            <a:ext cx="6214682" cy="369332"/>
          </a:xfrm>
          <a:prstGeom prst="rect">
            <a:avLst/>
          </a:prstGeom>
          <a:noFill/>
        </p:spPr>
        <p:txBody>
          <a:bodyPr wrap="square">
            <a:spAutoFit/>
          </a:bodyPr>
          <a:lstStyle/>
          <a:p>
            <a:endParaRPr lang="en-US" dirty="0"/>
          </a:p>
        </p:txBody>
      </p:sp>
      <p:sp>
        <p:nvSpPr>
          <p:cNvPr id="12" name="Rectangle 11">
            <a:extLst>
              <a:ext uri="{FF2B5EF4-FFF2-40B4-BE49-F238E27FC236}">
                <a16:creationId xmlns:a16="http://schemas.microsoft.com/office/drawing/2014/main" id="{BD5B48B6-E516-A7C2-D71C-C0D6CC27456E}"/>
              </a:ext>
            </a:extLst>
          </p:cNvPr>
          <p:cNvSpPr/>
          <p:nvPr/>
        </p:nvSpPr>
        <p:spPr>
          <a:xfrm>
            <a:off x="-290838" y="754588"/>
            <a:ext cx="2943361" cy="523220"/>
          </a:xfrm>
          <a:prstGeom prst="rect">
            <a:avLst/>
          </a:prstGeom>
          <a:noFill/>
        </p:spPr>
        <p:txBody>
          <a:bodyPr wrap="square" lIns="91440" tIns="45720" rIns="91440" bIns="45720">
            <a:spAutoFit/>
          </a:bodyPr>
          <a:lstStyle/>
          <a:p>
            <a:pPr algn="ctr"/>
            <a:r>
              <a:rPr lang="tr-TR" sz="2800" cap="none" spc="0" dirty="0">
                <a:ln w="0"/>
                <a:solidFill>
                  <a:schemeClr val="tx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2025</a:t>
            </a:r>
            <a:endParaRPr lang="en-US" sz="2800" cap="none" spc="0" dirty="0">
              <a:ln w="0"/>
              <a:solidFill>
                <a:schemeClr val="tx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p:txBody>
      </p:sp>
      <p:sp>
        <p:nvSpPr>
          <p:cNvPr id="14" name="TextBox 13">
            <a:extLst>
              <a:ext uri="{FF2B5EF4-FFF2-40B4-BE49-F238E27FC236}">
                <a16:creationId xmlns:a16="http://schemas.microsoft.com/office/drawing/2014/main" id="{FE77D539-9D9F-489E-7B76-E4D035F861FE}"/>
              </a:ext>
            </a:extLst>
          </p:cNvPr>
          <p:cNvSpPr txBox="1"/>
          <p:nvPr/>
        </p:nvSpPr>
        <p:spPr>
          <a:xfrm>
            <a:off x="4496909" y="1228356"/>
            <a:ext cx="7196671" cy="1815882"/>
          </a:xfrm>
          <a:prstGeom prst="rect">
            <a:avLst/>
          </a:prstGeom>
          <a:noFill/>
        </p:spPr>
        <p:txBody>
          <a:bodyPr wrap="square">
            <a:spAutoFit/>
          </a:bodyPr>
          <a:lstStyle/>
          <a:p>
            <a:pPr algn="just"/>
            <a:r>
              <a:rPr lang="tr-TR" sz="1400" dirty="0">
                <a:latin typeface="Arial" panose="020B0604020202020204" pitchFamily="34" charset="0"/>
                <a:cs typeface="Arial" panose="020B0604020202020204" pitchFamily="34" charset="0"/>
              </a:rPr>
              <a:t>	Çevrimiçi iş arama hizmeti sağlayıcısı </a:t>
            </a:r>
            <a:r>
              <a:rPr lang="tr-TR" sz="1400" dirty="0" err="1">
                <a:latin typeface="Arial" panose="020B0604020202020204" pitchFamily="34" charset="0"/>
                <a:cs typeface="Arial" panose="020B0604020202020204" pitchFamily="34" charset="0"/>
              </a:rPr>
              <a:t>Bold</a:t>
            </a:r>
            <a:r>
              <a:rPr lang="tr-TR" sz="1400" dirty="0">
                <a:latin typeface="Arial" panose="020B0604020202020204" pitchFamily="34" charset="0"/>
                <a:cs typeface="Arial" panose="020B0604020202020204" pitchFamily="34" charset="0"/>
              </a:rPr>
              <a:t> LLC, kullanıcıların özgeçmiş verilerini etkileyen bir veri ihlali yaşandığını Kişisel Verileri Koruma Kurulu’na bildirmiştir. Şirketin 12 Temmuz 2025’te tespit ettiği güvenlik açığının, kullanıcıların özgeçmişlerini düzenlerken gerçek zamanlı ön izleme yapmalarına imkân tanıyan bir özelliğin yetkisiz erişime açık bırakılmasından kaynaklandığı belirlenmiştir. Yapılan incelemeler, açığın 10 Mart 2023’te oluştuğunu ve yalnızca bir kez yetkisiz erişim gerçekleştiğini göstermiştir. Olaydan 3.168 kullanıcının anonimleştirilmiş kimlik, iletişim ve özgeçmiş verileri etkilenmiş; gerekli teknik önlemlerin alındığı bildirilmiştir.</a:t>
            </a:r>
          </a:p>
        </p:txBody>
      </p:sp>
      <p:sp>
        <p:nvSpPr>
          <p:cNvPr id="16" name="TextBox 15">
            <a:extLst>
              <a:ext uri="{FF2B5EF4-FFF2-40B4-BE49-F238E27FC236}">
                <a16:creationId xmlns:a16="http://schemas.microsoft.com/office/drawing/2014/main" id="{25E5B8E8-23A0-7142-F07E-D608990A29AD}"/>
              </a:ext>
            </a:extLst>
          </p:cNvPr>
          <p:cNvSpPr txBox="1"/>
          <p:nvPr/>
        </p:nvSpPr>
        <p:spPr>
          <a:xfrm>
            <a:off x="4496909" y="3288890"/>
            <a:ext cx="7196671" cy="1815882"/>
          </a:xfrm>
          <a:prstGeom prst="rect">
            <a:avLst/>
          </a:prstGeom>
          <a:noFill/>
        </p:spPr>
        <p:txBody>
          <a:bodyPr wrap="square">
            <a:spAutoFit/>
          </a:bodyPr>
          <a:lstStyle/>
          <a:p>
            <a:pPr algn="just"/>
            <a:r>
              <a:rPr lang="tr-TR" sz="1400" dirty="0">
                <a:latin typeface="Arial" panose="020B0604020202020204" pitchFamily="34" charset="0"/>
                <a:cs typeface="Arial" panose="020B0604020202020204" pitchFamily="34" charset="0"/>
              </a:rPr>
              <a:t>	Türk Tabipler Birliği (TTB), 6698 sayılı Kişisel Verilerin Korunması Kanunu’nun 12. maddesi kapsamında, 08 Ağustos 2025 tarihinde kurum sistemlerine yönelik gerçekleşen bir siber saldırı sonucu veri ihlali bildiriminde bulunmuştur. Kaynağı belirsiz saldırı sonucunda sistemdeki kayıtlı dosyalara yetkisiz erişim sağlanmış ve veriler silinmiştir. İhlalden çalışanlar, kullanıcılar ve tabip odalarına kayıtlı üyeler etkilenmiştir. Etkilenen veri kategorileri arasında kimlik, iletişim, </a:t>
            </a:r>
            <a:r>
              <a:rPr lang="tr-TR" sz="1400" dirty="0" err="1">
                <a:latin typeface="Arial" panose="020B0604020202020204" pitchFamily="34" charset="0"/>
                <a:cs typeface="Arial" panose="020B0604020202020204" pitchFamily="34" charset="0"/>
              </a:rPr>
              <a:t>lokasyon</a:t>
            </a:r>
            <a:r>
              <a:rPr lang="tr-TR" sz="1400" dirty="0">
                <a:latin typeface="Arial" panose="020B0604020202020204" pitchFamily="34" charset="0"/>
                <a:cs typeface="Arial" panose="020B0604020202020204" pitchFamily="34" charset="0"/>
              </a:rPr>
              <a:t>, hukuki işlem ve işlem güvenliği verileri yer almaktadır. Üye veri tabanına erişilemediği için kesin sayı bilinmemekle birlikte, yaklaşık 107.000 kişinin etkilenmiş olabileceği belirtilmiştir.</a:t>
            </a:r>
          </a:p>
        </p:txBody>
      </p:sp>
    </p:spTree>
    <p:extLst>
      <p:ext uri="{BB962C8B-B14F-4D97-AF65-F5344CB8AC3E}">
        <p14:creationId xmlns:p14="http://schemas.microsoft.com/office/powerpoint/2010/main" val="12386595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F28C39B-F047-4E5E-B7C2-E5B4BE7BB571}"/>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17" name="Picture 16">
            <a:extLst>
              <a:ext uri="{FF2B5EF4-FFF2-40B4-BE49-F238E27FC236}">
                <a16:creationId xmlns:a16="http://schemas.microsoft.com/office/drawing/2014/main" id="{3A421E42-6F1F-FB96-F2D0-963191FF3FED}"/>
              </a:ext>
            </a:extLst>
          </p:cNvPr>
          <p:cNvPicPr>
            <a:picLocks noChangeAspect="1"/>
          </p:cNvPicPr>
          <p:nvPr/>
        </p:nvPicPr>
        <p:blipFill>
          <a:blip r:embed="rId3"/>
          <a:stretch>
            <a:fillRect/>
          </a:stretch>
        </p:blipFill>
        <p:spPr>
          <a:xfrm>
            <a:off x="-431513" y="-302228"/>
            <a:ext cx="12729295" cy="7160228"/>
          </a:xfrm>
          <a:prstGeom prst="rect">
            <a:avLst/>
          </a:prstGeom>
        </p:spPr>
      </p:pic>
      <p:graphicFrame>
        <p:nvGraphicFramePr>
          <p:cNvPr id="27" name="Object 26">
            <a:extLst>
              <a:ext uri="{FF2B5EF4-FFF2-40B4-BE49-F238E27FC236}">
                <a16:creationId xmlns:a16="http://schemas.microsoft.com/office/drawing/2014/main" id="{6F8A2E99-84D7-F854-85CE-85C2E868CF37}"/>
              </a:ext>
            </a:extLst>
          </p:cNvPr>
          <p:cNvGraphicFramePr>
            <a:graphicFrameLocks noChangeAspect="1"/>
          </p:cNvGraphicFramePr>
          <p:nvPr>
            <p:extLst>
              <p:ext uri="{D42A27DB-BD31-4B8C-83A1-F6EECF244321}">
                <p14:modId xmlns:p14="http://schemas.microsoft.com/office/powerpoint/2010/main" val="2723776196"/>
              </p:ext>
            </p:extLst>
          </p:nvPr>
        </p:nvGraphicFramePr>
        <p:xfrm>
          <a:off x="5445125" y="3244850"/>
          <a:ext cx="652463" cy="185738"/>
        </p:xfrm>
        <a:graphic>
          <a:graphicData uri="http://schemas.openxmlformats.org/presentationml/2006/ole">
            <mc:AlternateContent xmlns:mc="http://schemas.openxmlformats.org/markup-compatibility/2006">
              <mc:Choice xmlns:v="urn:schemas-microsoft-com:vml" Requires="v">
                <p:oleObj name="Worksheet" r:id="rId4" imgW="652393" imgH="185863" progId="Excel.Sheet.12">
                  <p:embed/>
                </p:oleObj>
              </mc:Choice>
              <mc:Fallback>
                <p:oleObj name="Worksheet" r:id="rId4" imgW="652393" imgH="185863" progId="Excel.Sheet.12">
                  <p:embed/>
                  <p:pic>
                    <p:nvPicPr>
                      <p:cNvPr id="0" name=""/>
                      <p:cNvPicPr/>
                      <p:nvPr/>
                    </p:nvPicPr>
                    <p:blipFill>
                      <a:blip r:embed="rId5"/>
                      <a:stretch>
                        <a:fillRect/>
                      </a:stretch>
                    </p:blipFill>
                    <p:spPr>
                      <a:xfrm>
                        <a:off x="5445125" y="3244850"/>
                        <a:ext cx="652463" cy="185738"/>
                      </a:xfrm>
                      <a:prstGeom prst="rect">
                        <a:avLst/>
                      </a:prstGeom>
                    </p:spPr>
                  </p:pic>
                </p:oleObj>
              </mc:Fallback>
            </mc:AlternateContent>
          </a:graphicData>
        </a:graphic>
      </p:graphicFrame>
      <p:graphicFrame>
        <p:nvGraphicFramePr>
          <p:cNvPr id="32" name="Table 31">
            <a:extLst>
              <a:ext uri="{FF2B5EF4-FFF2-40B4-BE49-F238E27FC236}">
                <a16:creationId xmlns:a16="http://schemas.microsoft.com/office/drawing/2014/main" id="{E3A09EF7-3526-9BBE-F9B5-C4CD0DB7D9C6}"/>
              </a:ext>
            </a:extLst>
          </p:cNvPr>
          <p:cNvGraphicFramePr>
            <a:graphicFrameLocks noGrp="1"/>
          </p:cNvGraphicFramePr>
          <p:nvPr>
            <p:extLst>
              <p:ext uri="{D42A27DB-BD31-4B8C-83A1-F6EECF244321}">
                <p14:modId xmlns:p14="http://schemas.microsoft.com/office/powerpoint/2010/main" val="796642284"/>
              </p:ext>
            </p:extLst>
          </p:nvPr>
        </p:nvGraphicFramePr>
        <p:xfrm>
          <a:off x="1065697" y="1201442"/>
          <a:ext cx="7929716" cy="5401994"/>
        </p:xfrm>
        <a:graphic>
          <a:graphicData uri="http://schemas.openxmlformats.org/drawingml/2006/table">
            <a:tbl>
              <a:tblPr>
                <a:tableStyleId>{5940675A-B579-460E-94D1-54222C63F5DA}</a:tableStyleId>
              </a:tblPr>
              <a:tblGrid>
                <a:gridCol w="629931">
                  <a:extLst>
                    <a:ext uri="{9D8B030D-6E8A-4147-A177-3AD203B41FA5}">
                      <a16:colId xmlns:a16="http://schemas.microsoft.com/office/drawing/2014/main" val="1179784068"/>
                    </a:ext>
                  </a:extLst>
                </a:gridCol>
                <a:gridCol w="3520199">
                  <a:extLst>
                    <a:ext uri="{9D8B030D-6E8A-4147-A177-3AD203B41FA5}">
                      <a16:colId xmlns:a16="http://schemas.microsoft.com/office/drawing/2014/main" val="2750062714"/>
                    </a:ext>
                  </a:extLst>
                </a:gridCol>
                <a:gridCol w="629931">
                  <a:extLst>
                    <a:ext uri="{9D8B030D-6E8A-4147-A177-3AD203B41FA5}">
                      <a16:colId xmlns:a16="http://schemas.microsoft.com/office/drawing/2014/main" val="1098135727"/>
                    </a:ext>
                  </a:extLst>
                </a:gridCol>
                <a:gridCol w="629931">
                  <a:extLst>
                    <a:ext uri="{9D8B030D-6E8A-4147-A177-3AD203B41FA5}">
                      <a16:colId xmlns:a16="http://schemas.microsoft.com/office/drawing/2014/main" val="365980565"/>
                    </a:ext>
                  </a:extLst>
                </a:gridCol>
                <a:gridCol w="629931">
                  <a:extLst>
                    <a:ext uri="{9D8B030D-6E8A-4147-A177-3AD203B41FA5}">
                      <a16:colId xmlns:a16="http://schemas.microsoft.com/office/drawing/2014/main" val="4059231150"/>
                    </a:ext>
                  </a:extLst>
                </a:gridCol>
                <a:gridCol w="629931">
                  <a:extLst>
                    <a:ext uri="{9D8B030D-6E8A-4147-A177-3AD203B41FA5}">
                      <a16:colId xmlns:a16="http://schemas.microsoft.com/office/drawing/2014/main" val="4143842156"/>
                    </a:ext>
                  </a:extLst>
                </a:gridCol>
                <a:gridCol w="629931">
                  <a:extLst>
                    <a:ext uri="{9D8B030D-6E8A-4147-A177-3AD203B41FA5}">
                      <a16:colId xmlns:a16="http://schemas.microsoft.com/office/drawing/2014/main" val="2443547516"/>
                    </a:ext>
                  </a:extLst>
                </a:gridCol>
                <a:gridCol w="629931">
                  <a:extLst>
                    <a:ext uri="{9D8B030D-6E8A-4147-A177-3AD203B41FA5}">
                      <a16:colId xmlns:a16="http://schemas.microsoft.com/office/drawing/2014/main" val="117328061"/>
                    </a:ext>
                  </a:extLst>
                </a:gridCol>
              </a:tblGrid>
              <a:tr h="831282">
                <a:tc>
                  <a:txBody>
                    <a:bodyPr/>
                    <a:lstStyle/>
                    <a:p>
                      <a:pPr algn="ctr" fontAlgn="b">
                        <a:buNone/>
                      </a:pPr>
                      <a:r>
                        <a:rPr lang="en-US" sz="1000" u="none" strike="noStrike" dirty="0" err="1">
                          <a:effectLst/>
                        </a:rPr>
                        <a:t>Sıra</a:t>
                      </a:r>
                      <a:r>
                        <a:rPr lang="en-US" sz="1000" u="none" strike="noStrike" dirty="0">
                          <a:effectLst/>
                        </a:rPr>
                        <a:t> no</a:t>
                      </a:r>
                      <a:endParaRPr lang="en-US" sz="1000" b="0" i="0" u="none" strike="noStrike" dirty="0">
                        <a:solidFill>
                          <a:srgbClr val="000000"/>
                        </a:solidFill>
                        <a:effectLst/>
                        <a:latin typeface="Calibri" panose="020F0502020204030204" pitchFamily="34" charset="0"/>
                      </a:endParaRPr>
                    </a:p>
                  </a:txBody>
                  <a:tcPr marL="4763" marR="4763" marT="4763" marB="0" anchor="ctr"/>
                </a:tc>
                <a:tc>
                  <a:txBody>
                    <a:bodyPr/>
                    <a:lstStyle/>
                    <a:p>
                      <a:pPr algn="ctr" fontAlgn="t">
                        <a:buNone/>
                      </a:pPr>
                      <a:r>
                        <a:rPr lang="en-US" sz="1000" u="none" strike="noStrike" dirty="0">
                          <a:effectLst/>
                        </a:rPr>
                        <a:t>Veri </a:t>
                      </a:r>
                      <a:r>
                        <a:rPr lang="en-US" sz="1000" u="none" strike="noStrike" dirty="0" err="1">
                          <a:effectLst/>
                        </a:rPr>
                        <a:t>İhlali</a:t>
                      </a:r>
                      <a:endParaRPr lang="en-US" sz="1000" b="1" i="0" u="none" strike="noStrike" dirty="0">
                        <a:solidFill>
                          <a:srgbClr val="000000"/>
                        </a:solidFill>
                        <a:effectLst/>
                        <a:latin typeface="Calibri" panose="020F0502020204030204" pitchFamily="34" charset="0"/>
                      </a:endParaRPr>
                    </a:p>
                  </a:txBody>
                  <a:tcPr marL="4763" marR="4763" marT="4763" marB="0" anchor="ctr"/>
                </a:tc>
                <a:tc>
                  <a:txBody>
                    <a:bodyPr/>
                    <a:lstStyle/>
                    <a:p>
                      <a:pPr algn="ctr" fontAlgn="t">
                        <a:buNone/>
                      </a:pPr>
                      <a:r>
                        <a:rPr lang="en-US" sz="1000" u="none" strike="noStrike" dirty="0" err="1">
                          <a:effectLst/>
                        </a:rPr>
                        <a:t>Kişisel</a:t>
                      </a:r>
                      <a:r>
                        <a:rPr lang="en-US" sz="1000" u="none" strike="noStrike" dirty="0">
                          <a:effectLst/>
                        </a:rPr>
                        <a:t> </a:t>
                      </a:r>
                      <a:r>
                        <a:rPr lang="en-US" sz="1000" u="none" strike="noStrike" dirty="0" err="1">
                          <a:effectLst/>
                        </a:rPr>
                        <a:t>Bilgiler</a:t>
                      </a:r>
                      <a:r>
                        <a:rPr lang="en-US" sz="1000" u="none" strike="noStrike" dirty="0">
                          <a:effectLst/>
                        </a:rPr>
                        <a:t> (PII)</a:t>
                      </a:r>
                      <a:endParaRPr lang="en-US" sz="1000" b="1" i="0" u="none" strike="noStrike" dirty="0">
                        <a:solidFill>
                          <a:srgbClr val="000000"/>
                        </a:solidFill>
                        <a:effectLst/>
                        <a:latin typeface="Calibri" panose="020F0502020204030204" pitchFamily="34" charset="0"/>
                      </a:endParaRPr>
                    </a:p>
                  </a:txBody>
                  <a:tcPr marL="4763" marR="4763" marT="4763" marB="0" anchor="ctr"/>
                </a:tc>
                <a:tc>
                  <a:txBody>
                    <a:bodyPr/>
                    <a:lstStyle/>
                    <a:p>
                      <a:pPr algn="ctr" fontAlgn="t">
                        <a:buNone/>
                      </a:pPr>
                      <a:r>
                        <a:rPr lang="en-US" sz="1000" u="none" strike="noStrike" dirty="0" err="1">
                          <a:effectLst/>
                        </a:rPr>
                        <a:t>Korumalı</a:t>
                      </a:r>
                      <a:r>
                        <a:rPr lang="en-US" sz="1000" u="none" strike="noStrike" dirty="0">
                          <a:effectLst/>
                        </a:rPr>
                        <a:t> </a:t>
                      </a:r>
                      <a:r>
                        <a:rPr lang="en-US" sz="1000" u="none" strike="noStrike" dirty="0" err="1">
                          <a:effectLst/>
                        </a:rPr>
                        <a:t>Sağlık</a:t>
                      </a:r>
                      <a:r>
                        <a:rPr lang="en-US" sz="1000" u="none" strike="noStrike" dirty="0">
                          <a:effectLst/>
                        </a:rPr>
                        <a:t> </a:t>
                      </a:r>
                      <a:r>
                        <a:rPr lang="en-US" sz="1000" u="none" strike="noStrike" dirty="0" err="1">
                          <a:effectLst/>
                        </a:rPr>
                        <a:t>Bilgileri</a:t>
                      </a:r>
                      <a:r>
                        <a:rPr lang="en-US" sz="1000" u="none" strike="noStrike" dirty="0">
                          <a:effectLst/>
                        </a:rPr>
                        <a:t> (PHI)</a:t>
                      </a:r>
                      <a:endParaRPr lang="en-US" sz="1000" b="1" i="0" u="none" strike="noStrike" dirty="0">
                        <a:solidFill>
                          <a:srgbClr val="000000"/>
                        </a:solidFill>
                        <a:effectLst/>
                        <a:latin typeface="Calibri" panose="020F0502020204030204" pitchFamily="34" charset="0"/>
                      </a:endParaRPr>
                    </a:p>
                  </a:txBody>
                  <a:tcPr marL="4763" marR="4763" marT="4763" marB="0" anchor="ctr"/>
                </a:tc>
                <a:tc>
                  <a:txBody>
                    <a:bodyPr/>
                    <a:lstStyle/>
                    <a:p>
                      <a:pPr algn="ctr" fontAlgn="t">
                        <a:buNone/>
                      </a:pPr>
                      <a:r>
                        <a:rPr lang="en-US" sz="1000" u="none" strike="noStrike" dirty="0">
                          <a:effectLst/>
                        </a:rPr>
                        <a:t>Fikri </a:t>
                      </a:r>
                      <a:r>
                        <a:rPr lang="en-US" sz="1000" u="none" strike="noStrike" dirty="0" err="1">
                          <a:effectLst/>
                        </a:rPr>
                        <a:t>Mülkiyet</a:t>
                      </a:r>
                      <a:r>
                        <a:rPr lang="en-US" sz="1000" u="none" strike="noStrike" dirty="0">
                          <a:effectLst/>
                        </a:rPr>
                        <a:t> (IP)</a:t>
                      </a:r>
                      <a:endParaRPr lang="en-US" sz="1000" b="1" i="0" u="none" strike="noStrike" dirty="0">
                        <a:solidFill>
                          <a:srgbClr val="000000"/>
                        </a:solidFill>
                        <a:effectLst/>
                        <a:latin typeface="Calibri" panose="020F0502020204030204" pitchFamily="34" charset="0"/>
                      </a:endParaRPr>
                    </a:p>
                  </a:txBody>
                  <a:tcPr marL="4763" marR="4763" marT="4763" marB="0" anchor="ctr"/>
                </a:tc>
                <a:tc>
                  <a:txBody>
                    <a:bodyPr/>
                    <a:lstStyle/>
                    <a:p>
                      <a:pPr algn="ctr" fontAlgn="t">
                        <a:buNone/>
                      </a:pPr>
                      <a:r>
                        <a:rPr lang="en-US" sz="1000" u="none" strike="noStrike" dirty="0" err="1">
                          <a:effectLst/>
                        </a:rPr>
                        <a:t>Finansal</a:t>
                      </a:r>
                      <a:r>
                        <a:rPr lang="en-US" sz="1000" u="none" strike="noStrike" dirty="0">
                          <a:effectLst/>
                        </a:rPr>
                        <a:t> </a:t>
                      </a:r>
                      <a:r>
                        <a:rPr lang="en-US" sz="1000" u="none" strike="noStrike" dirty="0" err="1">
                          <a:effectLst/>
                        </a:rPr>
                        <a:t>Veriler</a:t>
                      </a:r>
                      <a:endParaRPr lang="en-US" sz="1000" b="1" i="0" u="none" strike="noStrike" dirty="0">
                        <a:solidFill>
                          <a:srgbClr val="000000"/>
                        </a:solidFill>
                        <a:effectLst/>
                        <a:latin typeface="Calibri" panose="020F0502020204030204" pitchFamily="34" charset="0"/>
                      </a:endParaRPr>
                    </a:p>
                  </a:txBody>
                  <a:tcPr marL="4763" marR="4763" marT="4763" marB="0" anchor="ctr"/>
                </a:tc>
                <a:tc>
                  <a:txBody>
                    <a:bodyPr/>
                    <a:lstStyle/>
                    <a:p>
                      <a:pPr algn="ctr" fontAlgn="t">
                        <a:buNone/>
                      </a:pPr>
                      <a:r>
                        <a:rPr lang="en-US" sz="1000" u="none" strike="noStrike" dirty="0" err="1">
                          <a:effectLst/>
                        </a:rPr>
                        <a:t>İş</a:t>
                      </a:r>
                      <a:r>
                        <a:rPr lang="en-US" sz="1000" u="none" strike="noStrike" dirty="0">
                          <a:effectLst/>
                        </a:rPr>
                        <a:t> </a:t>
                      </a:r>
                      <a:r>
                        <a:rPr lang="en-US" sz="1000" u="none" strike="noStrike" dirty="0" err="1">
                          <a:effectLst/>
                        </a:rPr>
                        <a:t>Açısından</a:t>
                      </a:r>
                      <a:r>
                        <a:rPr lang="en-US" sz="1000" u="none" strike="noStrike" dirty="0">
                          <a:effectLst/>
                        </a:rPr>
                        <a:t> Kritik </a:t>
                      </a:r>
                      <a:r>
                        <a:rPr lang="en-US" sz="1000" u="none" strike="noStrike" dirty="0" err="1">
                          <a:effectLst/>
                        </a:rPr>
                        <a:t>Veriler</a:t>
                      </a:r>
                      <a:endParaRPr lang="en-US" sz="1000" b="1" i="0" u="none" strike="noStrike" dirty="0">
                        <a:solidFill>
                          <a:srgbClr val="000000"/>
                        </a:solidFill>
                        <a:effectLst/>
                        <a:latin typeface="Calibri" panose="020F0502020204030204" pitchFamily="34" charset="0"/>
                      </a:endParaRPr>
                    </a:p>
                  </a:txBody>
                  <a:tcPr marL="4763" marR="4763" marT="4763" marB="0" anchor="ctr"/>
                </a:tc>
                <a:tc>
                  <a:txBody>
                    <a:bodyPr/>
                    <a:lstStyle/>
                    <a:p>
                      <a:pPr algn="ctr" fontAlgn="t">
                        <a:buNone/>
                      </a:pPr>
                      <a:r>
                        <a:rPr lang="en-US" sz="1000" u="none" strike="noStrike" dirty="0" err="1">
                          <a:effectLst/>
                        </a:rPr>
                        <a:t>Operasyonel</a:t>
                      </a:r>
                      <a:r>
                        <a:rPr lang="en-US" sz="1000" u="none" strike="noStrike" dirty="0">
                          <a:effectLst/>
                        </a:rPr>
                        <a:t> </a:t>
                      </a:r>
                      <a:r>
                        <a:rPr lang="en-US" sz="1000" u="none" strike="noStrike" dirty="0" err="1">
                          <a:effectLst/>
                        </a:rPr>
                        <a:t>Veriler</a:t>
                      </a:r>
                      <a:endParaRPr lang="en-US" sz="1000" b="1" i="0" u="none" strike="noStrike" dirty="0">
                        <a:solidFill>
                          <a:srgbClr val="000000"/>
                        </a:solidFill>
                        <a:effectLst/>
                        <a:latin typeface="Calibri" panose="020F0502020204030204" pitchFamily="34" charset="0"/>
                      </a:endParaRPr>
                    </a:p>
                  </a:txBody>
                  <a:tcPr marL="4763" marR="4763" marT="4763" marB="0" anchor="ctr"/>
                </a:tc>
                <a:extLst>
                  <a:ext uri="{0D108BD9-81ED-4DB2-BD59-A6C34878D82A}">
                    <a16:rowId xmlns:a16="http://schemas.microsoft.com/office/drawing/2014/main" val="107448654"/>
                  </a:ext>
                </a:extLst>
              </a:tr>
              <a:tr h="179043">
                <a:tc>
                  <a:txBody>
                    <a:bodyPr/>
                    <a:lstStyle/>
                    <a:p>
                      <a:pPr algn="ctr" fontAlgn="b">
                        <a:buNone/>
                      </a:pPr>
                      <a:r>
                        <a:rPr lang="en-US" sz="1000" u="none" strike="noStrike">
                          <a:effectLst/>
                        </a:rPr>
                        <a:t>1</a:t>
                      </a:r>
                      <a:endParaRPr lang="en-US" sz="1000" b="0" i="0" u="none" strike="noStrike">
                        <a:solidFill>
                          <a:srgbClr val="000000"/>
                        </a:solidFill>
                        <a:effectLst/>
                        <a:latin typeface="Calibri" panose="020F0502020204030204" pitchFamily="34" charset="0"/>
                      </a:endParaRPr>
                    </a:p>
                  </a:txBody>
                  <a:tcPr marL="4763" marR="4763" marT="4763" marB="0" anchor="b"/>
                </a:tc>
                <a:tc>
                  <a:txBody>
                    <a:bodyPr/>
                    <a:lstStyle/>
                    <a:p>
                      <a:pPr algn="l" fontAlgn="b">
                        <a:buNone/>
                      </a:pPr>
                      <a:r>
                        <a:rPr lang="en-US" sz="1000" u="none" strike="noStrike" dirty="0">
                          <a:effectLst/>
                        </a:rPr>
                        <a:t>Gratis Veri </a:t>
                      </a:r>
                      <a:r>
                        <a:rPr lang="en-US" sz="1000" u="none" strike="noStrike" dirty="0" err="1">
                          <a:effectLst/>
                        </a:rPr>
                        <a:t>İhlali</a:t>
                      </a:r>
                      <a:r>
                        <a:rPr lang="en-US" sz="1000" u="none" strike="noStrike" dirty="0">
                          <a:effectLst/>
                        </a:rPr>
                        <a:t> – Türkiye (2020)</a:t>
                      </a:r>
                      <a:endParaRPr lang="en-US" sz="1000" b="0" i="0" u="none" strike="noStrike" dirty="0">
                        <a:solidFill>
                          <a:srgbClr val="000000"/>
                        </a:solidFill>
                        <a:effectLst/>
                        <a:latin typeface="Calibri" panose="020F0502020204030204" pitchFamily="34" charset="0"/>
                      </a:endParaRPr>
                    </a:p>
                  </a:txBody>
                  <a:tcPr marL="4763" marR="4763" marT="4763" marB="0" anchor="b"/>
                </a:tc>
                <a:tc>
                  <a:txBody>
                    <a:bodyPr/>
                    <a:lstStyle/>
                    <a:p>
                      <a:pPr algn="ctr" fontAlgn="b">
                        <a:buNone/>
                      </a:pPr>
                      <a:r>
                        <a:rPr lang="en-US" sz="1000" u="none" strike="noStrike" dirty="0">
                          <a:effectLst/>
                        </a:rPr>
                        <a:t>✅</a:t>
                      </a:r>
                      <a:endParaRPr lang="en-US" sz="1000" b="0" i="0" u="none" strike="noStrike" dirty="0">
                        <a:solidFill>
                          <a:srgbClr val="000000"/>
                        </a:solidFill>
                        <a:effectLst/>
                        <a:latin typeface="Calibri" panose="020F0502020204030204" pitchFamily="34" charset="0"/>
                      </a:endParaRPr>
                    </a:p>
                  </a:txBody>
                  <a:tcPr marL="4763" marR="4763" marT="4763" marB="0" anchor="ctr"/>
                </a:tc>
                <a:tc>
                  <a:txBody>
                    <a:bodyPr/>
                    <a:lstStyle/>
                    <a:p>
                      <a:pPr algn="ctr" fontAlgn="b">
                        <a:buNone/>
                      </a:pPr>
                      <a:r>
                        <a:rPr lang="en-US" sz="1000" u="none" strike="noStrike">
                          <a:effectLst/>
                        </a:rPr>
                        <a:t> </a:t>
                      </a:r>
                      <a:endParaRPr lang="en-US" sz="1000" b="0" i="0" u="none" strike="noStrike">
                        <a:solidFill>
                          <a:srgbClr val="000000"/>
                        </a:solidFill>
                        <a:effectLst/>
                        <a:latin typeface="Calibri" panose="020F0502020204030204" pitchFamily="34" charset="0"/>
                      </a:endParaRPr>
                    </a:p>
                  </a:txBody>
                  <a:tcPr marL="4763" marR="4763" marT="4763" marB="0" anchor="ctr"/>
                </a:tc>
                <a:tc>
                  <a:txBody>
                    <a:bodyPr/>
                    <a:lstStyle/>
                    <a:p>
                      <a:pPr algn="ctr" fontAlgn="b">
                        <a:buNone/>
                      </a:pPr>
                      <a:r>
                        <a:rPr lang="en-US" sz="1000" u="none" strike="noStrike">
                          <a:effectLst/>
                        </a:rPr>
                        <a:t> </a:t>
                      </a:r>
                      <a:endParaRPr lang="en-US" sz="1000" b="0" i="0" u="none" strike="noStrike">
                        <a:solidFill>
                          <a:srgbClr val="000000"/>
                        </a:solidFill>
                        <a:effectLst/>
                        <a:latin typeface="Calibri" panose="020F0502020204030204" pitchFamily="34" charset="0"/>
                      </a:endParaRPr>
                    </a:p>
                  </a:txBody>
                  <a:tcPr marL="4763" marR="4763" marT="4763" marB="0" anchor="ctr"/>
                </a:tc>
                <a:tc>
                  <a:txBody>
                    <a:bodyPr/>
                    <a:lstStyle/>
                    <a:p>
                      <a:pPr algn="ctr" fontAlgn="b">
                        <a:buNone/>
                      </a:pPr>
                      <a:r>
                        <a:rPr lang="en-US" sz="1000" u="none" strike="noStrike" dirty="0">
                          <a:effectLst/>
                        </a:rPr>
                        <a:t> </a:t>
                      </a:r>
                      <a:endParaRPr lang="en-US" sz="1000" b="0" i="0" u="none" strike="noStrike" dirty="0">
                        <a:solidFill>
                          <a:srgbClr val="000000"/>
                        </a:solidFill>
                        <a:effectLst/>
                        <a:latin typeface="Calibri" panose="020F0502020204030204" pitchFamily="34" charset="0"/>
                      </a:endParaRPr>
                    </a:p>
                  </a:txBody>
                  <a:tcPr marL="4763" marR="4763" marT="4763" marB="0" anchor="ctr"/>
                </a:tc>
                <a:tc>
                  <a:txBody>
                    <a:bodyPr/>
                    <a:lstStyle/>
                    <a:p>
                      <a:pPr algn="ctr" fontAlgn="b">
                        <a:buNone/>
                      </a:pPr>
                      <a:r>
                        <a:rPr lang="en-US" sz="1000" u="none" strike="noStrike">
                          <a:effectLst/>
                        </a:rPr>
                        <a:t> </a:t>
                      </a:r>
                      <a:endParaRPr lang="en-US" sz="1000" b="0" i="0" u="none" strike="noStrike">
                        <a:solidFill>
                          <a:srgbClr val="000000"/>
                        </a:solidFill>
                        <a:effectLst/>
                        <a:latin typeface="Calibri" panose="020F0502020204030204" pitchFamily="34" charset="0"/>
                      </a:endParaRPr>
                    </a:p>
                  </a:txBody>
                  <a:tcPr marL="4763" marR="4763" marT="4763" marB="0" anchor="ctr"/>
                </a:tc>
                <a:tc>
                  <a:txBody>
                    <a:bodyPr/>
                    <a:lstStyle/>
                    <a:p>
                      <a:pPr algn="ctr" fontAlgn="b">
                        <a:buNone/>
                      </a:pPr>
                      <a:r>
                        <a:rPr lang="en-US" sz="1000" u="none" strike="noStrike">
                          <a:effectLst/>
                        </a:rPr>
                        <a:t> </a:t>
                      </a:r>
                      <a:endParaRPr lang="en-US" sz="1000" b="0" i="0" u="none" strike="noStrike">
                        <a:solidFill>
                          <a:srgbClr val="000000"/>
                        </a:solidFill>
                        <a:effectLst/>
                        <a:latin typeface="Calibri" panose="020F0502020204030204" pitchFamily="34" charset="0"/>
                      </a:endParaRPr>
                    </a:p>
                  </a:txBody>
                  <a:tcPr marL="4763" marR="4763" marT="4763" marB="0" anchor="ctr"/>
                </a:tc>
                <a:extLst>
                  <a:ext uri="{0D108BD9-81ED-4DB2-BD59-A6C34878D82A}">
                    <a16:rowId xmlns:a16="http://schemas.microsoft.com/office/drawing/2014/main" val="1575072626"/>
                  </a:ext>
                </a:extLst>
              </a:tr>
              <a:tr h="218758">
                <a:tc>
                  <a:txBody>
                    <a:bodyPr/>
                    <a:lstStyle/>
                    <a:p>
                      <a:pPr algn="ctr" fontAlgn="b">
                        <a:buNone/>
                      </a:pPr>
                      <a:r>
                        <a:rPr lang="en-US" sz="1000" u="none" strike="noStrike">
                          <a:effectLst/>
                        </a:rPr>
                        <a:t>2</a:t>
                      </a:r>
                      <a:endParaRPr lang="en-US" sz="1000" b="0" i="0" u="none" strike="noStrike">
                        <a:solidFill>
                          <a:srgbClr val="000000"/>
                        </a:solidFill>
                        <a:effectLst/>
                        <a:latin typeface="Calibri" panose="020F0502020204030204" pitchFamily="34" charset="0"/>
                      </a:endParaRPr>
                    </a:p>
                  </a:txBody>
                  <a:tcPr marL="4763" marR="4763" marT="4763" marB="0" anchor="b"/>
                </a:tc>
                <a:tc>
                  <a:txBody>
                    <a:bodyPr/>
                    <a:lstStyle/>
                    <a:p>
                      <a:pPr algn="l" fontAlgn="b">
                        <a:buNone/>
                      </a:pPr>
                      <a:r>
                        <a:rPr lang="en-US" sz="1000" u="none" strike="noStrike" dirty="0">
                          <a:effectLst/>
                        </a:rPr>
                        <a:t>SolarWinds Hack – ABD (2020)</a:t>
                      </a:r>
                      <a:endParaRPr lang="en-US" sz="1000" b="0" i="0" u="none" strike="noStrike" dirty="0">
                        <a:solidFill>
                          <a:srgbClr val="000000"/>
                        </a:solidFill>
                        <a:effectLst/>
                        <a:latin typeface="Calibri" panose="020F0502020204030204" pitchFamily="34" charset="0"/>
                      </a:endParaRPr>
                    </a:p>
                  </a:txBody>
                  <a:tcPr marL="4763" marR="4763" marT="4763" marB="0" anchor="b"/>
                </a:tc>
                <a:tc>
                  <a:txBody>
                    <a:bodyPr/>
                    <a:lstStyle/>
                    <a:p>
                      <a:pPr algn="ctr" fontAlgn="b">
                        <a:buNone/>
                      </a:pPr>
                      <a:r>
                        <a:rPr lang="en-US" sz="1000" u="none" strike="noStrike">
                          <a:effectLst/>
                        </a:rPr>
                        <a:t> </a:t>
                      </a:r>
                      <a:endParaRPr lang="en-US" sz="1000" b="0" i="0" u="none" strike="noStrike">
                        <a:solidFill>
                          <a:srgbClr val="000000"/>
                        </a:solidFill>
                        <a:effectLst/>
                        <a:latin typeface="Calibri" panose="020F0502020204030204" pitchFamily="34" charset="0"/>
                      </a:endParaRPr>
                    </a:p>
                  </a:txBody>
                  <a:tcPr marL="4763" marR="4763" marT="4763" marB="0" anchor="ctr"/>
                </a:tc>
                <a:tc>
                  <a:txBody>
                    <a:bodyPr/>
                    <a:lstStyle/>
                    <a:p>
                      <a:pPr algn="ctr" fontAlgn="b">
                        <a:buNone/>
                      </a:pPr>
                      <a:r>
                        <a:rPr lang="en-US" sz="1000" u="none" strike="noStrike">
                          <a:effectLst/>
                        </a:rPr>
                        <a:t> </a:t>
                      </a:r>
                      <a:endParaRPr lang="en-US" sz="1000" b="0" i="0" u="none" strike="noStrike">
                        <a:solidFill>
                          <a:srgbClr val="000000"/>
                        </a:solidFill>
                        <a:effectLst/>
                        <a:latin typeface="Calibri" panose="020F0502020204030204" pitchFamily="34" charset="0"/>
                      </a:endParaRPr>
                    </a:p>
                  </a:txBody>
                  <a:tcPr marL="4763" marR="4763" marT="4763" marB="0" anchor="ctr"/>
                </a:tc>
                <a:tc>
                  <a:txBody>
                    <a:bodyPr/>
                    <a:lstStyle/>
                    <a:p>
                      <a:pPr algn="ctr" fontAlgn="b">
                        <a:buNone/>
                      </a:pPr>
                      <a:r>
                        <a:rPr lang="en-US" sz="1000" u="none" strike="noStrike">
                          <a:effectLst/>
                        </a:rPr>
                        <a:t>✅</a:t>
                      </a:r>
                      <a:endParaRPr lang="en-US" sz="1000" b="0" i="0" u="none" strike="noStrike">
                        <a:solidFill>
                          <a:srgbClr val="000000"/>
                        </a:solidFill>
                        <a:effectLst/>
                        <a:latin typeface="Calibri" panose="020F0502020204030204" pitchFamily="34" charset="0"/>
                      </a:endParaRPr>
                    </a:p>
                  </a:txBody>
                  <a:tcPr marL="4763" marR="4763" marT="4763" marB="0" anchor="ctr"/>
                </a:tc>
                <a:tc>
                  <a:txBody>
                    <a:bodyPr/>
                    <a:lstStyle/>
                    <a:p>
                      <a:pPr algn="ctr" fontAlgn="b">
                        <a:buNone/>
                      </a:pPr>
                      <a:r>
                        <a:rPr lang="en-US" sz="1000" u="none" strike="noStrike" dirty="0">
                          <a:effectLst/>
                        </a:rPr>
                        <a:t> </a:t>
                      </a:r>
                      <a:endParaRPr lang="en-US" sz="1000" b="0" i="0" u="none" strike="noStrike" dirty="0">
                        <a:solidFill>
                          <a:srgbClr val="000000"/>
                        </a:solidFill>
                        <a:effectLst/>
                        <a:latin typeface="Calibri" panose="020F0502020204030204" pitchFamily="34" charset="0"/>
                      </a:endParaRPr>
                    </a:p>
                  </a:txBody>
                  <a:tcPr marL="4763" marR="4763" marT="4763" marB="0" anchor="ctr"/>
                </a:tc>
                <a:tc>
                  <a:txBody>
                    <a:bodyPr/>
                    <a:lstStyle/>
                    <a:p>
                      <a:pPr algn="ctr" fontAlgn="b">
                        <a:buNone/>
                      </a:pPr>
                      <a:r>
                        <a:rPr lang="en-US" sz="1000" u="none" strike="noStrike">
                          <a:effectLst/>
                        </a:rPr>
                        <a:t> </a:t>
                      </a:r>
                      <a:endParaRPr lang="en-US" sz="1000" b="0" i="0" u="none" strike="noStrike">
                        <a:solidFill>
                          <a:srgbClr val="000000"/>
                        </a:solidFill>
                        <a:effectLst/>
                        <a:latin typeface="Calibri" panose="020F0502020204030204" pitchFamily="34" charset="0"/>
                      </a:endParaRPr>
                    </a:p>
                  </a:txBody>
                  <a:tcPr marL="4763" marR="4763" marT="4763" marB="0" anchor="ctr"/>
                </a:tc>
                <a:tc>
                  <a:txBody>
                    <a:bodyPr/>
                    <a:lstStyle/>
                    <a:p>
                      <a:pPr algn="ctr" fontAlgn="b">
                        <a:buNone/>
                      </a:pPr>
                      <a:r>
                        <a:rPr lang="en-US" sz="1000" u="none" strike="noStrike">
                          <a:effectLst/>
                        </a:rPr>
                        <a:t> </a:t>
                      </a:r>
                      <a:endParaRPr lang="en-US" sz="1000" b="0" i="0" u="none" strike="noStrike">
                        <a:solidFill>
                          <a:srgbClr val="000000"/>
                        </a:solidFill>
                        <a:effectLst/>
                        <a:latin typeface="Calibri" panose="020F0502020204030204" pitchFamily="34" charset="0"/>
                      </a:endParaRPr>
                    </a:p>
                  </a:txBody>
                  <a:tcPr marL="4763" marR="4763" marT="4763" marB="0" anchor="ctr"/>
                </a:tc>
                <a:extLst>
                  <a:ext uri="{0D108BD9-81ED-4DB2-BD59-A6C34878D82A}">
                    <a16:rowId xmlns:a16="http://schemas.microsoft.com/office/drawing/2014/main" val="2390711184"/>
                  </a:ext>
                </a:extLst>
              </a:tr>
              <a:tr h="218758">
                <a:tc>
                  <a:txBody>
                    <a:bodyPr/>
                    <a:lstStyle/>
                    <a:p>
                      <a:pPr algn="ctr" fontAlgn="b">
                        <a:buNone/>
                      </a:pPr>
                      <a:r>
                        <a:rPr lang="en-US" sz="1000" u="none" strike="noStrike">
                          <a:effectLst/>
                        </a:rPr>
                        <a:t>3</a:t>
                      </a:r>
                      <a:endParaRPr lang="en-US" sz="1000" b="0" i="0" u="none" strike="noStrike">
                        <a:solidFill>
                          <a:srgbClr val="000000"/>
                        </a:solidFill>
                        <a:effectLst/>
                        <a:latin typeface="Calibri" panose="020F0502020204030204" pitchFamily="34" charset="0"/>
                      </a:endParaRPr>
                    </a:p>
                  </a:txBody>
                  <a:tcPr marL="4763" marR="4763" marT="4763" marB="0" anchor="b"/>
                </a:tc>
                <a:tc>
                  <a:txBody>
                    <a:bodyPr/>
                    <a:lstStyle/>
                    <a:p>
                      <a:pPr algn="l" fontAlgn="b">
                        <a:buNone/>
                      </a:pPr>
                      <a:r>
                        <a:rPr lang="en-US" sz="1000" u="none" strike="noStrike" dirty="0">
                          <a:effectLst/>
                        </a:rPr>
                        <a:t>Twitter Hack – Global (2020)</a:t>
                      </a:r>
                      <a:endParaRPr lang="en-US" sz="1000" b="0" i="0" u="none" strike="noStrike" dirty="0">
                        <a:solidFill>
                          <a:srgbClr val="000000"/>
                        </a:solidFill>
                        <a:effectLst/>
                        <a:latin typeface="Calibri" panose="020F0502020204030204" pitchFamily="34" charset="0"/>
                      </a:endParaRPr>
                    </a:p>
                  </a:txBody>
                  <a:tcPr marL="4763" marR="4763" marT="4763" marB="0" anchor="b"/>
                </a:tc>
                <a:tc>
                  <a:txBody>
                    <a:bodyPr/>
                    <a:lstStyle/>
                    <a:p>
                      <a:pPr algn="ctr" fontAlgn="b">
                        <a:buNone/>
                      </a:pPr>
                      <a:r>
                        <a:rPr lang="en-US" sz="1000" u="none" strike="noStrike">
                          <a:effectLst/>
                        </a:rPr>
                        <a:t>✅</a:t>
                      </a:r>
                      <a:endParaRPr lang="en-US" sz="1000" b="0" i="0" u="none" strike="noStrike">
                        <a:solidFill>
                          <a:srgbClr val="000000"/>
                        </a:solidFill>
                        <a:effectLst/>
                        <a:latin typeface="Calibri" panose="020F0502020204030204" pitchFamily="34" charset="0"/>
                      </a:endParaRPr>
                    </a:p>
                  </a:txBody>
                  <a:tcPr marL="4763" marR="4763" marT="4763" marB="0" anchor="ctr"/>
                </a:tc>
                <a:tc>
                  <a:txBody>
                    <a:bodyPr/>
                    <a:lstStyle/>
                    <a:p>
                      <a:pPr algn="ctr" fontAlgn="b">
                        <a:buNone/>
                      </a:pPr>
                      <a:r>
                        <a:rPr lang="en-US" sz="1000" u="none" strike="noStrike">
                          <a:effectLst/>
                        </a:rPr>
                        <a:t> </a:t>
                      </a:r>
                      <a:endParaRPr lang="en-US" sz="1000" b="0" i="0" u="none" strike="noStrike">
                        <a:solidFill>
                          <a:srgbClr val="000000"/>
                        </a:solidFill>
                        <a:effectLst/>
                        <a:latin typeface="Calibri" panose="020F0502020204030204" pitchFamily="34" charset="0"/>
                      </a:endParaRPr>
                    </a:p>
                  </a:txBody>
                  <a:tcPr marL="4763" marR="4763" marT="4763" marB="0" anchor="ctr"/>
                </a:tc>
                <a:tc>
                  <a:txBody>
                    <a:bodyPr/>
                    <a:lstStyle/>
                    <a:p>
                      <a:pPr algn="ctr" fontAlgn="b">
                        <a:buNone/>
                      </a:pPr>
                      <a:r>
                        <a:rPr lang="en-US" sz="1000" u="none" strike="noStrike">
                          <a:effectLst/>
                        </a:rPr>
                        <a:t> </a:t>
                      </a:r>
                      <a:endParaRPr lang="en-US" sz="1000" b="0" i="0" u="none" strike="noStrike">
                        <a:solidFill>
                          <a:srgbClr val="000000"/>
                        </a:solidFill>
                        <a:effectLst/>
                        <a:latin typeface="Calibri" panose="020F0502020204030204" pitchFamily="34" charset="0"/>
                      </a:endParaRPr>
                    </a:p>
                  </a:txBody>
                  <a:tcPr marL="4763" marR="4763" marT="4763" marB="0" anchor="ctr"/>
                </a:tc>
                <a:tc>
                  <a:txBody>
                    <a:bodyPr/>
                    <a:lstStyle/>
                    <a:p>
                      <a:pPr algn="ctr" fontAlgn="b">
                        <a:buNone/>
                      </a:pPr>
                      <a:r>
                        <a:rPr lang="en-US" sz="1000" u="none" strike="noStrike">
                          <a:effectLst/>
                        </a:rPr>
                        <a:t> </a:t>
                      </a:r>
                      <a:endParaRPr lang="en-US" sz="1000" b="0" i="0" u="none" strike="noStrike">
                        <a:solidFill>
                          <a:srgbClr val="000000"/>
                        </a:solidFill>
                        <a:effectLst/>
                        <a:latin typeface="Calibri" panose="020F0502020204030204" pitchFamily="34" charset="0"/>
                      </a:endParaRPr>
                    </a:p>
                  </a:txBody>
                  <a:tcPr marL="4763" marR="4763" marT="4763" marB="0" anchor="ctr"/>
                </a:tc>
                <a:tc>
                  <a:txBody>
                    <a:bodyPr/>
                    <a:lstStyle/>
                    <a:p>
                      <a:pPr algn="ctr" fontAlgn="b">
                        <a:buNone/>
                      </a:pPr>
                      <a:r>
                        <a:rPr lang="en-US" sz="1000" u="none" strike="noStrike" dirty="0">
                          <a:effectLst/>
                        </a:rPr>
                        <a:t>✅</a:t>
                      </a:r>
                      <a:endParaRPr lang="en-US" sz="1000" b="0" i="0" u="none" strike="noStrike" dirty="0">
                        <a:solidFill>
                          <a:srgbClr val="000000"/>
                        </a:solidFill>
                        <a:effectLst/>
                        <a:latin typeface="Calibri" panose="020F0502020204030204" pitchFamily="34" charset="0"/>
                      </a:endParaRPr>
                    </a:p>
                  </a:txBody>
                  <a:tcPr marL="4763" marR="4763" marT="4763" marB="0" anchor="ctr"/>
                </a:tc>
                <a:tc>
                  <a:txBody>
                    <a:bodyPr/>
                    <a:lstStyle/>
                    <a:p>
                      <a:pPr algn="ctr" fontAlgn="b">
                        <a:buNone/>
                      </a:pPr>
                      <a:r>
                        <a:rPr lang="en-US" sz="1000" u="none" strike="noStrike">
                          <a:effectLst/>
                        </a:rPr>
                        <a:t> </a:t>
                      </a:r>
                      <a:endParaRPr lang="en-US" sz="1000" b="0" i="0" u="none" strike="noStrike">
                        <a:solidFill>
                          <a:srgbClr val="000000"/>
                        </a:solidFill>
                        <a:effectLst/>
                        <a:latin typeface="Calibri" panose="020F0502020204030204" pitchFamily="34" charset="0"/>
                      </a:endParaRPr>
                    </a:p>
                  </a:txBody>
                  <a:tcPr marL="4763" marR="4763" marT="4763" marB="0" anchor="ctr"/>
                </a:tc>
                <a:extLst>
                  <a:ext uri="{0D108BD9-81ED-4DB2-BD59-A6C34878D82A}">
                    <a16:rowId xmlns:a16="http://schemas.microsoft.com/office/drawing/2014/main" val="1928363749"/>
                  </a:ext>
                </a:extLst>
              </a:tr>
              <a:tr h="218758">
                <a:tc>
                  <a:txBody>
                    <a:bodyPr/>
                    <a:lstStyle/>
                    <a:p>
                      <a:pPr algn="ctr" fontAlgn="b">
                        <a:buNone/>
                      </a:pPr>
                      <a:r>
                        <a:rPr lang="en-US" sz="1000" u="none" strike="noStrike">
                          <a:effectLst/>
                        </a:rPr>
                        <a:t>4</a:t>
                      </a:r>
                      <a:endParaRPr lang="en-US" sz="1000" b="0" i="0" u="none" strike="noStrike">
                        <a:solidFill>
                          <a:srgbClr val="000000"/>
                        </a:solidFill>
                        <a:effectLst/>
                        <a:latin typeface="Calibri" panose="020F0502020204030204" pitchFamily="34" charset="0"/>
                      </a:endParaRPr>
                    </a:p>
                  </a:txBody>
                  <a:tcPr marL="4763" marR="4763" marT="4763" marB="0" anchor="b"/>
                </a:tc>
                <a:tc>
                  <a:txBody>
                    <a:bodyPr/>
                    <a:lstStyle/>
                    <a:p>
                      <a:pPr algn="l" fontAlgn="b">
                        <a:buNone/>
                      </a:pPr>
                      <a:r>
                        <a:rPr lang="it-IT" sz="1000" u="none" strike="noStrike" dirty="0">
                          <a:effectLst/>
                        </a:rPr>
                        <a:t>Vastaamo Data Breach – Finlandiya (2020)</a:t>
                      </a:r>
                      <a:endParaRPr lang="it-IT" sz="1000" b="0" i="0" u="none" strike="noStrike" dirty="0">
                        <a:solidFill>
                          <a:srgbClr val="000000"/>
                        </a:solidFill>
                        <a:effectLst/>
                        <a:latin typeface="Calibri" panose="020F0502020204030204" pitchFamily="34" charset="0"/>
                      </a:endParaRPr>
                    </a:p>
                  </a:txBody>
                  <a:tcPr marL="4763" marR="4763" marT="4763" marB="0" anchor="b"/>
                </a:tc>
                <a:tc>
                  <a:txBody>
                    <a:bodyPr/>
                    <a:lstStyle/>
                    <a:p>
                      <a:pPr algn="ctr" fontAlgn="b">
                        <a:buNone/>
                      </a:pPr>
                      <a:r>
                        <a:rPr lang="en-US" sz="1000" u="none" strike="noStrike">
                          <a:effectLst/>
                        </a:rPr>
                        <a:t>✅</a:t>
                      </a:r>
                      <a:endParaRPr lang="en-US" sz="1000" b="0" i="0" u="none" strike="noStrike">
                        <a:solidFill>
                          <a:srgbClr val="000000"/>
                        </a:solidFill>
                        <a:effectLst/>
                        <a:latin typeface="Calibri" panose="020F0502020204030204" pitchFamily="34" charset="0"/>
                      </a:endParaRPr>
                    </a:p>
                  </a:txBody>
                  <a:tcPr marL="4763" marR="4763" marT="4763" marB="0" anchor="ctr"/>
                </a:tc>
                <a:tc>
                  <a:txBody>
                    <a:bodyPr/>
                    <a:lstStyle/>
                    <a:p>
                      <a:pPr algn="ctr" fontAlgn="b">
                        <a:buNone/>
                      </a:pPr>
                      <a:r>
                        <a:rPr lang="en-US" sz="1000" u="none" strike="noStrike">
                          <a:effectLst/>
                        </a:rPr>
                        <a:t> </a:t>
                      </a:r>
                      <a:endParaRPr lang="en-US" sz="1000" b="0" i="0" u="none" strike="noStrike">
                        <a:solidFill>
                          <a:srgbClr val="000000"/>
                        </a:solidFill>
                        <a:effectLst/>
                        <a:latin typeface="Calibri" panose="020F0502020204030204" pitchFamily="34" charset="0"/>
                      </a:endParaRPr>
                    </a:p>
                  </a:txBody>
                  <a:tcPr marL="4763" marR="4763" marT="4763" marB="0" anchor="ctr"/>
                </a:tc>
                <a:tc>
                  <a:txBody>
                    <a:bodyPr/>
                    <a:lstStyle/>
                    <a:p>
                      <a:pPr algn="ctr" fontAlgn="b">
                        <a:buNone/>
                      </a:pPr>
                      <a:r>
                        <a:rPr lang="en-US" sz="1000" u="none" strike="noStrike">
                          <a:effectLst/>
                        </a:rPr>
                        <a:t> </a:t>
                      </a:r>
                      <a:endParaRPr lang="en-US" sz="1000" b="0" i="0" u="none" strike="noStrike">
                        <a:solidFill>
                          <a:srgbClr val="000000"/>
                        </a:solidFill>
                        <a:effectLst/>
                        <a:latin typeface="Calibri" panose="020F0502020204030204" pitchFamily="34" charset="0"/>
                      </a:endParaRPr>
                    </a:p>
                  </a:txBody>
                  <a:tcPr marL="4763" marR="4763" marT="4763" marB="0" anchor="ctr"/>
                </a:tc>
                <a:tc>
                  <a:txBody>
                    <a:bodyPr/>
                    <a:lstStyle/>
                    <a:p>
                      <a:pPr algn="ctr" fontAlgn="b">
                        <a:buNone/>
                      </a:pPr>
                      <a:r>
                        <a:rPr lang="en-US" sz="1000" u="none" strike="noStrike">
                          <a:effectLst/>
                        </a:rPr>
                        <a:t> </a:t>
                      </a:r>
                      <a:endParaRPr lang="en-US" sz="1000" b="0" i="0" u="none" strike="noStrike">
                        <a:solidFill>
                          <a:srgbClr val="000000"/>
                        </a:solidFill>
                        <a:effectLst/>
                        <a:latin typeface="Calibri" panose="020F0502020204030204" pitchFamily="34" charset="0"/>
                      </a:endParaRPr>
                    </a:p>
                  </a:txBody>
                  <a:tcPr marL="4763" marR="4763" marT="4763" marB="0" anchor="ctr"/>
                </a:tc>
                <a:tc>
                  <a:txBody>
                    <a:bodyPr/>
                    <a:lstStyle/>
                    <a:p>
                      <a:pPr algn="ctr" fontAlgn="b">
                        <a:buNone/>
                      </a:pPr>
                      <a:r>
                        <a:rPr lang="en-US" sz="1000" u="none" strike="noStrike" dirty="0">
                          <a:effectLst/>
                        </a:rPr>
                        <a:t> </a:t>
                      </a:r>
                      <a:endParaRPr lang="en-US" sz="1000" b="0" i="0" u="none" strike="noStrike" dirty="0">
                        <a:solidFill>
                          <a:srgbClr val="000000"/>
                        </a:solidFill>
                        <a:effectLst/>
                        <a:latin typeface="Calibri" panose="020F0502020204030204" pitchFamily="34" charset="0"/>
                      </a:endParaRPr>
                    </a:p>
                  </a:txBody>
                  <a:tcPr marL="4763" marR="4763" marT="4763" marB="0" anchor="ctr"/>
                </a:tc>
                <a:tc>
                  <a:txBody>
                    <a:bodyPr/>
                    <a:lstStyle/>
                    <a:p>
                      <a:pPr algn="ctr" fontAlgn="b">
                        <a:buNone/>
                      </a:pPr>
                      <a:r>
                        <a:rPr lang="en-US" sz="1000" u="none" strike="noStrike">
                          <a:effectLst/>
                        </a:rPr>
                        <a:t> </a:t>
                      </a:r>
                      <a:endParaRPr lang="en-US" sz="1000" b="0" i="0" u="none" strike="noStrike">
                        <a:solidFill>
                          <a:srgbClr val="000000"/>
                        </a:solidFill>
                        <a:effectLst/>
                        <a:latin typeface="Calibri" panose="020F0502020204030204" pitchFamily="34" charset="0"/>
                      </a:endParaRPr>
                    </a:p>
                  </a:txBody>
                  <a:tcPr marL="4763" marR="4763" marT="4763" marB="0" anchor="ctr"/>
                </a:tc>
                <a:extLst>
                  <a:ext uri="{0D108BD9-81ED-4DB2-BD59-A6C34878D82A}">
                    <a16:rowId xmlns:a16="http://schemas.microsoft.com/office/drawing/2014/main" val="428179924"/>
                  </a:ext>
                </a:extLst>
              </a:tr>
              <a:tr h="218758">
                <a:tc>
                  <a:txBody>
                    <a:bodyPr/>
                    <a:lstStyle/>
                    <a:p>
                      <a:pPr algn="ctr" fontAlgn="b">
                        <a:buNone/>
                      </a:pPr>
                      <a:r>
                        <a:rPr lang="en-US" sz="1000" u="none" strike="noStrike">
                          <a:effectLst/>
                        </a:rPr>
                        <a:t>5</a:t>
                      </a:r>
                      <a:endParaRPr lang="en-US" sz="1000" b="0" i="0" u="none" strike="noStrike">
                        <a:solidFill>
                          <a:srgbClr val="000000"/>
                        </a:solidFill>
                        <a:effectLst/>
                        <a:latin typeface="Calibri" panose="020F0502020204030204" pitchFamily="34" charset="0"/>
                      </a:endParaRPr>
                    </a:p>
                  </a:txBody>
                  <a:tcPr marL="4763" marR="4763" marT="4763" marB="0" anchor="b"/>
                </a:tc>
                <a:tc>
                  <a:txBody>
                    <a:bodyPr/>
                    <a:lstStyle/>
                    <a:p>
                      <a:pPr algn="l" fontAlgn="b">
                        <a:buNone/>
                      </a:pPr>
                      <a:r>
                        <a:rPr lang="en-US" sz="1000" u="none" strike="noStrike" dirty="0">
                          <a:effectLst/>
                        </a:rPr>
                        <a:t>Twitch Veri </a:t>
                      </a:r>
                      <a:r>
                        <a:rPr lang="en-US" sz="1000" u="none" strike="noStrike" dirty="0" err="1">
                          <a:effectLst/>
                        </a:rPr>
                        <a:t>İhlali</a:t>
                      </a:r>
                      <a:r>
                        <a:rPr lang="en-US" sz="1000" u="none" strike="noStrike" dirty="0">
                          <a:effectLst/>
                        </a:rPr>
                        <a:t> – Türkiye </a:t>
                      </a:r>
                      <a:r>
                        <a:rPr lang="en-US" sz="1000" u="none" strike="noStrike" dirty="0" err="1">
                          <a:effectLst/>
                        </a:rPr>
                        <a:t>Kullanıcıları</a:t>
                      </a:r>
                      <a:r>
                        <a:rPr lang="en-US" sz="1000" u="none" strike="noStrike" dirty="0">
                          <a:effectLst/>
                        </a:rPr>
                        <a:t> (2021)</a:t>
                      </a:r>
                      <a:endParaRPr lang="en-US" sz="1000" b="0" i="0" u="none" strike="noStrike" dirty="0">
                        <a:solidFill>
                          <a:srgbClr val="000000"/>
                        </a:solidFill>
                        <a:effectLst/>
                        <a:latin typeface="Calibri" panose="020F0502020204030204" pitchFamily="34" charset="0"/>
                      </a:endParaRPr>
                    </a:p>
                  </a:txBody>
                  <a:tcPr marL="4763" marR="4763" marT="4763" marB="0" anchor="b"/>
                </a:tc>
                <a:tc>
                  <a:txBody>
                    <a:bodyPr/>
                    <a:lstStyle/>
                    <a:p>
                      <a:pPr algn="ctr" fontAlgn="b">
                        <a:buNone/>
                      </a:pPr>
                      <a:r>
                        <a:rPr lang="en-US" sz="1000" u="none" strike="noStrike">
                          <a:effectLst/>
                        </a:rPr>
                        <a:t>✅</a:t>
                      </a:r>
                      <a:endParaRPr lang="en-US" sz="1000" b="0" i="0" u="none" strike="noStrike">
                        <a:solidFill>
                          <a:srgbClr val="000000"/>
                        </a:solidFill>
                        <a:effectLst/>
                        <a:latin typeface="Calibri" panose="020F0502020204030204" pitchFamily="34" charset="0"/>
                      </a:endParaRPr>
                    </a:p>
                  </a:txBody>
                  <a:tcPr marL="4763" marR="4763" marT="4763" marB="0" anchor="ctr"/>
                </a:tc>
                <a:tc>
                  <a:txBody>
                    <a:bodyPr/>
                    <a:lstStyle/>
                    <a:p>
                      <a:pPr algn="ctr" fontAlgn="b">
                        <a:buNone/>
                      </a:pPr>
                      <a:r>
                        <a:rPr lang="en-US" sz="1000" u="none" strike="noStrike" dirty="0">
                          <a:effectLst/>
                        </a:rPr>
                        <a:t> </a:t>
                      </a:r>
                      <a:endParaRPr lang="en-US" sz="1000" b="0" i="0" u="none" strike="noStrike" dirty="0">
                        <a:solidFill>
                          <a:srgbClr val="000000"/>
                        </a:solidFill>
                        <a:effectLst/>
                        <a:latin typeface="Calibri" panose="020F0502020204030204" pitchFamily="34" charset="0"/>
                      </a:endParaRPr>
                    </a:p>
                  </a:txBody>
                  <a:tcPr marL="4763" marR="4763" marT="4763" marB="0" anchor="ctr"/>
                </a:tc>
                <a:tc>
                  <a:txBody>
                    <a:bodyPr/>
                    <a:lstStyle/>
                    <a:p>
                      <a:pPr algn="ctr" fontAlgn="b">
                        <a:buNone/>
                      </a:pPr>
                      <a:r>
                        <a:rPr lang="en-US" sz="1000" u="none" strike="noStrike" dirty="0">
                          <a:effectLst/>
                        </a:rPr>
                        <a:t> </a:t>
                      </a:r>
                      <a:endParaRPr lang="en-US" sz="1000" b="0" i="0" u="none" strike="noStrike" dirty="0">
                        <a:solidFill>
                          <a:srgbClr val="000000"/>
                        </a:solidFill>
                        <a:effectLst/>
                        <a:latin typeface="Calibri" panose="020F0502020204030204" pitchFamily="34" charset="0"/>
                      </a:endParaRPr>
                    </a:p>
                  </a:txBody>
                  <a:tcPr marL="4763" marR="4763" marT="4763" marB="0" anchor="ctr"/>
                </a:tc>
                <a:tc>
                  <a:txBody>
                    <a:bodyPr/>
                    <a:lstStyle/>
                    <a:p>
                      <a:pPr algn="ctr" fontAlgn="b">
                        <a:buNone/>
                      </a:pPr>
                      <a:r>
                        <a:rPr lang="en-US" sz="1000" u="none" strike="noStrike">
                          <a:effectLst/>
                        </a:rPr>
                        <a:t>✅</a:t>
                      </a:r>
                      <a:endParaRPr lang="en-US" sz="1000" b="0" i="0" u="none" strike="noStrike">
                        <a:solidFill>
                          <a:srgbClr val="000000"/>
                        </a:solidFill>
                        <a:effectLst/>
                        <a:latin typeface="Calibri" panose="020F0502020204030204" pitchFamily="34" charset="0"/>
                      </a:endParaRPr>
                    </a:p>
                  </a:txBody>
                  <a:tcPr marL="4763" marR="4763" marT="4763" marB="0" anchor="ctr"/>
                </a:tc>
                <a:tc>
                  <a:txBody>
                    <a:bodyPr/>
                    <a:lstStyle/>
                    <a:p>
                      <a:pPr algn="ctr" fontAlgn="b">
                        <a:buNone/>
                      </a:pPr>
                      <a:r>
                        <a:rPr lang="en-US" sz="1000" u="none" strike="noStrike" dirty="0">
                          <a:effectLst/>
                        </a:rPr>
                        <a:t> </a:t>
                      </a:r>
                      <a:endParaRPr lang="en-US" sz="1000" b="0" i="0" u="none" strike="noStrike" dirty="0">
                        <a:solidFill>
                          <a:srgbClr val="000000"/>
                        </a:solidFill>
                        <a:effectLst/>
                        <a:latin typeface="Calibri" panose="020F0502020204030204" pitchFamily="34" charset="0"/>
                      </a:endParaRPr>
                    </a:p>
                  </a:txBody>
                  <a:tcPr marL="4763" marR="4763" marT="4763" marB="0" anchor="ctr"/>
                </a:tc>
                <a:tc>
                  <a:txBody>
                    <a:bodyPr/>
                    <a:lstStyle/>
                    <a:p>
                      <a:pPr algn="ctr" fontAlgn="b">
                        <a:buNone/>
                      </a:pPr>
                      <a:r>
                        <a:rPr lang="en-US" sz="1000" u="none" strike="noStrike">
                          <a:effectLst/>
                        </a:rPr>
                        <a:t> </a:t>
                      </a:r>
                      <a:endParaRPr lang="en-US" sz="1000" b="0" i="0" u="none" strike="noStrike">
                        <a:solidFill>
                          <a:srgbClr val="000000"/>
                        </a:solidFill>
                        <a:effectLst/>
                        <a:latin typeface="Calibri" panose="020F0502020204030204" pitchFamily="34" charset="0"/>
                      </a:endParaRPr>
                    </a:p>
                  </a:txBody>
                  <a:tcPr marL="4763" marR="4763" marT="4763" marB="0" anchor="ctr"/>
                </a:tc>
                <a:extLst>
                  <a:ext uri="{0D108BD9-81ED-4DB2-BD59-A6C34878D82A}">
                    <a16:rowId xmlns:a16="http://schemas.microsoft.com/office/drawing/2014/main" val="2161219197"/>
                  </a:ext>
                </a:extLst>
              </a:tr>
              <a:tr h="218758">
                <a:tc>
                  <a:txBody>
                    <a:bodyPr/>
                    <a:lstStyle/>
                    <a:p>
                      <a:pPr algn="ctr" fontAlgn="b">
                        <a:buNone/>
                      </a:pPr>
                      <a:r>
                        <a:rPr lang="en-US" sz="1000" u="none" strike="noStrike">
                          <a:effectLst/>
                        </a:rPr>
                        <a:t>6</a:t>
                      </a:r>
                      <a:endParaRPr lang="en-US" sz="1000" b="0" i="0" u="none" strike="noStrike">
                        <a:solidFill>
                          <a:srgbClr val="000000"/>
                        </a:solidFill>
                        <a:effectLst/>
                        <a:latin typeface="Calibri" panose="020F0502020204030204" pitchFamily="34" charset="0"/>
                      </a:endParaRPr>
                    </a:p>
                  </a:txBody>
                  <a:tcPr marL="4763" marR="4763" marT="4763" marB="0" anchor="b"/>
                </a:tc>
                <a:tc>
                  <a:txBody>
                    <a:bodyPr/>
                    <a:lstStyle/>
                    <a:p>
                      <a:pPr algn="l" fontAlgn="b">
                        <a:buNone/>
                      </a:pPr>
                      <a:r>
                        <a:rPr lang="en-US" sz="1000" u="none" strike="noStrike" dirty="0" err="1">
                          <a:effectLst/>
                        </a:rPr>
                        <a:t>Sağlık</a:t>
                      </a:r>
                      <a:r>
                        <a:rPr lang="en-US" sz="1000" u="none" strike="noStrike" dirty="0">
                          <a:effectLst/>
                        </a:rPr>
                        <a:t> </a:t>
                      </a:r>
                      <a:r>
                        <a:rPr lang="en-US" sz="1000" u="none" strike="noStrike" dirty="0" err="1">
                          <a:effectLst/>
                        </a:rPr>
                        <a:t>Bakanlığı</a:t>
                      </a:r>
                      <a:r>
                        <a:rPr lang="en-US" sz="1000" u="none" strike="noStrike" dirty="0">
                          <a:effectLst/>
                        </a:rPr>
                        <a:t> </a:t>
                      </a:r>
                      <a:r>
                        <a:rPr lang="en-US" sz="1000" u="none" strike="noStrike" dirty="0" err="1">
                          <a:effectLst/>
                        </a:rPr>
                        <a:t>Sistemi</a:t>
                      </a:r>
                      <a:r>
                        <a:rPr lang="en-US" sz="1000" u="none" strike="noStrike" dirty="0">
                          <a:effectLst/>
                        </a:rPr>
                        <a:t> </a:t>
                      </a:r>
                      <a:r>
                        <a:rPr lang="en-US" sz="1000" u="none" strike="noStrike" dirty="0" err="1">
                          <a:effectLst/>
                        </a:rPr>
                        <a:t>Saldırısı</a:t>
                      </a:r>
                      <a:r>
                        <a:rPr lang="en-US" sz="1000" u="none" strike="noStrike" dirty="0">
                          <a:effectLst/>
                        </a:rPr>
                        <a:t> – </a:t>
                      </a:r>
                      <a:r>
                        <a:rPr lang="en-US" sz="1000" u="none" strike="noStrike" dirty="0" err="1">
                          <a:effectLst/>
                        </a:rPr>
                        <a:t>Türkiye</a:t>
                      </a:r>
                      <a:r>
                        <a:rPr lang="en-US" sz="1000" u="none" strike="noStrike" dirty="0">
                          <a:effectLst/>
                        </a:rPr>
                        <a:t> (2021)</a:t>
                      </a:r>
                      <a:endParaRPr lang="en-US" sz="1000" b="0" i="0" u="none" strike="noStrike" dirty="0">
                        <a:solidFill>
                          <a:srgbClr val="000000"/>
                        </a:solidFill>
                        <a:effectLst/>
                        <a:latin typeface="Calibri" panose="020F0502020204030204" pitchFamily="34" charset="0"/>
                      </a:endParaRPr>
                    </a:p>
                  </a:txBody>
                  <a:tcPr marL="4763" marR="4763" marT="4763" marB="0" anchor="b"/>
                </a:tc>
                <a:tc>
                  <a:txBody>
                    <a:bodyPr/>
                    <a:lstStyle/>
                    <a:p>
                      <a:pPr algn="ctr" fontAlgn="b">
                        <a:buNone/>
                      </a:pPr>
                      <a:r>
                        <a:rPr lang="en-US" sz="1000" u="none" strike="noStrike" dirty="0">
                          <a:effectLst/>
                        </a:rPr>
                        <a:t>✅</a:t>
                      </a:r>
                      <a:endParaRPr lang="en-US" sz="1000" b="0" i="0" u="none" strike="noStrike" dirty="0">
                        <a:solidFill>
                          <a:srgbClr val="000000"/>
                        </a:solidFill>
                        <a:effectLst/>
                        <a:latin typeface="Calibri" panose="020F0502020204030204" pitchFamily="34" charset="0"/>
                      </a:endParaRPr>
                    </a:p>
                  </a:txBody>
                  <a:tcPr marL="4763" marR="4763" marT="4763" marB="0" anchor="ctr"/>
                </a:tc>
                <a:tc>
                  <a:txBody>
                    <a:bodyPr/>
                    <a:lstStyle/>
                    <a:p>
                      <a:pPr algn="ctr" fontAlgn="b">
                        <a:buNone/>
                      </a:pPr>
                      <a:r>
                        <a:rPr lang="en-US" sz="1000" u="none" strike="noStrike">
                          <a:effectLst/>
                        </a:rPr>
                        <a:t>✅</a:t>
                      </a:r>
                      <a:endParaRPr lang="en-US" sz="1000" b="0" i="0" u="none" strike="noStrike">
                        <a:solidFill>
                          <a:srgbClr val="000000"/>
                        </a:solidFill>
                        <a:effectLst/>
                        <a:latin typeface="Calibri" panose="020F0502020204030204" pitchFamily="34" charset="0"/>
                      </a:endParaRPr>
                    </a:p>
                  </a:txBody>
                  <a:tcPr marL="4763" marR="4763" marT="4763" marB="0" anchor="ctr"/>
                </a:tc>
                <a:tc>
                  <a:txBody>
                    <a:bodyPr/>
                    <a:lstStyle/>
                    <a:p>
                      <a:pPr algn="ctr" fontAlgn="b">
                        <a:buNone/>
                      </a:pPr>
                      <a:r>
                        <a:rPr lang="en-US" sz="1000" u="none" strike="noStrike">
                          <a:effectLst/>
                        </a:rPr>
                        <a:t> </a:t>
                      </a:r>
                      <a:endParaRPr lang="en-US" sz="1000" b="0" i="0" u="none" strike="noStrike">
                        <a:solidFill>
                          <a:srgbClr val="000000"/>
                        </a:solidFill>
                        <a:effectLst/>
                        <a:latin typeface="Calibri" panose="020F0502020204030204" pitchFamily="34" charset="0"/>
                      </a:endParaRPr>
                    </a:p>
                  </a:txBody>
                  <a:tcPr marL="4763" marR="4763" marT="4763" marB="0" anchor="ctr"/>
                </a:tc>
                <a:tc>
                  <a:txBody>
                    <a:bodyPr/>
                    <a:lstStyle/>
                    <a:p>
                      <a:pPr algn="ctr" fontAlgn="b">
                        <a:buNone/>
                      </a:pPr>
                      <a:r>
                        <a:rPr lang="en-US" sz="1000" u="none" strike="noStrike">
                          <a:effectLst/>
                        </a:rPr>
                        <a:t> </a:t>
                      </a:r>
                      <a:endParaRPr lang="en-US" sz="1000" b="0" i="0" u="none" strike="noStrike">
                        <a:solidFill>
                          <a:srgbClr val="000000"/>
                        </a:solidFill>
                        <a:effectLst/>
                        <a:latin typeface="Calibri" panose="020F0502020204030204" pitchFamily="34" charset="0"/>
                      </a:endParaRPr>
                    </a:p>
                  </a:txBody>
                  <a:tcPr marL="4763" marR="4763" marT="4763" marB="0" anchor="ctr"/>
                </a:tc>
                <a:tc>
                  <a:txBody>
                    <a:bodyPr/>
                    <a:lstStyle/>
                    <a:p>
                      <a:pPr algn="ctr" fontAlgn="b">
                        <a:buNone/>
                      </a:pPr>
                      <a:r>
                        <a:rPr lang="en-US" sz="1000" u="none" strike="noStrike">
                          <a:effectLst/>
                        </a:rPr>
                        <a:t>✅</a:t>
                      </a:r>
                      <a:endParaRPr lang="en-US" sz="1000" b="0" i="0" u="none" strike="noStrike">
                        <a:solidFill>
                          <a:srgbClr val="000000"/>
                        </a:solidFill>
                        <a:effectLst/>
                        <a:latin typeface="Calibri" panose="020F0502020204030204" pitchFamily="34" charset="0"/>
                      </a:endParaRPr>
                    </a:p>
                  </a:txBody>
                  <a:tcPr marL="4763" marR="4763" marT="4763" marB="0" anchor="ctr"/>
                </a:tc>
                <a:tc>
                  <a:txBody>
                    <a:bodyPr/>
                    <a:lstStyle/>
                    <a:p>
                      <a:pPr algn="ctr" fontAlgn="b">
                        <a:buNone/>
                      </a:pPr>
                      <a:r>
                        <a:rPr lang="en-US" sz="1000" u="none" strike="noStrike" dirty="0">
                          <a:effectLst/>
                        </a:rPr>
                        <a:t> </a:t>
                      </a:r>
                      <a:endParaRPr lang="en-US" sz="1000" b="0" i="0" u="none" strike="noStrike" dirty="0">
                        <a:solidFill>
                          <a:srgbClr val="000000"/>
                        </a:solidFill>
                        <a:effectLst/>
                        <a:latin typeface="Calibri" panose="020F0502020204030204" pitchFamily="34" charset="0"/>
                      </a:endParaRPr>
                    </a:p>
                  </a:txBody>
                  <a:tcPr marL="4763" marR="4763" marT="4763" marB="0" anchor="ctr"/>
                </a:tc>
                <a:extLst>
                  <a:ext uri="{0D108BD9-81ED-4DB2-BD59-A6C34878D82A}">
                    <a16:rowId xmlns:a16="http://schemas.microsoft.com/office/drawing/2014/main" val="172768773"/>
                  </a:ext>
                </a:extLst>
              </a:tr>
              <a:tr h="218758">
                <a:tc>
                  <a:txBody>
                    <a:bodyPr/>
                    <a:lstStyle/>
                    <a:p>
                      <a:pPr algn="ctr" fontAlgn="b">
                        <a:buNone/>
                      </a:pPr>
                      <a:r>
                        <a:rPr lang="en-US" sz="1000" u="none" strike="noStrike">
                          <a:effectLst/>
                        </a:rPr>
                        <a:t>7</a:t>
                      </a:r>
                      <a:endParaRPr lang="en-US" sz="1000" b="0" i="0" u="none" strike="noStrike">
                        <a:solidFill>
                          <a:srgbClr val="000000"/>
                        </a:solidFill>
                        <a:effectLst/>
                        <a:latin typeface="Calibri" panose="020F0502020204030204" pitchFamily="34" charset="0"/>
                      </a:endParaRPr>
                    </a:p>
                  </a:txBody>
                  <a:tcPr marL="4763" marR="4763" marT="4763" marB="0" anchor="b"/>
                </a:tc>
                <a:tc>
                  <a:txBody>
                    <a:bodyPr/>
                    <a:lstStyle/>
                    <a:p>
                      <a:pPr algn="l" fontAlgn="b">
                        <a:buNone/>
                      </a:pPr>
                      <a:r>
                        <a:rPr lang="en-US" sz="1000" u="none" strike="noStrike" dirty="0">
                          <a:effectLst/>
                        </a:rPr>
                        <a:t>HSE Ransomware Attack – İrlanda (2021)</a:t>
                      </a:r>
                      <a:endParaRPr lang="en-US" sz="1000" b="0" i="0" u="none" strike="noStrike" dirty="0">
                        <a:solidFill>
                          <a:srgbClr val="000000"/>
                        </a:solidFill>
                        <a:effectLst/>
                        <a:latin typeface="Calibri" panose="020F0502020204030204" pitchFamily="34" charset="0"/>
                      </a:endParaRPr>
                    </a:p>
                  </a:txBody>
                  <a:tcPr marL="4763" marR="4763" marT="4763" marB="0" anchor="b"/>
                </a:tc>
                <a:tc>
                  <a:txBody>
                    <a:bodyPr/>
                    <a:lstStyle/>
                    <a:p>
                      <a:pPr algn="ctr" fontAlgn="b">
                        <a:buNone/>
                      </a:pPr>
                      <a:r>
                        <a:rPr lang="en-US" sz="1000" u="none" strike="noStrike">
                          <a:effectLst/>
                        </a:rPr>
                        <a:t>✅</a:t>
                      </a:r>
                      <a:endParaRPr lang="en-US" sz="1000" b="0" i="0" u="none" strike="noStrike">
                        <a:solidFill>
                          <a:srgbClr val="000000"/>
                        </a:solidFill>
                        <a:effectLst/>
                        <a:latin typeface="Calibri" panose="020F0502020204030204" pitchFamily="34" charset="0"/>
                      </a:endParaRPr>
                    </a:p>
                  </a:txBody>
                  <a:tcPr marL="4763" marR="4763" marT="4763" marB="0" anchor="ctr"/>
                </a:tc>
                <a:tc>
                  <a:txBody>
                    <a:bodyPr/>
                    <a:lstStyle/>
                    <a:p>
                      <a:pPr algn="ctr" fontAlgn="b">
                        <a:buNone/>
                      </a:pPr>
                      <a:r>
                        <a:rPr lang="en-US" sz="1000" u="none" strike="noStrike" dirty="0">
                          <a:effectLst/>
                        </a:rPr>
                        <a:t>✅</a:t>
                      </a:r>
                      <a:endParaRPr lang="en-US" sz="1000" b="0" i="0" u="none" strike="noStrike" dirty="0">
                        <a:solidFill>
                          <a:srgbClr val="000000"/>
                        </a:solidFill>
                        <a:effectLst/>
                        <a:latin typeface="Calibri" panose="020F0502020204030204" pitchFamily="34" charset="0"/>
                      </a:endParaRPr>
                    </a:p>
                  </a:txBody>
                  <a:tcPr marL="4763" marR="4763" marT="4763" marB="0" anchor="ctr"/>
                </a:tc>
                <a:tc>
                  <a:txBody>
                    <a:bodyPr/>
                    <a:lstStyle/>
                    <a:p>
                      <a:pPr algn="ctr" fontAlgn="b">
                        <a:buNone/>
                      </a:pPr>
                      <a:r>
                        <a:rPr lang="en-US" sz="1000" u="none" strike="noStrike">
                          <a:effectLst/>
                        </a:rPr>
                        <a:t> </a:t>
                      </a:r>
                      <a:endParaRPr lang="en-US" sz="1000" b="0" i="0" u="none" strike="noStrike">
                        <a:solidFill>
                          <a:srgbClr val="000000"/>
                        </a:solidFill>
                        <a:effectLst/>
                        <a:latin typeface="Calibri" panose="020F0502020204030204" pitchFamily="34" charset="0"/>
                      </a:endParaRPr>
                    </a:p>
                  </a:txBody>
                  <a:tcPr marL="4763" marR="4763" marT="4763" marB="0" anchor="ctr"/>
                </a:tc>
                <a:tc>
                  <a:txBody>
                    <a:bodyPr/>
                    <a:lstStyle/>
                    <a:p>
                      <a:pPr algn="ctr" fontAlgn="b">
                        <a:buNone/>
                      </a:pPr>
                      <a:r>
                        <a:rPr lang="en-US" sz="1000" u="none" strike="noStrike">
                          <a:effectLst/>
                        </a:rPr>
                        <a:t> </a:t>
                      </a:r>
                      <a:endParaRPr lang="en-US" sz="1000" b="0" i="0" u="none" strike="noStrike">
                        <a:solidFill>
                          <a:srgbClr val="000000"/>
                        </a:solidFill>
                        <a:effectLst/>
                        <a:latin typeface="Calibri" panose="020F0502020204030204" pitchFamily="34" charset="0"/>
                      </a:endParaRPr>
                    </a:p>
                  </a:txBody>
                  <a:tcPr marL="4763" marR="4763" marT="4763" marB="0" anchor="ctr"/>
                </a:tc>
                <a:tc>
                  <a:txBody>
                    <a:bodyPr/>
                    <a:lstStyle/>
                    <a:p>
                      <a:pPr algn="ctr" fontAlgn="b">
                        <a:buNone/>
                      </a:pPr>
                      <a:r>
                        <a:rPr lang="en-US" sz="1000" u="none" strike="noStrike">
                          <a:effectLst/>
                        </a:rPr>
                        <a:t>✅</a:t>
                      </a:r>
                      <a:endParaRPr lang="en-US" sz="1000" b="0" i="0" u="none" strike="noStrike">
                        <a:solidFill>
                          <a:srgbClr val="000000"/>
                        </a:solidFill>
                        <a:effectLst/>
                        <a:latin typeface="Calibri" panose="020F0502020204030204" pitchFamily="34" charset="0"/>
                      </a:endParaRPr>
                    </a:p>
                  </a:txBody>
                  <a:tcPr marL="4763" marR="4763" marT="4763" marB="0" anchor="ctr"/>
                </a:tc>
                <a:tc>
                  <a:txBody>
                    <a:bodyPr/>
                    <a:lstStyle/>
                    <a:p>
                      <a:pPr algn="ctr" fontAlgn="b">
                        <a:buNone/>
                      </a:pPr>
                      <a:r>
                        <a:rPr lang="en-US" sz="1000" u="none" strike="noStrike" dirty="0">
                          <a:effectLst/>
                        </a:rPr>
                        <a:t>✅</a:t>
                      </a:r>
                      <a:endParaRPr lang="en-US" sz="1000" b="0" i="0" u="none" strike="noStrike" dirty="0">
                        <a:solidFill>
                          <a:srgbClr val="000000"/>
                        </a:solidFill>
                        <a:effectLst/>
                        <a:latin typeface="Calibri" panose="020F0502020204030204" pitchFamily="34" charset="0"/>
                      </a:endParaRPr>
                    </a:p>
                  </a:txBody>
                  <a:tcPr marL="4763" marR="4763" marT="4763" marB="0" anchor="ctr"/>
                </a:tc>
                <a:extLst>
                  <a:ext uri="{0D108BD9-81ED-4DB2-BD59-A6C34878D82A}">
                    <a16:rowId xmlns:a16="http://schemas.microsoft.com/office/drawing/2014/main" val="2120757366"/>
                  </a:ext>
                </a:extLst>
              </a:tr>
              <a:tr h="218758">
                <a:tc>
                  <a:txBody>
                    <a:bodyPr/>
                    <a:lstStyle/>
                    <a:p>
                      <a:pPr algn="ctr" fontAlgn="b">
                        <a:buNone/>
                      </a:pPr>
                      <a:r>
                        <a:rPr lang="en-US" sz="1000" u="none" strike="noStrike">
                          <a:effectLst/>
                        </a:rPr>
                        <a:t>8</a:t>
                      </a:r>
                      <a:endParaRPr lang="en-US" sz="1000" b="0" i="0" u="none" strike="noStrike">
                        <a:solidFill>
                          <a:srgbClr val="000000"/>
                        </a:solidFill>
                        <a:effectLst/>
                        <a:latin typeface="Calibri" panose="020F0502020204030204" pitchFamily="34" charset="0"/>
                      </a:endParaRPr>
                    </a:p>
                  </a:txBody>
                  <a:tcPr marL="4763" marR="4763" marT="4763" marB="0" anchor="b"/>
                </a:tc>
                <a:tc>
                  <a:txBody>
                    <a:bodyPr/>
                    <a:lstStyle/>
                    <a:p>
                      <a:pPr algn="l" fontAlgn="b">
                        <a:buNone/>
                      </a:pPr>
                      <a:r>
                        <a:rPr lang="en-US" sz="1000" u="none" strike="noStrike" dirty="0">
                          <a:effectLst/>
                        </a:rPr>
                        <a:t>Microsoft Exchange Server Attack – Global (2021)</a:t>
                      </a:r>
                      <a:endParaRPr lang="en-US" sz="1000" b="0" i="0" u="none" strike="noStrike" dirty="0">
                        <a:solidFill>
                          <a:srgbClr val="000000"/>
                        </a:solidFill>
                        <a:effectLst/>
                        <a:latin typeface="Calibri" panose="020F0502020204030204" pitchFamily="34" charset="0"/>
                      </a:endParaRPr>
                    </a:p>
                  </a:txBody>
                  <a:tcPr marL="4763" marR="4763" marT="4763" marB="0" anchor="b"/>
                </a:tc>
                <a:tc>
                  <a:txBody>
                    <a:bodyPr/>
                    <a:lstStyle/>
                    <a:p>
                      <a:pPr algn="ctr" fontAlgn="b">
                        <a:buNone/>
                      </a:pPr>
                      <a:r>
                        <a:rPr lang="en-US" sz="1000" u="none" strike="noStrike">
                          <a:effectLst/>
                        </a:rPr>
                        <a:t>✅</a:t>
                      </a:r>
                      <a:endParaRPr lang="en-US" sz="1000" b="0" i="0" u="none" strike="noStrike">
                        <a:solidFill>
                          <a:srgbClr val="000000"/>
                        </a:solidFill>
                        <a:effectLst/>
                        <a:latin typeface="Calibri" panose="020F0502020204030204" pitchFamily="34" charset="0"/>
                      </a:endParaRPr>
                    </a:p>
                  </a:txBody>
                  <a:tcPr marL="4763" marR="4763" marT="4763" marB="0" anchor="ctr"/>
                </a:tc>
                <a:tc>
                  <a:txBody>
                    <a:bodyPr/>
                    <a:lstStyle/>
                    <a:p>
                      <a:pPr algn="ctr" fontAlgn="b">
                        <a:buNone/>
                      </a:pPr>
                      <a:r>
                        <a:rPr lang="en-US" sz="1000" u="none" strike="noStrike" dirty="0">
                          <a:effectLst/>
                        </a:rPr>
                        <a:t> </a:t>
                      </a:r>
                      <a:endParaRPr lang="en-US" sz="1000" b="0" i="0" u="none" strike="noStrike" dirty="0">
                        <a:solidFill>
                          <a:srgbClr val="000000"/>
                        </a:solidFill>
                        <a:effectLst/>
                        <a:latin typeface="Calibri" panose="020F0502020204030204" pitchFamily="34" charset="0"/>
                      </a:endParaRPr>
                    </a:p>
                  </a:txBody>
                  <a:tcPr marL="4763" marR="4763" marT="4763" marB="0" anchor="ctr"/>
                </a:tc>
                <a:tc>
                  <a:txBody>
                    <a:bodyPr/>
                    <a:lstStyle/>
                    <a:p>
                      <a:pPr algn="ctr" fontAlgn="b">
                        <a:buNone/>
                      </a:pPr>
                      <a:r>
                        <a:rPr lang="en-US" sz="1000" u="none" strike="noStrike" dirty="0">
                          <a:effectLst/>
                        </a:rPr>
                        <a:t>✅</a:t>
                      </a:r>
                      <a:endParaRPr lang="en-US" sz="1000" b="0" i="0" u="none" strike="noStrike" dirty="0">
                        <a:solidFill>
                          <a:srgbClr val="000000"/>
                        </a:solidFill>
                        <a:effectLst/>
                        <a:latin typeface="Calibri" panose="020F0502020204030204" pitchFamily="34" charset="0"/>
                      </a:endParaRPr>
                    </a:p>
                  </a:txBody>
                  <a:tcPr marL="4763" marR="4763" marT="4763" marB="0" anchor="ctr"/>
                </a:tc>
                <a:tc>
                  <a:txBody>
                    <a:bodyPr/>
                    <a:lstStyle/>
                    <a:p>
                      <a:pPr algn="ctr" fontAlgn="b">
                        <a:buNone/>
                      </a:pPr>
                      <a:r>
                        <a:rPr lang="en-US" sz="1000" u="none" strike="noStrike">
                          <a:effectLst/>
                        </a:rPr>
                        <a:t> </a:t>
                      </a:r>
                      <a:endParaRPr lang="en-US" sz="1000" b="0" i="0" u="none" strike="noStrike">
                        <a:solidFill>
                          <a:srgbClr val="000000"/>
                        </a:solidFill>
                        <a:effectLst/>
                        <a:latin typeface="Calibri" panose="020F0502020204030204" pitchFamily="34" charset="0"/>
                      </a:endParaRPr>
                    </a:p>
                  </a:txBody>
                  <a:tcPr marL="4763" marR="4763" marT="4763" marB="0" anchor="ctr"/>
                </a:tc>
                <a:tc>
                  <a:txBody>
                    <a:bodyPr/>
                    <a:lstStyle/>
                    <a:p>
                      <a:pPr algn="ctr" fontAlgn="b">
                        <a:buNone/>
                      </a:pPr>
                      <a:r>
                        <a:rPr lang="en-US" sz="1000" u="none" strike="noStrike">
                          <a:effectLst/>
                        </a:rPr>
                        <a:t>✅</a:t>
                      </a:r>
                      <a:endParaRPr lang="en-US" sz="1000" b="0" i="0" u="none" strike="noStrike">
                        <a:solidFill>
                          <a:srgbClr val="000000"/>
                        </a:solidFill>
                        <a:effectLst/>
                        <a:latin typeface="Calibri" panose="020F0502020204030204" pitchFamily="34" charset="0"/>
                      </a:endParaRPr>
                    </a:p>
                  </a:txBody>
                  <a:tcPr marL="4763" marR="4763" marT="4763" marB="0" anchor="ctr"/>
                </a:tc>
                <a:tc>
                  <a:txBody>
                    <a:bodyPr/>
                    <a:lstStyle/>
                    <a:p>
                      <a:pPr algn="ctr" fontAlgn="b">
                        <a:buNone/>
                      </a:pPr>
                      <a:r>
                        <a:rPr lang="en-US" sz="1000" u="none" strike="noStrike" dirty="0">
                          <a:effectLst/>
                        </a:rPr>
                        <a:t> </a:t>
                      </a:r>
                      <a:endParaRPr lang="en-US" sz="1000" b="0" i="0" u="none" strike="noStrike" dirty="0">
                        <a:solidFill>
                          <a:srgbClr val="000000"/>
                        </a:solidFill>
                        <a:effectLst/>
                        <a:latin typeface="Calibri" panose="020F0502020204030204" pitchFamily="34" charset="0"/>
                      </a:endParaRPr>
                    </a:p>
                  </a:txBody>
                  <a:tcPr marL="4763" marR="4763" marT="4763" marB="0" anchor="ctr"/>
                </a:tc>
                <a:extLst>
                  <a:ext uri="{0D108BD9-81ED-4DB2-BD59-A6C34878D82A}">
                    <a16:rowId xmlns:a16="http://schemas.microsoft.com/office/drawing/2014/main" val="3809096256"/>
                  </a:ext>
                </a:extLst>
              </a:tr>
              <a:tr h="218758">
                <a:tc>
                  <a:txBody>
                    <a:bodyPr/>
                    <a:lstStyle/>
                    <a:p>
                      <a:pPr algn="ctr" fontAlgn="b">
                        <a:buNone/>
                      </a:pPr>
                      <a:r>
                        <a:rPr lang="en-US" sz="1000" u="none" strike="noStrike">
                          <a:effectLst/>
                        </a:rPr>
                        <a:t>9</a:t>
                      </a:r>
                      <a:endParaRPr lang="en-US" sz="1000" b="0" i="0" u="none" strike="noStrike">
                        <a:solidFill>
                          <a:srgbClr val="000000"/>
                        </a:solidFill>
                        <a:effectLst/>
                        <a:latin typeface="Calibri" panose="020F0502020204030204" pitchFamily="34" charset="0"/>
                      </a:endParaRPr>
                    </a:p>
                  </a:txBody>
                  <a:tcPr marL="4763" marR="4763" marT="4763" marB="0" anchor="b"/>
                </a:tc>
                <a:tc>
                  <a:txBody>
                    <a:bodyPr/>
                    <a:lstStyle/>
                    <a:p>
                      <a:pPr algn="l" fontAlgn="b">
                        <a:buNone/>
                      </a:pPr>
                      <a:r>
                        <a:rPr lang="en-US" sz="1000" u="none" strike="noStrike">
                          <a:effectLst/>
                        </a:rPr>
                        <a:t>RedCross Data Breach – İsviçre (2022)</a:t>
                      </a:r>
                      <a:endParaRPr lang="en-US" sz="1000" b="0" i="0" u="none" strike="noStrike">
                        <a:solidFill>
                          <a:srgbClr val="000000"/>
                        </a:solidFill>
                        <a:effectLst/>
                        <a:latin typeface="Calibri" panose="020F0502020204030204" pitchFamily="34" charset="0"/>
                      </a:endParaRPr>
                    </a:p>
                  </a:txBody>
                  <a:tcPr marL="4763" marR="4763" marT="4763" marB="0" anchor="b"/>
                </a:tc>
                <a:tc>
                  <a:txBody>
                    <a:bodyPr/>
                    <a:lstStyle/>
                    <a:p>
                      <a:pPr algn="ctr" fontAlgn="b">
                        <a:buNone/>
                      </a:pPr>
                      <a:r>
                        <a:rPr lang="en-US" sz="1000" u="none" strike="noStrike">
                          <a:effectLst/>
                        </a:rPr>
                        <a:t>✅</a:t>
                      </a:r>
                      <a:endParaRPr lang="en-US" sz="1000" b="0" i="0" u="none" strike="noStrike">
                        <a:solidFill>
                          <a:srgbClr val="000000"/>
                        </a:solidFill>
                        <a:effectLst/>
                        <a:latin typeface="Calibri" panose="020F0502020204030204" pitchFamily="34" charset="0"/>
                      </a:endParaRPr>
                    </a:p>
                  </a:txBody>
                  <a:tcPr marL="4763" marR="4763" marT="4763" marB="0" anchor="ctr"/>
                </a:tc>
                <a:tc>
                  <a:txBody>
                    <a:bodyPr/>
                    <a:lstStyle/>
                    <a:p>
                      <a:pPr algn="ctr" fontAlgn="b">
                        <a:buNone/>
                      </a:pPr>
                      <a:r>
                        <a:rPr lang="en-US" sz="1000" u="none" strike="noStrike" dirty="0">
                          <a:effectLst/>
                        </a:rPr>
                        <a:t>✅</a:t>
                      </a:r>
                      <a:endParaRPr lang="en-US" sz="1000" b="0" i="0" u="none" strike="noStrike" dirty="0">
                        <a:solidFill>
                          <a:srgbClr val="000000"/>
                        </a:solidFill>
                        <a:effectLst/>
                        <a:latin typeface="Calibri" panose="020F0502020204030204" pitchFamily="34" charset="0"/>
                      </a:endParaRPr>
                    </a:p>
                  </a:txBody>
                  <a:tcPr marL="4763" marR="4763" marT="4763" marB="0" anchor="ctr"/>
                </a:tc>
                <a:tc>
                  <a:txBody>
                    <a:bodyPr/>
                    <a:lstStyle/>
                    <a:p>
                      <a:pPr algn="ctr" fontAlgn="b">
                        <a:buNone/>
                      </a:pPr>
                      <a:r>
                        <a:rPr lang="en-US" sz="1000" u="none" strike="noStrike" dirty="0">
                          <a:effectLst/>
                        </a:rPr>
                        <a:t> </a:t>
                      </a:r>
                      <a:endParaRPr lang="en-US" sz="1000" b="0" i="0" u="none" strike="noStrike" dirty="0">
                        <a:solidFill>
                          <a:srgbClr val="000000"/>
                        </a:solidFill>
                        <a:effectLst/>
                        <a:latin typeface="Calibri" panose="020F0502020204030204" pitchFamily="34" charset="0"/>
                      </a:endParaRPr>
                    </a:p>
                  </a:txBody>
                  <a:tcPr marL="4763" marR="4763" marT="4763" marB="0" anchor="ctr"/>
                </a:tc>
                <a:tc>
                  <a:txBody>
                    <a:bodyPr/>
                    <a:lstStyle/>
                    <a:p>
                      <a:pPr algn="ctr" fontAlgn="b">
                        <a:buNone/>
                      </a:pPr>
                      <a:r>
                        <a:rPr lang="en-US" sz="1000" u="none" strike="noStrike">
                          <a:effectLst/>
                        </a:rPr>
                        <a:t> </a:t>
                      </a:r>
                      <a:endParaRPr lang="en-US" sz="1000" b="0" i="0" u="none" strike="noStrike">
                        <a:solidFill>
                          <a:srgbClr val="000000"/>
                        </a:solidFill>
                        <a:effectLst/>
                        <a:latin typeface="Calibri" panose="020F0502020204030204" pitchFamily="34" charset="0"/>
                      </a:endParaRPr>
                    </a:p>
                  </a:txBody>
                  <a:tcPr marL="4763" marR="4763" marT="4763" marB="0" anchor="ctr"/>
                </a:tc>
                <a:tc>
                  <a:txBody>
                    <a:bodyPr/>
                    <a:lstStyle/>
                    <a:p>
                      <a:pPr algn="ctr" fontAlgn="b">
                        <a:buNone/>
                      </a:pPr>
                      <a:r>
                        <a:rPr lang="en-US" sz="1000" u="none" strike="noStrike">
                          <a:effectLst/>
                        </a:rPr>
                        <a:t> </a:t>
                      </a:r>
                      <a:endParaRPr lang="en-US" sz="1000" b="0" i="0" u="none" strike="noStrike">
                        <a:solidFill>
                          <a:srgbClr val="000000"/>
                        </a:solidFill>
                        <a:effectLst/>
                        <a:latin typeface="Calibri" panose="020F0502020204030204" pitchFamily="34" charset="0"/>
                      </a:endParaRPr>
                    </a:p>
                  </a:txBody>
                  <a:tcPr marL="4763" marR="4763" marT="4763" marB="0" anchor="ctr"/>
                </a:tc>
                <a:tc>
                  <a:txBody>
                    <a:bodyPr/>
                    <a:lstStyle/>
                    <a:p>
                      <a:pPr algn="ctr" fontAlgn="b">
                        <a:buNone/>
                      </a:pPr>
                      <a:r>
                        <a:rPr lang="en-US" sz="1000" u="none" strike="noStrike" dirty="0">
                          <a:effectLst/>
                        </a:rPr>
                        <a:t> </a:t>
                      </a:r>
                      <a:endParaRPr lang="en-US" sz="1000" b="0" i="0" u="none" strike="noStrike" dirty="0">
                        <a:solidFill>
                          <a:srgbClr val="000000"/>
                        </a:solidFill>
                        <a:effectLst/>
                        <a:latin typeface="Calibri" panose="020F0502020204030204" pitchFamily="34" charset="0"/>
                      </a:endParaRPr>
                    </a:p>
                  </a:txBody>
                  <a:tcPr marL="4763" marR="4763" marT="4763" marB="0" anchor="ctr"/>
                </a:tc>
                <a:extLst>
                  <a:ext uri="{0D108BD9-81ED-4DB2-BD59-A6C34878D82A}">
                    <a16:rowId xmlns:a16="http://schemas.microsoft.com/office/drawing/2014/main" val="390833553"/>
                  </a:ext>
                </a:extLst>
              </a:tr>
              <a:tr h="218758">
                <a:tc>
                  <a:txBody>
                    <a:bodyPr/>
                    <a:lstStyle/>
                    <a:p>
                      <a:pPr algn="ctr" fontAlgn="b">
                        <a:buNone/>
                      </a:pPr>
                      <a:r>
                        <a:rPr lang="en-US" sz="1000" u="none" strike="noStrike">
                          <a:effectLst/>
                        </a:rPr>
                        <a:t>10</a:t>
                      </a:r>
                      <a:endParaRPr lang="en-US" sz="1000" b="0" i="0" u="none" strike="noStrike">
                        <a:solidFill>
                          <a:srgbClr val="000000"/>
                        </a:solidFill>
                        <a:effectLst/>
                        <a:latin typeface="Calibri" panose="020F0502020204030204" pitchFamily="34" charset="0"/>
                      </a:endParaRPr>
                    </a:p>
                  </a:txBody>
                  <a:tcPr marL="4763" marR="4763" marT="4763" marB="0" anchor="b"/>
                </a:tc>
                <a:tc>
                  <a:txBody>
                    <a:bodyPr/>
                    <a:lstStyle/>
                    <a:p>
                      <a:pPr algn="l" fontAlgn="b">
                        <a:buNone/>
                      </a:pPr>
                      <a:r>
                        <a:rPr lang="fr-FR" sz="1000" u="none" strike="noStrike">
                          <a:effectLst/>
                        </a:rPr>
                        <a:t>Toyota Supplier Hack – Japonya (2022)</a:t>
                      </a:r>
                      <a:endParaRPr lang="fr-FR" sz="1000" b="0" i="0" u="none" strike="noStrike">
                        <a:solidFill>
                          <a:srgbClr val="000000"/>
                        </a:solidFill>
                        <a:effectLst/>
                        <a:latin typeface="Calibri" panose="020F0502020204030204" pitchFamily="34" charset="0"/>
                      </a:endParaRPr>
                    </a:p>
                  </a:txBody>
                  <a:tcPr marL="4763" marR="4763" marT="4763" marB="0" anchor="b"/>
                </a:tc>
                <a:tc>
                  <a:txBody>
                    <a:bodyPr/>
                    <a:lstStyle/>
                    <a:p>
                      <a:pPr algn="ctr" fontAlgn="b">
                        <a:buNone/>
                      </a:pPr>
                      <a:r>
                        <a:rPr lang="en-US" sz="1000" u="none" strike="noStrike" dirty="0">
                          <a:effectLst/>
                        </a:rPr>
                        <a:t> </a:t>
                      </a:r>
                      <a:endParaRPr lang="en-US" sz="1000" b="0" i="0" u="none" strike="noStrike" dirty="0">
                        <a:solidFill>
                          <a:srgbClr val="000000"/>
                        </a:solidFill>
                        <a:effectLst/>
                        <a:latin typeface="Calibri" panose="020F0502020204030204" pitchFamily="34" charset="0"/>
                      </a:endParaRPr>
                    </a:p>
                  </a:txBody>
                  <a:tcPr marL="4763" marR="4763" marT="4763" marB="0" anchor="ctr"/>
                </a:tc>
                <a:tc>
                  <a:txBody>
                    <a:bodyPr/>
                    <a:lstStyle/>
                    <a:p>
                      <a:pPr algn="ctr" fontAlgn="b">
                        <a:buNone/>
                      </a:pPr>
                      <a:r>
                        <a:rPr lang="en-US" sz="1000" u="none" strike="noStrike">
                          <a:effectLst/>
                        </a:rPr>
                        <a:t> </a:t>
                      </a:r>
                      <a:endParaRPr lang="en-US" sz="1000" b="0" i="0" u="none" strike="noStrike">
                        <a:solidFill>
                          <a:srgbClr val="000000"/>
                        </a:solidFill>
                        <a:effectLst/>
                        <a:latin typeface="Calibri" panose="020F0502020204030204" pitchFamily="34" charset="0"/>
                      </a:endParaRPr>
                    </a:p>
                  </a:txBody>
                  <a:tcPr marL="4763" marR="4763" marT="4763" marB="0" anchor="ctr"/>
                </a:tc>
                <a:tc>
                  <a:txBody>
                    <a:bodyPr/>
                    <a:lstStyle/>
                    <a:p>
                      <a:pPr algn="ctr" fontAlgn="b">
                        <a:buNone/>
                      </a:pPr>
                      <a:r>
                        <a:rPr lang="en-US" sz="1000" u="none" strike="noStrike" dirty="0">
                          <a:effectLst/>
                        </a:rPr>
                        <a:t>✅</a:t>
                      </a:r>
                      <a:endParaRPr lang="en-US" sz="1000" b="0" i="0" u="none" strike="noStrike" dirty="0">
                        <a:solidFill>
                          <a:srgbClr val="000000"/>
                        </a:solidFill>
                        <a:effectLst/>
                        <a:latin typeface="Calibri" panose="020F0502020204030204" pitchFamily="34" charset="0"/>
                      </a:endParaRPr>
                    </a:p>
                  </a:txBody>
                  <a:tcPr marL="4763" marR="4763" marT="4763" marB="0" anchor="ctr"/>
                </a:tc>
                <a:tc>
                  <a:txBody>
                    <a:bodyPr/>
                    <a:lstStyle/>
                    <a:p>
                      <a:pPr algn="ctr" fontAlgn="b">
                        <a:buNone/>
                      </a:pPr>
                      <a:r>
                        <a:rPr lang="en-US" sz="1000" u="none" strike="noStrike" dirty="0">
                          <a:effectLst/>
                        </a:rPr>
                        <a:t> </a:t>
                      </a:r>
                      <a:endParaRPr lang="en-US" sz="1000" b="0" i="0" u="none" strike="noStrike" dirty="0">
                        <a:solidFill>
                          <a:srgbClr val="000000"/>
                        </a:solidFill>
                        <a:effectLst/>
                        <a:latin typeface="Calibri" panose="020F0502020204030204" pitchFamily="34" charset="0"/>
                      </a:endParaRPr>
                    </a:p>
                  </a:txBody>
                  <a:tcPr marL="4763" marR="4763" marT="4763" marB="0" anchor="ctr"/>
                </a:tc>
                <a:tc>
                  <a:txBody>
                    <a:bodyPr/>
                    <a:lstStyle/>
                    <a:p>
                      <a:pPr algn="ctr" fontAlgn="b">
                        <a:buNone/>
                      </a:pPr>
                      <a:r>
                        <a:rPr lang="en-US" sz="1000" u="none" strike="noStrike">
                          <a:effectLst/>
                        </a:rPr>
                        <a:t>✅</a:t>
                      </a:r>
                      <a:endParaRPr lang="en-US" sz="1000" b="0" i="0" u="none" strike="noStrike">
                        <a:solidFill>
                          <a:srgbClr val="000000"/>
                        </a:solidFill>
                        <a:effectLst/>
                        <a:latin typeface="Calibri" panose="020F0502020204030204" pitchFamily="34" charset="0"/>
                      </a:endParaRPr>
                    </a:p>
                  </a:txBody>
                  <a:tcPr marL="4763" marR="4763" marT="4763" marB="0" anchor="ctr"/>
                </a:tc>
                <a:tc>
                  <a:txBody>
                    <a:bodyPr/>
                    <a:lstStyle/>
                    <a:p>
                      <a:pPr algn="ctr" fontAlgn="b">
                        <a:buNone/>
                      </a:pPr>
                      <a:r>
                        <a:rPr lang="en-US" sz="1000" u="none" strike="noStrike" dirty="0">
                          <a:effectLst/>
                        </a:rPr>
                        <a:t>✅</a:t>
                      </a:r>
                      <a:endParaRPr lang="en-US" sz="1000" b="0" i="0" u="none" strike="noStrike" dirty="0">
                        <a:solidFill>
                          <a:srgbClr val="000000"/>
                        </a:solidFill>
                        <a:effectLst/>
                        <a:latin typeface="Calibri" panose="020F0502020204030204" pitchFamily="34" charset="0"/>
                      </a:endParaRPr>
                    </a:p>
                  </a:txBody>
                  <a:tcPr marL="4763" marR="4763" marT="4763" marB="0" anchor="ctr"/>
                </a:tc>
                <a:extLst>
                  <a:ext uri="{0D108BD9-81ED-4DB2-BD59-A6C34878D82A}">
                    <a16:rowId xmlns:a16="http://schemas.microsoft.com/office/drawing/2014/main" val="766130803"/>
                  </a:ext>
                </a:extLst>
              </a:tr>
              <a:tr h="218758">
                <a:tc>
                  <a:txBody>
                    <a:bodyPr/>
                    <a:lstStyle/>
                    <a:p>
                      <a:pPr algn="ctr" fontAlgn="b">
                        <a:buNone/>
                      </a:pPr>
                      <a:r>
                        <a:rPr lang="en-US" sz="1000" u="none" strike="noStrike">
                          <a:effectLst/>
                        </a:rPr>
                        <a:t>11</a:t>
                      </a:r>
                      <a:endParaRPr lang="en-US" sz="1000" b="0" i="0" u="none" strike="noStrike">
                        <a:solidFill>
                          <a:srgbClr val="000000"/>
                        </a:solidFill>
                        <a:effectLst/>
                        <a:latin typeface="Calibri" panose="020F0502020204030204" pitchFamily="34" charset="0"/>
                      </a:endParaRPr>
                    </a:p>
                  </a:txBody>
                  <a:tcPr marL="4763" marR="4763" marT="4763" marB="0" anchor="b"/>
                </a:tc>
                <a:tc>
                  <a:txBody>
                    <a:bodyPr/>
                    <a:lstStyle/>
                    <a:p>
                      <a:pPr algn="l" fontAlgn="b">
                        <a:buNone/>
                      </a:pPr>
                      <a:r>
                        <a:rPr lang="en-US" sz="1000" u="none" strike="noStrike">
                          <a:effectLst/>
                        </a:rPr>
                        <a:t>T-Mobile Breach – ABD (2023)</a:t>
                      </a:r>
                      <a:endParaRPr lang="en-US" sz="1000" b="0" i="0" u="none" strike="noStrike">
                        <a:solidFill>
                          <a:srgbClr val="000000"/>
                        </a:solidFill>
                        <a:effectLst/>
                        <a:latin typeface="Calibri" panose="020F0502020204030204" pitchFamily="34" charset="0"/>
                      </a:endParaRPr>
                    </a:p>
                  </a:txBody>
                  <a:tcPr marL="4763" marR="4763" marT="4763" marB="0" anchor="b"/>
                </a:tc>
                <a:tc>
                  <a:txBody>
                    <a:bodyPr/>
                    <a:lstStyle/>
                    <a:p>
                      <a:pPr algn="ctr" fontAlgn="b">
                        <a:buNone/>
                      </a:pPr>
                      <a:r>
                        <a:rPr lang="en-US" sz="1000" u="none" strike="noStrike">
                          <a:effectLst/>
                        </a:rPr>
                        <a:t>✅</a:t>
                      </a:r>
                      <a:endParaRPr lang="en-US" sz="1000" b="0" i="0" u="none" strike="noStrike">
                        <a:solidFill>
                          <a:srgbClr val="000000"/>
                        </a:solidFill>
                        <a:effectLst/>
                        <a:latin typeface="Calibri" panose="020F0502020204030204" pitchFamily="34" charset="0"/>
                      </a:endParaRPr>
                    </a:p>
                  </a:txBody>
                  <a:tcPr marL="4763" marR="4763" marT="4763" marB="0" anchor="ctr"/>
                </a:tc>
                <a:tc>
                  <a:txBody>
                    <a:bodyPr/>
                    <a:lstStyle/>
                    <a:p>
                      <a:pPr algn="ctr" fontAlgn="b">
                        <a:buNone/>
                      </a:pPr>
                      <a:r>
                        <a:rPr lang="en-US" sz="1000" u="none" strike="noStrike" dirty="0">
                          <a:effectLst/>
                        </a:rPr>
                        <a:t> </a:t>
                      </a:r>
                      <a:endParaRPr lang="en-US" sz="1000" b="0" i="0" u="none" strike="noStrike" dirty="0">
                        <a:solidFill>
                          <a:srgbClr val="000000"/>
                        </a:solidFill>
                        <a:effectLst/>
                        <a:latin typeface="Calibri" panose="020F0502020204030204" pitchFamily="34" charset="0"/>
                      </a:endParaRPr>
                    </a:p>
                  </a:txBody>
                  <a:tcPr marL="4763" marR="4763" marT="4763" marB="0" anchor="ctr"/>
                </a:tc>
                <a:tc>
                  <a:txBody>
                    <a:bodyPr/>
                    <a:lstStyle/>
                    <a:p>
                      <a:pPr algn="ctr" fontAlgn="b">
                        <a:buNone/>
                      </a:pPr>
                      <a:r>
                        <a:rPr lang="en-US" sz="1000" u="none" strike="noStrike">
                          <a:effectLst/>
                        </a:rPr>
                        <a:t> </a:t>
                      </a:r>
                      <a:endParaRPr lang="en-US" sz="1000" b="0" i="0" u="none" strike="noStrike">
                        <a:solidFill>
                          <a:srgbClr val="000000"/>
                        </a:solidFill>
                        <a:effectLst/>
                        <a:latin typeface="Calibri" panose="020F0502020204030204" pitchFamily="34" charset="0"/>
                      </a:endParaRPr>
                    </a:p>
                  </a:txBody>
                  <a:tcPr marL="4763" marR="4763" marT="4763" marB="0" anchor="ctr"/>
                </a:tc>
                <a:tc>
                  <a:txBody>
                    <a:bodyPr/>
                    <a:lstStyle/>
                    <a:p>
                      <a:pPr algn="ctr" fontAlgn="b">
                        <a:buNone/>
                      </a:pPr>
                      <a:r>
                        <a:rPr lang="en-US" sz="1000" u="none" strike="noStrike" dirty="0">
                          <a:effectLst/>
                        </a:rPr>
                        <a:t>✅</a:t>
                      </a:r>
                      <a:endParaRPr lang="en-US" sz="1000" b="0" i="0" u="none" strike="noStrike" dirty="0">
                        <a:solidFill>
                          <a:srgbClr val="000000"/>
                        </a:solidFill>
                        <a:effectLst/>
                        <a:latin typeface="Calibri" panose="020F0502020204030204" pitchFamily="34" charset="0"/>
                      </a:endParaRPr>
                    </a:p>
                  </a:txBody>
                  <a:tcPr marL="4763" marR="4763" marT="4763" marB="0" anchor="ctr"/>
                </a:tc>
                <a:tc>
                  <a:txBody>
                    <a:bodyPr/>
                    <a:lstStyle/>
                    <a:p>
                      <a:pPr algn="ctr" fontAlgn="b">
                        <a:buNone/>
                      </a:pPr>
                      <a:r>
                        <a:rPr lang="en-US" sz="1000" u="none" strike="noStrike">
                          <a:effectLst/>
                        </a:rPr>
                        <a:t> </a:t>
                      </a:r>
                      <a:endParaRPr lang="en-US" sz="1000" b="0" i="0" u="none" strike="noStrike">
                        <a:solidFill>
                          <a:srgbClr val="000000"/>
                        </a:solidFill>
                        <a:effectLst/>
                        <a:latin typeface="Calibri" panose="020F0502020204030204" pitchFamily="34" charset="0"/>
                      </a:endParaRPr>
                    </a:p>
                  </a:txBody>
                  <a:tcPr marL="4763" marR="4763" marT="4763" marB="0" anchor="ctr"/>
                </a:tc>
                <a:tc>
                  <a:txBody>
                    <a:bodyPr/>
                    <a:lstStyle/>
                    <a:p>
                      <a:pPr algn="ctr" fontAlgn="b">
                        <a:buNone/>
                      </a:pPr>
                      <a:r>
                        <a:rPr lang="en-US" sz="1000" u="none" strike="noStrike" dirty="0">
                          <a:effectLst/>
                        </a:rPr>
                        <a:t> </a:t>
                      </a:r>
                      <a:endParaRPr lang="en-US" sz="1000" b="0" i="0" u="none" strike="noStrike" dirty="0">
                        <a:solidFill>
                          <a:srgbClr val="000000"/>
                        </a:solidFill>
                        <a:effectLst/>
                        <a:latin typeface="Calibri" panose="020F0502020204030204" pitchFamily="34" charset="0"/>
                      </a:endParaRPr>
                    </a:p>
                  </a:txBody>
                  <a:tcPr marL="4763" marR="4763" marT="4763" marB="0" anchor="ctr"/>
                </a:tc>
                <a:extLst>
                  <a:ext uri="{0D108BD9-81ED-4DB2-BD59-A6C34878D82A}">
                    <a16:rowId xmlns:a16="http://schemas.microsoft.com/office/drawing/2014/main" val="784605164"/>
                  </a:ext>
                </a:extLst>
              </a:tr>
              <a:tr h="218758">
                <a:tc>
                  <a:txBody>
                    <a:bodyPr/>
                    <a:lstStyle/>
                    <a:p>
                      <a:pPr algn="ctr" fontAlgn="b">
                        <a:buNone/>
                      </a:pPr>
                      <a:r>
                        <a:rPr lang="en-US" sz="1000" u="none" strike="noStrike">
                          <a:effectLst/>
                        </a:rPr>
                        <a:t>12</a:t>
                      </a:r>
                      <a:endParaRPr lang="en-US" sz="1000" b="0" i="0" u="none" strike="noStrike">
                        <a:solidFill>
                          <a:srgbClr val="000000"/>
                        </a:solidFill>
                        <a:effectLst/>
                        <a:latin typeface="Calibri" panose="020F0502020204030204" pitchFamily="34" charset="0"/>
                      </a:endParaRPr>
                    </a:p>
                  </a:txBody>
                  <a:tcPr marL="4763" marR="4763" marT="4763" marB="0" anchor="b"/>
                </a:tc>
                <a:tc>
                  <a:txBody>
                    <a:bodyPr/>
                    <a:lstStyle/>
                    <a:p>
                      <a:pPr algn="l" fontAlgn="b">
                        <a:buNone/>
                      </a:pPr>
                      <a:r>
                        <a:rPr lang="en-US" sz="1000" u="none" strike="noStrike">
                          <a:effectLst/>
                        </a:rPr>
                        <a:t>MOVEit Exploit – Global (2023)</a:t>
                      </a:r>
                      <a:endParaRPr lang="en-US" sz="1000" b="0" i="0" u="none" strike="noStrike">
                        <a:solidFill>
                          <a:srgbClr val="000000"/>
                        </a:solidFill>
                        <a:effectLst/>
                        <a:latin typeface="Calibri" panose="020F0502020204030204" pitchFamily="34" charset="0"/>
                      </a:endParaRPr>
                    </a:p>
                  </a:txBody>
                  <a:tcPr marL="4763" marR="4763" marT="4763" marB="0" anchor="b"/>
                </a:tc>
                <a:tc>
                  <a:txBody>
                    <a:bodyPr/>
                    <a:lstStyle/>
                    <a:p>
                      <a:pPr algn="ctr" fontAlgn="b">
                        <a:buNone/>
                      </a:pPr>
                      <a:r>
                        <a:rPr lang="en-US" sz="1000" u="none" strike="noStrike">
                          <a:effectLst/>
                        </a:rPr>
                        <a:t>✅</a:t>
                      </a:r>
                      <a:endParaRPr lang="en-US" sz="1000" b="0" i="0" u="none" strike="noStrike">
                        <a:solidFill>
                          <a:srgbClr val="000000"/>
                        </a:solidFill>
                        <a:effectLst/>
                        <a:latin typeface="Calibri" panose="020F0502020204030204" pitchFamily="34" charset="0"/>
                      </a:endParaRPr>
                    </a:p>
                  </a:txBody>
                  <a:tcPr marL="4763" marR="4763" marT="4763" marB="0" anchor="ctr"/>
                </a:tc>
                <a:tc>
                  <a:txBody>
                    <a:bodyPr/>
                    <a:lstStyle/>
                    <a:p>
                      <a:pPr algn="ctr" fontAlgn="b">
                        <a:buNone/>
                      </a:pPr>
                      <a:r>
                        <a:rPr lang="en-US" sz="1000" u="none" strike="noStrike">
                          <a:effectLst/>
                        </a:rPr>
                        <a:t> </a:t>
                      </a:r>
                      <a:endParaRPr lang="en-US" sz="1000" b="0" i="0" u="none" strike="noStrike">
                        <a:solidFill>
                          <a:srgbClr val="000000"/>
                        </a:solidFill>
                        <a:effectLst/>
                        <a:latin typeface="Calibri" panose="020F0502020204030204" pitchFamily="34" charset="0"/>
                      </a:endParaRPr>
                    </a:p>
                  </a:txBody>
                  <a:tcPr marL="4763" marR="4763" marT="4763" marB="0" anchor="ctr"/>
                </a:tc>
                <a:tc>
                  <a:txBody>
                    <a:bodyPr/>
                    <a:lstStyle/>
                    <a:p>
                      <a:pPr algn="ctr" fontAlgn="b">
                        <a:buNone/>
                      </a:pPr>
                      <a:r>
                        <a:rPr lang="en-US" sz="1000" u="none" strike="noStrike" dirty="0">
                          <a:effectLst/>
                        </a:rPr>
                        <a:t>✅</a:t>
                      </a:r>
                      <a:endParaRPr lang="en-US" sz="1000" b="0" i="0" u="none" strike="noStrike" dirty="0">
                        <a:solidFill>
                          <a:srgbClr val="000000"/>
                        </a:solidFill>
                        <a:effectLst/>
                        <a:latin typeface="Calibri" panose="020F0502020204030204" pitchFamily="34" charset="0"/>
                      </a:endParaRPr>
                    </a:p>
                  </a:txBody>
                  <a:tcPr marL="4763" marR="4763" marT="4763" marB="0" anchor="ctr"/>
                </a:tc>
                <a:tc>
                  <a:txBody>
                    <a:bodyPr/>
                    <a:lstStyle/>
                    <a:p>
                      <a:pPr algn="ctr" fontAlgn="b">
                        <a:buNone/>
                      </a:pPr>
                      <a:r>
                        <a:rPr lang="en-US" sz="1000" u="none" strike="noStrike" dirty="0">
                          <a:effectLst/>
                        </a:rPr>
                        <a:t>✅</a:t>
                      </a:r>
                      <a:endParaRPr lang="en-US" sz="1000" b="0" i="0" u="none" strike="noStrike" dirty="0">
                        <a:solidFill>
                          <a:srgbClr val="000000"/>
                        </a:solidFill>
                        <a:effectLst/>
                        <a:latin typeface="Calibri" panose="020F0502020204030204" pitchFamily="34" charset="0"/>
                      </a:endParaRPr>
                    </a:p>
                  </a:txBody>
                  <a:tcPr marL="4763" marR="4763" marT="4763" marB="0" anchor="ctr"/>
                </a:tc>
                <a:tc>
                  <a:txBody>
                    <a:bodyPr/>
                    <a:lstStyle/>
                    <a:p>
                      <a:pPr algn="ctr" fontAlgn="b">
                        <a:buNone/>
                      </a:pPr>
                      <a:r>
                        <a:rPr lang="en-US" sz="1000" u="none" strike="noStrike">
                          <a:effectLst/>
                        </a:rPr>
                        <a:t>✅</a:t>
                      </a:r>
                      <a:endParaRPr lang="en-US" sz="1000" b="0" i="0" u="none" strike="noStrike">
                        <a:solidFill>
                          <a:srgbClr val="000000"/>
                        </a:solidFill>
                        <a:effectLst/>
                        <a:latin typeface="Calibri" panose="020F0502020204030204" pitchFamily="34" charset="0"/>
                      </a:endParaRPr>
                    </a:p>
                  </a:txBody>
                  <a:tcPr marL="4763" marR="4763" marT="4763" marB="0" anchor="ctr"/>
                </a:tc>
                <a:tc>
                  <a:txBody>
                    <a:bodyPr/>
                    <a:lstStyle/>
                    <a:p>
                      <a:pPr algn="ctr" fontAlgn="b">
                        <a:buNone/>
                      </a:pPr>
                      <a:r>
                        <a:rPr lang="en-US" sz="1000" u="none" strike="noStrike" dirty="0">
                          <a:effectLst/>
                        </a:rPr>
                        <a:t> </a:t>
                      </a:r>
                      <a:endParaRPr lang="en-US" sz="1000" b="0" i="0" u="none" strike="noStrike" dirty="0">
                        <a:solidFill>
                          <a:srgbClr val="000000"/>
                        </a:solidFill>
                        <a:effectLst/>
                        <a:latin typeface="Calibri" panose="020F0502020204030204" pitchFamily="34" charset="0"/>
                      </a:endParaRPr>
                    </a:p>
                  </a:txBody>
                  <a:tcPr marL="4763" marR="4763" marT="4763" marB="0" anchor="ctr"/>
                </a:tc>
                <a:extLst>
                  <a:ext uri="{0D108BD9-81ED-4DB2-BD59-A6C34878D82A}">
                    <a16:rowId xmlns:a16="http://schemas.microsoft.com/office/drawing/2014/main" val="2757219422"/>
                  </a:ext>
                </a:extLst>
              </a:tr>
              <a:tr h="218758">
                <a:tc>
                  <a:txBody>
                    <a:bodyPr/>
                    <a:lstStyle/>
                    <a:p>
                      <a:pPr algn="ctr" fontAlgn="b">
                        <a:buNone/>
                      </a:pPr>
                      <a:r>
                        <a:rPr lang="en-US" sz="1000" u="none" strike="noStrike">
                          <a:effectLst/>
                        </a:rPr>
                        <a:t>13</a:t>
                      </a:r>
                      <a:endParaRPr lang="en-US" sz="1000" b="0" i="0" u="none" strike="noStrike">
                        <a:solidFill>
                          <a:srgbClr val="000000"/>
                        </a:solidFill>
                        <a:effectLst/>
                        <a:latin typeface="Calibri" panose="020F0502020204030204" pitchFamily="34" charset="0"/>
                      </a:endParaRPr>
                    </a:p>
                  </a:txBody>
                  <a:tcPr marL="4763" marR="4763" marT="4763" marB="0" anchor="b"/>
                </a:tc>
                <a:tc>
                  <a:txBody>
                    <a:bodyPr/>
                    <a:lstStyle/>
                    <a:p>
                      <a:pPr algn="l" fontAlgn="b">
                        <a:buNone/>
                      </a:pPr>
                      <a:r>
                        <a:rPr lang="en-US" sz="1000" u="none" strike="noStrike">
                          <a:effectLst/>
                        </a:rPr>
                        <a:t>British Airways IT Outage – İngiltere (2023)</a:t>
                      </a:r>
                      <a:endParaRPr lang="en-US" sz="1000" b="0" i="0" u="none" strike="noStrike">
                        <a:solidFill>
                          <a:srgbClr val="000000"/>
                        </a:solidFill>
                        <a:effectLst/>
                        <a:latin typeface="Calibri" panose="020F0502020204030204" pitchFamily="34" charset="0"/>
                      </a:endParaRPr>
                    </a:p>
                  </a:txBody>
                  <a:tcPr marL="4763" marR="4763" marT="4763" marB="0" anchor="b"/>
                </a:tc>
                <a:tc>
                  <a:txBody>
                    <a:bodyPr/>
                    <a:lstStyle/>
                    <a:p>
                      <a:pPr algn="ctr" fontAlgn="b">
                        <a:buNone/>
                      </a:pPr>
                      <a:r>
                        <a:rPr lang="en-US" sz="1000" u="none" strike="noStrike">
                          <a:effectLst/>
                        </a:rPr>
                        <a:t> </a:t>
                      </a:r>
                      <a:endParaRPr lang="en-US" sz="1000" b="0" i="0" u="none" strike="noStrike">
                        <a:solidFill>
                          <a:srgbClr val="000000"/>
                        </a:solidFill>
                        <a:effectLst/>
                        <a:latin typeface="Calibri" panose="020F0502020204030204" pitchFamily="34" charset="0"/>
                      </a:endParaRPr>
                    </a:p>
                  </a:txBody>
                  <a:tcPr marL="4763" marR="4763" marT="4763" marB="0" anchor="ctr"/>
                </a:tc>
                <a:tc>
                  <a:txBody>
                    <a:bodyPr/>
                    <a:lstStyle/>
                    <a:p>
                      <a:pPr algn="ctr" fontAlgn="b">
                        <a:buNone/>
                      </a:pPr>
                      <a:r>
                        <a:rPr lang="en-US" sz="1000" u="none" strike="noStrike">
                          <a:effectLst/>
                        </a:rPr>
                        <a:t> </a:t>
                      </a:r>
                      <a:endParaRPr lang="en-US" sz="1000" b="0" i="0" u="none" strike="noStrike">
                        <a:solidFill>
                          <a:srgbClr val="000000"/>
                        </a:solidFill>
                        <a:effectLst/>
                        <a:latin typeface="Calibri" panose="020F0502020204030204" pitchFamily="34" charset="0"/>
                      </a:endParaRPr>
                    </a:p>
                  </a:txBody>
                  <a:tcPr marL="4763" marR="4763" marT="4763" marB="0" anchor="ctr"/>
                </a:tc>
                <a:tc>
                  <a:txBody>
                    <a:bodyPr/>
                    <a:lstStyle/>
                    <a:p>
                      <a:pPr algn="ctr" fontAlgn="b">
                        <a:buNone/>
                      </a:pPr>
                      <a:r>
                        <a:rPr lang="en-US" sz="1000" u="none" strike="noStrike">
                          <a:effectLst/>
                        </a:rPr>
                        <a:t> </a:t>
                      </a:r>
                      <a:endParaRPr lang="en-US" sz="1000" b="0" i="0" u="none" strike="noStrike">
                        <a:solidFill>
                          <a:srgbClr val="000000"/>
                        </a:solidFill>
                        <a:effectLst/>
                        <a:latin typeface="Calibri" panose="020F0502020204030204" pitchFamily="34" charset="0"/>
                      </a:endParaRPr>
                    </a:p>
                  </a:txBody>
                  <a:tcPr marL="4763" marR="4763" marT="4763" marB="0" anchor="ctr"/>
                </a:tc>
                <a:tc>
                  <a:txBody>
                    <a:bodyPr/>
                    <a:lstStyle/>
                    <a:p>
                      <a:pPr algn="ctr" fontAlgn="b">
                        <a:buNone/>
                      </a:pPr>
                      <a:r>
                        <a:rPr lang="en-US" sz="1000" u="none" strike="noStrike" dirty="0">
                          <a:effectLst/>
                        </a:rPr>
                        <a:t> </a:t>
                      </a:r>
                      <a:endParaRPr lang="en-US" sz="1000" b="0" i="0" u="none" strike="noStrike" dirty="0">
                        <a:solidFill>
                          <a:srgbClr val="000000"/>
                        </a:solidFill>
                        <a:effectLst/>
                        <a:latin typeface="Calibri" panose="020F0502020204030204" pitchFamily="34" charset="0"/>
                      </a:endParaRPr>
                    </a:p>
                  </a:txBody>
                  <a:tcPr marL="4763" marR="4763" marT="4763" marB="0" anchor="ctr"/>
                </a:tc>
                <a:tc>
                  <a:txBody>
                    <a:bodyPr/>
                    <a:lstStyle/>
                    <a:p>
                      <a:pPr algn="ctr" fontAlgn="b">
                        <a:buNone/>
                      </a:pPr>
                      <a:r>
                        <a:rPr lang="en-US" sz="1000" u="none" strike="noStrike">
                          <a:effectLst/>
                        </a:rPr>
                        <a:t>✅</a:t>
                      </a:r>
                      <a:endParaRPr lang="en-US" sz="1000" b="0" i="0" u="none" strike="noStrike">
                        <a:solidFill>
                          <a:srgbClr val="000000"/>
                        </a:solidFill>
                        <a:effectLst/>
                        <a:latin typeface="Calibri" panose="020F0502020204030204" pitchFamily="34" charset="0"/>
                      </a:endParaRPr>
                    </a:p>
                  </a:txBody>
                  <a:tcPr marL="4763" marR="4763" marT="4763" marB="0" anchor="ctr"/>
                </a:tc>
                <a:tc>
                  <a:txBody>
                    <a:bodyPr/>
                    <a:lstStyle/>
                    <a:p>
                      <a:pPr algn="ctr" fontAlgn="b">
                        <a:buNone/>
                      </a:pPr>
                      <a:r>
                        <a:rPr lang="en-US" sz="1000" u="none" strike="noStrike" dirty="0">
                          <a:effectLst/>
                        </a:rPr>
                        <a:t>✅</a:t>
                      </a:r>
                      <a:endParaRPr lang="en-US" sz="1000" b="0" i="0" u="none" strike="noStrike" dirty="0">
                        <a:solidFill>
                          <a:srgbClr val="000000"/>
                        </a:solidFill>
                        <a:effectLst/>
                        <a:latin typeface="Calibri" panose="020F0502020204030204" pitchFamily="34" charset="0"/>
                      </a:endParaRPr>
                    </a:p>
                  </a:txBody>
                  <a:tcPr marL="4763" marR="4763" marT="4763" marB="0" anchor="ctr"/>
                </a:tc>
                <a:extLst>
                  <a:ext uri="{0D108BD9-81ED-4DB2-BD59-A6C34878D82A}">
                    <a16:rowId xmlns:a16="http://schemas.microsoft.com/office/drawing/2014/main" val="988805004"/>
                  </a:ext>
                </a:extLst>
              </a:tr>
              <a:tr h="218758">
                <a:tc>
                  <a:txBody>
                    <a:bodyPr/>
                    <a:lstStyle/>
                    <a:p>
                      <a:pPr algn="ctr" fontAlgn="b">
                        <a:buNone/>
                      </a:pPr>
                      <a:r>
                        <a:rPr lang="en-US" sz="1000" u="none" strike="noStrike">
                          <a:effectLst/>
                        </a:rPr>
                        <a:t>14</a:t>
                      </a:r>
                      <a:endParaRPr lang="en-US" sz="1000" b="0" i="0" u="none" strike="noStrike">
                        <a:solidFill>
                          <a:srgbClr val="000000"/>
                        </a:solidFill>
                        <a:effectLst/>
                        <a:latin typeface="Calibri" panose="020F0502020204030204" pitchFamily="34" charset="0"/>
                      </a:endParaRPr>
                    </a:p>
                  </a:txBody>
                  <a:tcPr marL="4763" marR="4763" marT="4763" marB="0" anchor="b"/>
                </a:tc>
                <a:tc>
                  <a:txBody>
                    <a:bodyPr/>
                    <a:lstStyle/>
                    <a:p>
                      <a:pPr algn="l" fontAlgn="b">
                        <a:buNone/>
                      </a:pPr>
                      <a:r>
                        <a:rPr lang="en-US" sz="1000" u="none" strike="noStrike">
                          <a:effectLst/>
                        </a:rPr>
                        <a:t>Niconico / Kadokawa Attack – Japonya (2024)</a:t>
                      </a:r>
                      <a:endParaRPr lang="en-US" sz="1000" b="0" i="0" u="none" strike="noStrike">
                        <a:solidFill>
                          <a:srgbClr val="000000"/>
                        </a:solidFill>
                        <a:effectLst/>
                        <a:latin typeface="Calibri" panose="020F0502020204030204" pitchFamily="34" charset="0"/>
                      </a:endParaRPr>
                    </a:p>
                  </a:txBody>
                  <a:tcPr marL="4763" marR="4763" marT="4763" marB="0" anchor="b"/>
                </a:tc>
                <a:tc>
                  <a:txBody>
                    <a:bodyPr/>
                    <a:lstStyle/>
                    <a:p>
                      <a:pPr algn="ctr" fontAlgn="b">
                        <a:buNone/>
                      </a:pPr>
                      <a:r>
                        <a:rPr lang="en-US" sz="1000" u="none" strike="noStrike">
                          <a:effectLst/>
                        </a:rPr>
                        <a:t>✅</a:t>
                      </a:r>
                      <a:endParaRPr lang="en-US" sz="1000" b="0" i="0" u="none" strike="noStrike">
                        <a:solidFill>
                          <a:srgbClr val="000000"/>
                        </a:solidFill>
                        <a:effectLst/>
                        <a:latin typeface="Calibri" panose="020F0502020204030204" pitchFamily="34" charset="0"/>
                      </a:endParaRPr>
                    </a:p>
                  </a:txBody>
                  <a:tcPr marL="4763" marR="4763" marT="4763" marB="0" anchor="ctr"/>
                </a:tc>
                <a:tc>
                  <a:txBody>
                    <a:bodyPr/>
                    <a:lstStyle/>
                    <a:p>
                      <a:pPr algn="ctr" fontAlgn="b">
                        <a:buNone/>
                      </a:pPr>
                      <a:r>
                        <a:rPr lang="en-US" sz="1000" u="none" strike="noStrike">
                          <a:effectLst/>
                        </a:rPr>
                        <a:t> </a:t>
                      </a:r>
                      <a:endParaRPr lang="en-US" sz="1000" b="0" i="0" u="none" strike="noStrike">
                        <a:solidFill>
                          <a:srgbClr val="000000"/>
                        </a:solidFill>
                        <a:effectLst/>
                        <a:latin typeface="Calibri" panose="020F0502020204030204" pitchFamily="34" charset="0"/>
                      </a:endParaRPr>
                    </a:p>
                  </a:txBody>
                  <a:tcPr marL="4763" marR="4763" marT="4763" marB="0" anchor="ctr"/>
                </a:tc>
                <a:tc>
                  <a:txBody>
                    <a:bodyPr/>
                    <a:lstStyle/>
                    <a:p>
                      <a:pPr algn="ctr" fontAlgn="b">
                        <a:buNone/>
                      </a:pPr>
                      <a:r>
                        <a:rPr lang="en-US" sz="1000" u="none" strike="noStrike">
                          <a:effectLst/>
                        </a:rPr>
                        <a:t>✅</a:t>
                      </a:r>
                      <a:endParaRPr lang="en-US" sz="1000" b="0" i="0" u="none" strike="noStrike">
                        <a:solidFill>
                          <a:srgbClr val="000000"/>
                        </a:solidFill>
                        <a:effectLst/>
                        <a:latin typeface="Calibri" panose="020F0502020204030204" pitchFamily="34" charset="0"/>
                      </a:endParaRPr>
                    </a:p>
                  </a:txBody>
                  <a:tcPr marL="4763" marR="4763" marT="4763" marB="0" anchor="ctr"/>
                </a:tc>
                <a:tc>
                  <a:txBody>
                    <a:bodyPr/>
                    <a:lstStyle/>
                    <a:p>
                      <a:pPr algn="ctr" fontAlgn="b">
                        <a:buNone/>
                      </a:pPr>
                      <a:r>
                        <a:rPr lang="en-US" sz="1000" u="none" strike="noStrike" dirty="0">
                          <a:effectLst/>
                        </a:rPr>
                        <a:t> </a:t>
                      </a:r>
                      <a:endParaRPr lang="en-US" sz="1000" b="0" i="0" u="none" strike="noStrike" dirty="0">
                        <a:solidFill>
                          <a:srgbClr val="000000"/>
                        </a:solidFill>
                        <a:effectLst/>
                        <a:latin typeface="Calibri" panose="020F0502020204030204" pitchFamily="34" charset="0"/>
                      </a:endParaRPr>
                    </a:p>
                  </a:txBody>
                  <a:tcPr marL="4763" marR="4763" marT="4763" marB="0" anchor="ctr"/>
                </a:tc>
                <a:tc>
                  <a:txBody>
                    <a:bodyPr/>
                    <a:lstStyle/>
                    <a:p>
                      <a:pPr algn="ctr" fontAlgn="b">
                        <a:buNone/>
                      </a:pPr>
                      <a:r>
                        <a:rPr lang="en-US" sz="1000" u="none" strike="noStrike">
                          <a:effectLst/>
                        </a:rPr>
                        <a:t>✅</a:t>
                      </a:r>
                      <a:endParaRPr lang="en-US" sz="1000" b="0" i="0" u="none" strike="noStrike">
                        <a:solidFill>
                          <a:srgbClr val="000000"/>
                        </a:solidFill>
                        <a:effectLst/>
                        <a:latin typeface="Calibri" panose="020F0502020204030204" pitchFamily="34" charset="0"/>
                      </a:endParaRPr>
                    </a:p>
                  </a:txBody>
                  <a:tcPr marL="4763" marR="4763" marT="4763" marB="0" anchor="ctr"/>
                </a:tc>
                <a:tc>
                  <a:txBody>
                    <a:bodyPr/>
                    <a:lstStyle/>
                    <a:p>
                      <a:pPr algn="ctr" fontAlgn="b">
                        <a:buNone/>
                      </a:pPr>
                      <a:r>
                        <a:rPr lang="en-US" sz="1000" u="none" strike="noStrike" dirty="0">
                          <a:effectLst/>
                        </a:rPr>
                        <a:t>✅</a:t>
                      </a:r>
                      <a:endParaRPr lang="en-US" sz="1000" b="0" i="0" u="none" strike="noStrike" dirty="0">
                        <a:solidFill>
                          <a:srgbClr val="000000"/>
                        </a:solidFill>
                        <a:effectLst/>
                        <a:latin typeface="Calibri" panose="020F0502020204030204" pitchFamily="34" charset="0"/>
                      </a:endParaRPr>
                    </a:p>
                  </a:txBody>
                  <a:tcPr marL="4763" marR="4763" marT="4763" marB="0" anchor="ctr"/>
                </a:tc>
                <a:extLst>
                  <a:ext uri="{0D108BD9-81ED-4DB2-BD59-A6C34878D82A}">
                    <a16:rowId xmlns:a16="http://schemas.microsoft.com/office/drawing/2014/main" val="651602500"/>
                  </a:ext>
                </a:extLst>
              </a:tr>
              <a:tr h="218758">
                <a:tc>
                  <a:txBody>
                    <a:bodyPr/>
                    <a:lstStyle/>
                    <a:p>
                      <a:pPr algn="ctr" fontAlgn="b">
                        <a:buNone/>
                      </a:pPr>
                      <a:r>
                        <a:rPr lang="en-US" sz="1000" u="none" strike="noStrike">
                          <a:effectLst/>
                        </a:rPr>
                        <a:t>15</a:t>
                      </a:r>
                      <a:endParaRPr lang="en-US" sz="1000" b="0" i="0" u="none" strike="noStrike">
                        <a:solidFill>
                          <a:srgbClr val="000000"/>
                        </a:solidFill>
                        <a:effectLst/>
                        <a:latin typeface="Calibri" panose="020F0502020204030204" pitchFamily="34" charset="0"/>
                      </a:endParaRPr>
                    </a:p>
                  </a:txBody>
                  <a:tcPr marL="4763" marR="4763" marT="4763" marB="0" anchor="b"/>
                </a:tc>
                <a:tc>
                  <a:txBody>
                    <a:bodyPr/>
                    <a:lstStyle/>
                    <a:p>
                      <a:pPr algn="l" fontAlgn="b">
                        <a:buNone/>
                      </a:pPr>
                      <a:r>
                        <a:rPr lang="en-US" sz="1000" u="none" strike="noStrike">
                          <a:effectLst/>
                        </a:rPr>
                        <a:t>Santander Bank Leak – İspanya (2024)</a:t>
                      </a:r>
                      <a:endParaRPr lang="en-US" sz="1000" b="0" i="0" u="none" strike="noStrike">
                        <a:solidFill>
                          <a:srgbClr val="000000"/>
                        </a:solidFill>
                        <a:effectLst/>
                        <a:latin typeface="Calibri" panose="020F0502020204030204" pitchFamily="34" charset="0"/>
                      </a:endParaRPr>
                    </a:p>
                  </a:txBody>
                  <a:tcPr marL="4763" marR="4763" marT="4763" marB="0" anchor="b"/>
                </a:tc>
                <a:tc>
                  <a:txBody>
                    <a:bodyPr/>
                    <a:lstStyle/>
                    <a:p>
                      <a:pPr algn="ctr" fontAlgn="b">
                        <a:buNone/>
                      </a:pPr>
                      <a:r>
                        <a:rPr lang="en-US" sz="1000" u="none" strike="noStrike">
                          <a:effectLst/>
                        </a:rPr>
                        <a:t>✅</a:t>
                      </a:r>
                      <a:endParaRPr lang="en-US" sz="1000" b="0" i="0" u="none" strike="noStrike">
                        <a:solidFill>
                          <a:srgbClr val="000000"/>
                        </a:solidFill>
                        <a:effectLst/>
                        <a:latin typeface="Calibri" panose="020F0502020204030204" pitchFamily="34" charset="0"/>
                      </a:endParaRPr>
                    </a:p>
                  </a:txBody>
                  <a:tcPr marL="4763" marR="4763" marT="4763" marB="0" anchor="ctr"/>
                </a:tc>
                <a:tc>
                  <a:txBody>
                    <a:bodyPr/>
                    <a:lstStyle/>
                    <a:p>
                      <a:pPr algn="ctr" fontAlgn="b">
                        <a:buNone/>
                      </a:pPr>
                      <a:r>
                        <a:rPr lang="en-US" sz="1000" u="none" strike="noStrike">
                          <a:effectLst/>
                        </a:rPr>
                        <a:t> </a:t>
                      </a:r>
                      <a:endParaRPr lang="en-US" sz="1000" b="0" i="0" u="none" strike="noStrike">
                        <a:solidFill>
                          <a:srgbClr val="000000"/>
                        </a:solidFill>
                        <a:effectLst/>
                        <a:latin typeface="Calibri" panose="020F0502020204030204" pitchFamily="34" charset="0"/>
                      </a:endParaRPr>
                    </a:p>
                  </a:txBody>
                  <a:tcPr marL="4763" marR="4763" marT="4763" marB="0" anchor="ctr"/>
                </a:tc>
                <a:tc>
                  <a:txBody>
                    <a:bodyPr/>
                    <a:lstStyle/>
                    <a:p>
                      <a:pPr algn="ctr" fontAlgn="b">
                        <a:buNone/>
                      </a:pPr>
                      <a:r>
                        <a:rPr lang="en-US" sz="1000" u="none" strike="noStrike">
                          <a:effectLst/>
                        </a:rPr>
                        <a:t> </a:t>
                      </a:r>
                      <a:endParaRPr lang="en-US" sz="1000" b="0" i="0" u="none" strike="noStrike">
                        <a:solidFill>
                          <a:srgbClr val="000000"/>
                        </a:solidFill>
                        <a:effectLst/>
                        <a:latin typeface="Calibri" panose="020F0502020204030204" pitchFamily="34" charset="0"/>
                      </a:endParaRPr>
                    </a:p>
                  </a:txBody>
                  <a:tcPr marL="4763" marR="4763" marT="4763" marB="0" anchor="ctr"/>
                </a:tc>
                <a:tc>
                  <a:txBody>
                    <a:bodyPr/>
                    <a:lstStyle/>
                    <a:p>
                      <a:pPr algn="ctr" fontAlgn="b">
                        <a:buNone/>
                      </a:pPr>
                      <a:r>
                        <a:rPr lang="en-US" sz="1000" u="none" strike="noStrike" dirty="0">
                          <a:effectLst/>
                        </a:rPr>
                        <a:t>✅</a:t>
                      </a:r>
                      <a:endParaRPr lang="en-US" sz="1000" b="0" i="0" u="none" strike="noStrike" dirty="0">
                        <a:solidFill>
                          <a:srgbClr val="000000"/>
                        </a:solidFill>
                        <a:effectLst/>
                        <a:latin typeface="Calibri" panose="020F0502020204030204" pitchFamily="34" charset="0"/>
                      </a:endParaRPr>
                    </a:p>
                  </a:txBody>
                  <a:tcPr marL="4763" marR="4763" marT="4763" marB="0" anchor="ctr"/>
                </a:tc>
                <a:tc>
                  <a:txBody>
                    <a:bodyPr/>
                    <a:lstStyle/>
                    <a:p>
                      <a:pPr algn="ctr" fontAlgn="b">
                        <a:buNone/>
                      </a:pPr>
                      <a:r>
                        <a:rPr lang="en-US" sz="1000" u="none" strike="noStrike" dirty="0">
                          <a:effectLst/>
                        </a:rPr>
                        <a:t> </a:t>
                      </a:r>
                      <a:endParaRPr lang="en-US" sz="1000" b="0" i="0" u="none" strike="noStrike" dirty="0">
                        <a:solidFill>
                          <a:srgbClr val="000000"/>
                        </a:solidFill>
                        <a:effectLst/>
                        <a:latin typeface="Calibri" panose="020F0502020204030204" pitchFamily="34" charset="0"/>
                      </a:endParaRPr>
                    </a:p>
                  </a:txBody>
                  <a:tcPr marL="4763" marR="4763" marT="4763" marB="0" anchor="ctr"/>
                </a:tc>
                <a:tc>
                  <a:txBody>
                    <a:bodyPr/>
                    <a:lstStyle/>
                    <a:p>
                      <a:pPr algn="ctr" fontAlgn="b">
                        <a:buNone/>
                      </a:pPr>
                      <a:r>
                        <a:rPr lang="en-US" sz="1000" u="none" strike="noStrike" dirty="0">
                          <a:effectLst/>
                        </a:rPr>
                        <a:t> </a:t>
                      </a:r>
                      <a:endParaRPr lang="en-US" sz="1000" b="0" i="0" u="none" strike="noStrike" dirty="0">
                        <a:solidFill>
                          <a:srgbClr val="000000"/>
                        </a:solidFill>
                        <a:effectLst/>
                        <a:latin typeface="Calibri" panose="020F0502020204030204" pitchFamily="34" charset="0"/>
                      </a:endParaRPr>
                    </a:p>
                  </a:txBody>
                  <a:tcPr marL="4763" marR="4763" marT="4763" marB="0" anchor="ctr"/>
                </a:tc>
                <a:extLst>
                  <a:ext uri="{0D108BD9-81ED-4DB2-BD59-A6C34878D82A}">
                    <a16:rowId xmlns:a16="http://schemas.microsoft.com/office/drawing/2014/main" val="4012886595"/>
                  </a:ext>
                </a:extLst>
              </a:tr>
              <a:tr h="218758">
                <a:tc>
                  <a:txBody>
                    <a:bodyPr/>
                    <a:lstStyle/>
                    <a:p>
                      <a:pPr algn="ctr" fontAlgn="b">
                        <a:buNone/>
                      </a:pPr>
                      <a:r>
                        <a:rPr lang="en-US" sz="1000" u="none" strike="noStrike">
                          <a:effectLst/>
                        </a:rPr>
                        <a:t>16</a:t>
                      </a:r>
                      <a:endParaRPr lang="en-US" sz="1000" b="0" i="0" u="none" strike="noStrike">
                        <a:solidFill>
                          <a:srgbClr val="000000"/>
                        </a:solidFill>
                        <a:effectLst/>
                        <a:latin typeface="Calibri" panose="020F0502020204030204" pitchFamily="34" charset="0"/>
                      </a:endParaRPr>
                    </a:p>
                  </a:txBody>
                  <a:tcPr marL="4763" marR="4763" marT="4763" marB="0" anchor="b"/>
                </a:tc>
                <a:tc>
                  <a:txBody>
                    <a:bodyPr/>
                    <a:lstStyle/>
                    <a:p>
                      <a:pPr algn="l" fontAlgn="b">
                        <a:buNone/>
                      </a:pPr>
                      <a:r>
                        <a:rPr lang="en-US" sz="1000" u="none" strike="noStrike">
                          <a:effectLst/>
                        </a:rPr>
                        <a:t>Bold LLC Data Breach – Türkiye (2025)</a:t>
                      </a:r>
                      <a:endParaRPr lang="en-US" sz="1000" b="0" i="0" u="none" strike="noStrike">
                        <a:solidFill>
                          <a:srgbClr val="000000"/>
                        </a:solidFill>
                        <a:effectLst/>
                        <a:latin typeface="Calibri" panose="020F0502020204030204" pitchFamily="34" charset="0"/>
                      </a:endParaRPr>
                    </a:p>
                  </a:txBody>
                  <a:tcPr marL="4763" marR="4763" marT="4763" marB="0" anchor="b"/>
                </a:tc>
                <a:tc>
                  <a:txBody>
                    <a:bodyPr/>
                    <a:lstStyle/>
                    <a:p>
                      <a:pPr algn="ctr" fontAlgn="b">
                        <a:buNone/>
                      </a:pPr>
                      <a:r>
                        <a:rPr lang="en-US" sz="1000" u="none" strike="noStrike">
                          <a:effectLst/>
                        </a:rPr>
                        <a:t>✅</a:t>
                      </a:r>
                      <a:endParaRPr lang="en-US" sz="1000" b="0" i="0" u="none" strike="noStrike">
                        <a:solidFill>
                          <a:srgbClr val="000000"/>
                        </a:solidFill>
                        <a:effectLst/>
                        <a:latin typeface="Calibri" panose="020F0502020204030204" pitchFamily="34" charset="0"/>
                      </a:endParaRPr>
                    </a:p>
                  </a:txBody>
                  <a:tcPr marL="4763" marR="4763" marT="4763" marB="0" anchor="ctr"/>
                </a:tc>
                <a:tc>
                  <a:txBody>
                    <a:bodyPr/>
                    <a:lstStyle/>
                    <a:p>
                      <a:pPr algn="ctr" fontAlgn="b">
                        <a:buNone/>
                      </a:pPr>
                      <a:r>
                        <a:rPr lang="en-US" sz="1000" u="none" strike="noStrike">
                          <a:effectLst/>
                        </a:rPr>
                        <a:t> </a:t>
                      </a:r>
                      <a:endParaRPr lang="en-US" sz="1000" b="0" i="0" u="none" strike="noStrike">
                        <a:solidFill>
                          <a:srgbClr val="000000"/>
                        </a:solidFill>
                        <a:effectLst/>
                        <a:latin typeface="Calibri" panose="020F0502020204030204" pitchFamily="34" charset="0"/>
                      </a:endParaRPr>
                    </a:p>
                  </a:txBody>
                  <a:tcPr marL="4763" marR="4763" marT="4763" marB="0" anchor="ctr"/>
                </a:tc>
                <a:tc>
                  <a:txBody>
                    <a:bodyPr/>
                    <a:lstStyle/>
                    <a:p>
                      <a:pPr algn="ctr" fontAlgn="b">
                        <a:buNone/>
                      </a:pPr>
                      <a:r>
                        <a:rPr lang="en-US" sz="1000" u="none" strike="noStrike">
                          <a:effectLst/>
                        </a:rPr>
                        <a:t> </a:t>
                      </a:r>
                      <a:endParaRPr lang="en-US" sz="1000" b="0" i="0" u="none" strike="noStrike">
                        <a:solidFill>
                          <a:srgbClr val="000000"/>
                        </a:solidFill>
                        <a:effectLst/>
                        <a:latin typeface="Calibri" panose="020F0502020204030204" pitchFamily="34" charset="0"/>
                      </a:endParaRPr>
                    </a:p>
                  </a:txBody>
                  <a:tcPr marL="4763" marR="4763" marT="4763" marB="0" anchor="ctr"/>
                </a:tc>
                <a:tc>
                  <a:txBody>
                    <a:bodyPr/>
                    <a:lstStyle/>
                    <a:p>
                      <a:pPr algn="ctr" fontAlgn="b">
                        <a:buNone/>
                      </a:pPr>
                      <a:r>
                        <a:rPr lang="en-US" sz="1000" u="none" strike="noStrike">
                          <a:effectLst/>
                        </a:rPr>
                        <a:t> </a:t>
                      </a:r>
                      <a:endParaRPr lang="en-US" sz="1000" b="0" i="0" u="none" strike="noStrike">
                        <a:solidFill>
                          <a:srgbClr val="000000"/>
                        </a:solidFill>
                        <a:effectLst/>
                        <a:latin typeface="Calibri" panose="020F0502020204030204" pitchFamily="34" charset="0"/>
                      </a:endParaRPr>
                    </a:p>
                  </a:txBody>
                  <a:tcPr marL="4763" marR="4763" marT="4763" marB="0" anchor="ctr"/>
                </a:tc>
                <a:tc>
                  <a:txBody>
                    <a:bodyPr/>
                    <a:lstStyle/>
                    <a:p>
                      <a:pPr algn="ctr" fontAlgn="b">
                        <a:buNone/>
                      </a:pPr>
                      <a:r>
                        <a:rPr lang="en-US" sz="1000" u="none" strike="noStrike" dirty="0">
                          <a:effectLst/>
                        </a:rPr>
                        <a:t>✅</a:t>
                      </a:r>
                      <a:endParaRPr lang="en-US" sz="1000" b="0" i="0" u="none" strike="noStrike" dirty="0">
                        <a:solidFill>
                          <a:srgbClr val="000000"/>
                        </a:solidFill>
                        <a:effectLst/>
                        <a:latin typeface="Calibri" panose="020F0502020204030204" pitchFamily="34" charset="0"/>
                      </a:endParaRPr>
                    </a:p>
                  </a:txBody>
                  <a:tcPr marL="4763" marR="4763" marT="4763" marB="0" anchor="ctr"/>
                </a:tc>
                <a:tc>
                  <a:txBody>
                    <a:bodyPr/>
                    <a:lstStyle/>
                    <a:p>
                      <a:pPr algn="ctr" fontAlgn="b">
                        <a:buNone/>
                      </a:pPr>
                      <a:r>
                        <a:rPr lang="en-US" sz="1000" u="none" strike="noStrike" dirty="0">
                          <a:effectLst/>
                        </a:rPr>
                        <a:t> </a:t>
                      </a:r>
                      <a:endParaRPr lang="en-US" sz="1000" b="0" i="0" u="none" strike="noStrike" dirty="0">
                        <a:solidFill>
                          <a:srgbClr val="000000"/>
                        </a:solidFill>
                        <a:effectLst/>
                        <a:latin typeface="Calibri" panose="020F0502020204030204" pitchFamily="34" charset="0"/>
                      </a:endParaRPr>
                    </a:p>
                  </a:txBody>
                  <a:tcPr marL="4763" marR="4763" marT="4763" marB="0" anchor="ctr"/>
                </a:tc>
                <a:extLst>
                  <a:ext uri="{0D108BD9-81ED-4DB2-BD59-A6C34878D82A}">
                    <a16:rowId xmlns:a16="http://schemas.microsoft.com/office/drawing/2014/main" val="1143510322"/>
                  </a:ext>
                </a:extLst>
              </a:tr>
              <a:tr h="218758">
                <a:tc>
                  <a:txBody>
                    <a:bodyPr/>
                    <a:lstStyle/>
                    <a:p>
                      <a:pPr algn="ctr" fontAlgn="b">
                        <a:buNone/>
                      </a:pPr>
                      <a:r>
                        <a:rPr lang="en-US" sz="1000" u="none" strike="noStrike">
                          <a:effectLst/>
                        </a:rPr>
                        <a:t>17</a:t>
                      </a:r>
                      <a:endParaRPr lang="en-US" sz="1000" b="0" i="0" u="none" strike="noStrike">
                        <a:solidFill>
                          <a:srgbClr val="000000"/>
                        </a:solidFill>
                        <a:effectLst/>
                        <a:latin typeface="Calibri" panose="020F0502020204030204" pitchFamily="34" charset="0"/>
                      </a:endParaRPr>
                    </a:p>
                  </a:txBody>
                  <a:tcPr marL="4763" marR="4763" marT="4763" marB="0" anchor="b"/>
                </a:tc>
                <a:tc>
                  <a:txBody>
                    <a:bodyPr/>
                    <a:lstStyle/>
                    <a:p>
                      <a:pPr algn="l" fontAlgn="b">
                        <a:buNone/>
                      </a:pPr>
                      <a:r>
                        <a:rPr lang="en-US" sz="1000" u="none" strike="noStrike">
                          <a:effectLst/>
                        </a:rPr>
                        <a:t>Snowflake Incident – Global (2025)</a:t>
                      </a:r>
                      <a:endParaRPr lang="en-US" sz="1000" b="0" i="0" u="none" strike="noStrike">
                        <a:solidFill>
                          <a:srgbClr val="000000"/>
                        </a:solidFill>
                        <a:effectLst/>
                        <a:latin typeface="Calibri" panose="020F0502020204030204" pitchFamily="34" charset="0"/>
                      </a:endParaRPr>
                    </a:p>
                  </a:txBody>
                  <a:tcPr marL="4763" marR="4763" marT="4763" marB="0" anchor="b"/>
                </a:tc>
                <a:tc>
                  <a:txBody>
                    <a:bodyPr/>
                    <a:lstStyle/>
                    <a:p>
                      <a:pPr algn="ctr" fontAlgn="b">
                        <a:buNone/>
                      </a:pPr>
                      <a:r>
                        <a:rPr lang="en-US" sz="1000" u="none" strike="noStrike">
                          <a:effectLst/>
                        </a:rPr>
                        <a:t>✅</a:t>
                      </a:r>
                      <a:endParaRPr lang="en-US" sz="1000" b="0" i="0" u="none" strike="noStrike">
                        <a:solidFill>
                          <a:srgbClr val="000000"/>
                        </a:solidFill>
                        <a:effectLst/>
                        <a:latin typeface="Calibri" panose="020F0502020204030204" pitchFamily="34" charset="0"/>
                      </a:endParaRPr>
                    </a:p>
                  </a:txBody>
                  <a:tcPr marL="4763" marR="4763" marT="4763" marB="0" anchor="ctr"/>
                </a:tc>
                <a:tc>
                  <a:txBody>
                    <a:bodyPr/>
                    <a:lstStyle/>
                    <a:p>
                      <a:pPr algn="ctr" fontAlgn="b">
                        <a:buNone/>
                      </a:pPr>
                      <a:r>
                        <a:rPr lang="en-US" sz="1000" u="none" strike="noStrike">
                          <a:effectLst/>
                        </a:rPr>
                        <a:t> </a:t>
                      </a:r>
                      <a:endParaRPr lang="en-US" sz="1000" b="0" i="0" u="none" strike="noStrike">
                        <a:solidFill>
                          <a:srgbClr val="000000"/>
                        </a:solidFill>
                        <a:effectLst/>
                        <a:latin typeface="Calibri" panose="020F0502020204030204" pitchFamily="34" charset="0"/>
                      </a:endParaRPr>
                    </a:p>
                  </a:txBody>
                  <a:tcPr marL="4763" marR="4763" marT="4763" marB="0" anchor="ctr"/>
                </a:tc>
                <a:tc>
                  <a:txBody>
                    <a:bodyPr/>
                    <a:lstStyle/>
                    <a:p>
                      <a:pPr algn="ctr" fontAlgn="b">
                        <a:buNone/>
                      </a:pPr>
                      <a:r>
                        <a:rPr lang="en-US" sz="1000" u="none" strike="noStrike">
                          <a:effectLst/>
                        </a:rPr>
                        <a:t>✅</a:t>
                      </a:r>
                      <a:endParaRPr lang="en-US" sz="1000" b="0" i="0" u="none" strike="noStrike">
                        <a:solidFill>
                          <a:srgbClr val="000000"/>
                        </a:solidFill>
                        <a:effectLst/>
                        <a:latin typeface="Calibri" panose="020F0502020204030204" pitchFamily="34" charset="0"/>
                      </a:endParaRPr>
                    </a:p>
                  </a:txBody>
                  <a:tcPr marL="4763" marR="4763" marT="4763" marB="0" anchor="ctr"/>
                </a:tc>
                <a:tc>
                  <a:txBody>
                    <a:bodyPr/>
                    <a:lstStyle/>
                    <a:p>
                      <a:pPr algn="ctr" fontAlgn="b">
                        <a:buNone/>
                      </a:pPr>
                      <a:r>
                        <a:rPr lang="en-US" sz="1000" u="none" strike="noStrike">
                          <a:effectLst/>
                        </a:rPr>
                        <a:t>✅</a:t>
                      </a:r>
                      <a:endParaRPr lang="en-US" sz="1000" b="0" i="0" u="none" strike="noStrike">
                        <a:solidFill>
                          <a:srgbClr val="000000"/>
                        </a:solidFill>
                        <a:effectLst/>
                        <a:latin typeface="Calibri" panose="020F0502020204030204" pitchFamily="34" charset="0"/>
                      </a:endParaRPr>
                    </a:p>
                  </a:txBody>
                  <a:tcPr marL="4763" marR="4763" marT="4763" marB="0" anchor="ctr"/>
                </a:tc>
                <a:tc>
                  <a:txBody>
                    <a:bodyPr/>
                    <a:lstStyle/>
                    <a:p>
                      <a:pPr algn="ctr" fontAlgn="b">
                        <a:buNone/>
                      </a:pPr>
                      <a:r>
                        <a:rPr lang="en-US" sz="1000" u="none" strike="noStrike" dirty="0">
                          <a:effectLst/>
                        </a:rPr>
                        <a:t>✅</a:t>
                      </a:r>
                      <a:endParaRPr lang="en-US" sz="1000" b="0" i="0" u="none" strike="noStrike" dirty="0">
                        <a:solidFill>
                          <a:srgbClr val="000000"/>
                        </a:solidFill>
                        <a:effectLst/>
                        <a:latin typeface="Calibri" panose="020F0502020204030204" pitchFamily="34" charset="0"/>
                      </a:endParaRPr>
                    </a:p>
                  </a:txBody>
                  <a:tcPr marL="4763" marR="4763" marT="4763" marB="0" anchor="ctr"/>
                </a:tc>
                <a:tc>
                  <a:txBody>
                    <a:bodyPr/>
                    <a:lstStyle/>
                    <a:p>
                      <a:pPr algn="ctr" fontAlgn="b">
                        <a:buNone/>
                      </a:pPr>
                      <a:r>
                        <a:rPr lang="en-US" sz="1000" u="none" strike="noStrike" dirty="0">
                          <a:effectLst/>
                        </a:rPr>
                        <a:t>✅</a:t>
                      </a:r>
                      <a:endParaRPr lang="en-US" sz="1000" b="0" i="0" u="none" strike="noStrike" dirty="0">
                        <a:solidFill>
                          <a:srgbClr val="000000"/>
                        </a:solidFill>
                        <a:effectLst/>
                        <a:latin typeface="Calibri" panose="020F0502020204030204" pitchFamily="34" charset="0"/>
                      </a:endParaRPr>
                    </a:p>
                  </a:txBody>
                  <a:tcPr marL="4763" marR="4763" marT="4763" marB="0" anchor="ctr"/>
                </a:tc>
                <a:extLst>
                  <a:ext uri="{0D108BD9-81ED-4DB2-BD59-A6C34878D82A}">
                    <a16:rowId xmlns:a16="http://schemas.microsoft.com/office/drawing/2014/main" val="2192398882"/>
                  </a:ext>
                </a:extLst>
              </a:tr>
              <a:tr h="218758">
                <a:tc>
                  <a:txBody>
                    <a:bodyPr/>
                    <a:lstStyle/>
                    <a:p>
                      <a:pPr algn="ctr" fontAlgn="b">
                        <a:buNone/>
                      </a:pPr>
                      <a:r>
                        <a:rPr lang="en-US" sz="1000" u="none" strike="noStrike">
                          <a:effectLst/>
                        </a:rPr>
                        <a:t>18</a:t>
                      </a:r>
                      <a:endParaRPr lang="en-US" sz="1000" b="0" i="0" u="none" strike="noStrike">
                        <a:solidFill>
                          <a:srgbClr val="000000"/>
                        </a:solidFill>
                        <a:effectLst/>
                        <a:latin typeface="Calibri" panose="020F0502020204030204" pitchFamily="34" charset="0"/>
                      </a:endParaRPr>
                    </a:p>
                  </a:txBody>
                  <a:tcPr marL="4763" marR="4763" marT="4763" marB="0" anchor="b"/>
                </a:tc>
                <a:tc>
                  <a:txBody>
                    <a:bodyPr/>
                    <a:lstStyle/>
                    <a:p>
                      <a:pPr algn="l" fontAlgn="b">
                        <a:buNone/>
                      </a:pPr>
                      <a:r>
                        <a:rPr lang="en-US" sz="1000" u="none" strike="noStrike">
                          <a:effectLst/>
                        </a:rPr>
                        <a:t>Türk Tabipler Birliği (TTB) Veri İhlali – Türkiye (2025)</a:t>
                      </a:r>
                      <a:endParaRPr lang="en-US" sz="1000" b="0" i="0" u="none" strike="noStrike">
                        <a:solidFill>
                          <a:srgbClr val="000000"/>
                        </a:solidFill>
                        <a:effectLst/>
                        <a:latin typeface="Calibri" panose="020F0502020204030204" pitchFamily="34" charset="0"/>
                      </a:endParaRPr>
                    </a:p>
                  </a:txBody>
                  <a:tcPr marL="4763" marR="4763" marT="4763" marB="0" anchor="b"/>
                </a:tc>
                <a:tc>
                  <a:txBody>
                    <a:bodyPr/>
                    <a:lstStyle/>
                    <a:p>
                      <a:pPr algn="ctr" fontAlgn="b">
                        <a:buNone/>
                      </a:pPr>
                      <a:r>
                        <a:rPr lang="en-US" sz="1000" u="none" strike="noStrike">
                          <a:effectLst/>
                        </a:rPr>
                        <a:t>✅</a:t>
                      </a:r>
                      <a:endParaRPr lang="en-US" sz="1000" b="0" i="0" u="none" strike="noStrike">
                        <a:solidFill>
                          <a:srgbClr val="000000"/>
                        </a:solidFill>
                        <a:effectLst/>
                        <a:latin typeface="Calibri" panose="020F0502020204030204" pitchFamily="34" charset="0"/>
                      </a:endParaRPr>
                    </a:p>
                  </a:txBody>
                  <a:tcPr marL="4763" marR="4763" marT="4763" marB="0" anchor="ctr"/>
                </a:tc>
                <a:tc>
                  <a:txBody>
                    <a:bodyPr/>
                    <a:lstStyle/>
                    <a:p>
                      <a:pPr algn="ctr" fontAlgn="b">
                        <a:buNone/>
                      </a:pPr>
                      <a:r>
                        <a:rPr lang="en-US" sz="1000" u="none" strike="noStrike">
                          <a:effectLst/>
                        </a:rPr>
                        <a:t>✅</a:t>
                      </a:r>
                      <a:endParaRPr lang="en-US" sz="1000" b="0" i="0" u="none" strike="noStrike">
                        <a:solidFill>
                          <a:srgbClr val="000000"/>
                        </a:solidFill>
                        <a:effectLst/>
                        <a:latin typeface="Calibri" panose="020F0502020204030204" pitchFamily="34" charset="0"/>
                      </a:endParaRPr>
                    </a:p>
                  </a:txBody>
                  <a:tcPr marL="4763" marR="4763" marT="4763" marB="0" anchor="ctr"/>
                </a:tc>
                <a:tc>
                  <a:txBody>
                    <a:bodyPr/>
                    <a:lstStyle/>
                    <a:p>
                      <a:pPr algn="ctr" fontAlgn="b">
                        <a:buNone/>
                      </a:pPr>
                      <a:r>
                        <a:rPr lang="en-US" sz="1000" u="none" strike="noStrike">
                          <a:effectLst/>
                        </a:rPr>
                        <a:t> </a:t>
                      </a:r>
                      <a:endParaRPr lang="en-US" sz="1000" b="0" i="0" u="none" strike="noStrike">
                        <a:solidFill>
                          <a:srgbClr val="000000"/>
                        </a:solidFill>
                        <a:effectLst/>
                        <a:latin typeface="Calibri" panose="020F0502020204030204" pitchFamily="34" charset="0"/>
                      </a:endParaRPr>
                    </a:p>
                  </a:txBody>
                  <a:tcPr marL="4763" marR="4763" marT="4763" marB="0" anchor="ctr"/>
                </a:tc>
                <a:tc>
                  <a:txBody>
                    <a:bodyPr/>
                    <a:lstStyle/>
                    <a:p>
                      <a:pPr algn="ctr" fontAlgn="b">
                        <a:buNone/>
                      </a:pPr>
                      <a:r>
                        <a:rPr lang="en-US" sz="1000" u="none" strike="noStrike">
                          <a:effectLst/>
                        </a:rPr>
                        <a:t> </a:t>
                      </a:r>
                      <a:endParaRPr lang="en-US" sz="1000" b="0" i="0" u="none" strike="noStrike">
                        <a:solidFill>
                          <a:srgbClr val="000000"/>
                        </a:solidFill>
                        <a:effectLst/>
                        <a:latin typeface="Calibri" panose="020F0502020204030204" pitchFamily="34" charset="0"/>
                      </a:endParaRPr>
                    </a:p>
                  </a:txBody>
                  <a:tcPr marL="4763" marR="4763" marT="4763" marB="0" anchor="ctr"/>
                </a:tc>
                <a:tc>
                  <a:txBody>
                    <a:bodyPr/>
                    <a:lstStyle/>
                    <a:p>
                      <a:pPr algn="ctr" fontAlgn="b">
                        <a:buNone/>
                      </a:pPr>
                      <a:r>
                        <a:rPr lang="en-US" sz="1000" u="none" strike="noStrike" dirty="0">
                          <a:effectLst/>
                        </a:rPr>
                        <a:t> </a:t>
                      </a:r>
                      <a:endParaRPr lang="en-US" sz="1000" b="0" i="0" u="none" strike="noStrike" dirty="0">
                        <a:solidFill>
                          <a:srgbClr val="000000"/>
                        </a:solidFill>
                        <a:effectLst/>
                        <a:latin typeface="Calibri" panose="020F0502020204030204" pitchFamily="34" charset="0"/>
                      </a:endParaRPr>
                    </a:p>
                  </a:txBody>
                  <a:tcPr marL="4763" marR="4763" marT="4763" marB="0" anchor="ctr"/>
                </a:tc>
                <a:tc>
                  <a:txBody>
                    <a:bodyPr/>
                    <a:lstStyle/>
                    <a:p>
                      <a:pPr algn="ctr" fontAlgn="b">
                        <a:buNone/>
                      </a:pPr>
                      <a:r>
                        <a:rPr lang="en-US" sz="1000" u="none" strike="noStrike" dirty="0">
                          <a:effectLst/>
                        </a:rPr>
                        <a:t> </a:t>
                      </a:r>
                      <a:endParaRPr lang="en-US" sz="1000" b="0" i="0" u="none" strike="noStrike" dirty="0">
                        <a:solidFill>
                          <a:srgbClr val="000000"/>
                        </a:solidFill>
                        <a:effectLst/>
                        <a:latin typeface="Calibri" panose="020F0502020204030204" pitchFamily="34" charset="0"/>
                      </a:endParaRPr>
                    </a:p>
                  </a:txBody>
                  <a:tcPr marL="4763" marR="4763" marT="4763" marB="0" anchor="ctr"/>
                </a:tc>
                <a:extLst>
                  <a:ext uri="{0D108BD9-81ED-4DB2-BD59-A6C34878D82A}">
                    <a16:rowId xmlns:a16="http://schemas.microsoft.com/office/drawing/2014/main" val="260566634"/>
                  </a:ext>
                </a:extLst>
              </a:tr>
              <a:tr h="218758">
                <a:tc>
                  <a:txBody>
                    <a:bodyPr/>
                    <a:lstStyle/>
                    <a:p>
                      <a:pPr algn="ctr" fontAlgn="b">
                        <a:buNone/>
                      </a:pPr>
                      <a:r>
                        <a:rPr lang="en-US" sz="1000" u="none" strike="noStrike">
                          <a:effectLst/>
                        </a:rPr>
                        <a:t>19</a:t>
                      </a:r>
                      <a:endParaRPr lang="en-US" sz="1000" b="0" i="0" u="none" strike="noStrike">
                        <a:solidFill>
                          <a:srgbClr val="000000"/>
                        </a:solidFill>
                        <a:effectLst/>
                        <a:latin typeface="Calibri" panose="020F0502020204030204" pitchFamily="34" charset="0"/>
                      </a:endParaRPr>
                    </a:p>
                  </a:txBody>
                  <a:tcPr marL="4763" marR="4763" marT="4763" marB="0" anchor="b"/>
                </a:tc>
                <a:tc>
                  <a:txBody>
                    <a:bodyPr/>
                    <a:lstStyle/>
                    <a:p>
                      <a:pPr algn="l" fontAlgn="b">
                        <a:buNone/>
                      </a:pPr>
                      <a:r>
                        <a:rPr lang="en-US" sz="1000" u="none" strike="noStrike">
                          <a:effectLst/>
                        </a:rPr>
                        <a:t>Global 16 Billion Credentials Leak – Global (2025)</a:t>
                      </a:r>
                      <a:endParaRPr lang="en-US" sz="1000" b="0" i="0" u="none" strike="noStrike">
                        <a:solidFill>
                          <a:srgbClr val="000000"/>
                        </a:solidFill>
                        <a:effectLst/>
                        <a:latin typeface="Calibri" panose="020F0502020204030204" pitchFamily="34" charset="0"/>
                      </a:endParaRPr>
                    </a:p>
                  </a:txBody>
                  <a:tcPr marL="4763" marR="4763" marT="4763" marB="0" anchor="b"/>
                </a:tc>
                <a:tc>
                  <a:txBody>
                    <a:bodyPr/>
                    <a:lstStyle/>
                    <a:p>
                      <a:pPr algn="ctr" fontAlgn="b">
                        <a:buNone/>
                      </a:pPr>
                      <a:r>
                        <a:rPr lang="en-US" sz="1000" u="none" strike="noStrike">
                          <a:effectLst/>
                        </a:rPr>
                        <a:t>✅</a:t>
                      </a:r>
                      <a:endParaRPr lang="en-US" sz="1000" b="0" i="0" u="none" strike="noStrike">
                        <a:solidFill>
                          <a:srgbClr val="000000"/>
                        </a:solidFill>
                        <a:effectLst/>
                        <a:latin typeface="Calibri" panose="020F0502020204030204" pitchFamily="34" charset="0"/>
                      </a:endParaRPr>
                    </a:p>
                  </a:txBody>
                  <a:tcPr marL="4763" marR="4763" marT="4763" marB="0" anchor="ctr"/>
                </a:tc>
                <a:tc>
                  <a:txBody>
                    <a:bodyPr/>
                    <a:lstStyle/>
                    <a:p>
                      <a:pPr algn="ctr" fontAlgn="b">
                        <a:buNone/>
                      </a:pPr>
                      <a:r>
                        <a:rPr lang="en-US" sz="1000" u="none" strike="noStrike">
                          <a:effectLst/>
                        </a:rPr>
                        <a:t> </a:t>
                      </a:r>
                      <a:endParaRPr lang="en-US" sz="1000" b="0" i="0" u="none" strike="noStrike">
                        <a:solidFill>
                          <a:srgbClr val="000000"/>
                        </a:solidFill>
                        <a:effectLst/>
                        <a:latin typeface="Calibri" panose="020F0502020204030204" pitchFamily="34" charset="0"/>
                      </a:endParaRPr>
                    </a:p>
                  </a:txBody>
                  <a:tcPr marL="4763" marR="4763" marT="4763" marB="0" anchor="ctr"/>
                </a:tc>
                <a:tc>
                  <a:txBody>
                    <a:bodyPr/>
                    <a:lstStyle/>
                    <a:p>
                      <a:pPr algn="ctr" fontAlgn="b">
                        <a:buNone/>
                      </a:pPr>
                      <a:r>
                        <a:rPr lang="en-US" sz="1000" u="none" strike="noStrike">
                          <a:effectLst/>
                        </a:rPr>
                        <a:t> </a:t>
                      </a:r>
                      <a:endParaRPr lang="en-US" sz="1000" b="0" i="0" u="none" strike="noStrike">
                        <a:solidFill>
                          <a:srgbClr val="000000"/>
                        </a:solidFill>
                        <a:effectLst/>
                        <a:latin typeface="Calibri" panose="020F0502020204030204" pitchFamily="34" charset="0"/>
                      </a:endParaRPr>
                    </a:p>
                  </a:txBody>
                  <a:tcPr marL="4763" marR="4763" marT="4763" marB="0" anchor="ctr"/>
                </a:tc>
                <a:tc>
                  <a:txBody>
                    <a:bodyPr/>
                    <a:lstStyle/>
                    <a:p>
                      <a:pPr algn="ctr" fontAlgn="b">
                        <a:buNone/>
                      </a:pPr>
                      <a:r>
                        <a:rPr lang="en-US" sz="1000" u="none" strike="noStrike">
                          <a:effectLst/>
                        </a:rPr>
                        <a:t> </a:t>
                      </a:r>
                      <a:endParaRPr lang="en-US" sz="1000" b="0" i="0" u="none" strike="noStrike">
                        <a:solidFill>
                          <a:srgbClr val="000000"/>
                        </a:solidFill>
                        <a:effectLst/>
                        <a:latin typeface="Calibri" panose="020F0502020204030204" pitchFamily="34" charset="0"/>
                      </a:endParaRPr>
                    </a:p>
                  </a:txBody>
                  <a:tcPr marL="4763" marR="4763" marT="4763" marB="0" anchor="ctr"/>
                </a:tc>
                <a:tc>
                  <a:txBody>
                    <a:bodyPr/>
                    <a:lstStyle/>
                    <a:p>
                      <a:pPr algn="ctr" fontAlgn="b">
                        <a:buNone/>
                      </a:pPr>
                      <a:r>
                        <a:rPr lang="en-US" sz="1000" u="none" strike="noStrike" dirty="0">
                          <a:effectLst/>
                        </a:rPr>
                        <a:t> </a:t>
                      </a:r>
                      <a:endParaRPr lang="en-US" sz="1000" b="0" i="0" u="none" strike="noStrike" dirty="0">
                        <a:solidFill>
                          <a:srgbClr val="000000"/>
                        </a:solidFill>
                        <a:effectLst/>
                        <a:latin typeface="Calibri" panose="020F0502020204030204" pitchFamily="34" charset="0"/>
                      </a:endParaRPr>
                    </a:p>
                  </a:txBody>
                  <a:tcPr marL="4763" marR="4763" marT="4763" marB="0" anchor="ctr"/>
                </a:tc>
                <a:tc>
                  <a:txBody>
                    <a:bodyPr/>
                    <a:lstStyle/>
                    <a:p>
                      <a:pPr algn="ctr" fontAlgn="b">
                        <a:buNone/>
                      </a:pPr>
                      <a:r>
                        <a:rPr lang="en-US" sz="1000" u="none" strike="noStrike" dirty="0">
                          <a:effectLst/>
                        </a:rPr>
                        <a:t> </a:t>
                      </a:r>
                      <a:endParaRPr lang="en-US" sz="1000" b="0" i="0" u="none" strike="noStrike" dirty="0">
                        <a:solidFill>
                          <a:srgbClr val="000000"/>
                        </a:solidFill>
                        <a:effectLst/>
                        <a:latin typeface="Calibri" panose="020F0502020204030204" pitchFamily="34" charset="0"/>
                      </a:endParaRPr>
                    </a:p>
                  </a:txBody>
                  <a:tcPr marL="4763" marR="4763" marT="4763" marB="0" anchor="ctr"/>
                </a:tc>
                <a:extLst>
                  <a:ext uri="{0D108BD9-81ED-4DB2-BD59-A6C34878D82A}">
                    <a16:rowId xmlns:a16="http://schemas.microsoft.com/office/drawing/2014/main" val="3583455936"/>
                  </a:ext>
                </a:extLst>
              </a:tr>
            </a:tbl>
          </a:graphicData>
        </a:graphic>
      </p:graphicFrame>
      <p:sp>
        <p:nvSpPr>
          <p:cNvPr id="2" name="Rectangle 1">
            <a:extLst>
              <a:ext uri="{FF2B5EF4-FFF2-40B4-BE49-F238E27FC236}">
                <a16:creationId xmlns:a16="http://schemas.microsoft.com/office/drawing/2014/main" id="{A54E04D2-6239-6DD9-F5DF-E3EEBAFDCEDB}"/>
              </a:ext>
            </a:extLst>
          </p:cNvPr>
          <p:cNvSpPr/>
          <p:nvPr/>
        </p:nvSpPr>
        <p:spPr>
          <a:xfrm>
            <a:off x="5933135" y="2967335"/>
            <a:ext cx="325730" cy="923330"/>
          </a:xfrm>
          <a:prstGeom prst="rect">
            <a:avLst/>
          </a:prstGeom>
          <a:noFill/>
        </p:spPr>
        <p:txBody>
          <a:bodyPr wrap="none" lIns="91440" tIns="45720" rIns="91440" bIns="45720">
            <a:spAutoFit/>
          </a:bodyPr>
          <a:lstStyle/>
          <a:p>
            <a:pPr algn="ctr"/>
            <a:r>
              <a:rPr lang="en-US" sz="5400" b="0" u="none" strike="noStrike" cap="none" spc="0" dirty="0">
                <a:ln w="0"/>
                <a:solidFill>
                  <a:schemeClr val="tx1"/>
                </a:solidFill>
                <a:effectLst>
                  <a:outerShdw blurRad="38100" dist="19050" dir="2700000" algn="tl" rotWithShape="0">
                    <a:schemeClr val="dk1">
                      <a:alpha val="40000"/>
                    </a:schemeClr>
                  </a:outerShdw>
                </a:effectLst>
              </a:rPr>
              <a:t> </a:t>
            </a:r>
            <a:endParaRPr lang="en-US" sz="5400" b="0" cap="none" spc="0" dirty="0">
              <a:ln w="0"/>
              <a:solidFill>
                <a:schemeClr val="tx1"/>
              </a:solidFill>
              <a:effectLst>
                <a:outerShdw blurRad="38100" dist="19050" dir="2700000" algn="tl" rotWithShape="0">
                  <a:schemeClr val="dk1">
                    <a:alpha val="40000"/>
                  </a:schemeClr>
                </a:outerShdw>
              </a:effectLst>
            </a:endParaRPr>
          </a:p>
        </p:txBody>
      </p:sp>
      <p:sp>
        <p:nvSpPr>
          <p:cNvPr id="3" name="Rectangle 2">
            <a:extLst>
              <a:ext uri="{FF2B5EF4-FFF2-40B4-BE49-F238E27FC236}">
                <a16:creationId xmlns:a16="http://schemas.microsoft.com/office/drawing/2014/main" id="{2BC8A95A-39C6-57EC-2CA4-8F1B00987A8C}"/>
              </a:ext>
            </a:extLst>
          </p:cNvPr>
          <p:cNvSpPr/>
          <p:nvPr/>
        </p:nvSpPr>
        <p:spPr>
          <a:xfrm>
            <a:off x="-215155" y="62112"/>
            <a:ext cx="12321465" cy="1077218"/>
          </a:xfrm>
          <a:prstGeom prst="rect">
            <a:avLst/>
          </a:prstGeom>
          <a:noFill/>
        </p:spPr>
        <p:txBody>
          <a:bodyPr wrap="square" lIns="91440" tIns="45720" rIns="91440" bIns="45720">
            <a:spAutoFit/>
          </a:bodyPr>
          <a:lstStyle/>
          <a:p>
            <a:pPr algn="ctr"/>
            <a:r>
              <a:rPr lang="tr-TR" sz="3200"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 2020–2025 Yılları Arası Küresel Ölçekte Veri İhlallerinde</a:t>
            </a:r>
          </a:p>
          <a:p>
            <a:pPr algn="ctr"/>
            <a:r>
              <a:rPr lang="tr-TR" sz="3200"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 Karşılaştırmalı Analizler</a:t>
            </a:r>
            <a:endParaRPr lang="tr-TR" sz="3200" cap="none" spc="0" dirty="0">
              <a:ln w="0"/>
              <a:solidFill>
                <a:schemeClr val="tx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AF6CEB45-1845-ABA1-AD42-89C75947767A}"/>
              </a:ext>
            </a:extLst>
          </p:cNvPr>
          <p:cNvSpPr txBox="1"/>
          <p:nvPr/>
        </p:nvSpPr>
        <p:spPr>
          <a:xfrm>
            <a:off x="9720759" y="1970247"/>
            <a:ext cx="2385551" cy="2031325"/>
          </a:xfrm>
          <a:prstGeom prst="rect">
            <a:avLst/>
          </a:prstGeom>
          <a:noFill/>
        </p:spPr>
        <p:txBody>
          <a:bodyPr wrap="square">
            <a:spAutoFit/>
          </a:bodyPr>
          <a:lstStyle/>
          <a:p>
            <a:pPr algn="just"/>
            <a:r>
              <a:rPr lang="tr-TR" sz="1400" dirty="0">
                <a:latin typeface="Arial" panose="020B0604020202020204" pitchFamily="34" charset="0"/>
                <a:cs typeface="Arial" panose="020B0604020202020204" pitchFamily="34" charset="0"/>
              </a:rPr>
              <a:t>	2020–2025 döneminde meydana gelen küresel veri ihlalleri, hedef alınan veri türleri temelinde sistematik biçimde sınıflandırılmış, kapsam ve etki düzeyleri analiz edilerek karşılaştırmalı olarak değerlendirilmiştir</a:t>
            </a:r>
            <a:r>
              <a:rPr lang="tr-TR" sz="1400" dirty="0"/>
              <a:t>.</a:t>
            </a:r>
            <a:endParaRPr lang="tr-TR" sz="1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516532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Picture 20">
            <a:extLst>
              <a:ext uri="{FF2B5EF4-FFF2-40B4-BE49-F238E27FC236}">
                <a16:creationId xmlns:a16="http://schemas.microsoft.com/office/drawing/2014/main" id="{8D124522-C740-2D91-3222-83E02F5ABFDC}"/>
              </a:ext>
            </a:extLst>
          </p:cNvPr>
          <p:cNvPicPr>
            <a:picLocks noChangeAspect="1"/>
          </p:cNvPicPr>
          <p:nvPr/>
        </p:nvPicPr>
        <p:blipFill>
          <a:blip r:embed="rId3"/>
          <a:stretch>
            <a:fillRect/>
          </a:stretch>
        </p:blipFill>
        <p:spPr>
          <a:xfrm>
            <a:off x="0" y="-142568"/>
            <a:ext cx="12729295" cy="7160228"/>
          </a:xfrm>
          <a:prstGeom prst="rect">
            <a:avLst/>
          </a:prstGeom>
          <a:ln>
            <a:solidFill>
              <a:schemeClr val="accent4">
                <a:lumMod val="20000"/>
                <a:lumOff val="80000"/>
              </a:schemeClr>
            </a:solidFill>
          </a:ln>
        </p:spPr>
      </p:pic>
      <p:sp>
        <p:nvSpPr>
          <p:cNvPr id="3" name="TextBox 2">
            <a:extLst>
              <a:ext uri="{FF2B5EF4-FFF2-40B4-BE49-F238E27FC236}">
                <a16:creationId xmlns:a16="http://schemas.microsoft.com/office/drawing/2014/main" id="{C0F7C804-F8D1-0BB0-EED4-9B9842CC8A12}"/>
              </a:ext>
            </a:extLst>
          </p:cNvPr>
          <p:cNvSpPr txBox="1"/>
          <p:nvPr/>
        </p:nvSpPr>
        <p:spPr>
          <a:xfrm>
            <a:off x="7056120" y="1438589"/>
            <a:ext cx="4685515" cy="4031873"/>
          </a:xfrm>
          <a:prstGeom prst="rect">
            <a:avLst/>
          </a:prstGeom>
          <a:noFill/>
        </p:spPr>
        <p:txBody>
          <a:bodyPr wrap="square">
            <a:spAutoFit/>
          </a:bodyPr>
          <a:lstStyle/>
          <a:p>
            <a:pPr algn="just"/>
            <a:r>
              <a:rPr lang="tr-TR" sz="1400" dirty="0">
                <a:latin typeface="Arial" panose="020B0604020202020204" pitchFamily="34" charset="0"/>
                <a:cs typeface="Arial" panose="020B0604020202020204" pitchFamily="34" charset="0"/>
              </a:rPr>
              <a:t>	2020–2025 döneminde incelenen 19 büyük ölçekli veri ihlali olayı, küresel ölçekte dijital güvenlik açıklarının boyutunu ortaya koymaktadır. Analiz sonuçlarına göre, en fazla etkilenen veri türü kişisel bilgiler (PII) olmuş, bu durum bireysel gizlilik ihlallerinin yaygınlığını göstermiştir. 	Finansal kazanç motivasyonu, saldırıların yaklaşık %45’inde belirleyici unsur olarak öne çıkmıştır. Her bir olayda ortalama 20 milyon kişinin doğrudan veya dolaylı olarak etkilendiği saptanmıştır. Özellikle sağlık sektörü, korumalı sağlık bilgileri (PHI) içeren veri tabanlarının hedef alınması nedeniyle yüksek risk grubunda yer almıştır. Bununla birlikte finans, teknoloji, kamu ve üretim sektörleri, </a:t>
            </a:r>
            <a:r>
              <a:rPr lang="tr-TR" sz="1400" dirty="0" err="1">
                <a:latin typeface="Arial" panose="020B0604020202020204" pitchFamily="34" charset="0"/>
                <a:cs typeface="Arial" panose="020B0604020202020204" pitchFamily="34" charset="0"/>
              </a:rPr>
              <a:t>operasyonel</a:t>
            </a:r>
            <a:r>
              <a:rPr lang="tr-TR" sz="1400" dirty="0">
                <a:latin typeface="Arial" panose="020B0604020202020204" pitchFamily="34" charset="0"/>
                <a:cs typeface="Arial" panose="020B0604020202020204" pitchFamily="34" charset="0"/>
              </a:rPr>
              <a:t> ve iş açısından kritik verilerin sızdırılmasıyla ekonomik ve yönetsel kayıplar yaşamıştır. 	Bulgular, </a:t>
            </a:r>
            <a:r>
              <a:rPr lang="tr-TR" sz="1400" dirty="0" err="1">
                <a:latin typeface="Arial" panose="020B0604020202020204" pitchFamily="34" charset="0"/>
                <a:cs typeface="Arial" panose="020B0604020202020204" pitchFamily="34" charset="0"/>
              </a:rPr>
              <a:t>sektörel</a:t>
            </a:r>
            <a:r>
              <a:rPr lang="tr-TR" sz="1400" dirty="0">
                <a:latin typeface="Arial" panose="020B0604020202020204" pitchFamily="34" charset="0"/>
                <a:cs typeface="Arial" panose="020B0604020202020204" pitchFamily="34" charset="0"/>
              </a:rPr>
              <a:t> temelli siber güvenlik önlemlerinin güçlendirilmesi ve veri koruma politikalarının yeniden yapılandırılmasının zorunluluğunu vurgulamaktadır</a:t>
            </a:r>
            <a:r>
              <a:rPr lang="tr-TR" dirty="0"/>
              <a:t>.</a:t>
            </a:r>
          </a:p>
        </p:txBody>
      </p:sp>
      <p:sp>
        <p:nvSpPr>
          <p:cNvPr id="4" name="TextBox 3">
            <a:extLst>
              <a:ext uri="{FF2B5EF4-FFF2-40B4-BE49-F238E27FC236}">
                <a16:creationId xmlns:a16="http://schemas.microsoft.com/office/drawing/2014/main" id="{5F2DA29C-811C-A66F-1EEF-F7B7C7FD5054}"/>
              </a:ext>
            </a:extLst>
          </p:cNvPr>
          <p:cNvSpPr txBox="1"/>
          <p:nvPr/>
        </p:nvSpPr>
        <p:spPr>
          <a:xfrm>
            <a:off x="0" y="49108"/>
            <a:ext cx="12426286" cy="1077218"/>
          </a:xfrm>
          <a:prstGeom prst="rect">
            <a:avLst/>
          </a:prstGeom>
          <a:noFill/>
        </p:spPr>
        <p:txBody>
          <a:bodyPr wrap="square">
            <a:spAutoFit/>
          </a:bodyPr>
          <a:lstStyle/>
          <a:p>
            <a:pPr algn="ctr" rtl="0">
              <a:defRPr sz="1800" b="1" i="0" u="none" strike="noStrike" kern="1200" baseline="0">
                <a:solidFill>
                  <a:prstClr val="black">
                    <a:lumMod val="75000"/>
                    <a:lumOff val="25000"/>
                  </a:prstClr>
                </a:solidFill>
                <a:latin typeface="+mn-lt"/>
                <a:ea typeface="+mn-ea"/>
                <a:cs typeface="+mn-cs"/>
              </a:defRPr>
            </a:pPr>
            <a:r>
              <a:rPr lang="tr-TR" sz="3200" b="0"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İhlal Hedef Türlerine göre </a:t>
            </a:r>
          </a:p>
          <a:p>
            <a:pPr algn="ctr" rtl="0">
              <a:defRPr sz="1800" b="1" i="0" u="none" strike="noStrike" kern="1200" baseline="0">
                <a:solidFill>
                  <a:prstClr val="black">
                    <a:lumMod val="75000"/>
                    <a:lumOff val="25000"/>
                  </a:prstClr>
                </a:solidFill>
                <a:latin typeface="+mn-lt"/>
                <a:ea typeface="+mn-ea"/>
                <a:cs typeface="+mn-cs"/>
              </a:defRPr>
            </a:pPr>
            <a:r>
              <a:rPr lang="tr-TR" sz="3200" b="0"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Karşılaştırmalı Analiz</a:t>
            </a:r>
            <a:endParaRPr lang="tr-TR" sz="3200" b="0" cap="none" spc="0" dirty="0">
              <a:ln w="0"/>
              <a:solidFill>
                <a:schemeClr val="tx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p:txBody>
      </p:sp>
      <p:graphicFrame>
        <p:nvGraphicFramePr>
          <p:cNvPr id="7" name="Chart 6">
            <a:extLst>
              <a:ext uri="{FF2B5EF4-FFF2-40B4-BE49-F238E27FC236}">
                <a16:creationId xmlns:a16="http://schemas.microsoft.com/office/drawing/2014/main" id="{72F0944F-4F06-77EF-8F08-1EF58B002FA6}"/>
              </a:ext>
            </a:extLst>
          </p:cNvPr>
          <p:cNvGraphicFramePr>
            <a:graphicFrameLocks/>
          </p:cNvGraphicFramePr>
          <p:nvPr>
            <p:extLst>
              <p:ext uri="{D42A27DB-BD31-4B8C-83A1-F6EECF244321}">
                <p14:modId xmlns:p14="http://schemas.microsoft.com/office/powerpoint/2010/main" val="3699226422"/>
              </p:ext>
            </p:extLst>
          </p:nvPr>
        </p:nvGraphicFramePr>
        <p:xfrm>
          <a:off x="104462" y="1199241"/>
          <a:ext cx="7512676" cy="4648204"/>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06371207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Picture 23">
            <a:extLst>
              <a:ext uri="{FF2B5EF4-FFF2-40B4-BE49-F238E27FC236}">
                <a16:creationId xmlns:a16="http://schemas.microsoft.com/office/drawing/2014/main" id="{6BB56F3D-A677-C44E-44DF-3F5DF339BA0C}"/>
              </a:ext>
            </a:extLst>
          </p:cNvPr>
          <p:cNvPicPr>
            <a:picLocks noChangeAspect="1"/>
          </p:cNvPicPr>
          <p:nvPr/>
        </p:nvPicPr>
        <p:blipFill>
          <a:blip r:embed="rId2"/>
          <a:stretch>
            <a:fillRect/>
          </a:stretch>
        </p:blipFill>
        <p:spPr>
          <a:xfrm>
            <a:off x="-144780" y="-74914"/>
            <a:ext cx="12729295" cy="7160228"/>
          </a:xfrm>
          <a:prstGeom prst="rect">
            <a:avLst/>
          </a:prstGeom>
        </p:spPr>
      </p:pic>
      <p:graphicFrame>
        <p:nvGraphicFramePr>
          <p:cNvPr id="8" name="Chart 7">
            <a:extLst>
              <a:ext uri="{FF2B5EF4-FFF2-40B4-BE49-F238E27FC236}">
                <a16:creationId xmlns:a16="http://schemas.microsoft.com/office/drawing/2014/main" id="{E358CB37-D943-980A-CF7B-1AA8AA2B6B99}"/>
              </a:ext>
            </a:extLst>
          </p:cNvPr>
          <p:cNvGraphicFramePr>
            <a:graphicFrameLocks/>
          </p:cNvGraphicFramePr>
          <p:nvPr>
            <p:extLst>
              <p:ext uri="{D42A27DB-BD31-4B8C-83A1-F6EECF244321}">
                <p14:modId xmlns:p14="http://schemas.microsoft.com/office/powerpoint/2010/main" val="3573094549"/>
              </p:ext>
            </p:extLst>
          </p:nvPr>
        </p:nvGraphicFramePr>
        <p:xfrm>
          <a:off x="5113020" y="1352606"/>
          <a:ext cx="6324600" cy="4930028"/>
        </p:xfrm>
        <a:graphic>
          <a:graphicData uri="http://schemas.openxmlformats.org/drawingml/2006/chart">
            <c:chart xmlns:c="http://schemas.openxmlformats.org/drawingml/2006/chart" xmlns:r="http://schemas.openxmlformats.org/officeDocument/2006/relationships" r:id="rId3"/>
          </a:graphicData>
        </a:graphic>
      </p:graphicFrame>
      <p:sp>
        <p:nvSpPr>
          <p:cNvPr id="10" name="TextBox 9">
            <a:extLst>
              <a:ext uri="{FF2B5EF4-FFF2-40B4-BE49-F238E27FC236}">
                <a16:creationId xmlns:a16="http://schemas.microsoft.com/office/drawing/2014/main" id="{B9BAE4F3-71E7-0187-3F6A-E7C420BD4DD7}"/>
              </a:ext>
            </a:extLst>
          </p:cNvPr>
          <p:cNvSpPr txBox="1"/>
          <p:nvPr/>
        </p:nvSpPr>
        <p:spPr>
          <a:xfrm>
            <a:off x="1287780" y="1874728"/>
            <a:ext cx="3688080" cy="2893100"/>
          </a:xfrm>
          <a:prstGeom prst="rect">
            <a:avLst/>
          </a:prstGeom>
          <a:noFill/>
        </p:spPr>
        <p:txBody>
          <a:bodyPr wrap="square">
            <a:spAutoFit/>
          </a:bodyPr>
          <a:lstStyle/>
          <a:p>
            <a:pPr algn="just"/>
            <a:r>
              <a:rPr lang="tr-TR" sz="1400" dirty="0">
                <a:latin typeface="Arial" panose="020B0604020202020204" pitchFamily="34" charset="0"/>
                <a:cs typeface="Arial" panose="020B0604020202020204" pitchFamily="34" charset="0"/>
              </a:rPr>
              <a:t>	2020–2025 döneminde analiz edilen ihlallerin içerik türlerine göre dağılımı, kişisel bilgilerin (PII) en yüksek risk grubunda yer aldığını göstermektedir. Toplam 19 büyük ölçekli ihlal olayının yarısından fazlası (%52) kişisel verilere yönelmiştir.</a:t>
            </a:r>
          </a:p>
          <a:p>
            <a:pPr algn="just"/>
            <a:r>
              <a:rPr lang="tr-TR" sz="1400" dirty="0">
                <a:latin typeface="Arial" panose="020B0604020202020204" pitchFamily="34" charset="0"/>
                <a:cs typeface="Arial" panose="020B0604020202020204" pitchFamily="34" charset="0"/>
              </a:rPr>
              <a:t>	 Fikri mülkiyet (IP) ihlalleri 5 vaka ile ikinci sırada, korumalı sağlık verileri (PHI) ise 3 vaka ile üçüncü sırada yer almaktadır. Finansal veriler yalnızca tek bir olayda doğrudan hedeflenmiş olsa da, bu tür veriler genellikle PII veya IP kategorileriyle birlikte dolaylı olarak etkilenmiştir.</a:t>
            </a:r>
          </a:p>
        </p:txBody>
      </p:sp>
      <p:sp>
        <p:nvSpPr>
          <p:cNvPr id="12" name="TextBox 11">
            <a:extLst>
              <a:ext uri="{FF2B5EF4-FFF2-40B4-BE49-F238E27FC236}">
                <a16:creationId xmlns:a16="http://schemas.microsoft.com/office/drawing/2014/main" id="{50E7DACF-4F41-4E0E-6C3C-6B2D1946A8C5}"/>
              </a:ext>
            </a:extLst>
          </p:cNvPr>
          <p:cNvSpPr txBox="1"/>
          <p:nvPr/>
        </p:nvSpPr>
        <p:spPr>
          <a:xfrm>
            <a:off x="163915" y="100237"/>
            <a:ext cx="12420600" cy="1077218"/>
          </a:xfrm>
          <a:prstGeom prst="rect">
            <a:avLst/>
          </a:prstGeom>
          <a:noFill/>
        </p:spPr>
        <p:txBody>
          <a:bodyPr wrap="square">
            <a:spAutoFit/>
          </a:bodyPr>
          <a:lstStyle/>
          <a:p>
            <a:pPr algn="ctr"/>
            <a:r>
              <a:rPr lang="tr-TR" sz="3200"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İhlal  Sayısına göre</a:t>
            </a:r>
          </a:p>
          <a:p>
            <a:pPr algn="ctr"/>
            <a:r>
              <a:rPr lang="tr-TR" sz="3200"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 Karşılaştırmalı Analiz</a:t>
            </a:r>
          </a:p>
        </p:txBody>
      </p:sp>
      <p:pic>
        <p:nvPicPr>
          <p:cNvPr id="18" name="Picture 17">
            <a:extLst>
              <a:ext uri="{FF2B5EF4-FFF2-40B4-BE49-F238E27FC236}">
                <a16:creationId xmlns:a16="http://schemas.microsoft.com/office/drawing/2014/main" id="{DCB761D5-0274-1DCE-907D-7F0349CA68F2}"/>
              </a:ext>
            </a:extLst>
          </p:cNvPr>
          <p:cNvPicPr>
            <a:picLocks noChangeAspect="1"/>
          </p:cNvPicPr>
          <p:nvPr/>
        </p:nvPicPr>
        <p:blipFill>
          <a:blip r:embed="rId4"/>
          <a:stretch>
            <a:fillRect/>
          </a:stretch>
        </p:blipFill>
        <p:spPr>
          <a:xfrm>
            <a:off x="5497667" y="1519525"/>
            <a:ext cx="6667305" cy="4039445"/>
          </a:xfrm>
          <a:prstGeom prst="rect">
            <a:avLst/>
          </a:prstGeom>
        </p:spPr>
      </p:pic>
    </p:spTree>
    <p:extLst>
      <p:ext uri="{BB962C8B-B14F-4D97-AF65-F5344CB8AC3E}">
        <p14:creationId xmlns:p14="http://schemas.microsoft.com/office/powerpoint/2010/main" val="41463438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Picture 21">
            <a:extLst>
              <a:ext uri="{FF2B5EF4-FFF2-40B4-BE49-F238E27FC236}">
                <a16:creationId xmlns:a16="http://schemas.microsoft.com/office/drawing/2014/main" id="{6E380A72-5B0A-C95E-4BAF-866FCB6761CC}"/>
              </a:ext>
            </a:extLst>
          </p:cNvPr>
          <p:cNvPicPr>
            <a:picLocks noChangeAspect="1"/>
          </p:cNvPicPr>
          <p:nvPr/>
        </p:nvPicPr>
        <p:blipFill>
          <a:blip r:embed="rId2"/>
          <a:stretch>
            <a:fillRect/>
          </a:stretch>
        </p:blipFill>
        <p:spPr>
          <a:xfrm>
            <a:off x="-268648" y="-151114"/>
            <a:ext cx="12729295" cy="7160228"/>
          </a:xfrm>
          <a:prstGeom prst="rect">
            <a:avLst/>
          </a:prstGeom>
        </p:spPr>
      </p:pic>
      <p:sp>
        <p:nvSpPr>
          <p:cNvPr id="3" name="TextBox 2">
            <a:extLst>
              <a:ext uri="{FF2B5EF4-FFF2-40B4-BE49-F238E27FC236}">
                <a16:creationId xmlns:a16="http://schemas.microsoft.com/office/drawing/2014/main" id="{F2D80E94-B77A-6468-3FBD-03D8514762FE}"/>
              </a:ext>
            </a:extLst>
          </p:cNvPr>
          <p:cNvSpPr txBox="1"/>
          <p:nvPr/>
        </p:nvSpPr>
        <p:spPr>
          <a:xfrm>
            <a:off x="-152400" y="212072"/>
            <a:ext cx="12344400" cy="1077218"/>
          </a:xfrm>
          <a:prstGeom prst="rect">
            <a:avLst/>
          </a:prstGeom>
          <a:noFill/>
        </p:spPr>
        <p:txBody>
          <a:bodyPr wrap="square">
            <a:spAutoFit/>
          </a:bodyPr>
          <a:lstStyle/>
          <a:p>
            <a:pPr algn="ctr"/>
            <a:r>
              <a:rPr lang="tr-TR" sz="3200" dirty="0">
                <a:effectLst>
                  <a:outerShdw blurRad="38100" dist="38100" dir="2700000" algn="tl">
                    <a:srgbClr val="000000">
                      <a:alpha val="43137"/>
                    </a:srgbClr>
                  </a:outerShdw>
                </a:effectLst>
              </a:rPr>
              <a:t>Saldırıların Hedeflerine Göre</a:t>
            </a:r>
          </a:p>
          <a:p>
            <a:pPr algn="ctr"/>
            <a:r>
              <a:rPr lang="tr-TR" sz="3200" dirty="0">
                <a:effectLst>
                  <a:outerShdw blurRad="38100" dist="38100" dir="2700000" algn="tl">
                    <a:srgbClr val="000000">
                      <a:alpha val="43137"/>
                    </a:srgbClr>
                  </a:outerShdw>
                </a:effectLst>
              </a:rPr>
              <a:t> </a:t>
            </a:r>
            <a:r>
              <a:rPr lang="tr-TR" sz="3200"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Karşılaştırmalı Analiz</a:t>
            </a:r>
            <a:endParaRPr lang="tr-TR" sz="3200" dirty="0">
              <a:effectLst>
                <a:outerShdw blurRad="38100" dist="38100" dir="2700000" algn="tl">
                  <a:srgbClr val="000000">
                    <a:alpha val="43137"/>
                  </a:srgbClr>
                </a:outerShdw>
              </a:effectLst>
            </a:endParaRPr>
          </a:p>
        </p:txBody>
      </p:sp>
      <p:sp>
        <p:nvSpPr>
          <p:cNvPr id="7" name="TextBox 6">
            <a:extLst>
              <a:ext uri="{FF2B5EF4-FFF2-40B4-BE49-F238E27FC236}">
                <a16:creationId xmlns:a16="http://schemas.microsoft.com/office/drawing/2014/main" id="{99054105-D24E-F8AD-C39F-6917CB179550}"/>
              </a:ext>
            </a:extLst>
          </p:cNvPr>
          <p:cNvSpPr txBox="1"/>
          <p:nvPr/>
        </p:nvSpPr>
        <p:spPr>
          <a:xfrm>
            <a:off x="8069767" y="1874728"/>
            <a:ext cx="3808289" cy="2677656"/>
          </a:xfrm>
          <a:prstGeom prst="rect">
            <a:avLst/>
          </a:prstGeom>
          <a:noFill/>
        </p:spPr>
        <p:txBody>
          <a:bodyPr wrap="square">
            <a:spAutoFit/>
          </a:bodyPr>
          <a:lstStyle/>
          <a:p>
            <a:pPr algn="just"/>
            <a:r>
              <a:rPr lang="tr-TR" sz="1400" dirty="0">
                <a:latin typeface="Arial" panose="020B0604020202020204" pitchFamily="34" charset="0"/>
                <a:cs typeface="Arial" panose="020B0604020202020204" pitchFamily="34" charset="0"/>
              </a:rPr>
              <a:t>	2020–2025 döneminde incelenen 19 büyük ölçekli siber olayın %70’inde doğrudan ekonomik motivasyon (finansal kazanç ve fidye talepleri) belirleyici unsur olmuştur.</a:t>
            </a:r>
          </a:p>
          <a:p>
            <a:pPr algn="just"/>
            <a:r>
              <a:rPr lang="tr-TR" sz="1400" dirty="0">
                <a:latin typeface="Arial" panose="020B0604020202020204" pitchFamily="34" charset="0"/>
                <a:cs typeface="Arial" panose="020B0604020202020204" pitchFamily="34" charset="0"/>
              </a:rPr>
              <a:t>	Veri hırsızlığı %15 oranında görülürken, yalnızca birkaç olayda sabotaj veya politik amaçlı saldırı tespit edilmiştir.</a:t>
            </a:r>
          </a:p>
          <a:p>
            <a:pPr algn="just"/>
            <a:r>
              <a:rPr lang="tr-TR" sz="1400" dirty="0">
                <a:latin typeface="Arial" panose="020B0604020202020204" pitchFamily="34" charset="0"/>
                <a:cs typeface="Arial" panose="020B0604020202020204" pitchFamily="34" charset="0"/>
              </a:rPr>
              <a:t>	Bulgular, finansal teşviklerin küresel siber tehditlerin temel dinamiğini oluşturduğunu ve ekonomik kazanç arayışının istikrarlı biçimde öncelikli hedef olarak kaldığını göstermektedir.</a:t>
            </a:r>
          </a:p>
        </p:txBody>
      </p:sp>
      <p:pic>
        <p:nvPicPr>
          <p:cNvPr id="15" name="Picture 14">
            <a:extLst>
              <a:ext uri="{FF2B5EF4-FFF2-40B4-BE49-F238E27FC236}">
                <a16:creationId xmlns:a16="http://schemas.microsoft.com/office/drawing/2014/main" id="{95809E3A-1F6D-0D55-76AE-7D4DDB64B3E2}"/>
              </a:ext>
            </a:extLst>
          </p:cNvPr>
          <p:cNvPicPr>
            <a:picLocks noChangeAspect="1"/>
          </p:cNvPicPr>
          <p:nvPr/>
        </p:nvPicPr>
        <p:blipFill>
          <a:blip r:embed="rId3"/>
          <a:stretch>
            <a:fillRect/>
          </a:stretch>
        </p:blipFill>
        <p:spPr>
          <a:xfrm>
            <a:off x="385818" y="1289289"/>
            <a:ext cx="7259395" cy="4980881"/>
          </a:xfrm>
          <a:prstGeom prst="rect">
            <a:avLst/>
          </a:prstGeom>
        </p:spPr>
      </p:pic>
    </p:spTree>
    <p:extLst>
      <p:ext uri="{BB962C8B-B14F-4D97-AF65-F5344CB8AC3E}">
        <p14:creationId xmlns:p14="http://schemas.microsoft.com/office/powerpoint/2010/main" val="264157678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F0B9C1A-B0CD-910F-7D33-01B385F19E1A}"/>
              </a:ext>
            </a:extLst>
          </p:cNvPr>
          <p:cNvPicPr>
            <a:picLocks noChangeAspect="1"/>
          </p:cNvPicPr>
          <p:nvPr/>
        </p:nvPicPr>
        <p:blipFill>
          <a:blip r:embed="rId2"/>
          <a:stretch>
            <a:fillRect/>
          </a:stretch>
        </p:blipFill>
        <p:spPr>
          <a:xfrm>
            <a:off x="-174436" y="-49060"/>
            <a:ext cx="12366436" cy="6956120"/>
          </a:xfrm>
          <a:prstGeom prst="rect">
            <a:avLst/>
          </a:prstGeom>
        </p:spPr>
      </p:pic>
      <p:sp>
        <p:nvSpPr>
          <p:cNvPr id="6" name="TextBox 5">
            <a:extLst>
              <a:ext uri="{FF2B5EF4-FFF2-40B4-BE49-F238E27FC236}">
                <a16:creationId xmlns:a16="http://schemas.microsoft.com/office/drawing/2014/main" id="{FFAE86B5-479E-B982-E0A2-7D2F9AA2EEFC}"/>
              </a:ext>
            </a:extLst>
          </p:cNvPr>
          <p:cNvSpPr txBox="1"/>
          <p:nvPr/>
        </p:nvSpPr>
        <p:spPr>
          <a:xfrm>
            <a:off x="0" y="240856"/>
            <a:ext cx="11724830" cy="1077218"/>
          </a:xfrm>
          <a:prstGeom prst="rect">
            <a:avLst/>
          </a:prstGeom>
          <a:noFill/>
        </p:spPr>
        <p:txBody>
          <a:bodyPr wrap="square">
            <a:spAutoFit/>
          </a:bodyPr>
          <a:lstStyle/>
          <a:p>
            <a:pPr algn="ctr"/>
            <a:r>
              <a:rPr lang="tr-TR" sz="3200" dirty="0">
                <a:effectLst>
                  <a:outerShdw blurRad="38100" dist="38100" dir="2700000" algn="tl">
                    <a:srgbClr val="000000">
                      <a:alpha val="43137"/>
                    </a:srgbClr>
                  </a:outerShdw>
                </a:effectLst>
              </a:rPr>
              <a:t>Sonuç Türlerine Göre Etkilerin</a:t>
            </a:r>
          </a:p>
          <a:p>
            <a:pPr algn="ctr"/>
            <a:r>
              <a:rPr lang="tr-TR" sz="3200" dirty="0">
                <a:effectLst>
                  <a:outerShdw blurRad="38100" dist="38100" dir="2700000" algn="tl">
                    <a:srgbClr val="000000">
                      <a:alpha val="43137"/>
                    </a:srgbClr>
                  </a:outerShdw>
                </a:effectLst>
              </a:rPr>
              <a:t> </a:t>
            </a:r>
            <a:r>
              <a:rPr lang="tr-TR" sz="3200"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Karşılaştırmalı Analizi</a:t>
            </a:r>
            <a:endParaRPr lang="tr-TR" sz="3200" dirty="0">
              <a:effectLst>
                <a:outerShdw blurRad="38100" dist="38100" dir="2700000" algn="tl">
                  <a:srgbClr val="000000">
                    <a:alpha val="43137"/>
                  </a:srgbClr>
                </a:outerShdw>
              </a:effectLst>
            </a:endParaRPr>
          </a:p>
        </p:txBody>
      </p:sp>
      <p:pic>
        <p:nvPicPr>
          <p:cNvPr id="14" name="Picture 13">
            <a:extLst>
              <a:ext uri="{FF2B5EF4-FFF2-40B4-BE49-F238E27FC236}">
                <a16:creationId xmlns:a16="http://schemas.microsoft.com/office/drawing/2014/main" id="{C659D6E9-D257-B5C0-9A5C-0ADC208C027B}"/>
              </a:ext>
            </a:extLst>
          </p:cNvPr>
          <p:cNvPicPr>
            <a:picLocks noChangeAspect="1"/>
          </p:cNvPicPr>
          <p:nvPr/>
        </p:nvPicPr>
        <p:blipFill>
          <a:blip r:embed="rId3"/>
          <a:stretch>
            <a:fillRect/>
          </a:stretch>
        </p:blipFill>
        <p:spPr>
          <a:xfrm>
            <a:off x="5163139" y="1607991"/>
            <a:ext cx="6212502" cy="4587710"/>
          </a:xfrm>
          <a:prstGeom prst="rect">
            <a:avLst/>
          </a:prstGeom>
          <a:ln>
            <a:solidFill>
              <a:srgbClr val="00B0F0"/>
            </a:solidFill>
          </a:ln>
        </p:spPr>
      </p:pic>
      <p:sp>
        <p:nvSpPr>
          <p:cNvPr id="16" name="TextBox 15">
            <a:extLst>
              <a:ext uri="{FF2B5EF4-FFF2-40B4-BE49-F238E27FC236}">
                <a16:creationId xmlns:a16="http://schemas.microsoft.com/office/drawing/2014/main" id="{C20BD994-15B5-0A45-D7D9-2840532B0582}"/>
              </a:ext>
            </a:extLst>
          </p:cNvPr>
          <p:cNvSpPr txBox="1"/>
          <p:nvPr/>
        </p:nvSpPr>
        <p:spPr>
          <a:xfrm>
            <a:off x="816359" y="1940837"/>
            <a:ext cx="4144710" cy="3323987"/>
          </a:xfrm>
          <a:prstGeom prst="rect">
            <a:avLst/>
          </a:prstGeom>
          <a:noFill/>
        </p:spPr>
        <p:txBody>
          <a:bodyPr wrap="square">
            <a:spAutoFit/>
          </a:bodyPr>
          <a:lstStyle/>
          <a:p>
            <a:pPr algn="just"/>
            <a:r>
              <a:rPr lang="tr-TR" sz="1400" dirty="0">
                <a:latin typeface="Arial" panose="020B0604020202020204" pitchFamily="34" charset="0"/>
                <a:cs typeface="Arial" panose="020B0604020202020204" pitchFamily="34" charset="0"/>
              </a:rPr>
              <a:t>	2020–2025 döneminde incelenen 19 büyük ölçekli siber olayın sonuçlarına göre, vakaların %58’i veri sızıntısı ile sonuçlanmıştır. Bu durum, saldırıların büyük çoğunluğunun bilgiye yetkisiz erişim ve veri ifşası yoluyla gizliliği ihlal ettiğini göstermektedir. %26 oranında fidye ödemesi içeren vakalar, özellikle finansal kazanç motivasyonuna sahip saldırı gruplarında yoğunlaşmıştır. %16 oranında hizmet durması ise kamu ve altyapı sistemlerinde </a:t>
            </a:r>
            <a:r>
              <a:rPr lang="tr-TR" sz="1400" dirty="0" err="1">
                <a:latin typeface="Arial" panose="020B0604020202020204" pitchFamily="34" charset="0"/>
                <a:cs typeface="Arial" panose="020B0604020202020204" pitchFamily="34" charset="0"/>
              </a:rPr>
              <a:t>operasyonel</a:t>
            </a:r>
            <a:r>
              <a:rPr lang="tr-TR" sz="1400" dirty="0">
                <a:latin typeface="Arial" panose="020B0604020202020204" pitchFamily="34" charset="0"/>
                <a:cs typeface="Arial" panose="020B0604020202020204" pitchFamily="34" charset="0"/>
              </a:rPr>
              <a:t> kesintilere neden olmuştur. </a:t>
            </a:r>
          </a:p>
          <a:p>
            <a:pPr algn="just"/>
            <a:r>
              <a:rPr lang="tr-TR" sz="1400" dirty="0">
                <a:latin typeface="Arial" panose="020B0604020202020204" pitchFamily="34" charset="0"/>
                <a:cs typeface="Arial" panose="020B0604020202020204" pitchFamily="34" charset="0"/>
              </a:rPr>
              <a:t>	Bulgular, siber saldırıların temel etkisinin veri gizliliğini zedelemek olduğunu ve kuruluşların önleyici veri koruma politikalarını güçlendirmesinin kritik önem taşıdığını ortaya koymaktadır.</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2" name="Picture 1">
            <a:extLst>
              <a:ext uri="{FF2B5EF4-FFF2-40B4-BE49-F238E27FC236}">
                <a16:creationId xmlns:a16="http://schemas.microsoft.com/office/drawing/2014/main" id="{36A017DA-E890-6D98-6F16-A9099B15D753}"/>
              </a:ext>
            </a:extLst>
          </p:cNvPr>
          <p:cNvPicPr>
            <a:picLocks noChangeAspect="1"/>
          </p:cNvPicPr>
          <p:nvPr/>
        </p:nvPicPr>
        <p:blipFill>
          <a:blip r:embed="rId2"/>
          <a:srcRect t="19"/>
          <a:stretch>
            <a:fillRect/>
          </a:stretch>
        </p:blipFill>
        <p:spPr>
          <a:xfrm>
            <a:off x="20" y="1282"/>
            <a:ext cx="12191980" cy="6856718"/>
          </a:xfrm>
          <a:prstGeom prst="rect">
            <a:avLst/>
          </a:prstGeom>
        </p:spPr>
      </p:pic>
      <p:sp>
        <p:nvSpPr>
          <p:cNvPr id="4" name="TextBox 3">
            <a:extLst>
              <a:ext uri="{FF2B5EF4-FFF2-40B4-BE49-F238E27FC236}">
                <a16:creationId xmlns:a16="http://schemas.microsoft.com/office/drawing/2014/main" id="{CA96B291-92DE-873A-51A0-D1179A608699}"/>
              </a:ext>
            </a:extLst>
          </p:cNvPr>
          <p:cNvSpPr txBox="1"/>
          <p:nvPr/>
        </p:nvSpPr>
        <p:spPr>
          <a:xfrm>
            <a:off x="170916" y="475866"/>
            <a:ext cx="11536823" cy="1077218"/>
          </a:xfrm>
          <a:prstGeom prst="rect">
            <a:avLst/>
          </a:prstGeom>
          <a:noFill/>
        </p:spPr>
        <p:txBody>
          <a:bodyPr wrap="square">
            <a:spAutoFit/>
          </a:bodyPr>
          <a:lstStyle/>
          <a:p>
            <a:pPr algn="ctr"/>
            <a:r>
              <a:rPr lang="tr-TR" sz="3200"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Etkilenen Kişi ve Kurum Sayısına Göre</a:t>
            </a:r>
          </a:p>
          <a:p>
            <a:pPr algn="ctr"/>
            <a:r>
              <a:rPr lang="tr-TR" sz="3200"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 Karşılaştırmalı Analiz</a:t>
            </a:r>
          </a:p>
        </p:txBody>
      </p:sp>
      <p:sp>
        <p:nvSpPr>
          <p:cNvPr id="13" name="TextBox 12">
            <a:extLst>
              <a:ext uri="{FF2B5EF4-FFF2-40B4-BE49-F238E27FC236}">
                <a16:creationId xmlns:a16="http://schemas.microsoft.com/office/drawing/2014/main" id="{AF46F55C-E501-FA87-B5B6-74A9354D5D0F}"/>
              </a:ext>
            </a:extLst>
          </p:cNvPr>
          <p:cNvSpPr txBox="1"/>
          <p:nvPr/>
        </p:nvSpPr>
        <p:spPr>
          <a:xfrm>
            <a:off x="786213" y="4576399"/>
            <a:ext cx="10477145" cy="1600438"/>
          </a:xfrm>
          <a:prstGeom prst="rect">
            <a:avLst/>
          </a:prstGeom>
          <a:noFill/>
        </p:spPr>
        <p:txBody>
          <a:bodyPr wrap="square">
            <a:spAutoFit/>
          </a:bodyPr>
          <a:lstStyle/>
          <a:p>
            <a:pPr algn="just"/>
            <a:r>
              <a:rPr lang="tr-TR" sz="1400" dirty="0">
                <a:latin typeface="Arial" panose="020B0604020202020204" pitchFamily="34" charset="0"/>
                <a:cs typeface="Arial" panose="020B0604020202020204" pitchFamily="34" charset="0"/>
              </a:rPr>
              <a:t>	2020–2025 döneminde hem bireylerin hem kurumların siber saldırılardan etkilenme oranlarında istikrarlı bir artış gözlenmiştir.</a:t>
            </a:r>
            <a:br>
              <a:rPr lang="tr-TR" sz="1400" dirty="0">
                <a:latin typeface="Arial" panose="020B0604020202020204" pitchFamily="34" charset="0"/>
                <a:cs typeface="Arial" panose="020B0604020202020204" pitchFamily="34" charset="0"/>
              </a:rPr>
            </a:br>
            <a:r>
              <a:rPr lang="tr-TR" sz="1400" dirty="0">
                <a:latin typeface="Arial" panose="020B0604020202020204" pitchFamily="34" charset="0"/>
                <a:cs typeface="Arial" panose="020B0604020202020204" pitchFamily="34" charset="0"/>
              </a:rPr>
              <a:t>Özellikle 2023 sonrası dönemde etkilenen kişi sayısında yaklaşık dört kat artış yaşanırken, kurum sayısında da üç katına yakın büyüme </a:t>
            </a:r>
            <a:r>
              <a:rPr lang="tr-TR" sz="1400" dirty="0" err="1">
                <a:latin typeface="Arial" panose="020B0604020202020204" pitchFamily="34" charset="0"/>
                <a:cs typeface="Arial" panose="020B0604020202020204" pitchFamily="34" charset="0"/>
              </a:rPr>
              <a:t>gerçekleşmiştir.Bu</a:t>
            </a:r>
            <a:r>
              <a:rPr lang="tr-TR" sz="1400" dirty="0">
                <a:latin typeface="Arial" panose="020B0604020202020204" pitchFamily="34" charset="0"/>
                <a:cs typeface="Arial" panose="020B0604020202020204" pitchFamily="34" charset="0"/>
              </a:rPr>
              <a:t> artış, veri ihlallerinin yalnızca bireysel gizlilik değil, aynı zamanda kurumsal </a:t>
            </a:r>
            <a:r>
              <a:rPr lang="tr-TR" sz="1400" dirty="0" err="1">
                <a:latin typeface="Arial" panose="020B0604020202020204" pitchFamily="34" charset="0"/>
                <a:cs typeface="Arial" panose="020B0604020202020204" pitchFamily="34" charset="0"/>
              </a:rPr>
              <a:t>operasyonel</a:t>
            </a:r>
            <a:r>
              <a:rPr lang="tr-TR" sz="1400" dirty="0">
                <a:latin typeface="Arial" panose="020B0604020202020204" pitchFamily="34" charset="0"/>
                <a:cs typeface="Arial" panose="020B0604020202020204" pitchFamily="34" charset="0"/>
              </a:rPr>
              <a:t> bütünlük açısından da ciddi tehdit oluşturduğunu göstermektedir</a:t>
            </a:r>
          </a:p>
          <a:p>
            <a:pPr algn="just"/>
            <a:r>
              <a:rPr lang="tr-TR" sz="1400" dirty="0">
                <a:latin typeface="Arial" panose="020B0604020202020204" pitchFamily="34" charset="0"/>
                <a:cs typeface="Arial" panose="020B0604020202020204" pitchFamily="34" charset="0"/>
              </a:rPr>
              <a:t>.</a:t>
            </a:r>
            <a:br>
              <a:rPr lang="tr-TR" sz="1400" dirty="0">
                <a:latin typeface="Arial" panose="020B0604020202020204" pitchFamily="34" charset="0"/>
                <a:cs typeface="Arial" panose="020B0604020202020204" pitchFamily="34" charset="0"/>
              </a:rPr>
            </a:br>
            <a:r>
              <a:rPr lang="tr-TR" sz="1400" dirty="0">
                <a:latin typeface="Arial" panose="020B0604020202020204" pitchFamily="34" charset="0"/>
                <a:cs typeface="Arial" panose="020B0604020202020204" pitchFamily="34" charset="0"/>
              </a:rPr>
              <a:t>	Bulgular, 2025 yılı itibarıyla milyonlarca kullanıcının ve yüzlerce kurumun doğrudan etkilenmiş olmasıyla, küresel siber risklerin ölçek bakımından rekor seviyelere ulaştığını ortaya koymaktadır.</a:t>
            </a:r>
          </a:p>
        </p:txBody>
      </p:sp>
      <p:pic>
        <p:nvPicPr>
          <p:cNvPr id="15" name="Picture 14">
            <a:extLst>
              <a:ext uri="{FF2B5EF4-FFF2-40B4-BE49-F238E27FC236}">
                <a16:creationId xmlns:a16="http://schemas.microsoft.com/office/drawing/2014/main" id="{C0446060-1253-6592-8C82-B2EB57C86E13}"/>
              </a:ext>
            </a:extLst>
          </p:cNvPr>
          <p:cNvPicPr>
            <a:picLocks noChangeAspect="1"/>
          </p:cNvPicPr>
          <p:nvPr/>
        </p:nvPicPr>
        <p:blipFill>
          <a:blip r:embed="rId3"/>
          <a:stretch>
            <a:fillRect/>
          </a:stretch>
        </p:blipFill>
        <p:spPr>
          <a:xfrm>
            <a:off x="818121" y="1495447"/>
            <a:ext cx="4474002" cy="3023315"/>
          </a:xfrm>
          <a:prstGeom prst="rect">
            <a:avLst/>
          </a:prstGeom>
        </p:spPr>
      </p:pic>
      <p:pic>
        <p:nvPicPr>
          <p:cNvPr id="17" name="Picture 16">
            <a:extLst>
              <a:ext uri="{FF2B5EF4-FFF2-40B4-BE49-F238E27FC236}">
                <a16:creationId xmlns:a16="http://schemas.microsoft.com/office/drawing/2014/main" id="{D68435CA-DF60-0B57-F7AC-68F9E29DD1C2}"/>
              </a:ext>
            </a:extLst>
          </p:cNvPr>
          <p:cNvPicPr>
            <a:picLocks noChangeAspect="1"/>
          </p:cNvPicPr>
          <p:nvPr/>
        </p:nvPicPr>
        <p:blipFill>
          <a:blip r:embed="rId4"/>
          <a:stretch>
            <a:fillRect/>
          </a:stretch>
        </p:blipFill>
        <p:spPr>
          <a:xfrm>
            <a:off x="5939327" y="1553084"/>
            <a:ext cx="5340348" cy="2908043"/>
          </a:xfrm>
          <a:prstGeom prst="rect">
            <a:avLst/>
          </a:prstGeom>
        </p:spPr>
      </p:pic>
    </p:spTree>
    <p:extLst>
      <p:ext uri="{BB962C8B-B14F-4D97-AF65-F5344CB8AC3E}">
        <p14:creationId xmlns:p14="http://schemas.microsoft.com/office/powerpoint/2010/main" val="171077196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7" name="Picture 76">
            <a:extLst>
              <a:ext uri="{FF2B5EF4-FFF2-40B4-BE49-F238E27FC236}">
                <a16:creationId xmlns:a16="http://schemas.microsoft.com/office/drawing/2014/main" id="{D26BD2CF-3DDB-D45E-EE54-3AD6A8E01670}"/>
              </a:ext>
            </a:extLst>
          </p:cNvPr>
          <p:cNvPicPr>
            <a:picLocks noChangeAspect="1"/>
          </p:cNvPicPr>
          <p:nvPr/>
        </p:nvPicPr>
        <p:blipFill>
          <a:blip r:embed="rId2"/>
          <a:srcRect t="19"/>
          <a:stretch>
            <a:fillRect/>
          </a:stretch>
        </p:blipFill>
        <p:spPr>
          <a:xfrm>
            <a:off x="-31844" y="0"/>
            <a:ext cx="12255688" cy="6892547"/>
          </a:xfrm>
          <a:prstGeom prst="rect">
            <a:avLst/>
          </a:prstGeom>
        </p:spPr>
      </p:pic>
      <p:sp>
        <p:nvSpPr>
          <p:cNvPr id="7" name="Rectangle 6">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48" name="Picture 47">
            <a:extLst>
              <a:ext uri="{FF2B5EF4-FFF2-40B4-BE49-F238E27FC236}">
                <a16:creationId xmlns:a16="http://schemas.microsoft.com/office/drawing/2014/main" id="{05D207F9-4D41-CF97-C4A6-B77C50359D23}"/>
              </a:ext>
            </a:extLst>
          </p:cNvPr>
          <p:cNvPicPr>
            <a:picLocks noChangeAspect="1"/>
          </p:cNvPicPr>
          <p:nvPr/>
        </p:nvPicPr>
        <p:blipFill>
          <a:blip r:embed="rId3"/>
          <a:srcRect r="19226"/>
          <a:stretch>
            <a:fillRect/>
          </a:stretch>
        </p:blipFill>
        <p:spPr>
          <a:xfrm>
            <a:off x="1271684" y="1789074"/>
            <a:ext cx="9470463" cy="4244031"/>
          </a:xfrm>
          <a:prstGeom prst="rect">
            <a:avLst/>
          </a:prstGeom>
        </p:spPr>
      </p:pic>
      <p:sp>
        <p:nvSpPr>
          <p:cNvPr id="51" name="TextBox 50">
            <a:extLst>
              <a:ext uri="{FF2B5EF4-FFF2-40B4-BE49-F238E27FC236}">
                <a16:creationId xmlns:a16="http://schemas.microsoft.com/office/drawing/2014/main" id="{68703C47-F0BD-29B0-625E-03C2661A8E82}"/>
              </a:ext>
            </a:extLst>
          </p:cNvPr>
          <p:cNvSpPr txBox="1"/>
          <p:nvPr/>
        </p:nvSpPr>
        <p:spPr>
          <a:xfrm>
            <a:off x="1544906" y="3686507"/>
            <a:ext cx="1396850" cy="2246769"/>
          </a:xfrm>
          <a:prstGeom prst="rect">
            <a:avLst/>
          </a:prstGeom>
          <a:noFill/>
        </p:spPr>
        <p:txBody>
          <a:bodyPr wrap="square">
            <a:spAutoFit/>
          </a:bodyPr>
          <a:lstStyle/>
          <a:p>
            <a:pPr algn="ctr"/>
            <a:r>
              <a:rPr lang="tr-TR" sz="1400" dirty="0" err="1">
                <a:latin typeface="Arial" panose="020B0604020202020204" pitchFamily="34" charset="0"/>
                <a:cs typeface="Arial" panose="020B0604020202020204" pitchFamily="34" charset="0"/>
              </a:rPr>
              <a:t>MOVEit</a:t>
            </a:r>
            <a:r>
              <a:rPr lang="tr-TR" sz="1400" dirty="0">
                <a:latin typeface="Arial" panose="020B0604020202020204" pitchFamily="34" charset="0"/>
                <a:cs typeface="Arial" panose="020B0604020202020204" pitchFamily="34" charset="0"/>
              </a:rPr>
              <a:t>  </a:t>
            </a:r>
            <a:r>
              <a:rPr lang="tr-TR" sz="1400" dirty="0" err="1">
                <a:latin typeface="Arial" panose="020B0604020202020204" pitchFamily="34" charset="0"/>
                <a:cs typeface="Arial" panose="020B0604020202020204" pitchFamily="34" charset="0"/>
              </a:rPr>
              <a:t>Snowflake</a:t>
            </a:r>
            <a:r>
              <a:rPr lang="tr-TR" sz="1400" dirty="0">
                <a:latin typeface="Arial" panose="020B0604020202020204" pitchFamily="34" charset="0"/>
                <a:cs typeface="Arial" panose="020B0604020202020204" pitchFamily="34" charset="0"/>
              </a:rPr>
              <a:t> Toyota  </a:t>
            </a:r>
          </a:p>
          <a:p>
            <a:pPr algn="ctr"/>
            <a:endParaRPr lang="tr-TR" sz="1400" dirty="0">
              <a:latin typeface="Arial" panose="020B0604020202020204" pitchFamily="34" charset="0"/>
              <a:cs typeface="Arial" panose="020B0604020202020204" pitchFamily="34" charset="0"/>
            </a:endParaRPr>
          </a:p>
          <a:p>
            <a:pPr algn="ctr"/>
            <a:r>
              <a:rPr lang="tr-TR" sz="1400" dirty="0">
                <a:latin typeface="Arial" panose="020B0604020202020204" pitchFamily="34" charset="0"/>
                <a:cs typeface="Arial" panose="020B0604020202020204" pitchFamily="34" charset="0"/>
              </a:rPr>
              <a:t>Zincirleme etki oluşturdu</a:t>
            </a:r>
          </a:p>
          <a:p>
            <a:pPr algn="ctr"/>
            <a:endParaRPr lang="tr-TR" sz="1400" dirty="0">
              <a:latin typeface="Arial" panose="020B0604020202020204" pitchFamily="34" charset="0"/>
              <a:cs typeface="Arial" panose="020B0604020202020204" pitchFamily="34" charset="0"/>
            </a:endParaRPr>
          </a:p>
          <a:p>
            <a:pPr algn="ctr"/>
            <a:r>
              <a:rPr lang="tr-TR" sz="1400" dirty="0">
                <a:latin typeface="Arial" panose="020B0604020202020204" pitchFamily="34" charset="0"/>
                <a:cs typeface="Arial" panose="020B0604020202020204" pitchFamily="34" charset="0"/>
              </a:rPr>
              <a:t>Çoklu kurum etkilenmesi ve zincirleme risk</a:t>
            </a:r>
          </a:p>
        </p:txBody>
      </p:sp>
      <p:sp>
        <p:nvSpPr>
          <p:cNvPr id="54" name="TextBox 53">
            <a:extLst>
              <a:ext uri="{FF2B5EF4-FFF2-40B4-BE49-F238E27FC236}">
                <a16:creationId xmlns:a16="http://schemas.microsoft.com/office/drawing/2014/main" id="{B36A75E2-2BDA-07DA-E8FB-E0F75F197F98}"/>
              </a:ext>
            </a:extLst>
          </p:cNvPr>
          <p:cNvSpPr txBox="1"/>
          <p:nvPr/>
        </p:nvSpPr>
        <p:spPr>
          <a:xfrm>
            <a:off x="3667681" y="2889089"/>
            <a:ext cx="2202024" cy="707886"/>
          </a:xfrm>
          <a:prstGeom prst="rect">
            <a:avLst/>
          </a:prstGeom>
          <a:noFill/>
        </p:spPr>
        <p:txBody>
          <a:bodyPr wrap="square">
            <a:spAutoFit/>
          </a:bodyPr>
          <a:lstStyle/>
          <a:p>
            <a:pPr algn="ctr"/>
            <a:r>
              <a:rPr lang="tr-TR" sz="2000" dirty="0">
                <a:solidFill>
                  <a:schemeClr val="bg1"/>
                </a:solidFill>
                <a:latin typeface="Arial" panose="020B0604020202020204" pitchFamily="34" charset="0"/>
                <a:cs typeface="Arial" panose="020B0604020202020204" pitchFamily="34" charset="0"/>
              </a:rPr>
              <a:t>Kimlik güvenliği eksikliği</a:t>
            </a:r>
          </a:p>
        </p:txBody>
      </p:sp>
      <p:sp>
        <p:nvSpPr>
          <p:cNvPr id="61" name="Rectangle: Rounded Corners 60">
            <a:extLst>
              <a:ext uri="{FF2B5EF4-FFF2-40B4-BE49-F238E27FC236}">
                <a16:creationId xmlns:a16="http://schemas.microsoft.com/office/drawing/2014/main" id="{6713889F-B69C-FC78-77C9-A2CEBD5E388B}"/>
              </a:ext>
            </a:extLst>
          </p:cNvPr>
          <p:cNvSpPr/>
          <p:nvPr/>
        </p:nvSpPr>
        <p:spPr>
          <a:xfrm rot="5400000">
            <a:off x="1599033" y="1528873"/>
            <a:ext cx="1526721" cy="2104877"/>
          </a:xfrm>
          <a:prstGeom prst="round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dirty="0"/>
          </a:p>
        </p:txBody>
      </p:sp>
      <p:sp>
        <p:nvSpPr>
          <p:cNvPr id="62" name="Rectangle 61">
            <a:extLst>
              <a:ext uri="{FF2B5EF4-FFF2-40B4-BE49-F238E27FC236}">
                <a16:creationId xmlns:a16="http://schemas.microsoft.com/office/drawing/2014/main" id="{03BF2770-41B7-B45C-F743-04CD57C68145}"/>
              </a:ext>
            </a:extLst>
          </p:cNvPr>
          <p:cNvSpPr/>
          <p:nvPr/>
        </p:nvSpPr>
        <p:spPr>
          <a:xfrm>
            <a:off x="1322547" y="3154726"/>
            <a:ext cx="2108011" cy="481692"/>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dirty="0"/>
          </a:p>
        </p:txBody>
      </p:sp>
      <p:sp>
        <p:nvSpPr>
          <p:cNvPr id="59" name="TextBox 58">
            <a:extLst>
              <a:ext uri="{FF2B5EF4-FFF2-40B4-BE49-F238E27FC236}">
                <a16:creationId xmlns:a16="http://schemas.microsoft.com/office/drawing/2014/main" id="{0071E699-7BB6-EF91-EE8E-AF6DC0BBF84B}"/>
              </a:ext>
            </a:extLst>
          </p:cNvPr>
          <p:cNvSpPr txBox="1"/>
          <p:nvPr/>
        </p:nvSpPr>
        <p:spPr>
          <a:xfrm>
            <a:off x="1312044" y="2861612"/>
            <a:ext cx="2026942" cy="707886"/>
          </a:xfrm>
          <a:prstGeom prst="rect">
            <a:avLst/>
          </a:prstGeom>
          <a:noFill/>
        </p:spPr>
        <p:txBody>
          <a:bodyPr wrap="square">
            <a:spAutoFit/>
          </a:bodyPr>
          <a:lstStyle/>
          <a:p>
            <a:pPr algn="ctr"/>
            <a:r>
              <a:rPr lang="tr-TR" sz="2000" dirty="0">
                <a:solidFill>
                  <a:schemeClr val="bg1"/>
                </a:solidFill>
                <a:latin typeface="Arial" panose="020B0604020202020204" pitchFamily="34" charset="0"/>
                <a:cs typeface="Arial" panose="020B0604020202020204" pitchFamily="34" charset="0"/>
              </a:rPr>
              <a:t>Tedarik zinciri zafiyeti</a:t>
            </a:r>
          </a:p>
        </p:txBody>
      </p:sp>
      <p:sp>
        <p:nvSpPr>
          <p:cNvPr id="63" name="Rectangle 62">
            <a:extLst>
              <a:ext uri="{FF2B5EF4-FFF2-40B4-BE49-F238E27FC236}">
                <a16:creationId xmlns:a16="http://schemas.microsoft.com/office/drawing/2014/main" id="{A96F7ED8-E6EA-E0F6-A622-BD5DA8C911F8}"/>
              </a:ext>
            </a:extLst>
          </p:cNvPr>
          <p:cNvSpPr/>
          <p:nvPr/>
        </p:nvSpPr>
        <p:spPr>
          <a:xfrm>
            <a:off x="1294522" y="3507705"/>
            <a:ext cx="2104876" cy="178802"/>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dirty="0"/>
          </a:p>
        </p:txBody>
      </p:sp>
      <p:pic>
        <p:nvPicPr>
          <p:cNvPr id="66" name="Graphic 65" descr="Link outline">
            <a:extLst>
              <a:ext uri="{FF2B5EF4-FFF2-40B4-BE49-F238E27FC236}">
                <a16:creationId xmlns:a16="http://schemas.microsoft.com/office/drawing/2014/main" id="{F5DF9DE4-514B-D87A-3317-2EDF29195053}"/>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911178" y="1982637"/>
            <a:ext cx="823782" cy="823782"/>
          </a:xfrm>
          <a:prstGeom prst="rect">
            <a:avLst/>
          </a:prstGeom>
        </p:spPr>
      </p:pic>
      <p:sp>
        <p:nvSpPr>
          <p:cNvPr id="68" name="TextBox 67">
            <a:extLst>
              <a:ext uri="{FF2B5EF4-FFF2-40B4-BE49-F238E27FC236}">
                <a16:creationId xmlns:a16="http://schemas.microsoft.com/office/drawing/2014/main" id="{2FCFC3CD-EDD3-FEFA-770F-3E220EF5E50E}"/>
              </a:ext>
            </a:extLst>
          </p:cNvPr>
          <p:cNvSpPr txBox="1"/>
          <p:nvPr/>
        </p:nvSpPr>
        <p:spPr>
          <a:xfrm>
            <a:off x="3794105" y="3736563"/>
            <a:ext cx="1947668" cy="2246769"/>
          </a:xfrm>
          <a:prstGeom prst="rect">
            <a:avLst/>
          </a:prstGeom>
          <a:noFill/>
        </p:spPr>
        <p:txBody>
          <a:bodyPr wrap="square">
            <a:spAutoFit/>
          </a:bodyPr>
          <a:lstStyle/>
          <a:p>
            <a:pPr algn="ctr"/>
            <a:r>
              <a:rPr lang="tr-TR" sz="1400" dirty="0">
                <a:latin typeface="Arial" panose="020B0604020202020204" pitchFamily="34" charset="0"/>
                <a:cs typeface="Arial" panose="020B0604020202020204" pitchFamily="34" charset="0"/>
              </a:rPr>
              <a:t>Global 16B </a:t>
            </a:r>
            <a:r>
              <a:rPr lang="tr-TR" sz="1400" dirty="0" err="1">
                <a:latin typeface="Arial" panose="020B0604020202020204" pitchFamily="34" charset="0"/>
                <a:cs typeface="Arial" panose="020B0604020202020204" pitchFamily="34" charset="0"/>
              </a:rPr>
              <a:t>Leak</a:t>
            </a:r>
            <a:r>
              <a:rPr lang="tr-TR" sz="1400" dirty="0">
                <a:latin typeface="Arial" panose="020B0604020202020204" pitchFamily="34" charset="0"/>
                <a:cs typeface="Arial" panose="020B0604020202020204" pitchFamily="34" charset="0"/>
              </a:rPr>
              <a:t>  </a:t>
            </a:r>
          </a:p>
          <a:p>
            <a:pPr algn="ctr"/>
            <a:endParaRPr lang="tr-TR" sz="1400" dirty="0">
              <a:latin typeface="Arial" panose="020B0604020202020204" pitchFamily="34" charset="0"/>
              <a:cs typeface="Arial" panose="020B0604020202020204" pitchFamily="34" charset="0"/>
            </a:endParaRPr>
          </a:p>
          <a:p>
            <a:pPr algn="ctr"/>
            <a:endParaRPr lang="tr-TR" sz="1400" dirty="0">
              <a:latin typeface="Arial" panose="020B0604020202020204" pitchFamily="34" charset="0"/>
              <a:cs typeface="Arial" panose="020B0604020202020204" pitchFamily="34" charset="0"/>
            </a:endParaRPr>
          </a:p>
          <a:p>
            <a:pPr algn="ctr"/>
            <a:r>
              <a:rPr lang="tr-TR" sz="1400" dirty="0">
                <a:latin typeface="Arial" panose="020B0604020202020204" pitchFamily="34" charset="0"/>
                <a:cs typeface="Arial" panose="020B0604020202020204" pitchFamily="34" charset="0"/>
              </a:rPr>
              <a:t>MFA eksikliği doğrudan yetkisiz erişime neden oldu</a:t>
            </a:r>
          </a:p>
          <a:p>
            <a:pPr algn="ctr"/>
            <a:endParaRPr lang="tr-TR" sz="1400" dirty="0">
              <a:latin typeface="Arial" panose="020B0604020202020204" pitchFamily="34" charset="0"/>
              <a:cs typeface="Arial" panose="020B0604020202020204" pitchFamily="34" charset="0"/>
            </a:endParaRPr>
          </a:p>
          <a:p>
            <a:pPr algn="ctr"/>
            <a:r>
              <a:rPr lang="tr-TR" sz="1400" dirty="0">
                <a:latin typeface="Arial" panose="020B0604020202020204" pitchFamily="34" charset="0"/>
                <a:cs typeface="Arial" panose="020B0604020202020204" pitchFamily="34" charset="0"/>
              </a:rPr>
              <a:t>Kimlik doğrulama zafiyeti ve yetkisiz erişim</a:t>
            </a:r>
          </a:p>
        </p:txBody>
      </p:sp>
      <p:sp>
        <p:nvSpPr>
          <p:cNvPr id="70" name="TextBox 69">
            <a:extLst>
              <a:ext uri="{FF2B5EF4-FFF2-40B4-BE49-F238E27FC236}">
                <a16:creationId xmlns:a16="http://schemas.microsoft.com/office/drawing/2014/main" id="{3F6FC943-1693-A8FA-0383-7AB15F328B73}"/>
              </a:ext>
            </a:extLst>
          </p:cNvPr>
          <p:cNvSpPr txBox="1"/>
          <p:nvPr/>
        </p:nvSpPr>
        <p:spPr>
          <a:xfrm>
            <a:off x="6149118" y="2892389"/>
            <a:ext cx="1848410" cy="646331"/>
          </a:xfrm>
          <a:prstGeom prst="rect">
            <a:avLst/>
          </a:prstGeom>
          <a:noFill/>
        </p:spPr>
        <p:txBody>
          <a:bodyPr wrap="square">
            <a:spAutoFit/>
          </a:bodyPr>
          <a:lstStyle/>
          <a:p>
            <a:pPr algn="ctr"/>
            <a:r>
              <a:rPr lang="tr-TR" sz="1800" dirty="0">
                <a:solidFill>
                  <a:schemeClr val="bg1"/>
                </a:solidFill>
                <a:latin typeface="Arial" panose="020B0604020202020204" pitchFamily="34" charset="0"/>
                <a:cs typeface="Arial" panose="020B0604020202020204" pitchFamily="34" charset="0"/>
              </a:rPr>
              <a:t>Finansal saldırılar</a:t>
            </a:r>
          </a:p>
        </p:txBody>
      </p:sp>
      <p:sp>
        <p:nvSpPr>
          <p:cNvPr id="72" name="TextBox 71">
            <a:extLst>
              <a:ext uri="{FF2B5EF4-FFF2-40B4-BE49-F238E27FC236}">
                <a16:creationId xmlns:a16="http://schemas.microsoft.com/office/drawing/2014/main" id="{68A5687B-C168-529F-9397-619C11AAC215}"/>
              </a:ext>
            </a:extLst>
          </p:cNvPr>
          <p:cNvSpPr txBox="1"/>
          <p:nvPr/>
        </p:nvSpPr>
        <p:spPr>
          <a:xfrm>
            <a:off x="6207790" y="3794229"/>
            <a:ext cx="1947668" cy="2031325"/>
          </a:xfrm>
          <a:prstGeom prst="rect">
            <a:avLst/>
          </a:prstGeom>
          <a:noFill/>
        </p:spPr>
        <p:txBody>
          <a:bodyPr wrap="square">
            <a:spAutoFit/>
          </a:bodyPr>
          <a:lstStyle/>
          <a:p>
            <a:pPr algn="ctr"/>
            <a:r>
              <a:rPr lang="tr-TR" sz="1400" dirty="0" err="1">
                <a:latin typeface="Arial" panose="020B0604020202020204" pitchFamily="34" charset="0"/>
                <a:cs typeface="Arial" panose="020B0604020202020204" pitchFamily="34" charset="0"/>
              </a:rPr>
              <a:t>Santander</a:t>
            </a:r>
            <a:r>
              <a:rPr lang="tr-TR" sz="1400" dirty="0">
                <a:latin typeface="Arial" panose="020B0604020202020204" pitchFamily="34" charset="0"/>
                <a:cs typeface="Arial" panose="020B0604020202020204" pitchFamily="34" charset="0"/>
              </a:rPr>
              <a:t>      </a:t>
            </a:r>
          </a:p>
          <a:p>
            <a:pPr algn="ctr"/>
            <a:r>
              <a:rPr lang="tr-TR" sz="1400" dirty="0">
                <a:latin typeface="Arial" panose="020B0604020202020204" pitchFamily="34" charset="0"/>
                <a:cs typeface="Arial" panose="020B0604020202020204" pitchFamily="34" charset="0"/>
              </a:rPr>
              <a:t> T-Mobile  </a:t>
            </a:r>
          </a:p>
          <a:p>
            <a:pPr algn="ctr"/>
            <a:endParaRPr lang="tr-TR" sz="1400" dirty="0">
              <a:latin typeface="Arial" panose="020B0604020202020204" pitchFamily="34" charset="0"/>
              <a:cs typeface="Arial" panose="020B0604020202020204" pitchFamily="34" charset="0"/>
            </a:endParaRPr>
          </a:p>
          <a:p>
            <a:pPr algn="ctr"/>
            <a:r>
              <a:rPr lang="tr-TR" sz="1400" dirty="0">
                <a:latin typeface="Arial" panose="020B0604020202020204" pitchFamily="34" charset="0"/>
                <a:cs typeface="Arial" panose="020B0604020202020204" pitchFamily="34" charset="0"/>
              </a:rPr>
              <a:t>  Veri gaspı ve yasa dışı veri satışı odaklı saldırılar</a:t>
            </a:r>
          </a:p>
          <a:p>
            <a:pPr algn="ctr"/>
            <a:r>
              <a:rPr lang="tr-TR" sz="1400" dirty="0">
                <a:latin typeface="Arial" panose="020B0604020202020204" pitchFamily="34" charset="0"/>
                <a:cs typeface="Arial" panose="020B0604020202020204" pitchFamily="34" charset="0"/>
              </a:rPr>
              <a:t> </a:t>
            </a:r>
          </a:p>
          <a:p>
            <a:pPr algn="ctr"/>
            <a:r>
              <a:rPr lang="tr-TR" sz="1400" dirty="0">
                <a:latin typeface="Arial" panose="020B0604020202020204" pitchFamily="34" charset="0"/>
                <a:cs typeface="Arial" panose="020B0604020202020204" pitchFamily="34" charset="0"/>
              </a:rPr>
              <a:t> Ekonomik kayıp ve itibar zedelenmesi</a:t>
            </a:r>
          </a:p>
        </p:txBody>
      </p:sp>
      <p:sp>
        <p:nvSpPr>
          <p:cNvPr id="74" name="TextBox 73">
            <a:extLst>
              <a:ext uri="{FF2B5EF4-FFF2-40B4-BE49-F238E27FC236}">
                <a16:creationId xmlns:a16="http://schemas.microsoft.com/office/drawing/2014/main" id="{EE762A24-5501-5646-1ED2-72DC9C546FA3}"/>
              </a:ext>
            </a:extLst>
          </p:cNvPr>
          <p:cNvSpPr txBox="1"/>
          <p:nvPr/>
        </p:nvSpPr>
        <p:spPr>
          <a:xfrm>
            <a:off x="8325350" y="2889089"/>
            <a:ext cx="2467660" cy="646331"/>
          </a:xfrm>
          <a:prstGeom prst="rect">
            <a:avLst/>
          </a:prstGeom>
          <a:noFill/>
        </p:spPr>
        <p:txBody>
          <a:bodyPr wrap="square">
            <a:spAutoFit/>
          </a:bodyPr>
          <a:lstStyle/>
          <a:p>
            <a:pPr algn="ctr"/>
            <a:r>
              <a:rPr lang="tr-TR" sz="1800" dirty="0">
                <a:solidFill>
                  <a:schemeClr val="bg1"/>
                </a:solidFill>
                <a:latin typeface="Arial" panose="020B0604020202020204" pitchFamily="34" charset="0"/>
                <a:cs typeface="Arial" panose="020B0604020202020204" pitchFamily="34" charset="0"/>
              </a:rPr>
              <a:t>Kamu-özel karma etkiler</a:t>
            </a:r>
          </a:p>
        </p:txBody>
      </p:sp>
      <p:sp>
        <p:nvSpPr>
          <p:cNvPr id="76" name="TextBox 75">
            <a:extLst>
              <a:ext uri="{FF2B5EF4-FFF2-40B4-BE49-F238E27FC236}">
                <a16:creationId xmlns:a16="http://schemas.microsoft.com/office/drawing/2014/main" id="{86D6D83E-6462-BEC7-662C-BB27CE75B996}"/>
              </a:ext>
            </a:extLst>
          </p:cNvPr>
          <p:cNvSpPr txBox="1"/>
          <p:nvPr/>
        </p:nvSpPr>
        <p:spPr>
          <a:xfrm>
            <a:off x="8616778" y="3761277"/>
            <a:ext cx="1942314" cy="2246769"/>
          </a:xfrm>
          <a:prstGeom prst="rect">
            <a:avLst/>
          </a:prstGeom>
          <a:noFill/>
        </p:spPr>
        <p:txBody>
          <a:bodyPr wrap="square">
            <a:spAutoFit/>
          </a:bodyPr>
          <a:lstStyle/>
          <a:p>
            <a:pPr algn="ctr"/>
            <a:r>
              <a:rPr lang="tr-TR" sz="1400" dirty="0">
                <a:latin typeface="Arial" panose="020B0604020202020204" pitchFamily="34" charset="0"/>
                <a:cs typeface="Arial" panose="020B0604020202020204" pitchFamily="34" charset="0"/>
              </a:rPr>
              <a:t>Sağlık Bakanlığı     TTB   </a:t>
            </a:r>
          </a:p>
          <a:p>
            <a:pPr algn="ctr"/>
            <a:endParaRPr lang="tr-TR" sz="1400" dirty="0">
              <a:latin typeface="Arial" panose="020B0604020202020204" pitchFamily="34" charset="0"/>
              <a:cs typeface="Arial" panose="020B0604020202020204" pitchFamily="34" charset="0"/>
            </a:endParaRPr>
          </a:p>
          <a:p>
            <a:pPr algn="ctr"/>
            <a:r>
              <a:rPr lang="tr-TR" sz="1400" dirty="0">
                <a:latin typeface="Arial" panose="020B0604020202020204" pitchFamily="34" charset="0"/>
                <a:cs typeface="Arial" panose="020B0604020202020204" pitchFamily="34" charset="0"/>
              </a:rPr>
              <a:t> Kriz yönetimi kapasitesi yetersiz</a:t>
            </a:r>
          </a:p>
          <a:p>
            <a:pPr algn="ctr"/>
            <a:endParaRPr lang="tr-TR" sz="1400" dirty="0">
              <a:latin typeface="Arial" panose="020B0604020202020204" pitchFamily="34" charset="0"/>
              <a:cs typeface="Arial" panose="020B0604020202020204" pitchFamily="34" charset="0"/>
            </a:endParaRPr>
          </a:p>
          <a:p>
            <a:pPr algn="ctr"/>
            <a:endParaRPr lang="tr-TR" sz="1400" dirty="0">
              <a:latin typeface="Arial" panose="020B0604020202020204" pitchFamily="34" charset="0"/>
              <a:cs typeface="Arial" panose="020B0604020202020204" pitchFamily="34" charset="0"/>
            </a:endParaRPr>
          </a:p>
          <a:p>
            <a:pPr algn="ctr"/>
            <a:r>
              <a:rPr lang="tr-TR" sz="1400" dirty="0">
                <a:latin typeface="Arial" panose="020B0604020202020204" pitchFamily="34" charset="0"/>
                <a:cs typeface="Arial" panose="020B0604020202020204" pitchFamily="34" charset="0"/>
              </a:rPr>
              <a:t>   Kurumsal güvenin aşınması ve kamu güveninde zedelenme </a:t>
            </a:r>
          </a:p>
        </p:txBody>
      </p:sp>
      <p:sp>
        <p:nvSpPr>
          <p:cNvPr id="79" name="TextBox 78">
            <a:extLst>
              <a:ext uri="{FF2B5EF4-FFF2-40B4-BE49-F238E27FC236}">
                <a16:creationId xmlns:a16="http://schemas.microsoft.com/office/drawing/2014/main" id="{FDC4562F-ABC0-CBDA-186D-03308B68A29D}"/>
              </a:ext>
            </a:extLst>
          </p:cNvPr>
          <p:cNvSpPr txBox="1"/>
          <p:nvPr/>
        </p:nvSpPr>
        <p:spPr>
          <a:xfrm>
            <a:off x="-31844" y="461217"/>
            <a:ext cx="12124990" cy="584775"/>
          </a:xfrm>
          <a:prstGeom prst="rect">
            <a:avLst/>
          </a:prstGeom>
          <a:noFill/>
        </p:spPr>
        <p:txBody>
          <a:bodyPr wrap="square">
            <a:spAutoFit/>
          </a:bodyPr>
          <a:lstStyle/>
          <a:p>
            <a:pPr algn="ctr"/>
            <a:r>
              <a:rPr lang="tr-TR" sz="3200"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2020–2025 Arası Siber Saldırıların Tematik Dağılımı</a:t>
            </a:r>
          </a:p>
        </p:txBody>
      </p:sp>
    </p:spTree>
    <p:extLst>
      <p:ext uri="{BB962C8B-B14F-4D97-AF65-F5344CB8AC3E}">
        <p14:creationId xmlns:p14="http://schemas.microsoft.com/office/powerpoint/2010/main" val="400698239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37814DC-44AB-6FA7-4B0C-2CDDBFEBD1B1}"/>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2" name="Picture 1">
            <a:extLst>
              <a:ext uri="{FF2B5EF4-FFF2-40B4-BE49-F238E27FC236}">
                <a16:creationId xmlns:a16="http://schemas.microsoft.com/office/drawing/2014/main" id="{32B4AF43-DBD5-A2B3-438A-519ABF380E29}"/>
              </a:ext>
            </a:extLst>
          </p:cNvPr>
          <p:cNvPicPr>
            <a:picLocks noChangeAspect="1"/>
          </p:cNvPicPr>
          <p:nvPr/>
        </p:nvPicPr>
        <p:blipFill>
          <a:blip r:embed="rId2"/>
          <a:srcRect t="19"/>
          <a:stretch>
            <a:fillRect/>
          </a:stretch>
        </p:blipFill>
        <p:spPr>
          <a:xfrm>
            <a:off x="25957" y="-3956"/>
            <a:ext cx="12191980" cy="6856718"/>
          </a:xfrm>
          <a:prstGeom prst="rect">
            <a:avLst/>
          </a:prstGeom>
        </p:spPr>
      </p:pic>
      <p:sp>
        <p:nvSpPr>
          <p:cNvPr id="4" name="TextBox 3">
            <a:extLst>
              <a:ext uri="{FF2B5EF4-FFF2-40B4-BE49-F238E27FC236}">
                <a16:creationId xmlns:a16="http://schemas.microsoft.com/office/drawing/2014/main" id="{CB120D36-AA12-F737-9BDE-0BA2A3032ECA}"/>
              </a:ext>
            </a:extLst>
          </p:cNvPr>
          <p:cNvSpPr txBox="1"/>
          <p:nvPr/>
        </p:nvSpPr>
        <p:spPr>
          <a:xfrm>
            <a:off x="2789470" y="1206510"/>
            <a:ext cx="6583803" cy="3970318"/>
          </a:xfrm>
          <a:prstGeom prst="rect">
            <a:avLst/>
          </a:prstGeom>
          <a:noFill/>
        </p:spPr>
        <p:txBody>
          <a:bodyPr wrap="square">
            <a:spAutoFit/>
          </a:bodyPr>
          <a:lstStyle/>
          <a:p>
            <a:pPr algn="just">
              <a:buNone/>
            </a:pPr>
            <a:r>
              <a:rPr lang="tr-TR" sz="1400" dirty="0">
                <a:latin typeface="Arial" panose="020B0604020202020204" pitchFamily="34" charset="0"/>
                <a:cs typeface="Arial" panose="020B0604020202020204" pitchFamily="34" charset="0"/>
              </a:rPr>
              <a:t>	2020–2025 döneminde incelenen 19 büyük ölçekli veri ihlali, dijital güvenliğin yalnızca teknik önlemlerle değil, kurumsal yönetişim, risk yönetimi ve farkındalık temelleriyle sürdürülebilir hale gelebileceğini göstermektedir. </a:t>
            </a:r>
          </a:p>
          <a:p>
            <a:pPr algn="just">
              <a:buNone/>
            </a:pPr>
            <a:r>
              <a:rPr lang="tr-TR" sz="1400" dirty="0">
                <a:latin typeface="Arial" panose="020B0604020202020204" pitchFamily="34" charset="0"/>
                <a:cs typeface="Arial" panose="020B0604020202020204" pitchFamily="34" charset="0"/>
              </a:rPr>
              <a:t>	Bulgular, kimlik doğrulama, tedarik zinciri güvenliği ve veri sınıflandırması alanlarında ciddi açıkların bulunduğunu ortaya koymuştur. Çok faktörlü kimlik doğrulama (MFA) sistemlerinin zorunlu hale getirilmesi, hesap ele geçirme riskini önemli ölçüde azaltacak; tedarikçi ve üçüncü taraf yazılımların düzenli denetimi ise </a:t>
            </a:r>
            <a:r>
              <a:rPr lang="tr-TR" sz="1400" dirty="0" err="1">
                <a:latin typeface="Arial" panose="020B0604020202020204" pitchFamily="34" charset="0"/>
                <a:cs typeface="Arial" panose="020B0604020202020204" pitchFamily="34" charset="0"/>
              </a:rPr>
              <a:t>supply-chain</a:t>
            </a:r>
            <a:r>
              <a:rPr lang="tr-TR" sz="1400" dirty="0">
                <a:latin typeface="Arial" panose="020B0604020202020204" pitchFamily="34" charset="0"/>
                <a:cs typeface="Arial" panose="020B0604020202020204" pitchFamily="34" charset="0"/>
              </a:rPr>
              <a:t> kaynaklı ihlallerin önüne geçecektir.</a:t>
            </a:r>
          </a:p>
          <a:p>
            <a:pPr algn="just">
              <a:buNone/>
            </a:pPr>
            <a:r>
              <a:rPr lang="tr-TR" sz="1400" dirty="0">
                <a:latin typeface="Arial" panose="020B0604020202020204" pitchFamily="34" charset="0"/>
                <a:cs typeface="Arial" panose="020B0604020202020204" pitchFamily="34" charset="0"/>
              </a:rPr>
              <a:t>	Kurumsal düzeyde, veri maskeleme, anonimleştirme ve yedekleme protokolleriyle </a:t>
            </a:r>
            <a:r>
              <a:rPr lang="tr-TR" sz="1400" dirty="0" err="1">
                <a:latin typeface="Arial" panose="020B0604020202020204" pitchFamily="34" charset="0"/>
                <a:cs typeface="Arial" panose="020B0604020202020204" pitchFamily="34" charset="0"/>
              </a:rPr>
              <a:t>operasyonel</a:t>
            </a:r>
            <a:r>
              <a:rPr lang="tr-TR" sz="1400" dirty="0">
                <a:latin typeface="Arial" panose="020B0604020202020204" pitchFamily="34" charset="0"/>
                <a:cs typeface="Arial" panose="020B0604020202020204" pitchFamily="34" charset="0"/>
              </a:rPr>
              <a:t> dayanıklılığın artırılması gerekmektedir. Stratejik olarak ise, KVKK ve GDPR uyumunun dinamik biçimde takip edilmesi, kriz iletişim planlarının önceden hazırlanması ve bağımsız siber denetim raporlarının yıllık olarak yayımlanması önerilmektedir.</a:t>
            </a:r>
          </a:p>
          <a:p>
            <a:pPr algn="just">
              <a:buNone/>
            </a:pPr>
            <a:r>
              <a:rPr lang="tr-TR" sz="1400" dirty="0">
                <a:latin typeface="Arial" panose="020B0604020202020204" pitchFamily="34" charset="0"/>
                <a:cs typeface="Arial" panose="020B0604020202020204" pitchFamily="34" charset="0"/>
              </a:rPr>
              <a:t>	Sonuç olarak, siber güvenlik yalnızca bilgi işlem birimlerinin değil; yönetim kurulları, insan kaynakları, hukuk birimleri ve tüm veri işleme süreçlerinin ortak sorumluluğu haline gelmelidir. Bu çok katmanlı yaklaşım, kurumsal güvenin güçlenmesi ve ulusal siber direnç kapasitesinin artması açısından kritik önemdedir.</a:t>
            </a:r>
          </a:p>
        </p:txBody>
      </p:sp>
      <p:grpSp>
        <p:nvGrpSpPr>
          <p:cNvPr id="6" name="Diagram group">
            <a:extLst>
              <a:ext uri="{FF2B5EF4-FFF2-40B4-BE49-F238E27FC236}">
                <a16:creationId xmlns:a16="http://schemas.microsoft.com/office/drawing/2014/main" id="{DFC60288-293A-5DE2-3768-80A1D8338014}"/>
              </a:ext>
            </a:extLst>
          </p:cNvPr>
          <p:cNvGrpSpPr/>
          <p:nvPr/>
        </p:nvGrpSpPr>
        <p:grpSpPr>
          <a:xfrm>
            <a:off x="304934" y="2170524"/>
            <a:ext cx="1088685" cy="1172173"/>
            <a:chOff x="1617423" y="3173456"/>
            <a:chExt cx="2426135" cy="2754674"/>
          </a:xfrm>
          <a:scene3d>
            <a:camera prst="perspectiveRelaxedModerately" zoom="92000"/>
            <a:lightRig rig="balanced" dir="t">
              <a:rot lat="0" lon="0" rev="12700000"/>
            </a:lightRig>
          </a:scene3d>
        </p:grpSpPr>
        <p:sp>
          <p:nvSpPr>
            <p:cNvPr id="8" name="Rectangle: Top Corners Rounded 7">
              <a:extLst>
                <a:ext uri="{FF2B5EF4-FFF2-40B4-BE49-F238E27FC236}">
                  <a16:creationId xmlns:a16="http://schemas.microsoft.com/office/drawing/2014/main" id="{56E3A931-38AF-3D12-618E-05593777CBDB}"/>
                </a:ext>
              </a:extLst>
            </p:cNvPr>
            <p:cNvSpPr/>
            <p:nvPr/>
          </p:nvSpPr>
          <p:spPr>
            <a:xfrm rot="5400000">
              <a:off x="1453154" y="3337725"/>
              <a:ext cx="2754674" cy="2426135"/>
            </a:xfrm>
            <a:prstGeom prst="round2SameRect">
              <a:avLst/>
            </a:prstGeom>
            <a:blipFill rotWithShape="0">
              <a:blip r:embed="rId3"/>
              <a:srcRect/>
              <a:stretch>
                <a:fillRect l="-17000" r="-17000"/>
              </a:stretch>
            </a:blipFill>
            <a:sp3d prstMaterial="plastic">
              <a:bevelT w="25400" h="25400"/>
              <a:bevelB w="25400" h="25400"/>
            </a:sp3d>
          </p:spPr>
          <p:style>
            <a:lnRef idx="1">
              <a:schemeClr val="accent1">
                <a:hueOff val="0"/>
                <a:satOff val="0"/>
                <a:lumOff val="0"/>
                <a:alphaOff val="0"/>
              </a:schemeClr>
            </a:lnRef>
            <a:fillRef idx="1">
              <a:scrgbClr r="0" g="0" b="0"/>
            </a:fillRef>
            <a:effectRef idx="2">
              <a:schemeClr val="lt1">
                <a:alpha val="90000"/>
                <a:hueOff val="0"/>
                <a:satOff val="0"/>
                <a:lumOff val="0"/>
                <a:alphaOff val="0"/>
              </a:schemeClr>
            </a:effectRef>
            <a:fontRef idx="minor">
              <a:schemeClr val="dk1">
                <a:hueOff val="0"/>
                <a:satOff val="0"/>
                <a:lumOff val="0"/>
                <a:alphaOff val="0"/>
              </a:schemeClr>
            </a:fontRef>
          </p:style>
          <p:txBody>
            <a:bodyPr/>
            <a:lstStyle/>
            <a:p>
              <a:endParaRPr lang="en-US"/>
            </a:p>
          </p:txBody>
        </p:sp>
      </p:grpSp>
      <p:grpSp>
        <p:nvGrpSpPr>
          <p:cNvPr id="9" name="Diagram group">
            <a:extLst>
              <a:ext uri="{FF2B5EF4-FFF2-40B4-BE49-F238E27FC236}">
                <a16:creationId xmlns:a16="http://schemas.microsoft.com/office/drawing/2014/main" id="{E0C9BDE4-4868-BFEB-BC09-71CB745F7CE9}"/>
              </a:ext>
            </a:extLst>
          </p:cNvPr>
          <p:cNvGrpSpPr/>
          <p:nvPr/>
        </p:nvGrpSpPr>
        <p:grpSpPr>
          <a:xfrm>
            <a:off x="304934" y="3424403"/>
            <a:ext cx="1088684" cy="1105169"/>
            <a:chOff x="1693876" y="37287"/>
            <a:chExt cx="2540813" cy="2815407"/>
          </a:xfrm>
          <a:scene3d>
            <a:camera prst="perspectiveRelaxedModerately" zoom="92000"/>
            <a:lightRig rig="balanced" dir="t">
              <a:rot lat="0" lon="0" rev="12700000"/>
            </a:lightRig>
          </a:scene3d>
        </p:grpSpPr>
        <p:sp>
          <p:nvSpPr>
            <p:cNvPr id="10" name="Rectangle: Top Corners Rounded 9">
              <a:extLst>
                <a:ext uri="{FF2B5EF4-FFF2-40B4-BE49-F238E27FC236}">
                  <a16:creationId xmlns:a16="http://schemas.microsoft.com/office/drawing/2014/main" id="{E0453A2C-E24C-8A0E-2217-203912F41582}"/>
                </a:ext>
              </a:extLst>
            </p:cNvPr>
            <p:cNvSpPr/>
            <p:nvPr/>
          </p:nvSpPr>
          <p:spPr>
            <a:xfrm rot="5400000">
              <a:off x="1556579" y="174584"/>
              <a:ext cx="2815407" cy="2540813"/>
            </a:xfrm>
            <a:prstGeom prst="round2SameRect">
              <a:avLst/>
            </a:prstGeom>
            <a:blipFill rotWithShape="0">
              <a:blip r:embed="rId4"/>
              <a:srcRect/>
              <a:stretch>
                <a:fillRect l="-10000" r="-10000"/>
              </a:stretch>
            </a:blipFill>
            <a:sp3d prstMaterial="plastic">
              <a:bevelT w="25400" h="25400"/>
              <a:bevelB w="25400" h="25400"/>
            </a:sp3d>
          </p:spPr>
          <p:style>
            <a:lnRef idx="1">
              <a:schemeClr val="accent1">
                <a:hueOff val="0"/>
                <a:satOff val="0"/>
                <a:lumOff val="0"/>
                <a:alphaOff val="0"/>
              </a:schemeClr>
            </a:lnRef>
            <a:fillRef idx="1">
              <a:scrgbClr r="0" g="0" b="0"/>
            </a:fillRef>
            <a:effectRef idx="2">
              <a:schemeClr val="lt1">
                <a:alpha val="90000"/>
                <a:hueOff val="0"/>
                <a:satOff val="0"/>
                <a:lumOff val="0"/>
                <a:alphaOff val="0"/>
              </a:schemeClr>
            </a:effectRef>
            <a:fontRef idx="minor">
              <a:schemeClr val="dk1">
                <a:hueOff val="0"/>
                <a:satOff val="0"/>
                <a:lumOff val="0"/>
                <a:alphaOff val="0"/>
              </a:schemeClr>
            </a:fontRef>
          </p:style>
          <p:txBody>
            <a:bodyPr/>
            <a:lstStyle/>
            <a:p>
              <a:endParaRPr lang="en-US"/>
            </a:p>
          </p:txBody>
        </p:sp>
      </p:grpSp>
      <p:pic>
        <p:nvPicPr>
          <p:cNvPr id="11" name="Picture 10">
            <a:extLst>
              <a:ext uri="{FF2B5EF4-FFF2-40B4-BE49-F238E27FC236}">
                <a16:creationId xmlns:a16="http://schemas.microsoft.com/office/drawing/2014/main" id="{1EBD2E43-F086-6628-ACEF-9FB91C755613}"/>
              </a:ext>
            </a:extLst>
          </p:cNvPr>
          <p:cNvPicPr>
            <a:picLocks noChangeAspect="1"/>
          </p:cNvPicPr>
          <p:nvPr/>
        </p:nvPicPr>
        <p:blipFill>
          <a:blip r:embed="rId5"/>
          <a:stretch>
            <a:fillRect/>
          </a:stretch>
        </p:blipFill>
        <p:spPr>
          <a:xfrm>
            <a:off x="1582465" y="4166109"/>
            <a:ext cx="938877" cy="967353"/>
          </a:xfrm>
          <a:prstGeom prst="rect">
            <a:avLst/>
          </a:prstGeom>
        </p:spPr>
      </p:pic>
      <p:grpSp>
        <p:nvGrpSpPr>
          <p:cNvPr id="12" name="Diagram group">
            <a:extLst>
              <a:ext uri="{FF2B5EF4-FFF2-40B4-BE49-F238E27FC236}">
                <a16:creationId xmlns:a16="http://schemas.microsoft.com/office/drawing/2014/main" id="{B43403D8-CFB2-C94A-2475-8EB6F6D70DCD}"/>
              </a:ext>
            </a:extLst>
          </p:cNvPr>
          <p:cNvGrpSpPr/>
          <p:nvPr/>
        </p:nvGrpSpPr>
        <p:grpSpPr>
          <a:xfrm>
            <a:off x="1540405" y="2723108"/>
            <a:ext cx="1088685" cy="1172173"/>
            <a:chOff x="1624882" y="-1"/>
            <a:chExt cx="2437322" cy="2824501"/>
          </a:xfrm>
          <a:scene3d>
            <a:camera prst="perspectiveRelaxedModerately" zoom="92000"/>
            <a:lightRig rig="balanced" dir="t">
              <a:rot lat="0" lon="0" rev="12700000"/>
            </a:lightRig>
          </a:scene3d>
        </p:grpSpPr>
        <p:sp>
          <p:nvSpPr>
            <p:cNvPr id="13" name="Rectangle: Top Corners Rounded 12">
              <a:extLst>
                <a:ext uri="{FF2B5EF4-FFF2-40B4-BE49-F238E27FC236}">
                  <a16:creationId xmlns:a16="http://schemas.microsoft.com/office/drawing/2014/main" id="{AC544173-7126-16B7-AE30-E17C345FE004}"/>
                </a:ext>
              </a:extLst>
            </p:cNvPr>
            <p:cNvSpPr/>
            <p:nvPr/>
          </p:nvSpPr>
          <p:spPr>
            <a:xfrm rot="5400000">
              <a:off x="1431292" y="193589"/>
              <a:ext cx="2824501" cy="2437322"/>
            </a:xfrm>
            <a:prstGeom prst="round2SameRect">
              <a:avLst/>
            </a:prstGeom>
            <a:blipFill rotWithShape="0">
              <a:blip r:embed="rId6"/>
              <a:srcRect/>
              <a:stretch>
                <a:fillRect l="-3000" r="-3000"/>
              </a:stretch>
            </a:blipFill>
            <a:sp3d prstMaterial="plastic">
              <a:bevelT w="25400" h="25400"/>
              <a:bevelB w="25400" h="25400"/>
            </a:sp3d>
          </p:spPr>
          <p:style>
            <a:lnRef idx="1">
              <a:schemeClr val="accent1">
                <a:hueOff val="0"/>
                <a:satOff val="0"/>
                <a:lumOff val="0"/>
                <a:alphaOff val="0"/>
              </a:schemeClr>
            </a:lnRef>
            <a:fillRef idx="1">
              <a:scrgbClr r="0" g="0" b="0"/>
            </a:fillRef>
            <a:effectRef idx="2">
              <a:schemeClr val="lt1">
                <a:alpha val="90000"/>
                <a:hueOff val="0"/>
                <a:satOff val="0"/>
                <a:lumOff val="0"/>
                <a:alphaOff val="0"/>
              </a:schemeClr>
            </a:effectRef>
            <a:fontRef idx="minor">
              <a:schemeClr val="dk1">
                <a:hueOff val="0"/>
                <a:satOff val="0"/>
                <a:lumOff val="0"/>
                <a:alphaOff val="0"/>
              </a:schemeClr>
            </a:fontRef>
          </p:style>
          <p:txBody>
            <a:bodyPr/>
            <a:lstStyle/>
            <a:p>
              <a:endParaRPr lang="en-US" dirty="0"/>
            </a:p>
          </p:txBody>
        </p:sp>
      </p:grpSp>
      <p:grpSp>
        <p:nvGrpSpPr>
          <p:cNvPr id="15" name="Diagram group">
            <a:extLst>
              <a:ext uri="{FF2B5EF4-FFF2-40B4-BE49-F238E27FC236}">
                <a16:creationId xmlns:a16="http://schemas.microsoft.com/office/drawing/2014/main" id="{80462917-D455-0D87-CBD6-3173CBA0AE19}"/>
              </a:ext>
            </a:extLst>
          </p:cNvPr>
          <p:cNvGrpSpPr/>
          <p:nvPr/>
        </p:nvGrpSpPr>
        <p:grpSpPr>
          <a:xfrm>
            <a:off x="274124" y="5043731"/>
            <a:ext cx="1266281" cy="1172173"/>
            <a:chOff x="1624882" y="2796174"/>
            <a:chExt cx="2437322" cy="2824501"/>
          </a:xfrm>
          <a:scene3d>
            <a:camera prst="perspectiveRelaxedModerately" zoom="92000"/>
            <a:lightRig rig="balanced" dir="t">
              <a:rot lat="0" lon="0" rev="12700000"/>
            </a:lightRig>
          </a:scene3d>
        </p:grpSpPr>
        <p:sp>
          <p:nvSpPr>
            <p:cNvPr id="16" name="Rectangle: Top Corners Rounded 15">
              <a:extLst>
                <a:ext uri="{FF2B5EF4-FFF2-40B4-BE49-F238E27FC236}">
                  <a16:creationId xmlns:a16="http://schemas.microsoft.com/office/drawing/2014/main" id="{D4234CE7-8E3A-D395-4BF0-43F799FCD56A}"/>
                </a:ext>
              </a:extLst>
            </p:cNvPr>
            <p:cNvSpPr/>
            <p:nvPr/>
          </p:nvSpPr>
          <p:spPr>
            <a:xfrm rot="5400000">
              <a:off x="1431292" y="2989764"/>
              <a:ext cx="2824501" cy="2437322"/>
            </a:xfrm>
            <a:prstGeom prst="round2SameRect">
              <a:avLst/>
            </a:prstGeom>
            <a:blipFill rotWithShape="0">
              <a:blip r:embed="rId7"/>
              <a:srcRect/>
              <a:stretch>
                <a:fillRect l="-28000" r="-28000"/>
              </a:stretch>
            </a:blipFill>
            <a:sp3d prstMaterial="plastic">
              <a:bevelT w="25400" h="25400"/>
              <a:bevelB w="25400" h="25400"/>
            </a:sp3d>
          </p:spPr>
          <p:style>
            <a:lnRef idx="1">
              <a:schemeClr val="accent1">
                <a:hueOff val="0"/>
                <a:satOff val="0"/>
                <a:lumOff val="0"/>
                <a:alphaOff val="0"/>
              </a:schemeClr>
            </a:lnRef>
            <a:fillRef idx="1">
              <a:scrgbClr r="0" g="0" b="0"/>
            </a:fillRef>
            <a:effectRef idx="2">
              <a:schemeClr val="lt1">
                <a:alpha val="90000"/>
                <a:hueOff val="0"/>
                <a:satOff val="0"/>
                <a:lumOff val="0"/>
                <a:alphaOff val="0"/>
              </a:schemeClr>
            </a:effectRef>
            <a:fontRef idx="minor">
              <a:schemeClr val="dk1">
                <a:hueOff val="0"/>
                <a:satOff val="0"/>
                <a:lumOff val="0"/>
                <a:alphaOff val="0"/>
              </a:schemeClr>
            </a:fontRef>
          </p:style>
          <p:txBody>
            <a:bodyPr/>
            <a:lstStyle/>
            <a:p>
              <a:endParaRPr lang="en-US"/>
            </a:p>
          </p:txBody>
        </p:sp>
      </p:grpSp>
      <p:pic>
        <p:nvPicPr>
          <p:cNvPr id="17" name="Picture 16">
            <a:extLst>
              <a:ext uri="{FF2B5EF4-FFF2-40B4-BE49-F238E27FC236}">
                <a16:creationId xmlns:a16="http://schemas.microsoft.com/office/drawing/2014/main" id="{07FCEAA2-24B9-3B12-C5D6-F5A3F8BB18FD}"/>
              </a:ext>
            </a:extLst>
          </p:cNvPr>
          <p:cNvPicPr>
            <a:picLocks noChangeAspect="1"/>
          </p:cNvPicPr>
          <p:nvPr/>
        </p:nvPicPr>
        <p:blipFill>
          <a:blip r:embed="rId8"/>
          <a:stretch>
            <a:fillRect/>
          </a:stretch>
        </p:blipFill>
        <p:spPr>
          <a:xfrm>
            <a:off x="1608004" y="1591630"/>
            <a:ext cx="1021086" cy="729080"/>
          </a:xfrm>
          <a:prstGeom prst="rect">
            <a:avLst/>
          </a:prstGeom>
        </p:spPr>
      </p:pic>
      <p:grpSp>
        <p:nvGrpSpPr>
          <p:cNvPr id="18" name="Diagram group">
            <a:extLst>
              <a:ext uri="{FF2B5EF4-FFF2-40B4-BE49-F238E27FC236}">
                <a16:creationId xmlns:a16="http://schemas.microsoft.com/office/drawing/2014/main" id="{370E3E7B-01C2-CB16-8840-67DBE4025CF2}"/>
              </a:ext>
            </a:extLst>
          </p:cNvPr>
          <p:cNvGrpSpPr/>
          <p:nvPr/>
        </p:nvGrpSpPr>
        <p:grpSpPr>
          <a:xfrm>
            <a:off x="2173573" y="5059007"/>
            <a:ext cx="1465121" cy="1181400"/>
            <a:chOff x="1683142" y="2879429"/>
            <a:chExt cx="2524715" cy="2679222"/>
          </a:xfrm>
          <a:scene3d>
            <a:camera prst="perspectiveRelaxedModerately" zoom="92000"/>
            <a:lightRig rig="balanced" dir="t">
              <a:rot lat="0" lon="0" rev="12700000"/>
            </a:lightRig>
          </a:scene3d>
        </p:grpSpPr>
        <p:sp>
          <p:nvSpPr>
            <p:cNvPr id="19" name="Rectangle: Top Corners Rounded 18">
              <a:extLst>
                <a:ext uri="{FF2B5EF4-FFF2-40B4-BE49-F238E27FC236}">
                  <a16:creationId xmlns:a16="http://schemas.microsoft.com/office/drawing/2014/main" id="{18FB1C2E-03DC-E538-C483-DC9AD64AE6D5}"/>
                </a:ext>
              </a:extLst>
            </p:cNvPr>
            <p:cNvSpPr/>
            <p:nvPr/>
          </p:nvSpPr>
          <p:spPr>
            <a:xfrm rot="5400000">
              <a:off x="1605889" y="2956682"/>
              <a:ext cx="2679222" cy="2524715"/>
            </a:xfrm>
            <a:prstGeom prst="round2SameRect">
              <a:avLst/>
            </a:prstGeom>
            <a:blipFill rotWithShape="0">
              <a:blip r:embed="rId9"/>
              <a:srcRect/>
              <a:stretch>
                <a:fillRect l="-28000" r="-28000"/>
              </a:stretch>
            </a:blipFill>
            <a:sp3d prstMaterial="plastic">
              <a:bevelT w="25400" h="25400"/>
              <a:bevelB w="25400" h="25400"/>
            </a:sp3d>
          </p:spPr>
          <p:style>
            <a:lnRef idx="1">
              <a:schemeClr val="accent1">
                <a:hueOff val="0"/>
                <a:satOff val="0"/>
                <a:lumOff val="0"/>
                <a:alphaOff val="0"/>
              </a:schemeClr>
            </a:lnRef>
            <a:fillRef idx="1">
              <a:scrgbClr r="0" g="0" b="0"/>
            </a:fillRef>
            <a:effectRef idx="2">
              <a:schemeClr val="lt1">
                <a:alpha val="90000"/>
                <a:hueOff val="0"/>
                <a:satOff val="0"/>
                <a:lumOff val="0"/>
                <a:alphaOff val="0"/>
              </a:schemeClr>
            </a:effectRef>
            <a:fontRef idx="minor">
              <a:schemeClr val="dk1">
                <a:hueOff val="0"/>
                <a:satOff val="0"/>
                <a:lumOff val="0"/>
                <a:alphaOff val="0"/>
              </a:schemeClr>
            </a:fontRef>
          </p:style>
          <p:txBody>
            <a:bodyPr/>
            <a:lstStyle/>
            <a:p>
              <a:endParaRPr lang="en-US"/>
            </a:p>
          </p:txBody>
        </p:sp>
      </p:grpSp>
      <p:grpSp>
        <p:nvGrpSpPr>
          <p:cNvPr id="20" name="Diagram group">
            <a:extLst>
              <a:ext uri="{FF2B5EF4-FFF2-40B4-BE49-F238E27FC236}">
                <a16:creationId xmlns:a16="http://schemas.microsoft.com/office/drawing/2014/main" id="{A3A3E6FD-8B05-4887-4A52-40057CB15AEF}"/>
              </a:ext>
            </a:extLst>
          </p:cNvPr>
          <p:cNvGrpSpPr/>
          <p:nvPr/>
        </p:nvGrpSpPr>
        <p:grpSpPr>
          <a:xfrm>
            <a:off x="3739892" y="4961573"/>
            <a:ext cx="1386804" cy="1296006"/>
            <a:chOff x="1675252" y="70212"/>
            <a:chExt cx="2282298" cy="2774121"/>
          </a:xfrm>
          <a:scene3d>
            <a:camera prst="perspectiveRelaxedModerately" zoom="92000"/>
            <a:lightRig rig="balanced" dir="t">
              <a:rot lat="0" lon="0" rev="12700000"/>
            </a:lightRig>
          </a:scene3d>
        </p:grpSpPr>
        <p:sp>
          <p:nvSpPr>
            <p:cNvPr id="21" name="Rectangle: Top Corners Rounded 20">
              <a:extLst>
                <a:ext uri="{FF2B5EF4-FFF2-40B4-BE49-F238E27FC236}">
                  <a16:creationId xmlns:a16="http://schemas.microsoft.com/office/drawing/2014/main" id="{1B941552-5E9E-575B-3C83-0749F02DEA49}"/>
                </a:ext>
              </a:extLst>
            </p:cNvPr>
            <p:cNvSpPr/>
            <p:nvPr/>
          </p:nvSpPr>
          <p:spPr>
            <a:xfrm rot="5400000">
              <a:off x="1429340" y="316124"/>
              <a:ext cx="2774121" cy="2282298"/>
            </a:xfrm>
            <a:prstGeom prst="round2SameRect">
              <a:avLst/>
            </a:prstGeom>
            <a:blipFill rotWithShape="0">
              <a:blip r:embed="rId10"/>
              <a:srcRect/>
              <a:stretch>
                <a:fillRect l="-26000" r="-26000"/>
              </a:stretch>
            </a:blipFill>
            <a:sp3d prstMaterial="plastic">
              <a:bevelT w="25400" h="25400"/>
              <a:bevelB w="25400" h="25400"/>
            </a:sp3d>
          </p:spPr>
          <p:style>
            <a:lnRef idx="1">
              <a:schemeClr val="accent1">
                <a:hueOff val="0"/>
                <a:satOff val="0"/>
                <a:lumOff val="0"/>
                <a:alphaOff val="0"/>
              </a:schemeClr>
            </a:lnRef>
            <a:fillRef idx="1">
              <a:scrgbClr r="0" g="0" b="0"/>
            </a:fillRef>
            <a:effectRef idx="2">
              <a:schemeClr val="lt1">
                <a:alpha val="90000"/>
                <a:hueOff val="0"/>
                <a:satOff val="0"/>
                <a:lumOff val="0"/>
                <a:alphaOff val="0"/>
              </a:schemeClr>
            </a:effectRef>
            <a:fontRef idx="minor">
              <a:schemeClr val="dk1">
                <a:hueOff val="0"/>
                <a:satOff val="0"/>
                <a:lumOff val="0"/>
                <a:alphaOff val="0"/>
              </a:schemeClr>
            </a:fontRef>
          </p:style>
          <p:txBody>
            <a:bodyPr/>
            <a:lstStyle/>
            <a:p>
              <a:endParaRPr lang="en-US"/>
            </a:p>
          </p:txBody>
        </p:sp>
      </p:grpSp>
      <p:pic>
        <p:nvPicPr>
          <p:cNvPr id="22" name="Picture 21">
            <a:extLst>
              <a:ext uri="{FF2B5EF4-FFF2-40B4-BE49-F238E27FC236}">
                <a16:creationId xmlns:a16="http://schemas.microsoft.com/office/drawing/2014/main" id="{7927315F-EE82-9EBE-95D5-AA70B9BE707D}"/>
              </a:ext>
            </a:extLst>
          </p:cNvPr>
          <p:cNvPicPr>
            <a:picLocks noChangeAspect="1"/>
          </p:cNvPicPr>
          <p:nvPr/>
        </p:nvPicPr>
        <p:blipFill>
          <a:blip r:embed="rId11"/>
          <a:srcRect l="20249" r="19675"/>
          <a:stretch>
            <a:fillRect/>
          </a:stretch>
        </p:blipFill>
        <p:spPr>
          <a:xfrm>
            <a:off x="9470375" y="1318823"/>
            <a:ext cx="1044296" cy="1030298"/>
          </a:xfrm>
          <a:prstGeom prst="rect">
            <a:avLst/>
          </a:prstGeom>
        </p:spPr>
      </p:pic>
      <p:grpSp>
        <p:nvGrpSpPr>
          <p:cNvPr id="23" name="Diagram group">
            <a:extLst>
              <a:ext uri="{FF2B5EF4-FFF2-40B4-BE49-F238E27FC236}">
                <a16:creationId xmlns:a16="http://schemas.microsoft.com/office/drawing/2014/main" id="{8BB97E9D-CEC5-8684-28CC-699F124CC690}"/>
              </a:ext>
            </a:extLst>
          </p:cNvPr>
          <p:cNvGrpSpPr/>
          <p:nvPr/>
        </p:nvGrpSpPr>
        <p:grpSpPr>
          <a:xfrm>
            <a:off x="5367804" y="5058484"/>
            <a:ext cx="1432110" cy="1195562"/>
            <a:chOff x="1494213" y="49547"/>
            <a:chExt cx="2241319" cy="2816241"/>
          </a:xfrm>
          <a:scene3d>
            <a:camera prst="perspectiveRelaxedModerately" zoom="92000"/>
            <a:lightRig rig="balanced" dir="t">
              <a:rot lat="0" lon="0" rev="12700000"/>
            </a:lightRig>
          </a:scene3d>
        </p:grpSpPr>
        <p:sp>
          <p:nvSpPr>
            <p:cNvPr id="24" name="Rectangle: Top Corners Rounded 23">
              <a:extLst>
                <a:ext uri="{FF2B5EF4-FFF2-40B4-BE49-F238E27FC236}">
                  <a16:creationId xmlns:a16="http://schemas.microsoft.com/office/drawing/2014/main" id="{86A6FE31-B1A7-B3BA-E9D2-3F7D3C3A7FC8}"/>
                </a:ext>
              </a:extLst>
            </p:cNvPr>
            <p:cNvSpPr/>
            <p:nvPr/>
          </p:nvSpPr>
          <p:spPr>
            <a:xfrm rot="5400000">
              <a:off x="1206752" y="337008"/>
              <a:ext cx="2816241" cy="2241319"/>
            </a:xfrm>
            <a:prstGeom prst="round2SameRect">
              <a:avLst/>
            </a:prstGeom>
            <a:blipFill rotWithShape="0">
              <a:blip r:embed="rId12"/>
              <a:srcRect/>
              <a:stretch>
                <a:fillRect l="-64000" r="-64000"/>
              </a:stretch>
            </a:blipFill>
            <a:sp3d prstMaterial="plastic">
              <a:bevelT w="25400" h="25400"/>
              <a:bevelB w="25400" h="25400"/>
            </a:sp3d>
          </p:spPr>
          <p:style>
            <a:lnRef idx="1">
              <a:schemeClr val="accent1">
                <a:hueOff val="0"/>
                <a:satOff val="0"/>
                <a:lumOff val="0"/>
                <a:alphaOff val="0"/>
              </a:schemeClr>
            </a:lnRef>
            <a:fillRef idx="1">
              <a:scrgbClr r="0" g="0" b="0"/>
            </a:fillRef>
            <a:effectRef idx="2">
              <a:schemeClr val="lt1">
                <a:alpha val="90000"/>
                <a:hueOff val="0"/>
                <a:satOff val="0"/>
                <a:lumOff val="0"/>
                <a:alphaOff val="0"/>
              </a:schemeClr>
            </a:effectRef>
            <a:fontRef idx="minor">
              <a:schemeClr val="dk1">
                <a:hueOff val="0"/>
                <a:satOff val="0"/>
                <a:lumOff val="0"/>
                <a:alphaOff val="0"/>
              </a:schemeClr>
            </a:fontRef>
          </p:style>
          <p:txBody>
            <a:bodyPr/>
            <a:lstStyle/>
            <a:p>
              <a:endParaRPr lang="en-US"/>
            </a:p>
          </p:txBody>
        </p:sp>
      </p:grpSp>
      <p:grpSp>
        <p:nvGrpSpPr>
          <p:cNvPr id="25" name="Diagram group">
            <a:extLst>
              <a:ext uri="{FF2B5EF4-FFF2-40B4-BE49-F238E27FC236}">
                <a16:creationId xmlns:a16="http://schemas.microsoft.com/office/drawing/2014/main" id="{F0E4C5B0-0461-C52C-77C2-9CE2EADEF6AB}"/>
              </a:ext>
            </a:extLst>
          </p:cNvPr>
          <p:cNvGrpSpPr/>
          <p:nvPr/>
        </p:nvGrpSpPr>
        <p:grpSpPr>
          <a:xfrm>
            <a:off x="8767131" y="5124920"/>
            <a:ext cx="1464301" cy="1126921"/>
            <a:chOff x="1494213" y="3038402"/>
            <a:chExt cx="2241319" cy="2816241"/>
          </a:xfrm>
          <a:scene3d>
            <a:camera prst="perspectiveRelaxedModerately" zoom="92000"/>
            <a:lightRig rig="balanced" dir="t">
              <a:rot lat="0" lon="0" rev="12700000"/>
            </a:lightRig>
          </a:scene3d>
        </p:grpSpPr>
        <p:sp>
          <p:nvSpPr>
            <p:cNvPr id="26" name="Rectangle: Top Corners Rounded 25">
              <a:extLst>
                <a:ext uri="{FF2B5EF4-FFF2-40B4-BE49-F238E27FC236}">
                  <a16:creationId xmlns:a16="http://schemas.microsoft.com/office/drawing/2014/main" id="{6503569F-17EB-D86E-8844-03D8D457014A}"/>
                </a:ext>
              </a:extLst>
            </p:cNvPr>
            <p:cNvSpPr/>
            <p:nvPr/>
          </p:nvSpPr>
          <p:spPr>
            <a:xfrm rot="5400000">
              <a:off x="1206752" y="3325863"/>
              <a:ext cx="2816241" cy="2241319"/>
            </a:xfrm>
            <a:prstGeom prst="round2SameRect">
              <a:avLst/>
            </a:prstGeom>
            <a:blipFill rotWithShape="0">
              <a:blip r:embed="rId13"/>
              <a:srcRect/>
              <a:stretch>
                <a:fillRect l="-48000" r="-48000"/>
              </a:stretch>
            </a:blipFill>
            <a:sp3d prstMaterial="plastic">
              <a:bevelT w="25400" h="25400"/>
              <a:bevelB w="25400" h="25400"/>
            </a:sp3d>
          </p:spPr>
          <p:style>
            <a:lnRef idx="1">
              <a:schemeClr val="accent1">
                <a:hueOff val="0"/>
                <a:satOff val="0"/>
                <a:lumOff val="0"/>
                <a:alphaOff val="0"/>
              </a:schemeClr>
            </a:lnRef>
            <a:fillRef idx="1">
              <a:scrgbClr r="0" g="0" b="0"/>
            </a:fillRef>
            <a:effectRef idx="2">
              <a:schemeClr val="lt1">
                <a:alpha val="90000"/>
                <a:hueOff val="0"/>
                <a:satOff val="0"/>
                <a:lumOff val="0"/>
                <a:alphaOff val="0"/>
              </a:schemeClr>
            </a:effectRef>
            <a:fontRef idx="minor">
              <a:schemeClr val="dk1">
                <a:hueOff val="0"/>
                <a:satOff val="0"/>
                <a:lumOff val="0"/>
                <a:alphaOff val="0"/>
              </a:schemeClr>
            </a:fontRef>
          </p:style>
          <p:txBody>
            <a:bodyPr/>
            <a:lstStyle/>
            <a:p>
              <a:endParaRPr lang="en-US"/>
            </a:p>
          </p:txBody>
        </p:sp>
      </p:grpSp>
      <p:grpSp>
        <p:nvGrpSpPr>
          <p:cNvPr id="27" name="Diagram group">
            <a:extLst>
              <a:ext uri="{FF2B5EF4-FFF2-40B4-BE49-F238E27FC236}">
                <a16:creationId xmlns:a16="http://schemas.microsoft.com/office/drawing/2014/main" id="{1E3875EB-2B96-6513-CD1F-29C6D39EC477}"/>
              </a:ext>
            </a:extLst>
          </p:cNvPr>
          <p:cNvGrpSpPr/>
          <p:nvPr/>
        </p:nvGrpSpPr>
        <p:grpSpPr>
          <a:xfrm>
            <a:off x="10698752" y="679152"/>
            <a:ext cx="1307642" cy="1077218"/>
            <a:chOff x="1500349" y="46901"/>
            <a:chExt cx="2250525" cy="2697032"/>
          </a:xfrm>
          <a:scene3d>
            <a:camera prst="perspectiveRelaxedModerately" zoom="92000"/>
            <a:lightRig rig="balanced" dir="t">
              <a:rot lat="0" lon="0" rev="12700000"/>
            </a:lightRig>
          </a:scene3d>
        </p:grpSpPr>
        <p:sp>
          <p:nvSpPr>
            <p:cNvPr id="28" name="Rectangle: Top Corners Rounded 27">
              <a:extLst>
                <a:ext uri="{FF2B5EF4-FFF2-40B4-BE49-F238E27FC236}">
                  <a16:creationId xmlns:a16="http://schemas.microsoft.com/office/drawing/2014/main" id="{9E57ADBD-A26F-7783-6443-3F2636E2DC05}"/>
                </a:ext>
              </a:extLst>
            </p:cNvPr>
            <p:cNvSpPr/>
            <p:nvPr/>
          </p:nvSpPr>
          <p:spPr>
            <a:xfrm rot="5400000">
              <a:off x="1277096" y="270154"/>
              <a:ext cx="2697032" cy="2250525"/>
            </a:xfrm>
            <a:prstGeom prst="round2SameRect">
              <a:avLst/>
            </a:prstGeom>
            <a:blipFill rotWithShape="0">
              <a:blip r:embed="rId14"/>
              <a:srcRect/>
              <a:stretch>
                <a:fillRect l="-86000" r="-86000"/>
              </a:stretch>
            </a:blipFill>
            <a:sp3d prstMaterial="plastic">
              <a:bevelT w="25400" h="25400"/>
              <a:bevelB w="25400" h="25400"/>
            </a:sp3d>
          </p:spPr>
          <p:style>
            <a:lnRef idx="1">
              <a:schemeClr val="accent1">
                <a:hueOff val="0"/>
                <a:satOff val="0"/>
                <a:lumOff val="0"/>
                <a:alphaOff val="0"/>
              </a:schemeClr>
            </a:lnRef>
            <a:fillRef idx="1">
              <a:scrgbClr r="0" g="0" b="0"/>
            </a:fillRef>
            <a:effectRef idx="2">
              <a:schemeClr val="lt1">
                <a:alpha val="90000"/>
                <a:hueOff val="0"/>
                <a:satOff val="0"/>
                <a:lumOff val="0"/>
                <a:alphaOff val="0"/>
              </a:schemeClr>
            </a:effectRef>
            <a:fontRef idx="minor">
              <a:schemeClr val="dk1">
                <a:hueOff val="0"/>
                <a:satOff val="0"/>
                <a:lumOff val="0"/>
                <a:alphaOff val="0"/>
              </a:schemeClr>
            </a:fontRef>
          </p:style>
          <p:txBody>
            <a:bodyPr/>
            <a:lstStyle/>
            <a:p>
              <a:endParaRPr lang="en-US"/>
            </a:p>
          </p:txBody>
        </p:sp>
      </p:grpSp>
      <p:grpSp>
        <p:nvGrpSpPr>
          <p:cNvPr id="29" name="Diagram group">
            <a:extLst>
              <a:ext uri="{FF2B5EF4-FFF2-40B4-BE49-F238E27FC236}">
                <a16:creationId xmlns:a16="http://schemas.microsoft.com/office/drawing/2014/main" id="{681EBB90-291B-A3C1-13E3-8BD7EBAF8CF0}"/>
              </a:ext>
            </a:extLst>
          </p:cNvPr>
          <p:cNvGrpSpPr/>
          <p:nvPr/>
        </p:nvGrpSpPr>
        <p:grpSpPr>
          <a:xfrm>
            <a:off x="6987211" y="5065568"/>
            <a:ext cx="1571417" cy="1188478"/>
            <a:chOff x="1654985" y="161196"/>
            <a:chExt cx="2482478" cy="2513186"/>
          </a:xfrm>
          <a:scene3d>
            <a:camera prst="perspectiveRelaxedModerately" zoom="92000"/>
            <a:lightRig rig="balanced" dir="t">
              <a:rot lat="0" lon="0" rev="12700000"/>
            </a:lightRig>
          </a:scene3d>
        </p:grpSpPr>
        <p:sp>
          <p:nvSpPr>
            <p:cNvPr id="30" name="Rectangle: Top Corners Rounded 29">
              <a:extLst>
                <a:ext uri="{FF2B5EF4-FFF2-40B4-BE49-F238E27FC236}">
                  <a16:creationId xmlns:a16="http://schemas.microsoft.com/office/drawing/2014/main" id="{904F4B15-12BE-3F42-A53E-E636B3AEF2B2}"/>
                </a:ext>
              </a:extLst>
            </p:cNvPr>
            <p:cNvSpPr/>
            <p:nvPr/>
          </p:nvSpPr>
          <p:spPr>
            <a:xfrm rot="5400000">
              <a:off x="1639631" y="176550"/>
              <a:ext cx="2513186" cy="2482478"/>
            </a:xfrm>
            <a:prstGeom prst="round2SameRect">
              <a:avLst/>
            </a:prstGeom>
            <a:blipFill rotWithShape="0">
              <a:blip r:embed="rId15"/>
              <a:srcRect/>
              <a:stretch>
                <a:fillRect l="-41000" r="-41000"/>
              </a:stretch>
            </a:blipFill>
            <a:sp3d prstMaterial="plastic">
              <a:bevelT w="25400" h="25400"/>
              <a:bevelB w="25400" h="25400"/>
            </a:sp3d>
          </p:spPr>
          <p:style>
            <a:lnRef idx="1">
              <a:schemeClr val="accent1">
                <a:hueOff val="0"/>
                <a:satOff val="0"/>
                <a:lumOff val="0"/>
                <a:alphaOff val="0"/>
              </a:schemeClr>
            </a:lnRef>
            <a:fillRef idx="1">
              <a:scrgbClr r="0" g="0" b="0"/>
            </a:fillRef>
            <a:effectRef idx="2">
              <a:schemeClr val="lt1">
                <a:alpha val="90000"/>
                <a:hueOff val="0"/>
                <a:satOff val="0"/>
                <a:lumOff val="0"/>
                <a:alphaOff val="0"/>
              </a:schemeClr>
            </a:effectRef>
            <a:fontRef idx="minor">
              <a:schemeClr val="dk1">
                <a:hueOff val="0"/>
                <a:satOff val="0"/>
                <a:lumOff val="0"/>
                <a:alphaOff val="0"/>
              </a:schemeClr>
            </a:fontRef>
          </p:style>
          <p:txBody>
            <a:bodyPr/>
            <a:lstStyle/>
            <a:p>
              <a:endParaRPr lang="en-US"/>
            </a:p>
          </p:txBody>
        </p:sp>
      </p:grpSp>
      <p:grpSp>
        <p:nvGrpSpPr>
          <p:cNvPr id="33" name="Diagram group">
            <a:extLst>
              <a:ext uri="{FF2B5EF4-FFF2-40B4-BE49-F238E27FC236}">
                <a16:creationId xmlns:a16="http://schemas.microsoft.com/office/drawing/2014/main" id="{4B967B24-5A75-EFA5-B82B-BB2476ADA6DD}"/>
              </a:ext>
            </a:extLst>
          </p:cNvPr>
          <p:cNvGrpSpPr/>
          <p:nvPr/>
        </p:nvGrpSpPr>
        <p:grpSpPr>
          <a:xfrm>
            <a:off x="10689604" y="3366630"/>
            <a:ext cx="1307642" cy="1162943"/>
            <a:chOff x="1462875" y="71889"/>
            <a:chExt cx="2084001" cy="2846574"/>
          </a:xfrm>
          <a:scene3d>
            <a:camera prst="perspectiveRelaxedModerately" zoom="92000"/>
            <a:lightRig rig="balanced" dir="t">
              <a:rot lat="0" lon="0" rev="12700000"/>
            </a:lightRig>
          </a:scene3d>
        </p:grpSpPr>
        <p:sp>
          <p:nvSpPr>
            <p:cNvPr id="34" name="Rectangle: Top Corners Rounded 33">
              <a:extLst>
                <a:ext uri="{FF2B5EF4-FFF2-40B4-BE49-F238E27FC236}">
                  <a16:creationId xmlns:a16="http://schemas.microsoft.com/office/drawing/2014/main" id="{9A773E2D-BF7E-4AF8-D3E9-2274BB16CAC1}"/>
                </a:ext>
              </a:extLst>
            </p:cNvPr>
            <p:cNvSpPr/>
            <p:nvPr/>
          </p:nvSpPr>
          <p:spPr>
            <a:xfrm rot="5400000">
              <a:off x="1081589" y="453175"/>
              <a:ext cx="2846574" cy="2084001"/>
            </a:xfrm>
            <a:prstGeom prst="round2SameRect">
              <a:avLst/>
            </a:prstGeom>
            <a:blipFill rotWithShape="0">
              <a:blip r:embed="rId16"/>
              <a:srcRect/>
              <a:stretch>
                <a:fillRect l="-72000" r="-72000"/>
              </a:stretch>
            </a:blipFill>
            <a:sp3d prstMaterial="plastic">
              <a:bevelT w="25400" h="25400"/>
              <a:bevelB w="25400" h="25400"/>
            </a:sp3d>
          </p:spPr>
          <p:style>
            <a:lnRef idx="1">
              <a:schemeClr val="accent1">
                <a:hueOff val="0"/>
                <a:satOff val="0"/>
                <a:lumOff val="0"/>
                <a:alphaOff val="0"/>
              </a:schemeClr>
            </a:lnRef>
            <a:fillRef idx="1">
              <a:scrgbClr r="0" g="0" b="0"/>
            </a:fillRef>
            <a:effectRef idx="2">
              <a:schemeClr val="lt1">
                <a:alpha val="90000"/>
                <a:hueOff val="0"/>
                <a:satOff val="0"/>
                <a:lumOff val="0"/>
                <a:alphaOff val="0"/>
              </a:schemeClr>
            </a:effectRef>
            <a:fontRef idx="minor">
              <a:schemeClr val="dk1">
                <a:hueOff val="0"/>
                <a:satOff val="0"/>
                <a:lumOff val="0"/>
                <a:alphaOff val="0"/>
              </a:schemeClr>
            </a:fontRef>
          </p:style>
          <p:txBody>
            <a:bodyPr/>
            <a:lstStyle/>
            <a:p>
              <a:endParaRPr lang="en-US"/>
            </a:p>
          </p:txBody>
        </p:sp>
      </p:grpSp>
      <p:grpSp>
        <p:nvGrpSpPr>
          <p:cNvPr id="35" name="Diagram group">
            <a:extLst>
              <a:ext uri="{FF2B5EF4-FFF2-40B4-BE49-F238E27FC236}">
                <a16:creationId xmlns:a16="http://schemas.microsoft.com/office/drawing/2014/main" id="{9A643D29-BC99-05DD-5EB3-742823B0D271}"/>
              </a:ext>
            </a:extLst>
          </p:cNvPr>
          <p:cNvGrpSpPr/>
          <p:nvPr/>
        </p:nvGrpSpPr>
        <p:grpSpPr>
          <a:xfrm>
            <a:off x="9401283" y="2461434"/>
            <a:ext cx="1241374" cy="1188478"/>
            <a:chOff x="1462875" y="3146633"/>
            <a:chExt cx="2084001" cy="2846574"/>
          </a:xfrm>
          <a:scene3d>
            <a:camera prst="perspectiveRelaxedModerately" zoom="92000"/>
            <a:lightRig rig="balanced" dir="t">
              <a:rot lat="0" lon="0" rev="12700000"/>
            </a:lightRig>
          </a:scene3d>
        </p:grpSpPr>
        <p:sp>
          <p:nvSpPr>
            <p:cNvPr id="36" name="Rectangle: Top Corners Rounded 35">
              <a:extLst>
                <a:ext uri="{FF2B5EF4-FFF2-40B4-BE49-F238E27FC236}">
                  <a16:creationId xmlns:a16="http://schemas.microsoft.com/office/drawing/2014/main" id="{F0F000AE-1BF8-8332-4E6C-6145776A8873}"/>
                </a:ext>
              </a:extLst>
            </p:cNvPr>
            <p:cNvSpPr/>
            <p:nvPr/>
          </p:nvSpPr>
          <p:spPr>
            <a:xfrm rot="5400000">
              <a:off x="1081589" y="3527919"/>
              <a:ext cx="2846574" cy="2084001"/>
            </a:xfrm>
            <a:prstGeom prst="round2SameRect">
              <a:avLst/>
            </a:prstGeom>
            <a:blipFill rotWithShape="0">
              <a:blip r:embed="rId17"/>
              <a:srcRect/>
              <a:stretch>
                <a:fillRect l="-82000" r="-82000"/>
              </a:stretch>
            </a:blipFill>
            <a:sp3d prstMaterial="plastic">
              <a:bevelT w="25400" h="25400"/>
              <a:bevelB w="25400" h="25400"/>
            </a:sp3d>
          </p:spPr>
          <p:style>
            <a:lnRef idx="1">
              <a:schemeClr val="accent1">
                <a:hueOff val="0"/>
                <a:satOff val="0"/>
                <a:lumOff val="0"/>
                <a:alphaOff val="0"/>
              </a:schemeClr>
            </a:lnRef>
            <a:fillRef idx="1">
              <a:scrgbClr r="0" g="0" b="0"/>
            </a:fillRef>
            <a:effectRef idx="2">
              <a:schemeClr val="lt1">
                <a:alpha val="90000"/>
                <a:hueOff val="0"/>
                <a:satOff val="0"/>
                <a:lumOff val="0"/>
                <a:alphaOff val="0"/>
              </a:schemeClr>
            </a:effectRef>
            <a:fontRef idx="minor">
              <a:schemeClr val="dk1">
                <a:hueOff val="0"/>
                <a:satOff val="0"/>
                <a:lumOff val="0"/>
                <a:alphaOff val="0"/>
              </a:schemeClr>
            </a:fontRef>
          </p:style>
          <p:txBody>
            <a:bodyPr/>
            <a:lstStyle/>
            <a:p>
              <a:endParaRPr lang="en-US"/>
            </a:p>
          </p:txBody>
        </p:sp>
      </p:grpSp>
      <p:grpSp>
        <p:nvGrpSpPr>
          <p:cNvPr id="37" name="Diagram group">
            <a:extLst>
              <a:ext uri="{FF2B5EF4-FFF2-40B4-BE49-F238E27FC236}">
                <a16:creationId xmlns:a16="http://schemas.microsoft.com/office/drawing/2014/main" id="{CAE6C1A8-C5CE-BAD5-FDE1-D16FA585F92D}"/>
              </a:ext>
            </a:extLst>
          </p:cNvPr>
          <p:cNvGrpSpPr/>
          <p:nvPr/>
        </p:nvGrpSpPr>
        <p:grpSpPr>
          <a:xfrm>
            <a:off x="9404797" y="3822492"/>
            <a:ext cx="1166272" cy="1310970"/>
            <a:chOff x="1577455" y="3076450"/>
            <a:chExt cx="2366183" cy="2876084"/>
          </a:xfrm>
          <a:scene3d>
            <a:camera prst="perspectiveRelaxedModerately" zoom="92000"/>
            <a:lightRig rig="balanced" dir="t">
              <a:rot lat="0" lon="0" rev="12700000"/>
            </a:lightRig>
          </a:scene3d>
        </p:grpSpPr>
        <p:sp>
          <p:nvSpPr>
            <p:cNvPr id="38" name="Rectangle: Top Corners Rounded 37">
              <a:extLst>
                <a:ext uri="{FF2B5EF4-FFF2-40B4-BE49-F238E27FC236}">
                  <a16:creationId xmlns:a16="http://schemas.microsoft.com/office/drawing/2014/main" id="{C8CB8B90-A81B-0A94-AC51-D519B623EA42}"/>
                </a:ext>
              </a:extLst>
            </p:cNvPr>
            <p:cNvSpPr/>
            <p:nvPr/>
          </p:nvSpPr>
          <p:spPr>
            <a:xfrm rot="5400000">
              <a:off x="1322505" y="3331400"/>
              <a:ext cx="2876084" cy="2366183"/>
            </a:xfrm>
            <a:prstGeom prst="round2SameRect">
              <a:avLst/>
            </a:prstGeom>
            <a:blipFill rotWithShape="0">
              <a:blip r:embed="rId18"/>
              <a:srcRect/>
              <a:stretch>
                <a:fillRect l="-50000" r="-50000"/>
              </a:stretch>
            </a:blipFill>
            <a:sp3d prstMaterial="plastic">
              <a:bevelT w="25400" h="25400"/>
              <a:bevelB w="25400" h="25400"/>
            </a:sp3d>
          </p:spPr>
          <p:style>
            <a:lnRef idx="1">
              <a:schemeClr val="accent1">
                <a:hueOff val="0"/>
                <a:satOff val="0"/>
                <a:lumOff val="0"/>
                <a:alphaOff val="0"/>
              </a:schemeClr>
            </a:lnRef>
            <a:fillRef idx="1">
              <a:scrgbClr r="0" g="0" b="0"/>
            </a:fillRef>
            <a:effectRef idx="2">
              <a:schemeClr val="lt1">
                <a:alpha val="90000"/>
                <a:hueOff val="0"/>
                <a:satOff val="0"/>
                <a:lumOff val="0"/>
                <a:alphaOff val="0"/>
              </a:schemeClr>
            </a:effectRef>
            <a:fontRef idx="minor">
              <a:schemeClr val="dk1">
                <a:hueOff val="0"/>
                <a:satOff val="0"/>
                <a:lumOff val="0"/>
                <a:alphaOff val="0"/>
              </a:schemeClr>
            </a:fontRef>
          </p:style>
          <p:txBody>
            <a:bodyPr/>
            <a:lstStyle/>
            <a:p>
              <a:endParaRPr lang="en-US"/>
            </a:p>
          </p:txBody>
        </p:sp>
      </p:grpSp>
      <p:grpSp>
        <p:nvGrpSpPr>
          <p:cNvPr id="39" name="Diagram group">
            <a:extLst>
              <a:ext uri="{FF2B5EF4-FFF2-40B4-BE49-F238E27FC236}">
                <a16:creationId xmlns:a16="http://schemas.microsoft.com/office/drawing/2014/main" id="{F830FB00-7A8A-20F5-1AEC-4996048C2097}"/>
              </a:ext>
            </a:extLst>
          </p:cNvPr>
          <p:cNvGrpSpPr/>
          <p:nvPr/>
        </p:nvGrpSpPr>
        <p:grpSpPr>
          <a:xfrm>
            <a:off x="10787538" y="2124205"/>
            <a:ext cx="1156645" cy="1059956"/>
            <a:chOff x="1577455" y="46640"/>
            <a:chExt cx="2366183" cy="2876084"/>
          </a:xfrm>
          <a:scene3d>
            <a:camera prst="perspectiveRelaxedModerately" zoom="92000"/>
            <a:lightRig rig="balanced" dir="t">
              <a:rot lat="0" lon="0" rev="12700000"/>
            </a:lightRig>
          </a:scene3d>
        </p:grpSpPr>
        <p:sp>
          <p:nvSpPr>
            <p:cNvPr id="40" name="Rectangle: Top Corners Rounded 39">
              <a:extLst>
                <a:ext uri="{FF2B5EF4-FFF2-40B4-BE49-F238E27FC236}">
                  <a16:creationId xmlns:a16="http://schemas.microsoft.com/office/drawing/2014/main" id="{56676FEE-70B5-9B33-CDF2-0CCEBA1A3FA2}"/>
                </a:ext>
              </a:extLst>
            </p:cNvPr>
            <p:cNvSpPr/>
            <p:nvPr/>
          </p:nvSpPr>
          <p:spPr>
            <a:xfrm rot="5400000">
              <a:off x="1322505" y="301590"/>
              <a:ext cx="2876084" cy="2366183"/>
            </a:xfrm>
            <a:prstGeom prst="round2SameRect">
              <a:avLst/>
            </a:prstGeom>
            <a:blipFill rotWithShape="0">
              <a:blip r:embed="rId19"/>
              <a:srcRect/>
              <a:stretch>
                <a:fillRect t="-9000" b="-9000"/>
              </a:stretch>
            </a:blipFill>
            <a:sp3d prstMaterial="plastic">
              <a:bevelT w="25400" h="25400"/>
              <a:bevelB w="25400" h="25400"/>
            </a:sp3d>
          </p:spPr>
          <p:style>
            <a:lnRef idx="1">
              <a:schemeClr val="accent1">
                <a:hueOff val="0"/>
                <a:satOff val="0"/>
                <a:lumOff val="0"/>
                <a:alphaOff val="0"/>
              </a:schemeClr>
            </a:lnRef>
            <a:fillRef idx="1">
              <a:scrgbClr r="0" g="0" b="0"/>
            </a:fillRef>
            <a:effectRef idx="2">
              <a:schemeClr val="lt1">
                <a:alpha val="90000"/>
                <a:hueOff val="0"/>
                <a:satOff val="0"/>
                <a:lumOff val="0"/>
                <a:alphaOff val="0"/>
              </a:schemeClr>
            </a:effectRef>
            <a:fontRef idx="minor">
              <a:schemeClr val="dk1">
                <a:hueOff val="0"/>
                <a:satOff val="0"/>
                <a:lumOff val="0"/>
                <a:alphaOff val="0"/>
              </a:schemeClr>
            </a:fontRef>
          </p:style>
          <p:txBody>
            <a:bodyPr/>
            <a:lstStyle/>
            <a:p>
              <a:endParaRPr lang="en-US"/>
            </a:p>
          </p:txBody>
        </p:sp>
      </p:grpSp>
      <p:sp>
        <p:nvSpPr>
          <p:cNvPr id="42" name="TextBox 41">
            <a:extLst>
              <a:ext uri="{FF2B5EF4-FFF2-40B4-BE49-F238E27FC236}">
                <a16:creationId xmlns:a16="http://schemas.microsoft.com/office/drawing/2014/main" id="{58258F9D-DD33-BBF5-4C78-68C2583813AA}"/>
              </a:ext>
            </a:extLst>
          </p:cNvPr>
          <p:cNvSpPr txBox="1"/>
          <p:nvPr/>
        </p:nvSpPr>
        <p:spPr>
          <a:xfrm>
            <a:off x="202367" y="129292"/>
            <a:ext cx="11587397" cy="584775"/>
          </a:xfrm>
          <a:prstGeom prst="rect">
            <a:avLst/>
          </a:prstGeom>
          <a:noFill/>
        </p:spPr>
        <p:txBody>
          <a:bodyPr wrap="square">
            <a:spAutoFit/>
          </a:bodyPr>
          <a:lstStyle/>
          <a:p>
            <a:pPr algn="ctr"/>
            <a:r>
              <a:rPr lang="tr-TR" sz="3200"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Bulgular, Sonuçlar ve Kurumsal Öneriler</a:t>
            </a:r>
          </a:p>
        </p:txBody>
      </p:sp>
      <p:pic>
        <p:nvPicPr>
          <p:cNvPr id="44" name="Picture 43">
            <a:extLst>
              <a:ext uri="{FF2B5EF4-FFF2-40B4-BE49-F238E27FC236}">
                <a16:creationId xmlns:a16="http://schemas.microsoft.com/office/drawing/2014/main" id="{5F6F5388-D1D7-57C8-687D-D340872E64E7}"/>
              </a:ext>
            </a:extLst>
          </p:cNvPr>
          <p:cNvPicPr>
            <a:picLocks noChangeAspect="1"/>
          </p:cNvPicPr>
          <p:nvPr/>
        </p:nvPicPr>
        <p:blipFill>
          <a:blip r:embed="rId20"/>
          <a:stretch>
            <a:fillRect/>
          </a:stretch>
        </p:blipFill>
        <p:spPr>
          <a:xfrm>
            <a:off x="266231" y="944072"/>
            <a:ext cx="1224490" cy="1030298"/>
          </a:xfrm>
          <a:prstGeom prst="rect">
            <a:avLst/>
          </a:prstGeom>
        </p:spPr>
      </p:pic>
      <p:pic>
        <p:nvPicPr>
          <p:cNvPr id="46" name="Picture 45">
            <a:extLst>
              <a:ext uri="{FF2B5EF4-FFF2-40B4-BE49-F238E27FC236}">
                <a16:creationId xmlns:a16="http://schemas.microsoft.com/office/drawing/2014/main" id="{8B7E5949-14E5-1CED-1C06-4A621EB9724A}"/>
              </a:ext>
            </a:extLst>
          </p:cNvPr>
          <p:cNvPicPr>
            <a:picLocks noChangeAspect="1"/>
          </p:cNvPicPr>
          <p:nvPr/>
        </p:nvPicPr>
        <p:blipFill>
          <a:blip r:embed="rId21"/>
          <a:stretch>
            <a:fillRect/>
          </a:stretch>
        </p:blipFill>
        <p:spPr>
          <a:xfrm>
            <a:off x="10720938" y="5268888"/>
            <a:ext cx="1289845" cy="919054"/>
          </a:xfrm>
          <a:prstGeom prst="rect">
            <a:avLst/>
          </a:prstGeom>
        </p:spPr>
      </p:pic>
    </p:spTree>
    <p:extLst>
      <p:ext uri="{BB962C8B-B14F-4D97-AF65-F5344CB8AC3E}">
        <p14:creationId xmlns:p14="http://schemas.microsoft.com/office/powerpoint/2010/main" val="151705204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tr-TR" noProof="0" dirty="0"/>
          </a:p>
        </p:txBody>
      </p:sp>
      <p:pic>
        <p:nvPicPr>
          <p:cNvPr id="2" name="Picture 1">
            <a:extLst>
              <a:ext uri="{FF2B5EF4-FFF2-40B4-BE49-F238E27FC236}">
                <a16:creationId xmlns:a16="http://schemas.microsoft.com/office/drawing/2014/main" id="{E6134F51-4117-34C3-3D14-EE78480C914C}"/>
              </a:ext>
            </a:extLst>
          </p:cNvPr>
          <p:cNvPicPr>
            <a:picLocks noChangeAspect="1"/>
          </p:cNvPicPr>
          <p:nvPr/>
        </p:nvPicPr>
        <p:blipFill>
          <a:blip r:embed="rId2"/>
          <a:srcRect t="19"/>
          <a:stretch>
            <a:fillRect/>
          </a:stretch>
        </p:blipFill>
        <p:spPr>
          <a:xfrm>
            <a:off x="20" y="-8844"/>
            <a:ext cx="12191980" cy="6856718"/>
          </a:xfrm>
          <a:prstGeom prst="rect">
            <a:avLst/>
          </a:prstGeom>
        </p:spPr>
      </p:pic>
      <p:sp>
        <p:nvSpPr>
          <p:cNvPr id="3" name="Rectangle 2">
            <a:extLst>
              <a:ext uri="{FF2B5EF4-FFF2-40B4-BE49-F238E27FC236}">
                <a16:creationId xmlns:a16="http://schemas.microsoft.com/office/drawing/2014/main" id="{E9373AB1-20BA-BEE8-2726-F36F7BA3A92D}"/>
              </a:ext>
            </a:extLst>
          </p:cNvPr>
          <p:cNvSpPr/>
          <p:nvPr/>
        </p:nvSpPr>
        <p:spPr>
          <a:xfrm>
            <a:off x="5946760" y="2967335"/>
            <a:ext cx="298480" cy="584775"/>
          </a:xfrm>
          <a:prstGeom prst="rect">
            <a:avLst/>
          </a:prstGeom>
          <a:noFill/>
        </p:spPr>
        <p:txBody>
          <a:bodyPr wrap="none" lIns="91440" tIns="45720" rIns="91440" bIns="45720">
            <a:spAutoFit/>
          </a:bodyPr>
          <a:lstStyle/>
          <a:p>
            <a:pPr algn="ctr"/>
            <a:r>
              <a:rPr lang="tr-TR" sz="3200" b="0" cap="none" spc="0" noProof="0" dirty="0">
                <a:ln w="0"/>
                <a:solidFill>
                  <a:schemeClr val="tx1"/>
                </a:solidFill>
                <a:latin typeface="Arial" panose="020B0604020202020204" pitchFamily="34" charset="0"/>
                <a:cs typeface="Arial" panose="020B0604020202020204" pitchFamily="34" charset="0"/>
              </a:rPr>
              <a:t> </a:t>
            </a:r>
          </a:p>
        </p:txBody>
      </p:sp>
      <p:sp>
        <p:nvSpPr>
          <p:cNvPr id="27" name="TextBox 26">
            <a:extLst>
              <a:ext uri="{FF2B5EF4-FFF2-40B4-BE49-F238E27FC236}">
                <a16:creationId xmlns:a16="http://schemas.microsoft.com/office/drawing/2014/main" id="{17ABD93F-BCC2-A490-9EF0-67B7CDA707C4}"/>
              </a:ext>
            </a:extLst>
          </p:cNvPr>
          <p:cNvSpPr txBox="1"/>
          <p:nvPr/>
        </p:nvSpPr>
        <p:spPr>
          <a:xfrm>
            <a:off x="422969" y="1383268"/>
            <a:ext cx="11346062" cy="4616648"/>
          </a:xfrm>
          <a:prstGeom prst="rect">
            <a:avLst/>
          </a:prstGeom>
          <a:noFill/>
        </p:spPr>
        <p:txBody>
          <a:bodyPr wrap="square">
            <a:spAutoFit/>
          </a:bodyPr>
          <a:lstStyle/>
          <a:p>
            <a:pPr>
              <a:buNone/>
            </a:pPr>
            <a:r>
              <a:rPr lang="tr-TR" sz="1400" b="1" noProof="0" dirty="0">
                <a:latin typeface="Arial" panose="020B0604020202020204" pitchFamily="34" charset="0"/>
                <a:cs typeface="Arial" panose="020B0604020202020204" pitchFamily="34" charset="0"/>
              </a:rPr>
              <a:t>Resmî Raporlar ve Kurumsal Kaynaklar</a:t>
            </a:r>
            <a:endParaRPr lang="tr-TR" sz="1400" noProof="0" dirty="0">
              <a:latin typeface="Arial" panose="020B0604020202020204" pitchFamily="34" charset="0"/>
              <a:cs typeface="Arial" panose="020B0604020202020204" pitchFamily="34" charset="0"/>
            </a:endParaRPr>
          </a:p>
          <a:p>
            <a:pPr>
              <a:buFont typeface="Arial" panose="020B0604020202020204" pitchFamily="34" charset="0"/>
              <a:buChar char="•"/>
            </a:pPr>
            <a:r>
              <a:rPr lang="tr-TR" sz="1400" noProof="0" dirty="0">
                <a:latin typeface="Arial" panose="020B0604020202020204" pitchFamily="34" charset="0"/>
                <a:cs typeface="Arial" panose="020B0604020202020204" pitchFamily="34" charset="0"/>
              </a:rPr>
              <a:t>KVKK (2023). </a:t>
            </a:r>
            <a:r>
              <a:rPr lang="tr-TR" sz="1400" i="1" noProof="0" dirty="0">
                <a:latin typeface="Arial" panose="020B0604020202020204" pitchFamily="34" charset="0"/>
                <a:cs typeface="Arial" panose="020B0604020202020204" pitchFamily="34" charset="0"/>
              </a:rPr>
              <a:t>Yıllık Veri İhlali Raporu.</a:t>
            </a:r>
            <a:endParaRPr lang="tr-TR" sz="1400" noProof="0" dirty="0">
              <a:latin typeface="Arial" panose="020B0604020202020204" pitchFamily="34" charset="0"/>
              <a:cs typeface="Arial" panose="020B0604020202020204" pitchFamily="34" charset="0"/>
            </a:endParaRPr>
          </a:p>
          <a:p>
            <a:pPr>
              <a:buFont typeface="Arial" panose="020B0604020202020204" pitchFamily="34" charset="0"/>
              <a:buChar char="•"/>
            </a:pPr>
            <a:r>
              <a:rPr lang="tr-TR" sz="1400" noProof="0" dirty="0" err="1">
                <a:latin typeface="Arial" panose="020B0604020202020204" pitchFamily="34" charset="0"/>
                <a:cs typeface="Arial" panose="020B0604020202020204" pitchFamily="34" charset="0"/>
              </a:rPr>
              <a:t>Ponemon</a:t>
            </a:r>
            <a:r>
              <a:rPr lang="tr-TR" sz="1400" noProof="0" dirty="0">
                <a:latin typeface="Arial" panose="020B0604020202020204" pitchFamily="34" charset="0"/>
                <a:cs typeface="Arial" panose="020B0604020202020204" pitchFamily="34" charset="0"/>
              </a:rPr>
              <a:t> </a:t>
            </a:r>
            <a:r>
              <a:rPr lang="tr-TR" sz="1400" noProof="0" dirty="0" err="1">
                <a:latin typeface="Arial" panose="020B0604020202020204" pitchFamily="34" charset="0"/>
                <a:cs typeface="Arial" panose="020B0604020202020204" pitchFamily="34" charset="0"/>
              </a:rPr>
              <a:t>Institute</a:t>
            </a:r>
            <a:r>
              <a:rPr lang="tr-TR" sz="1400" noProof="0" dirty="0">
                <a:latin typeface="Arial" panose="020B0604020202020204" pitchFamily="34" charset="0"/>
                <a:cs typeface="Arial" panose="020B0604020202020204" pitchFamily="34" charset="0"/>
              </a:rPr>
              <a:t> (2024). </a:t>
            </a:r>
            <a:r>
              <a:rPr lang="tr-TR" sz="1400" i="1" noProof="0" dirty="0">
                <a:latin typeface="Arial" panose="020B0604020202020204" pitchFamily="34" charset="0"/>
                <a:cs typeface="Arial" panose="020B0604020202020204" pitchFamily="34" charset="0"/>
              </a:rPr>
              <a:t>Global Data </a:t>
            </a:r>
            <a:r>
              <a:rPr lang="tr-TR" sz="1400" i="1" noProof="0" dirty="0" err="1">
                <a:latin typeface="Arial" panose="020B0604020202020204" pitchFamily="34" charset="0"/>
                <a:cs typeface="Arial" panose="020B0604020202020204" pitchFamily="34" charset="0"/>
              </a:rPr>
              <a:t>Breach</a:t>
            </a:r>
            <a:r>
              <a:rPr lang="tr-TR" sz="1400" i="1" noProof="0" dirty="0">
                <a:latin typeface="Arial" panose="020B0604020202020204" pitchFamily="34" charset="0"/>
                <a:cs typeface="Arial" panose="020B0604020202020204" pitchFamily="34" charset="0"/>
              </a:rPr>
              <a:t> Report.</a:t>
            </a:r>
            <a:endParaRPr lang="tr-TR" sz="1400" noProof="0" dirty="0">
              <a:latin typeface="Arial" panose="020B0604020202020204" pitchFamily="34" charset="0"/>
              <a:cs typeface="Arial" panose="020B0604020202020204" pitchFamily="34" charset="0"/>
            </a:endParaRPr>
          </a:p>
          <a:p>
            <a:pPr>
              <a:buFont typeface="Arial" panose="020B0604020202020204" pitchFamily="34" charset="0"/>
              <a:buChar char="•"/>
            </a:pPr>
            <a:r>
              <a:rPr lang="tr-TR" sz="1400" noProof="0" dirty="0">
                <a:latin typeface="Arial" panose="020B0604020202020204" pitchFamily="34" charset="0"/>
                <a:cs typeface="Arial" panose="020B0604020202020204" pitchFamily="34" charset="0"/>
              </a:rPr>
              <a:t>Sağlık Bakanlığı (2016). </a:t>
            </a:r>
            <a:r>
              <a:rPr lang="tr-TR" sz="1400" i="1" noProof="0" dirty="0">
                <a:latin typeface="Arial" panose="020B0604020202020204" pitchFamily="34" charset="0"/>
                <a:cs typeface="Arial" panose="020B0604020202020204" pitchFamily="34" charset="0"/>
              </a:rPr>
              <a:t>Sağlık Bakanlığı Hastanelerine Yönelik Siber Saldırı Girişimine İlişkin Basın Açıklaması.</a:t>
            </a:r>
            <a:r>
              <a:rPr lang="tr-TR" sz="1400" noProof="0" dirty="0">
                <a:latin typeface="Arial" panose="020B0604020202020204" pitchFamily="34" charset="0"/>
                <a:cs typeface="Arial" panose="020B0604020202020204" pitchFamily="34" charset="0"/>
              </a:rPr>
              <a:t> Erişim: </a:t>
            </a:r>
            <a:r>
              <a:rPr lang="tr-TR" sz="1400" noProof="0" dirty="0">
                <a:solidFill>
                  <a:srgbClr val="0070C0"/>
                </a:solidFill>
                <a:latin typeface="Arial" panose="020B0604020202020204" pitchFamily="34" charset="0"/>
                <a:cs typeface="Arial" panose="020B0604020202020204" pitchFamily="34" charset="0"/>
                <a:hlinkClick r:id="rId3">
                  <a:extLst>
                    <a:ext uri="{A12FA001-AC4F-418D-AE19-62706E023703}">
                      <ahyp:hlinkClr xmlns:ahyp="http://schemas.microsoft.com/office/drawing/2018/hyperlinkcolor" val="tx"/>
                    </a:ext>
                  </a:extLst>
                </a:hlinkClick>
              </a:rPr>
              <a:t>https://www.saglik.gov.tr/TR-3501/saglik-bakanligi-hastanelerine-yonelik-siber-saldiri-girisimine-iliskin-basin-aciklamasi-18052016.html</a:t>
            </a:r>
            <a:endParaRPr lang="tr-TR" sz="1400" noProof="0" dirty="0">
              <a:solidFill>
                <a:srgbClr val="0070C0"/>
              </a:solidFill>
              <a:latin typeface="Arial" panose="020B0604020202020204" pitchFamily="34" charset="0"/>
              <a:cs typeface="Arial" panose="020B0604020202020204" pitchFamily="34" charset="0"/>
            </a:endParaRPr>
          </a:p>
          <a:p>
            <a:pPr>
              <a:buFont typeface="Arial" panose="020B0604020202020204" pitchFamily="34" charset="0"/>
              <a:buChar char="•"/>
            </a:pPr>
            <a:r>
              <a:rPr lang="tr-TR" sz="1400" noProof="0" dirty="0">
                <a:latin typeface="Arial" panose="020B0604020202020204" pitchFamily="34" charset="0"/>
                <a:cs typeface="Arial" panose="020B0604020202020204" pitchFamily="34" charset="0"/>
              </a:rPr>
              <a:t>KVKK (2021). </a:t>
            </a:r>
            <a:r>
              <a:rPr lang="tr-TR" sz="1400" i="1" noProof="0" dirty="0">
                <a:latin typeface="Arial" panose="020B0604020202020204" pitchFamily="34" charset="0"/>
                <a:cs typeface="Arial" panose="020B0604020202020204" pitchFamily="34" charset="0"/>
              </a:rPr>
              <a:t>Kamuoyu Duyurusu: Veri İhlali Bildirimi – Sağlık Bakanlığı Sistemi Saldırısı (2021-407).</a:t>
            </a:r>
            <a:endParaRPr lang="tr-TR" sz="1400" noProof="0" dirty="0">
              <a:latin typeface="Arial" panose="020B0604020202020204" pitchFamily="34" charset="0"/>
              <a:cs typeface="Arial" panose="020B0604020202020204" pitchFamily="34" charset="0"/>
            </a:endParaRPr>
          </a:p>
          <a:p>
            <a:pPr>
              <a:buFont typeface="Arial" panose="020B0604020202020204" pitchFamily="34" charset="0"/>
              <a:buChar char="•"/>
            </a:pPr>
            <a:r>
              <a:rPr lang="tr-TR" sz="1400" noProof="0" dirty="0">
                <a:latin typeface="Arial" panose="020B0604020202020204" pitchFamily="34" charset="0"/>
                <a:cs typeface="Arial" panose="020B0604020202020204" pitchFamily="34" charset="0"/>
              </a:rPr>
              <a:t>KVKK (2021). </a:t>
            </a:r>
            <a:r>
              <a:rPr lang="tr-TR" sz="1400" i="1" noProof="0" dirty="0">
                <a:latin typeface="Arial" panose="020B0604020202020204" pitchFamily="34" charset="0"/>
                <a:cs typeface="Arial" panose="020B0604020202020204" pitchFamily="34" charset="0"/>
              </a:rPr>
              <a:t>Kamuoyu Duyurusu: Veri İhlali Bildirimi – </a:t>
            </a:r>
            <a:r>
              <a:rPr lang="tr-TR" sz="1400" i="1" noProof="0" dirty="0" err="1">
                <a:latin typeface="Arial" panose="020B0604020202020204" pitchFamily="34" charset="0"/>
                <a:cs typeface="Arial" panose="020B0604020202020204" pitchFamily="34" charset="0"/>
              </a:rPr>
              <a:t>Gratis</a:t>
            </a:r>
            <a:r>
              <a:rPr lang="tr-TR" sz="1400" i="1" noProof="0" dirty="0">
                <a:latin typeface="Arial" panose="020B0604020202020204" pitchFamily="34" charset="0"/>
                <a:cs typeface="Arial" panose="020B0604020202020204" pitchFamily="34" charset="0"/>
              </a:rPr>
              <a:t> İç ve Dış Tic. A.Ş.</a:t>
            </a:r>
            <a:endParaRPr lang="tr-TR" sz="1400" noProof="0" dirty="0">
              <a:latin typeface="Arial" panose="020B0604020202020204" pitchFamily="34" charset="0"/>
              <a:cs typeface="Arial" panose="020B0604020202020204" pitchFamily="34" charset="0"/>
            </a:endParaRPr>
          </a:p>
          <a:p>
            <a:pPr>
              <a:buFont typeface="Arial" panose="020B0604020202020204" pitchFamily="34" charset="0"/>
              <a:buChar char="•"/>
            </a:pPr>
            <a:r>
              <a:rPr lang="tr-TR" sz="1400" noProof="0" dirty="0">
                <a:latin typeface="Arial" panose="020B0604020202020204" pitchFamily="34" charset="0"/>
                <a:cs typeface="Arial" panose="020B0604020202020204" pitchFamily="34" charset="0"/>
              </a:rPr>
              <a:t>KVKK (2025). </a:t>
            </a:r>
            <a:r>
              <a:rPr lang="tr-TR" sz="1400" i="1" noProof="0" dirty="0">
                <a:latin typeface="Arial" panose="020B0604020202020204" pitchFamily="34" charset="0"/>
                <a:cs typeface="Arial" panose="020B0604020202020204" pitchFamily="34" charset="0"/>
              </a:rPr>
              <a:t>Türk Tabipleri Birliği’ne Yönelik Siber Saldırı Duyurusu.</a:t>
            </a:r>
            <a:r>
              <a:rPr lang="tr-TR" sz="1400" noProof="0" dirty="0">
                <a:latin typeface="Arial" panose="020B0604020202020204" pitchFamily="34" charset="0"/>
                <a:cs typeface="Arial" panose="020B0604020202020204" pitchFamily="34" charset="0"/>
              </a:rPr>
              <a:t> Erişim: </a:t>
            </a:r>
            <a:r>
              <a:rPr lang="tr-TR" sz="1400" noProof="0" dirty="0">
                <a:solidFill>
                  <a:srgbClr val="0070C0"/>
                </a:solidFill>
                <a:latin typeface="Arial" panose="020B0604020202020204" pitchFamily="34" charset="0"/>
                <a:cs typeface="Arial" panose="020B0604020202020204" pitchFamily="34" charset="0"/>
                <a:hlinkClick r:id="rId4">
                  <a:extLst>
                    <a:ext uri="{A12FA001-AC4F-418D-AE19-62706E023703}">
                      <ahyp:hlinkClr xmlns:ahyp="http://schemas.microsoft.com/office/drawing/2018/hyperlinkcolor" val="tx"/>
                    </a:ext>
                  </a:extLst>
                </a:hlinkClick>
              </a:rPr>
              <a:t>https://www.cumhuriyet.com.tr/turkiye/kvkk-dan-turk-tabipleri-birligi-ne-yonelik-yapilan-siber-saldiriya-iliskin-duyuru-veri-ihlalinden-107-bin-kisi-etkilenmis-olabilir-2426658</a:t>
            </a:r>
            <a:endParaRPr lang="tr-TR" sz="1400" noProof="0" dirty="0">
              <a:solidFill>
                <a:srgbClr val="0070C0"/>
              </a:solidFill>
              <a:latin typeface="Arial" panose="020B0604020202020204" pitchFamily="34" charset="0"/>
              <a:cs typeface="Arial" panose="020B0604020202020204" pitchFamily="34" charset="0"/>
            </a:endParaRPr>
          </a:p>
          <a:p>
            <a:r>
              <a:rPr lang="tr-TR" sz="1400" b="1" noProof="0" dirty="0">
                <a:latin typeface="Arial" panose="020B0604020202020204" pitchFamily="34" charset="0"/>
                <a:cs typeface="Arial" panose="020B0604020202020204" pitchFamily="34" charset="0"/>
              </a:rPr>
              <a:t>Uluslararası Medya ve Güvenlik Platformları</a:t>
            </a:r>
            <a:endParaRPr lang="tr-TR" sz="1400" noProof="0" dirty="0">
              <a:latin typeface="Arial" panose="020B0604020202020204" pitchFamily="34" charset="0"/>
              <a:cs typeface="Arial" panose="020B0604020202020204" pitchFamily="34" charset="0"/>
            </a:endParaRPr>
          </a:p>
          <a:p>
            <a:r>
              <a:rPr lang="tr-TR" sz="1400" i="1" noProof="0" dirty="0">
                <a:latin typeface="Arial" panose="020B0604020202020204" pitchFamily="34" charset="0"/>
                <a:cs typeface="Arial" panose="020B0604020202020204" pitchFamily="34" charset="0"/>
              </a:rPr>
              <a:t>BBC </a:t>
            </a:r>
            <a:r>
              <a:rPr lang="tr-TR" sz="1400" i="1" noProof="0" dirty="0" err="1">
                <a:latin typeface="Arial" panose="020B0604020202020204" pitchFamily="34" charset="0"/>
                <a:cs typeface="Arial" panose="020B0604020202020204" pitchFamily="34" charset="0"/>
              </a:rPr>
              <a:t>Technology</a:t>
            </a:r>
            <a:r>
              <a:rPr lang="tr-TR" sz="1400" i="1" noProof="0" dirty="0">
                <a:latin typeface="Arial" panose="020B0604020202020204" pitchFamily="34" charset="0"/>
                <a:cs typeface="Arial" panose="020B0604020202020204" pitchFamily="34" charset="0"/>
              </a:rPr>
              <a:t>, </a:t>
            </a:r>
            <a:r>
              <a:rPr lang="tr-TR" sz="1400" i="1" noProof="0" dirty="0" err="1">
                <a:latin typeface="Arial" panose="020B0604020202020204" pitchFamily="34" charset="0"/>
                <a:cs typeface="Arial" panose="020B0604020202020204" pitchFamily="34" charset="0"/>
              </a:rPr>
              <a:t>Cybernews</a:t>
            </a:r>
            <a:r>
              <a:rPr lang="tr-TR" sz="1400" i="1" noProof="0" dirty="0">
                <a:latin typeface="Arial" panose="020B0604020202020204" pitchFamily="34" charset="0"/>
                <a:cs typeface="Arial" panose="020B0604020202020204" pitchFamily="34" charset="0"/>
              </a:rPr>
              <a:t>, DataBreaches.net.</a:t>
            </a:r>
            <a:r>
              <a:rPr lang="tr-TR" sz="1400" noProof="0" dirty="0">
                <a:latin typeface="Arial" panose="020B0604020202020204" pitchFamily="34" charset="0"/>
                <a:cs typeface="Arial" panose="020B0604020202020204" pitchFamily="34" charset="0"/>
              </a:rPr>
              <a:t> (2020–2025). </a:t>
            </a:r>
            <a:r>
              <a:rPr lang="tr-TR" sz="1400" i="1" noProof="0" dirty="0">
                <a:latin typeface="Arial" panose="020B0604020202020204" pitchFamily="34" charset="0"/>
                <a:cs typeface="Arial" panose="020B0604020202020204" pitchFamily="34" charset="0"/>
              </a:rPr>
              <a:t>Küresel veri ihlali haberleri.</a:t>
            </a:r>
            <a:endParaRPr lang="tr-TR" sz="1400" noProof="0" dirty="0">
              <a:latin typeface="Arial" panose="020B0604020202020204" pitchFamily="34" charset="0"/>
              <a:cs typeface="Arial" panose="020B0604020202020204" pitchFamily="34" charset="0"/>
            </a:endParaRPr>
          </a:p>
          <a:p>
            <a:r>
              <a:rPr lang="tr-TR" sz="1400" i="1" noProof="0" dirty="0" err="1">
                <a:latin typeface="Arial" panose="020B0604020202020204" pitchFamily="34" charset="0"/>
                <a:cs typeface="Arial" panose="020B0604020202020204" pitchFamily="34" charset="0"/>
              </a:rPr>
              <a:t>The</a:t>
            </a:r>
            <a:r>
              <a:rPr lang="tr-TR" sz="1400" i="1" noProof="0" dirty="0">
                <a:latin typeface="Arial" panose="020B0604020202020204" pitchFamily="34" charset="0"/>
                <a:cs typeface="Arial" panose="020B0604020202020204" pitchFamily="34" charset="0"/>
              </a:rPr>
              <a:t> </a:t>
            </a:r>
            <a:r>
              <a:rPr lang="tr-TR" sz="1400" i="1" noProof="0" dirty="0" err="1">
                <a:latin typeface="Arial" panose="020B0604020202020204" pitchFamily="34" charset="0"/>
                <a:cs typeface="Arial" panose="020B0604020202020204" pitchFamily="34" charset="0"/>
              </a:rPr>
              <a:t>Verge</a:t>
            </a:r>
            <a:r>
              <a:rPr lang="tr-TR" sz="1400" noProof="0" dirty="0">
                <a:latin typeface="Arial" panose="020B0604020202020204" pitchFamily="34" charset="0"/>
                <a:cs typeface="Arial" panose="020B0604020202020204" pitchFamily="34" charset="0"/>
              </a:rPr>
              <a:t> (2023). </a:t>
            </a:r>
            <a:r>
              <a:rPr lang="tr-TR" sz="1400" i="1" noProof="0" dirty="0" err="1">
                <a:latin typeface="Arial" panose="020B0604020202020204" pitchFamily="34" charset="0"/>
                <a:cs typeface="Arial" panose="020B0604020202020204" pitchFamily="34" charset="0"/>
              </a:rPr>
              <a:t>MOVEit</a:t>
            </a:r>
            <a:r>
              <a:rPr lang="tr-TR" sz="1400" i="1" noProof="0" dirty="0">
                <a:latin typeface="Arial" panose="020B0604020202020204" pitchFamily="34" charset="0"/>
                <a:cs typeface="Arial" panose="020B0604020202020204" pitchFamily="34" charset="0"/>
              </a:rPr>
              <a:t> Siber Saldırıları ve </a:t>
            </a:r>
            <a:r>
              <a:rPr lang="tr-TR" sz="1400" i="1" noProof="0" dirty="0" err="1">
                <a:latin typeface="Arial" panose="020B0604020202020204" pitchFamily="34" charset="0"/>
                <a:cs typeface="Arial" panose="020B0604020202020204" pitchFamily="34" charset="0"/>
              </a:rPr>
              <a:t>Clop</a:t>
            </a:r>
            <a:r>
              <a:rPr lang="tr-TR" sz="1400" i="1" noProof="0" dirty="0">
                <a:latin typeface="Arial" panose="020B0604020202020204" pitchFamily="34" charset="0"/>
                <a:cs typeface="Arial" panose="020B0604020202020204" pitchFamily="34" charset="0"/>
              </a:rPr>
              <a:t> Fidye Yazılımı Olayları.</a:t>
            </a:r>
            <a:br>
              <a:rPr lang="tr-TR" sz="1400" noProof="0" dirty="0">
                <a:latin typeface="Arial" panose="020B0604020202020204" pitchFamily="34" charset="0"/>
                <a:cs typeface="Arial" panose="020B0604020202020204" pitchFamily="34" charset="0"/>
              </a:rPr>
            </a:br>
            <a:r>
              <a:rPr lang="tr-TR" sz="1400" noProof="0" dirty="0">
                <a:solidFill>
                  <a:srgbClr val="0070C0"/>
                </a:solidFill>
                <a:latin typeface="Arial" panose="020B0604020202020204" pitchFamily="34" charset="0"/>
                <a:cs typeface="Arial" panose="020B0604020202020204" pitchFamily="34" charset="0"/>
                <a:hlinkClick r:id="rId5">
                  <a:extLst>
                    <a:ext uri="{A12FA001-AC4F-418D-AE19-62706E023703}">
                      <ahyp:hlinkClr xmlns:ahyp="http://schemas.microsoft.com/office/drawing/2018/hyperlinkcolor" val="tx"/>
                    </a:ext>
                  </a:extLst>
                </a:hlinkClick>
              </a:rPr>
              <a:t>https://www.theverge.com/23892245/moveit-cyberattacks-clop-ransomware-government-business</a:t>
            </a:r>
            <a:endParaRPr lang="tr-TR" sz="1400" noProof="0" dirty="0">
              <a:solidFill>
                <a:srgbClr val="0070C0"/>
              </a:solidFill>
              <a:latin typeface="Arial" panose="020B0604020202020204" pitchFamily="34" charset="0"/>
              <a:cs typeface="Arial" panose="020B0604020202020204" pitchFamily="34" charset="0"/>
            </a:endParaRPr>
          </a:p>
          <a:p>
            <a:r>
              <a:rPr lang="tr-TR" sz="1400" i="1" noProof="0" dirty="0" err="1">
                <a:latin typeface="Arial" panose="020B0604020202020204" pitchFamily="34" charset="0"/>
                <a:cs typeface="Arial" panose="020B0604020202020204" pitchFamily="34" charset="0"/>
              </a:rPr>
              <a:t>The</a:t>
            </a:r>
            <a:r>
              <a:rPr lang="tr-TR" sz="1400" i="1" noProof="0" dirty="0">
                <a:latin typeface="Arial" panose="020B0604020202020204" pitchFamily="34" charset="0"/>
                <a:cs typeface="Arial" panose="020B0604020202020204" pitchFamily="34" charset="0"/>
              </a:rPr>
              <a:t> Guardian</a:t>
            </a:r>
            <a:r>
              <a:rPr lang="tr-TR" sz="1400" noProof="0" dirty="0">
                <a:latin typeface="Arial" panose="020B0604020202020204" pitchFamily="34" charset="0"/>
                <a:cs typeface="Arial" panose="020B0604020202020204" pitchFamily="34" charset="0"/>
              </a:rPr>
              <a:t> (2025). </a:t>
            </a:r>
            <a:r>
              <a:rPr lang="tr-TR" sz="1400" i="1" noProof="0" dirty="0">
                <a:latin typeface="Arial" panose="020B0604020202020204" pitchFamily="34" charset="0"/>
                <a:cs typeface="Arial" panose="020B0604020202020204" pitchFamily="34" charset="0"/>
              </a:rPr>
              <a:t>Global 16 </a:t>
            </a:r>
            <a:r>
              <a:rPr lang="tr-TR" sz="1400" i="1" noProof="0" dirty="0" err="1">
                <a:latin typeface="Arial" panose="020B0604020202020204" pitchFamily="34" charset="0"/>
                <a:cs typeface="Arial" panose="020B0604020202020204" pitchFamily="34" charset="0"/>
              </a:rPr>
              <a:t>Billion</a:t>
            </a:r>
            <a:r>
              <a:rPr lang="tr-TR" sz="1400" i="1" noProof="0" dirty="0">
                <a:latin typeface="Arial" panose="020B0604020202020204" pitchFamily="34" charset="0"/>
                <a:cs typeface="Arial" panose="020B0604020202020204" pitchFamily="34" charset="0"/>
              </a:rPr>
              <a:t> </a:t>
            </a:r>
            <a:r>
              <a:rPr lang="tr-TR" sz="1400" i="1" noProof="0" dirty="0" err="1">
                <a:latin typeface="Arial" panose="020B0604020202020204" pitchFamily="34" charset="0"/>
                <a:cs typeface="Arial" panose="020B0604020202020204" pitchFamily="34" charset="0"/>
              </a:rPr>
              <a:t>Credentials</a:t>
            </a:r>
            <a:r>
              <a:rPr lang="tr-TR" sz="1400" i="1" noProof="0" dirty="0">
                <a:latin typeface="Arial" panose="020B0604020202020204" pitchFamily="34" charset="0"/>
                <a:cs typeface="Arial" panose="020B0604020202020204" pitchFamily="34" charset="0"/>
              </a:rPr>
              <a:t> </a:t>
            </a:r>
            <a:r>
              <a:rPr lang="tr-TR" sz="1400" i="1" noProof="0" dirty="0" err="1">
                <a:latin typeface="Arial" panose="020B0604020202020204" pitchFamily="34" charset="0"/>
                <a:cs typeface="Arial" panose="020B0604020202020204" pitchFamily="34" charset="0"/>
              </a:rPr>
              <a:t>Leak</a:t>
            </a:r>
            <a:r>
              <a:rPr lang="tr-TR" sz="1400" i="1" noProof="0" dirty="0">
                <a:latin typeface="Arial" panose="020B0604020202020204" pitchFamily="34" charset="0"/>
                <a:cs typeface="Arial" panose="020B0604020202020204" pitchFamily="34" charset="0"/>
              </a:rPr>
              <a:t> Olayı.</a:t>
            </a:r>
            <a:br>
              <a:rPr lang="tr-TR" sz="1400" noProof="0" dirty="0">
                <a:latin typeface="Arial" panose="020B0604020202020204" pitchFamily="34" charset="0"/>
                <a:cs typeface="Arial" panose="020B0604020202020204" pitchFamily="34" charset="0"/>
              </a:rPr>
            </a:br>
            <a:r>
              <a:rPr lang="tr-TR" sz="1400" noProof="0" dirty="0">
                <a:solidFill>
                  <a:srgbClr val="0070C0"/>
                </a:solidFill>
                <a:latin typeface="Arial" panose="020B0604020202020204" pitchFamily="34" charset="0"/>
                <a:cs typeface="Arial" panose="020B0604020202020204" pitchFamily="34" charset="0"/>
                <a:hlinkClick r:id="rId6">
                  <a:extLst>
                    <a:ext uri="{A12FA001-AC4F-418D-AE19-62706E023703}">
                      <ahyp:hlinkClr xmlns:ahyp="http://schemas.microsoft.com/office/drawing/2018/hyperlinkcolor" val="tx"/>
                    </a:ext>
                  </a:extLst>
                </a:hlinkClick>
              </a:rPr>
              <a:t>https://www.theguardian.com/technology/2025/jun/21/internet-users-advised-to-change-passwords-after-16bn-logins-exposed</a:t>
            </a:r>
            <a:endParaRPr lang="tr-TR" sz="1400" noProof="0" dirty="0">
              <a:solidFill>
                <a:srgbClr val="0070C0"/>
              </a:solidFill>
              <a:latin typeface="Arial" panose="020B0604020202020204" pitchFamily="34" charset="0"/>
              <a:cs typeface="Arial" panose="020B0604020202020204" pitchFamily="34" charset="0"/>
            </a:endParaRPr>
          </a:p>
          <a:p>
            <a:r>
              <a:rPr lang="tr-TR" sz="1400" i="1" noProof="0" dirty="0" err="1">
                <a:latin typeface="Arial" panose="020B0604020202020204" pitchFamily="34" charset="0"/>
                <a:cs typeface="Arial" panose="020B0604020202020204" pitchFamily="34" charset="0"/>
              </a:rPr>
              <a:t>The</a:t>
            </a:r>
            <a:r>
              <a:rPr lang="tr-TR" sz="1400" i="1" noProof="0" dirty="0">
                <a:latin typeface="Arial" panose="020B0604020202020204" pitchFamily="34" charset="0"/>
                <a:cs typeface="Arial" panose="020B0604020202020204" pitchFamily="34" charset="0"/>
              </a:rPr>
              <a:t> </a:t>
            </a:r>
            <a:r>
              <a:rPr lang="tr-TR" sz="1400" i="1" noProof="0" dirty="0" err="1">
                <a:latin typeface="Arial" panose="020B0604020202020204" pitchFamily="34" charset="0"/>
                <a:cs typeface="Arial" panose="020B0604020202020204" pitchFamily="34" charset="0"/>
              </a:rPr>
              <a:t>StrongDM</a:t>
            </a:r>
            <a:r>
              <a:rPr lang="tr-TR" sz="1400" i="1" noProof="0" dirty="0">
                <a:latin typeface="Arial" panose="020B0604020202020204" pitchFamily="34" charset="0"/>
                <a:cs typeface="Arial" panose="020B0604020202020204" pitchFamily="34" charset="0"/>
              </a:rPr>
              <a:t> Blog</a:t>
            </a:r>
            <a:r>
              <a:rPr lang="tr-TR" sz="1400" noProof="0" dirty="0">
                <a:latin typeface="Arial" panose="020B0604020202020204" pitchFamily="34" charset="0"/>
                <a:cs typeface="Arial" panose="020B0604020202020204" pitchFamily="34" charset="0"/>
              </a:rPr>
              <a:t> (2023). </a:t>
            </a:r>
            <a:r>
              <a:rPr lang="tr-TR" sz="1400" i="1" noProof="0" dirty="0">
                <a:latin typeface="Arial" panose="020B0604020202020204" pitchFamily="34" charset="0"/>
                <a:cs typeface="Arial" panose="020B0604020202020204" pitchFamily="34" charset="0"/>
              </a:rPr>
              <a:t>T-Mobile Veri İhlali Analizi.</a:t>
            </a:r>
            <a:br>
              <a:rPr lang="tr-TR" sz="1400" noProof="0" dirty="0">
                <a:latin typeface="Arial" panose="020B0604020202020204" pitchFamily="34" charset="0"/>
                <a:cs typeface="Arial" panose="020B0604020202020204" pitchFamily="34" charset="0"/>
              </a:rPr>
            </a:br>
            <a:r>
              <a:rPr lang="tr-TR" sz="1400" noProof="0" dirty="0">
                <a:solidFill>
                  <a:srgbClr val="0070C0"/>
                </a:solidFill>
                <a:latin typeface="Arial" panose="020B0604020202020204" pitchFamily="34" charset="0"/>
                <a:cs typeface="Arial" panose="020B0604020202020204" pitchFamily="34" charset="0"/>
                <a:hlinkClick r:id="rId7">
                  <a:extLst>
                    <a:ext uri="{A12FA001-AC4F-418D-AE19-62706E023703}">
                      <ahyp:hlinkClr xmlns:ahyp="http://schemas.microsoft.com/office/drawing/2018/hyperlinkcolor" val="tx"/>
                    </a:ext>
                  </a:extLst>
                </a:hlinkClick>
              </a:rPr>
              <a:t>https://www.strongdm.com/what-is/t-mobile-data-breach</a:t>
            </a:r>
            <a:endParaRPr lang="tr-TR" sz="1400" noProof="0" dirty="0">
              <a:solidFill>
                <a:srgbClr val="0070C0"/>
              </a:solidFill>
              <a:latin typeface="Arial" panose="020B0604020202020204" pitchFamily="34" charset="0"/>
              <a:cs typeface="Arial" panose="020B0604020202020204" pitchFamily="34" charset="0"/>
            </a:endParaRPr>
          </a:p>
          <a:p>
            <a:r>
              <a:rPr lang="tr-TR" sz="1400" i="1" noProof="0" dirty="0" err="1">
                <a:latin typeface="Arial" panose="020B0604020202020204" pitchFamily="34" charset="0"/>
                <a:cs typeface="Arial" panose="020B0604020202020204" pitchFamily="34" charset="0"/>
              </a:rPr>
              <a:t>Rescana</a:t>
            </a:r>
            <a:r>
              <a:rPr lang="tr-TR" sz="1400" noProof="0" dirty="0">
                <a:latin typeface="Arial" panose="020B0604020202020204" pitchFamily="34" charset="0"/>
                <a:cs typeface="Arial" panose="020B0604020202020204" pitchFamily="34" charset="0"/>
              </a:rPr>
              <a:t> (2024). </a:t>
            </a:r>
            <a:r>
              <a:rPr lang="tr-TR" sz="1400" i="1" noProof="0" dirty="0" err="1">
                <a:latin typeface="Arial" panose="020B0604020202020204" pitchFamily="34" charset="0"/>
                <a:cs typeface="Arial" panose="020B0604020202020204" pitchFamily="34" charset="0"/>
              </a:rPr>
              <a:t>Kadokawa</a:t>
            </a:r>
            <a:r>
              <a:rPr lang="tr-TR" sz="1400" i="1" noProof="0" dirty="0">
                <a:latin typeface="Arial" panose="020B0604020202020204" pitchFamily="34" charset="0"/>
                <a:cs typeface="Arial" panose="020B0604020202020204" pitchFamily="34" charset="0"/>
              </a:rPr>
              <a:t> Corporation ve </a:t>
            </a:r>
            <a:r>
              <a:rPr lang="tr-TR" sz="1400" i="1" noProof="0" dirty="0" err="1">
                <a:latin typeface="Arial" panose="020B0604020202020204" pitchFamily="34" charset="0"/>
                <a:cs typeface="Arial" panose="020B0604020202020204" pitchFamily="34" charset="0"/>
              </a:rPr>
              <a:t>Niconico</a:t>
            </a:r>
            <a:r>
              <a:rPr lang="tr-TR" sz="1400" i="1" noProof="0" dirty="0">
                <a:latin typeface="Arial" panose="020B0604020202020204" pitchFamily="34" charset="0"/>
                <a:cs typeface="Arial" panose="020B0604020202020204" pitchFamily="34" charset="0"/>
              </a:rPr>
              <a:t> Siber Saldırısı Raporu.</a:t>
            </a:r>
            <a:br>
              <a:rPr lang="tr-TR" sz="1400" noProof="0" dirty="0">
                <a:latin typeface="Arial" panose="020B0604020202020204" pitchFamily="34" charset="0"/>
                <a:cs typeface="Arial" panose="020B0604020202020204" pitchFamily="34" charset="0"/>
              </a:rPr>
            </a:br>
            <a:r>
              <a:rPr lang="tr-TR" sz="1400" noProof="0" dirty="0">
                <a:solidFill>
                  <a:srgbClr val="0070C0"/>
                </a:solidFill>
                <a:latin typeface="Arial" panose="020B0604020202020204" pitchFamily="34" charset="0"/>
                <a:cs typeface="Arial" panose="020B0604020202020204" pitchFamily="34" charset="0"/>
                <a:hlinkClick r:id="rId8">
                  <a:extLst>
                    <a:ext uri="{A12FA001-AC4F-418D-AE19-62706E023703}">
                      <ahyp:hlinkClr xmlns:ahyp="http://schemas.microsoft.com/office/drawing/2018/hyperlinkcolor" val="tx"/>
                    </a:ext>
                  </a:extLst>
                </a:hlinkClick>
              </a:rPr>
              <a:t>https://www.rescana.com/post/kadokawa-corporation-and-niconico-cyberattack-june-2024-ransomware-breach-and-system-vulnerabilities</a:t>
            </a:r>
            <a:endParaRPr lang="tr-TR" sz="1400" noProof="0" dirty="0">
              <a:solidFill>
                <a:srgbClr val="0070C0"/>
              </a:solidFill>
              <a:latin typeface="Arial" panose="020B0604020202020204" pitchFamily="34" charset="0"/>
              <a:cs typeface="Arial" panose="020B0604020202020204" pitchFamily="34" charset="0"/>
            </a:endParaRPr>
          </a:p>
          <a:p>
            <a:r>
              <a:rPr lang="tr-TR" sz="1400" i="1" noProof="0" dirty="0">
                <a:latin typeface="Arial" panose="020B0604020202020204" pitchFamily="34" charset="0"/>
                <a:cs typeface="Arial" panose="020B0604020202020204" pitchFamily="34" charset="0"/>
              </a:rPr>
              <a:t>Microsoft Security Blog.</a:t>
            </a:r>
            <a:r>
              <a:rPr lang="tr-TR" sz="1400" noProof="0" dirty="0">
                <a:latin typeface="Arial" panose="020B0604020202020204" pitchFamily="34" charset="0"/>
                <a:cs typeface="Arial" panose="020B0604020202020204" pitchFamily="34" charset="0"/>
              </a:rPr>
              <a:t> (2020). </a:t>
            </a:r>
            <a:r>
              <a:rPr lang="tr-TR" sz="1400" i="1" noProof="0" dirty="0" err="1">
                <a:latin typeface="Arial" panose="020B0604020202020204" pitchFamily="34" charset="0"/>
                <a:cs typeface="Arial" panose="020B0604020202020204" pitchFamily="34" charset="0"/>
              </a:rPr>
              <a:t>What</a:t>
            </a:r>
            <a:r>
              <a:rPr lang="tr-TR" sz="1400" i="1" noProof="0" dirty="0">
                <a:latin typeface="Arial" panose="020B0604020202020204" pitchFamily="34" charset="0"/>
                <a:cs typeface="Arial" panose="020B0604020202020204" pitchFamily="34" charset="0"/>
              </a:rPr>
              <a:t> is a Data </a:t>
            </a:r>
            <a:r>
              <a:rPr lang="tr-TR" sz="1400" i="1" noProof="0" dirty="0" err="1">
                <a:latin typeface="Arial" panose="020B0604020202020204" pitchFamily="34" charset="0"/>
                <a:cs typeface="Arial" panose="020B0604020202020204" pitchFamily="34" charset="0"/>
              </a:rPr>
              <a:t>Breach</a:t>
            </a:r>
            <a:r>
              <a:rPr lang="tr-TR" sz="1400" i="1" noProof="0" dirty="0">
                <a:latin typeface="Arial" panose="020B0604020202020204" pitchFamily="34" charset="0"/>
                <a:cs typeface="Arial" panose="020B0604020202020204" pitchFamily="34" charset="0"/>
              </a:rPr>
              <a:t>?</a:t>
            </a:r>
            <a:br>
              <a:rPr lang="tr-TR" sz="1400" noProof="0" dirty="0">
                <a:latin typeface="Arial" panose="020B0604020202020204" pitchFamily="34" charset="0"/>
                <a:cs typeface="Arial" panose="020B0604020202020204" pitchFamily="34" charset="0"/>
              </a:rPr>
            </a:br>
            <a:r>
              <a:rPr lang="tr-TR" sz="1400" noProof="0" dirty="0">
                <a:solidFill>
                  <a:srgbClr val="0070C0"/>
                </a:solidFill>
                <a:latin typeface="Arial" panose="020B0604020202020204" pitchFamily="34" charset="0"/>
                <a:cs typeface="Arial" panose="020B0604020202020204" pitchFamily="34" charset="0"/>
                <a:hlinkClick r:id="rId9">
                  <a:extLst>
                    <a:ext uri="{A12FA001-AC4F-418D-AE19-62706E023703}">
                      <ahyp:hlinkClr xmlns:ahyp="http://schemas.microsoft.com/office/drawing/2018/hyperlinkcolor" val="tx"/>
                    </a:ext>
                  </a:extLst>
                </a:hlinkClick>
              </a:rPr>
              <a:t>https://www.microsoft.com/tr-tr/security/business/security-101/what-is-a-data-breach</a:t>
            </a:r>
            <a:endParaRPr lang="tr-TR" sz="1400" noProof="0" dirty="0">
              <a:solidFill>
                <a:srgbClr val="0070C0"/>
              </a:solidFill>
              <a:latin typeface="Arial" panose="020B0604020202020204" pitchFamily="34" charset="0"/>
              <a:cs typeface="Arial" panose="020B0604020202020204" pitchFamily="34" charset="0"/>
            </a:endParaRPr>
          </a:p>
        </p:txBody>
      </p:sp>
      <p:sp>
        <p:nvSpPr>
          <p:cNvPr id="29" name="TextBox 28">
            <a:extLst>
              <a:ext uri="{FF2B5EF4-FFF2-40B4-BE49-F238E27FC236}">
                <a16:creationId xmlns:a16="http://schemas.microsoft.com/office/drawing/2014/main" id="{335A1FEE-73F9-F22A-1784-B589B107B71C}"/>
              </a:ext>
            </a:extLst>
          </p:cNvPr>
          <p:cNvSpPr txBox="1"/>
          <p:nvPr/>
        </p:nvSpPr>
        <p:spPr>
          <a:xfrm>
            <a:off x="264319" y="308252"/>
            <a:ext cx="11437144" cy="584775"/>
          </a:xfrm>
          <a:prstGeom prst="rect">
            <a:avLst/>
          </a:prstGeom>
          <a:noFill/>
        </p:spPr>
        <p:txBody>
          <a:bodyPr wrap="square">
            <a:spAutoFit/>
          </a:bodyPr>
          <a:lstStyle/>
          <a:p>
            <a:pPr algn="ctr"/>
            <a:r>
              <a:rPr lang="tr-TR" sz="3200" noProof="0"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Kaynakça</a:t>
            </a:r>
          </a:p>
        </p:txBody>
      </p:sp>
    </p:spTree>
    <p:extLst>
      <p:ext uri="{BB962C8B-B14F-4D97-AF65-F5344CB8AC3E}">
        <p14:creationId xmlns:p14="http://schemas.microsoft.com/office/powerpoint/2010/main" val="37958804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tr-TR" noProof="0" dirty="0"/>
          </a:p>
        </p:txBody>
      </p:sp>
      <p:pic>
        <p:nvPicPr>
          <p:cNvPr id="2" name="Picture 1">
            <a:extLst>
              <a:ext uri="{FF2B5EF4-FFF2-40B4-BE49-F238E27FC236}">
                <a16:creationId xmlns:a16="http://schemas.microsoft.com/office/drawing/2014/main" id="{31FF9A07-1B32-DC9D-D8FD-17DD039840C1}"/>
              </a:ext>
            </a:extLst>
          </p:cNvPr>
          <p:cNvPicPr>
            <a:picLocks noChangeAspect="1"/>
          </p:cNvPicPr>
          <p:nvPr/>
        </p:nvPicPr>
        <p:blipFill>
          <a:blip r:embed="rId2"/>
          <a:srcRect t="19"/>
          <a:stretch>
            <a:fillRect/>
          </a:stretch>
        </p:blipFill>
        <p:spPr>
          <a:xfrm>
            <a:off x="20" y="1282"/>
            <a:ext cx="12191980" cy="6856718"/>
          </a:xfrm>
          <a:prstGeom prst="rect">
            <a:avLst/>
          </a:prstGeom>
        </p:spPr>
      </p:pic>
      <p:sp>
        <p:nvSpPr>
          <p:cNvPr id="4" name="TextBox 3">
            <a:extLst>
              <a:ext uri="{FF2B5EF4-FFF2-40B4-BE49-F238E27FC236}">
                <a16:creationId xmlns:a16="http://schemas.microsoft.com/office/drawing/2014/main" id="{98A14227-7C05-2D5F-0495-E6158731EA92}"/>
              </a:ext>
            </a:extLst>
          </p:cNvPr>
          <p:cNvSpPr txBox="1"/>
          <p:nvPr/>
        </p:nvSpPr>
        <p:spPr>
          <a:xfrm>
            <a:off x="607218" y="819566"/>
            <a:ext cx="11172826" cy="2308324"/>
          </a:xfrm>
          <a:prstGeom prst="rect">
            <a:avLst/>
          </a:prstGeom>
          <a:noFill/>
        </p:spPr>
        <p:txBody>
          <a:bodyPr wrap="square">
            <a:spAutoFit/>
          </a:bodyPr>
          <a:lstStyle/>
          <a:p>
            <a:pPr>
              <a:buNone/>
            </a:pPr>
            <a:r>
              <a:rPr lang="tr-TR" sz="1400" b="1" noProof="0" dirty="0">
                <a:latin typeface="Arial" panose="020B0604020202020204" pitchFamily="34" charset="0"/>
                <a:cs typeface="Arial" panose="020B0604020202020204" pitchFamily="34" charset="0"/>
              </a:rPr>
              <a:t>Araştırma ve Literatür Kaynakları</a:t>
            </a:r>
            <a:endParaRPr lang="tr-TR" sz="1400" noProof="0" dirty="0">
              <a:latin typeface="Arial" panose="020B0604020202020204" pitchFamily="34" charset="0"/>
              <a:cs typeface="Arial" panose="020B0604020202020204" pitchFamily="34" charset="0"/>
            </a:endParaRPr>
          </a:p>
          <a:p>
            <a:pPr>
              <a:buFont typeface="Arial" panose="020B0604020202020204" pitchFamily="34" charset="0"/>
              <a:buChar char="•"/>
            </a:pPr>
            <a:r>
              <a:rPr lang="tr-TR" sz="1400" noProof="0" dirty="0" err="1">
                <a:latin typeface="Arial" panose="020B0604020202020204" pitchFamily="34" charset="0"/>
                <a:cs typeface="Arial" panose="020B0604020202020204" pitchFamily="34" charset="0"/>
              </a:rPr>
              <a:t>Barske</a:t>
            </a:r>
            <a:r>
              <a:rPr lang="tr-TR" sz="1400" noProof="0" dirty="0">
                <a:latin typeface="Arial" panose="020B0604020202020204" pitchFamily="34" charset="0"/>
                <a:cs typeface="Arial" panose="020B0604020202020204" pitchFamily="34" charset="0"/>
              </a:rPr>
              <a:t>, A. (2013–2014). </a:t>
            </a:r>
            <a:r>
              <a:rPr lang="tr-TR" sz="1400" i="1" noProof="0" dirty="0" err="1">
                <a:latin typeface="Arial" panose="020B0604020202020204" pitchFamily="34" charset="0"/>
                <a:cs typeface="Arial" panose="020B0604020202020204" pitchFamily="34" charset="0"/>
              </a:rPr>
              <a:t>Big</a:t>
            </a:r>
            <a:r>
              <a:rPr lang="tr-TR" sz="1400" i="1" noProof="0" dirty="0">
                <a:latin typeface="Arial" panose="020B0604020202020204" pitchFamily="34" charset="0"/>
                <a:cs typeface="Arial" panose="020B0604020202020204" pitchFamily="34" charset="0"/>
              </a:rPr>
              <a:t> Data Business Guide: Complete </a:t>
            </a:r>
            <a:r>
              <a:rPr lang="tr-TR" sz="1400" i="1" noProof="0" dirty="0" err="1">
                <a:latin typeface="Arial" panose="020B0604020202020204" pitchFamily="34" charset="0"/>
                <a:cs typeface="Arial" panose="020B0604020202020204" pitchFamily="34" charset="0"/>
              </a:rPr>
              <a:t>Overview</a:t>
            </a:r>
            <a:r>
              <a:rPr lang="tr-TR" sz="1400" i="1" noProof="0" dirty="0">
                <a:latin typeface="Arial" panose="020B0604020202020204" pitchFamily="34" charset="0"/>
                <a:cs typeface="Arial" panose="020B0604020202020204" pitchFamily="34" charset="0"/>
              </a:rPr>
              <a:t> </a:t>
            </a:r>
            <a:r>
              <a:rPr lang="tr-TR" sz="1400" i="1" noProof="0" dirty="0" err="1">
                <a:latin typeface="Arial" panose="020B0604020202020204" pitchFamily="34" charset="0"/>
                <a:cs typeface="Arial" panose="020B0604020202020204" pitchFamily="34" charset="0"/>
              </a:rPr>
              <a:t>for</a:t>
            </a:r>
            <a:r>
              <a:rPr lang="tr-TR" sz="1400" i="1" noProof="0" dirty="0">
                <a:latin typeface="Arial" panose="020B0604020202020204" pitchFamily="34" charset="0"/>
                <a:cs typeface="Arial" panose="020B0604020202020204" pitchFamily="34" charset="0"/>
              </a:rPr>
              <a:t> Enterprises, </a:t>
            </a:r>
            <a:r>
              <a:rPr lang="tr-TR" sz="1400" i="1" noProof="0" dirty="0" err="1">
                <a:latin typeface="Arial" panose="020B0604020202020204" pitchFamily="34" charset="0"/>
                <a:cs typeface="Arial" panose="020B0604020202020204" pitchFamily="34" charset="0"/>
              </a:rPr>
              <a:t>Example</a:t>
            </a:r>
            <a:r>
              <a:rPr lang="tr-TR" sz="1400" i="1" noProof="0" dirty="0">
                <a:latin typeface="Arial" panose="020B0604020202020204" pitchFamily="34" charset="0"/>
                <a:cs typeface="Arial" panose="020B0604020202020204" pitchFamily="34" charset="0"/>
              </a:rPr>
              <a:t> of </a:t>
            </a:r>
            <a:r>
              <a:rPr lang="tr-TR" sz="1400" i="1" noProof="0" dirty="0" err="1">
                <a:latin typeface="Arial" panose="020B0604020202020204" pitchFamily="34" charset="0"/>
                <a:cs typeface="Arial" panose="020B0604020202020204" pitchFamily="34" charset="0"/>
              </a:rPr>
              <a:t>Big</a:t>
            </a:r>
            <a:r>
              <a:rPr lang="tr-TR" sz="1400" i="1" noProof="0" dirty="0">
                <a:latin typeface="Arial" panose="020B0604020202020204" pitchFamily="34" charset="0"/>
                <a:cs typeface="Arial" panose="020B0604020202020204" pitchFamily="34" charset="0"/>
              </a:rPr>
              <a:t> Data </a:t>
            </a:r>
            <a:r>
              <a:rPr lang="tr-TR" sz="1400" i="1" noProof="0" dirty="0" err="1">
                <a:latin typeface="Arial" panose="020B0604020202020204" pitchFamily="34" charset="0"/>
                <a:cs typeface="Arial" panose="020B0604020202020204" pitchFamily="34" charset="0"/>
              </a:rPr>
              <a:t>Projects</a:t>
            </a:r>
            <a:r>
              <a:rPr lang="tr-TR" sz="1400" i="1" noProof="0" dirty="0">
                <a:latin typeface="Arial" panose="020B0604020202020204" pitchFamily="34" charset="0"/>
                <a:cs typeface="Arial" panose="020B0604020202020204" pitchFamily="34" charset="0"/>
              </a:rPr>
              <a:t>.</a:t>
            </a:r>
            <a:r>
              <a:rPr lang="tr-TR" sz="1400" noProof="0" dirty="0">
                <a:latin typeface="Arial" panose="020B0604020202020204" pitchFamily="34" charset="0"/>
                <a:cs typeface="Arial" panose="020B0604020202020204" pitchFamily="34" charset="0"/>
              </a:rPr>
              <a:t> Academia.edu.</a:t>
            </a:r>
            <a:br>
              <a:rPr lang="tr-TR" sz="1400" noProof="0" dirty="0">
                <a:latin typeface="Arial" panose="020B0604020202020204" pitchFamily="34" charset="0"/>
                <a:cs typeface="Arial" panose="020B0604020202020204" pitchFamily="34" charset="0"/>
              </a:rPr>
            </a:br>
            <a:r>
              <a:rPr lang="tr-TR" sz="1400" noProof="0" dirty="0">
                <a:solidFill>
                  <a:srgbClr val="0070C0"/>
                </a:solidFill>
                <a:latin typeface="Arial" panose="020B0604020202020204" pitchFamily="34" charset="0"/>
                <a:cs typeface="Arial" panose="020B0604020202020204" pitchFamily="34" charset="0"/>
                <a:hlinkClick r:id="rId3">
                  <a:extLst>
                    <a:ext uri="{A12FA001-AC4F-418D-AE19-62706E023703}">
                      <ahyp:hlinkClr xmlns:ahyp="http://schemas.microsoft.com/office/drawing/2018/hyperlinkcolor" val="tx"/>
                    </a:ext>
                  </a:extLst>
                </a:hlinkClick>
              </a:rPr>
              <a:t>https://www.academia.edu/6520364/Big_Data_Business_Guide_Complete_Big_Data_Overview_for_Enterprises_Example_of_Big_data_Projects</a:t>
            </a:r>
            <a:endParaRPr lang="tr-TR" sz="1400" noProof="0" dirty="0">
              <a:solidFill>
                <a:srgbClr val="0070C0"/>
              </a:solidFill>
              <a:latin typeface="Arial" panose="020B0604020202020204" pitchFamily="34" charset="0"/>
              <a:cs typeface="Arial" panose="020B0604020202020204" pitchFamily="34" charset="0"/>
            </a:endParaRPr>
          </a:p>
          <a:p>
            <a:pPr>
              <a:buFont typeface="Arial" panose="020B0604020202020204" pitchFamily="34" charset="0"/>
              <a:buChar char="•"/>
            </a:pPr>
            <a:r>
              <a:rPr lang="tr-TR" sz="1400" i="1" noProof="0" dirty="0">
                <a:latin typeface="Arial" panose="020B0604020202020204" pitchFamily="34" charset="0"/>
                <a:cs typeface="Arial" panose="020B0604020202020204" pitchFamily="34" charset="0"/>
              </a:rPr>
              <a:t>Wikipedia</a:t>
            </a:r>
            <a:r>
              <a:rPr lang="tr-TR" sz="1400" noProof="0" dirty="0">
                <a:latin typeface="Arial" panose="020B0604020202020204" pitchFamily="34" charset="0"/>
                <a:cs typeface="Arial" panose="020B0604020202020204" pitchFamily="34" charset="0"/>
              </a:rPr>
              <a:t> (2023). </a:t>
            </a:r>
            <a:r>
              <a:rPr lang="tr-TR" sz="1400" i="1" noProof="0" dirty="0">
                <a:latin typeface="Arial" panose="020B0604020202020204" pitchFamily="34" charset="0"/>
                <a:cs typeface="Arial" panose="020B0604020202020204" pitchFamily="34" charset="0"/>
              </a:rPr>
              <a:t>Büyük Veri.</a:t>
            </a:r>
            <a:br>
              <a:rPr lang="tr-TR" sz="1400" noProof="0" dirty="0">
                <a:latin typeface="Arial" panose="020B0604020202020204" pitchFamily="34" charset="0"/>
                <a:cs typeface="Arial" panose="020B0604020202020204" pitchFamily="34" charset="0"/>
              </a:rPr>
            </a:br>
            <a:r>
              <a:rPr lang="tr-TR" sz="1400" noProof="0" dirty="0">
                <a:solidFill>
                  <a:srgbClr val="0070C0"/>
                </a:solidFill>
                <a:latin typeface="Arial" panose="020B0604020202020204" pitchFamily="34" charset="0"/>
                <a:cs typeface="Arial" panose="020B0604020202020204" pitchFamily="34" charset="0"/>
                <a:hlinkClick r:id="rId4">
                  <a:extLst>
                    <a:ext uri="{A12FA001-AC4F-418D-AE19-62706E023703}">
                      <ahyp:hlinkClr xmlns:ahyp="http://schemas.microsoft.com/office/drawing/2018/hyperlinkcolor" val="tx"/>
                    </a:ext>
                  </a:extLst>
                </a:hlinkClick>
              </a:rPr>
              <a:t>https://tr.wikipedia.org/wiki/B%C3%BCy%C3%BCk_veri</a:t>
            </a:r>
            <a:endParaRPr lang="tr-TR" sz="1400" noProof="0" dirty="0">
              <a:solidFill>
                <a:srgbClr val="0070C0"/>
              </a:solidFill>
              <a:latin typeface="Arial" panose="020B0604020202020204" pitchFamily="34" charset="0"/>
              <a:cs typeface="Arial" panose="020B0604020202020204" pitchFamily="34" charset="0"/>
            </a:endParaRPr>
          </a:p>
          <a:p>
            <a:pPr>
              <a:buFont typeface="Arial" panose="020B0604020202020204" pitchFamily="34" charset="0"/>
              <a:buChar char="•"/>
            </a:pPr>
            <a:r>
              <a:rPr lang="tr-TR" sz="1400" i="1" noProof="0" dirty="0">
                <a:latin typeface="Arial" panose="020B0604020202020204" pitchFamily="34" charset="0"/>
                <a:cs typeface="Arial" panose="020B0604020202020204" pitchFamily="34" charset="0"/>
              </a:rPr>
              <a:t>AA Teknoloji</a:t>
            </a:r>
            <a:r>
              <a:rPr lang="tr-TR" sz="1400" noProof="0" dirty="0">
                <a:latin typeface="Arial" panose="020B0604020202020204" pitchFamily="34" charset="0"/>
                <a:cs typeface="Arial" panose="020B0604020202020204" pitchFamily="34" charset="0"/>
              </a:rPr>
              <a:t> (2022). </a:t>
            </a:r>
            <a:r>
              <a:rPr lang="tr-TR" sz="1400" i="1" noProof="0" dirty="0" err="1">
                <a:latin typeface="Arial" panose="020B0604020202020204" pitchFamily="34" charset="0"/>
                <a:cs typeface="Arial" panose="020B0604020202020204" pitchFamily="34" charset="0"/>
              </a:rPr>
              <a:t>KVKK’dan</a:t>
            </a:r>
            <a:r>
              <a:rPr lang="tr-TR" sz="1400" i="1" noProof="0" dirty="0">
                <a:latin typeface="Arial" panose="020B0604020202020204" pitchFamily="34" charset="0"/>
                <a:cs typeface="Arial" panose="020B0604020202020204" pitchFamily="34" charset="0"/>
              </a:rPr>
              <a:t> </a:t>
            </a:r>
            <a:r>
              <a:rPr lang="tr-TR" sz="1400" i="1" noProof="0" dirty="0" err="1">
                <a:latin typeface="Arial" panose="020B0604020202020204" pitchFamily="34" charset="0"/>
                <a:cs typeface="Arial" panose="020B0604020202020204" pitchFamily="34" charset="0"/>
              </a:rPr>
              <a:t>Twitch’e</a:t>
            </a:r>
            <a:r>
              <a:rPr lang="tr-TR" sz="1400" i="1" noProof="0" dirty="0">
                <a:latin typeface="Arial" panose="020B0604020202020204" pitchFamily="34" charset="0"/>
                <a:cs typeface="Arial" panose="020B0604020202020204" pitchFamily="34" charset="0"/>
              </a:rPr>
              <a:t> 2 Milyon Lira Ceza.</a:t>
            </a:r>
            <a:br>
              <a:rPr lang="tr-TR" sz="1400" noProof="0" dirty="0">
                <a:latin typeface="Arial" panose="020B0604020202020204" pitchFamily="34" charset="0"/>
                <a:cs typeface="Arial" panose="020B0604020202020204" pitchFamily="34" charset="0"/>
              </a:rPr>
            </a:br>
            <a:r>
              <a:rPr lang="tr-TR" sz="1400" noProof="0" dirty="0">
                <a:solidFill>
                  <a:srgbClr val="0070C0"/>
                </a:solidFill>
                <a:latin typeface="Arial" panose="020B0604020202020204" pitchFamily="34" charset="0"/>
                <a:cs typeface="Arial" panose="020B0604020202020204" pitchFamily="34" charset="0"/>
                <a:hlinkClick r:id="rId5">
                  <a:extLst>
                    <a:ext uri="{A12FA001-AC4F-418D-AE19-62706E023703}">
                      <ahyp:hlinkClr xmlns:ahyp="http://schemas.microsoft.com/office/drawing/2018/hyperlinkcolor" val="tx"/>
                    </a:ext>
                  </a:extLst>
                </a:hlinkClick>
              </a:rPr>
              <a:t>https://www.aa.com.tr/tr/bilim-teknoloji/kvkkden-sosyal-medya-platformu-twitche-veri-sizintisi-nedeniyle-2-milyon-lira-ceza/3395339</a:t>
            </a:r>
            <a:endParaRPr lang="tr-TR" sz="1400" noProof="0" dirty="0">
              <a:solidFill>
                <a:srgbClr val="0070C0"/>
              </a:solidFill>
              <a:latin typeface="Arial" panose="020B0604020202020204" pitchFamily="34" charset="0"/>
              <a:cs typeface="Arial" panose="020B0604020202020204" pitchFamily="34" charset="0"/>
            </a:endParaRPr>
          </a:p>
          <a:p>
            <a:pPr>
              <a:buFont typeface="Arial" panose="020B0604020202020204" pitchFamily="34" charset="0"/>
              <a:buChar char="•"/>
            </a:pPr>
            <a:r>
              <a:rPr lang="tr-TR" sz="1400" i="1" noProof="0" dirty="0">
                <a:latin typeface="Arial" panose="020B0604020202020204" pitchFamily="34" charset="0"/>
                <a:cs typeface="Arial" panose="020B0604020202020204" pitchFamily="34" charset="0"/>
              </a:rPr>
              <a:t>Google Arama Sonuçları</a:t>
            </a:r>
            <a:r>
              <a:rPr lang="tr-TR" sz="1400" noProof="0" dirty="0">
                <a:latin typeface="Arial" panose="020B0604020202020204" pitchFamily="34" charset="0"/>
                <a:cs typeface="Arial" panose="020B0604020202020204" pitchFamily="34" charset="0"/>
              </a:rPr>
              <a:t> (2024). </a:t>
            </a:r>
            <a:r>
              <a:rPr lang="tr-TR" sz="1400" i="1" noProof="0" dirty="0" err="1">
                <a:latin typeface="Arial" panose="020B0604020202020204" pitchFamily="34" charset="0"/>
                <a:cs typeface="Arial" panose="020B0604020202020204" pitchFamily="34" charset="0"/>
              </a:rPr>
              <a:t>Santander</a:t>
            </a:r>
            <a:r>
              <a:rPr lang="tr-TR" sz="1400" i="1" noProof="0" dirty="0">
                <a:latin typeface="Arial" panose="020B0604020202020204" pitchFamily="34" charset="0"/>
                <a:cs typeface="Arial" panose="020B0604020202020204" pitchFamily="34" charset="0"/>
              </a:rPr>
              <a:t> Bank </a:t>
            </a:r>
            <a:r>
              <a:rPr lang="tr-TR" sz="1400" i="1" noProof="0" dirty="0" err="1">
                <a:latin typeface="Arial" panose="020B0604020202020204" pitchFamily="34" charset="0"/>
                <a:cs typeface="Arial" panose="020B0604020202020204" pitchFamily="34" charset="0"/>
              </a:rPr>
              <a:t>Leak</a:t>
            </a:r>
            <a:r>
              <a:rPr lang="tr-TR" sz="1400" i="1" noProof="0" dirty="0">
                <a:latin typeface="Arial" panose="020B0604020202020204" pitchFamily="34" charset="0"/>
                <a:cs typeface="Arial" panose="020B0604020202020204" pitchFamily="34" charset="0"/>
              </a:rPr>
              <a:t> – İspanya Veri İhlali.</a:t>
            </a:r>
          </a:p>
          <a:p>
            <a:pPr>
              <a:buFont typeface="Arial" panose="020B0604020202020204" pitchFamily="34" charset="0"/>
              <a:buChar char="•"/>
            </a:pPr>
            <a:endParaRPr lang="tr-TR" noProof="0" dirty="0"/>
          </a:p>
        </p:txBody>
      </p:sp>
    </p:spTree>
    <p:extLst>
      <p:ext uri="{BB962C8B-B14F-4D97-AF65-F5344CB8AC3E}">
        <p14:creationId xmlns:p14="http://schemas.microsoft.com/office/powerpoint/2010/main" val="234456956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522E66D-9B5D-61EB-6B77-506664071002}"/>
            </a:ext>
          </a:extLst>
        </p:cNvPr>
        <p:cNvGrpSpPr/>
        <p:nvPr/>
      </p:nvGrpSpPr>
      <p:grpSpPr>
        <a:xfrm>
          <a:off x="0" y="0"/>
          <a:ext cx="0" cy="0"/>
          <a:chOff x="0" y="0"/>
          <a:chExt cx="0" cy="0"/>
        </a:xfrm>
      </p:grpSpPr>
      <p:sp>
        <p:nvSpPr>
          <p:cNvPr id="91" name="Rectangle 90">
            <a:extLst>
              <a:ext uri="{FF2B5EF4-FFF2-40B4-BE49-F238E27FC236}">
                <a16:creationId xmlns:a16="http://schemas.microsoft.com/office/drawing/2014/main" id="{5A0118C5-4F8D-4CF4-BADD-53FEACC6C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3" name="Picture 12" descr="A blue background with many dots&#10;&#10;AI-generated content may be incorrect.">
            <a:extLst>
              <a:ext uri="{FF2B5EF4-FFF2-40B4-BE49-F238E27FC236}">
                <a16:creationId xmlns:a16="http://schemas.microsoft.com/office/drawing/2014/main" id="{616A68E0-DC67-94E3-3108-397173BD340E}"/>
              </a:ext>
            </a:extLst>
          </p:cNvPr>
          <p:cNvPicPr>
            <a:picLocks noChangeAspect="1"/>
          </p:cNvPicPr>
          <p:nvPr/>
        </p:nvPicPr>
        <p:blipFill>
          <a:blip r:embed="rId3">
            <a:extLst>
              <a:ext uri="{28A0092B-C50C-407E-A947-70E740481C1C}">
                <a14:useLocalDpi xmlns:a14="http://schemas.microsoft.com/office/drawing/2010/main" val="0"/>
              </a:ext>
            </a:extLst>
          </a:blip>
          <a:srcRect l="1150" r="7691" b="3"/>
          <a:stretch>
            <a:fillRect/>
          </a:stretch>
        </p:blipFill>
        <p:spPr>
          <a:xfrm>
            <a:off x="2807946" y="171023"/>
            <a:ext cx="6050885" cy="6050885"/>
          </a:xfrm>
          <a:custGeom>
            <a:avLst/>
            <a:gdLst/>
            <a:ahLst/>
            <a:cxnLst/>
            <a:rect l="l" t="t" r="r" b="b"/>
            <a:pathLst>
              <a:path w="2388070" h="2388070">
                <a:moveTo>
                  <a:pt x="1194035" y="0"/>
                </a:moveTo>
                <a:cubicBezTo>
                  <a:pt x="1853482" y="0"/>
                  <a:pt x="2388070" y="534588"/>
                  <a:pt x="2388070" y="1194035"/>
                </a:cubicBezTo>
                <a:cubicBezTo>
                  <a:pt x="2388070" y="1853482"/>
                  <a:pt x="1853482" y="2388070"/>
                  <a:pt x="1194035" y="2388070"/>
                </a:cubicBezTo>
                <a:cubicBezTo>
                  <a:pt x="534588" y="2388070"/>
                  <a:pt x="0" y="1853482"/>
                  <a:pt x="0" y="1194035"/>
                </a:cubicBezTo>
                <a:cubicBezTo>
                  <a:pt x="0" y="534588"/>
                  <a:pt x="534588" y="0"/>
                  <a:pt x="1194035" y="0"/>
                </a:cubicBezTo>
                <a:close/>
              </a:path>
            </a:pathLst>
          </a:custGeom>
          <a:ln w="28575">
            <a:noFill/>
          </a:ln>
        </p:spPr>
      </p:pic>
      <p:grpSp>
        <p:nvGrpSpPr>
          <p:cNvPr id="92" name="Group 91">
            <a:extLst>
              <a:ext uri="{FF2B5EF4-FFF2-40B4-BE49-F238E27FC236}">
                <a16:creationId xmlns:a16="http://schemas.microsoft.com/office/drawing/2014/main" id="{B894EFA8-F425-4D19-A94B-445388B31E2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377893"/>
            <a:ext cx="1861854" cy="717514"/>
            <a:chOff x="0" y="377893"/>
            <a:chExt cx="1861854" cy="717514"/>
          </a:xfrm>
          <a:solidFill>
            <a:schemeClr val="bg1"/>
          </a:solidFill>
        </p:grpSpPr>
        <p:sp>
          <p:nvSpPr>
            <p:cNvPr id="82" name="Freeform: Shape 81">
              <a:extLst>
                <a:ext uri="{FF2B5EF4-FFF2-40B4-BE49-F238E27FC236}">
                  <a16:creationId xmlns:a16="http://schemas.microsoft.com/office/drawing/2014/main" id="{C5A741B9-65EC-4C5B-9FE0-4A18575771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77893"/>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7963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283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7963"/>
                  </a:lnTo>
                  <a:lnTo>
                    <a:pt x="1613277" y="39017"/>
                  </a:lnTo>
                  <a:lnTo>
                    <a:pt x="1374516" y="277779"/>
                  </a:lnTo>
                  <a:lnTo>
                    <a:pt x="1135754" y="39017"/>
                  </a:lnTo>
                  <a:lnTo>
                    <a:pt x="896745" y="277779"/>
                  </a:lnTo>
                  <a:lnTo>
                    <a:pt x="657984" y="39017"/>
                  </a:lnTo>
                  <a:lnTo>
                    <a:pt x="419222" y="277779"/>
                  </a:lnTo>
                  <a:lnTo>
                    <a:pt x="180458" y="39017"/>
                  </a:lnTo>
                  <a:lnTo>
                    <a:pt x="0" y="219283"/>
                  </a:lnTo>
                  <a:lnTo>
                    <a:pt x="0" y="180458"/>
                  </a:lnTo>
                  <a:close/>
                </a:path>
              </a:pathLst>
            </a:custGeom>
            <a:grpFill/>
            <a:ln w="9525" cap="flat">
              <a:noFill/>
              <a:prstDash val="solid"/>
              <a:miter/>
            </a:ln>
          </p:spPr>
          <p:txBody>
            <a:bodyPr wrap="square" rtlCol="0" anchor="ctr">
              <a:noAutofit/>
            </a:bodyPr>
            <a:lstStyle/>
            <a:p>
              <a:endParaRPr lang="en-US"/>
            </a:p>
          </p:txBody>
        </p:sp>
        <p:sp>
          <p:nvSpPr>
            <p:cNvPr id="93" name="Freeform: Shape 92">
              <a:extLst>
                <a:ext uri="{FF2B5EF4-FFF2-40B4-BE49-F238E27FC236}">
                  <a16:creationId xmlns:a16="http://schemas.microsoft.com/office/drawing/2014/main" id="{C0BB4301-41FA-4453-956F-A11CC664B6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17628"/>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8208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475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8208"/>
                  </a:lnTo>
                  <a:lnTo>
                    <a:pt x="1613277" y="39017"/>
                  </a:lnTo>
                  <a:lnTo>
                    <a:pt x="1374516" y="277779"/>
                  </a:lnTo>
                  <a:lnTo>
                    <a:pt x="1135754" y="39017"/>
                  </a:lnTo>
                  <a:lnTo>
                    <a:pt x="896745" y="277779"/>
                  </a:lnTo>
                  <a:lnTo>
                    <a:pt x="657984" y="39017"/>
                  </a:lnTo>
                  <a:lnTo>
                    <a:pt x="419222" y="277779"/>
                  </a:lnTo>
                  <a:lnTo>
                    <a:pt x="180458" y="39017"/>
                  </a:lnTo>
                  <a:lnTo>
                    <a:pt x="0" y="219475"/>
                  </a:lnTo>
                  <a:lnTo>
                    <a:pt x="0" y="180458"/>
                  </a:lnTo>
                  <a:close/>
                </a:path>
              </a:pathLst>
            </a:custGeom>
            <a:grpFill/>
            <a:ln w="9525" cap="flat">
              <a:noFill/>
              <a:prstDash val="solid"/>
              <a:miter/>
            </a:ln>
          </p:spPr>
          <p:txBody>
            <a:bodyPr wrap="square" rtlCol="0" anchor="ctr">
              <a:noAutofit/>
            </a:bodyPr>
            <a:lstStyle/>
            <a:p>
              <a:endParaRPr lang="en-US" dirty="0"/>
            </a:p>
          </p:txBody>
        </p:sp>
      </p:grpSp>
      <p:sp>
        <p:nvSpPr>
          <p:cNvPr id="11" name="TextBox 10">
            <a:extLst>
              <a:ext uri="{FF2B5EF4-FFF2-40B4-BE49-F238E27FC236}">
                <a16:creationId xmlns:a16="http://schemas.microsoft.com/office/drawing/2014/main" id="{95451B68-B000-F76B-DDBF-C455B982973E}"/>
              </a:ext>
            </a:extLst>
          </p:cNvPr>
          <p:cNvSpPr txBox="1"/>
          <p:nvPr/>
        </p:nvSpPr>
        <p:spPr>
          <a:xfrm>
            <a:off x="2856977" y="1507611"/>
            <a:ext cx="5927837" cy="4280746"/>
          </a:xfrm>
          <a:prstGeom prst="rect">
            <a:avLst/>
          </a:prstGeom>
        </p:spPr>
        <p:txBody>
          <a:bodyPr vert="horz" lIns="91440" tIns="45720" rIns="91440" bIns="45720" rtlCol="0">
            <a:normAutofit/>
          </a:bodyPr>
          <a:lstStyle/>
          <a:p>
            <a:pPr algn="ctr" defTabSz="914400">
              <a:lnSpc>
                <a:spcPct val="90000"/>
              </a:lnSpc>
              <a:spcAft>
                <a:spcPts val="600"/>
              </a:spcAft>
            </a:pPr>
            <a:r>
              <a:rPr lang="en-US" sz="2800" dirty="0" err="1">
                <a:solidFill>
                  <a:schemeClr val="bg1"/>
                </a:solidFill>
              </a:rPr>
              <a:t>Dijital</a:t>
            </a:r>
            <a:r>
              <a:rPr lang="en-US" sz="2800" dirty="0">
                <a:solidFill>
                  <a:schemeClr val="bg1"/>
                </a:solidFill>
              </a:rPr>
              <a:t> </a:t>
            </a:r>
            <a:r>
              <a:rPr lang="en-US" sz="2800" dirty="0" err="1">
                <a:solidFill>
                  <a:schemeClr val="bg1"/>
                </a:solidFill>
              </a:rPr>
              <a:t>çağda</a:t>
            </a:r>
            <a:r>
              <a:rPr lang="en-US" sz="2800" dirty="0">
                <a:solidFill>
                  <a:schemeClr val="bg1"/>
                </a:solidFill>
              </a:rPr>
              <a:t> </a:t>
            </a:r>
            <a:r>
              <a:rPr lang="en-US" sz="2800" dirty="0" err="1">
                <a:solidFill>
                  <a:schemeClr val="bg1"/>
                </a:solidFill>
              </a:rPr>
              <a:t>güven</a:t>
            </a:r>
            <a:r>
              <a:rPr lang="en-US" sz="2800" dirty="0">
                <a:solidFill>
                  <a:schemeClr val="bg1"/>
                </a:solidFill>
              </a:rPr>
              <a:t>, </a:t>
            </a:r>
            <a:r>
              <a:rPr lang="en-US" sz="2800" dirty="0" err="1">
                <a:solidFill>
                  <a:schemeClr val="bg1"/>
                </a:solidFill>
              </a:rPr>
              <a:t>teknoloji</a:t>
            </a:r>
            <a:r>
              <a:rPr lang="en-US" sz="2800" dirty="0">
                <a:solidFill>
                  <a:schemeClr val="bg1"/>
                </a:solidFill>
              </a:rPr>
              <a:t> </a:t>
            </a:r>
            <a:r>
              <a:rPr lang="en-US" sz="2800" dirty="0" err="1">
                <a:solidFill>
                  <a:schemeClr val="bg1"/>
                </a:solidFill>
              </a:rPr>
              <a:t>kadar</a:t>
            </a:r>
            <a:r>
              <a:rPr lang="en-US" sz="2800" dirty="0">
                <a:solidFill>
                  <a:schemeClr val="bg1"/>
                </a:solidFill>
              </a:rPr>
              <a:t>   </a:t>
            </a:r>
            <a:r>
              <a:rPr lang="en-US" sz="2800" dirty="0" err="1">
                <a:solidFill>
                  <a:schemeClr val="bg1"/>
                </a:solidFill>
              </a:rPr>
              <a:t>bilinçle</a:t>
            </a:r>
            <a:r>
              <a:rPr lang="en-US" sz="2800" dirty="0">
                <a:solidFill>
                  <a:schemeClr val="bg1"/>
                </a:solidFill>
              </a:rPr>
              <a:t> de </a:t>
            </a:r>
            <a:r>
              <a:rPr lang="en-US" sz="2800" dirty="0" err="1">
                <a:solidFill>
                  <a:schemeClr val="bg1"/>
                </a:solidFill>
              </a:rPr>
              <a:t>inşa</a:t>
            </a:r>
            <a:r>
              <a:rPr lang="en-US" sz="2800" dirty="0">
                <a:solidFill>
                  <a:schemeClr val="bg1"/>
                </a:solidFill>
              </a:rPr>
              <a:t> </a:t>
            </a:r>
            <a:r>
              <a:rPr lang="en-US" sz="2800" dirty="0" err="1">
                <a:solidFill>
                  <a:schemeClr val="bg1"/>
                </a:solidFill>
              </a:rPr>
              <a:t>edilir</a:t>
            </a:r>
            <a:r>
              <a:rPr lang="en-US" sz="2800" dirty="0">
                <a:solidFill>
                  <a:schemeClr val="bg1"/>
                </a:solidFill>
              </a:rPr>
              <a:t>.</a:t>
            </a:r>
            <a:endParaRPr lang="tr-TR" sz="2800" dirty="0">
              <a:solidFill>
                <a:schemeClr val="bg1"/>
              </a:solidFill>
            </a:endParaRPr>
          </a:p>
          <a:p>
            <a:pPr algn="ctr" defTabSz="914400">
              <a:lnSpc>
                <a:spcPct val="90000"/>
              </a:lnSpc>
              <a:spcAft>
                <a:spcPts val="600"/>
              </a:spcAft>
            </a:pPr>
            <a:endParaRPr lang="tr-TR" sz="2800" dirty="0">
              <a:solidFill>
                <a:schemeClr val="bg1"/>
              </a:solidFill>
            </a:endParaRPr>
          </a:p>
          <a:p>
            <a:pPr algn="ctr" defTabSz="914400">
              <a:lnSpc>
                <a:spcPct val="90000"/>
              </a:lnSpc>
              <a:spcAft>
                <a:spcPts val="600"/>
              </a:spcAft>
            </a:pPr>
            <a:endParaRPr lang="tr-TR" sz="2800" dirty="0">
              <a:solidFill>
                <a:schemeClr val="bg1"/>
              </a:solidFill>
            </a:endParaRPr>
          </a:p>
          <a:p>
            <a:pPr algn="ctr" defTabSz="914400">
              <a:lnSpc>
                <a:spcPct val="90000"/>
              </a:lnSpc>
              <a:spcAft>
                <a:spcPts val="600"/>
              </a:spcAft>
            </a:pPr>
            <a:r>
              <a:rPr lang="en-US" sz="2800" dirty="0" err="1">
                <a:solidFill>
                  <a:schemeClr val="bg1"/>
                </a:solidFill>
              </a:rPr>
              <a:t>İlginiz</a:t>
            </a:r>
            <a:r>
              <a:rPr lang="en-US" sz="2800" dirty="0">
                <a:solidFill>
                  <a:schemeClr val="bg1"/>
                </a:solidFill>
              </a:rPr>
              <a:t> </a:t>
            </a:r>
            <a:r>
              <a:rPr lang="en-US" sz="2800" dirty="0" err="1">
                <a:solidFill>
                  <a:schemeClr val="bg1"/>
                </a:solidFill>
              </a:rPr>
              <a:t>ve</a:t>
            </a:r>
            <a:r>
              <a:rPr lang="en-US" sz="2800" dirty="0">
                <a:solidFill>
                  <a:schemeClr val="bg1"/>
                </a:solidFill>
              </a:rPr>
              <a:t> </a:t>
            </a:r>
            <a:r>
              <a:rPr lang="en-US" sz="2800" dirty="0" err="1">
                <a:solidFill>
                  <a:schemeClr val="bg1"/>
                </a:solidFill>
              </a:rPr>
              <a:t>katılımınız</a:t>
            </a:r>
            <a:r>
              <a:rPr lang="en-US" sz="2800" dirty="0">
                <a:solidFill>
                  <a:schemeClr val="bg1"/>
                </a:solidFill>
              </a:rPr>
              <a:t> </a:t>
            </a:r>
            <a:r>
              <a:rPr lang="en-US" sz="2800" dirty="0" err="1">
                <a:solidFill>
                  <a:schemeClr val="bg1"/>
                </a:solidFill>
              </a:rPr>
              <a:t>için</a:t>
            </a:r>
            <a:endParaRPr lang="tr-TR" sz="2800" dirty="0">
              <a:solidFill>
                <a:schemeClr val="bg1"/>
              </a:solidFill>
            </a:endParaRPr>
          </a:p>
          <a:p>
            <a:pPr algn="ctr" defTabSz="914400">
              <a:lnSpc>
                <a:spcPct val="90000"/>
              </a:lnSpc>
              <a:spcAft>
                <a:spcPts val="600"/>
              </a:spcAft>
            </a:pPr>
            <a:r>
              <a:rPr lang="en-US" sz="2800" dirty="0">
                <a:solidFill>
                  <a:schemeClr val="bg1"/>
                </a:solidFill>
              </a:rPr>
              <a:t>   TEŞEKKÜR EDERİM.</a:t>
            </a:r>
          </a:p>
          <a:p>
            <a:pPr indent="-228600" defTabSz="914400">
              <a:lnSpc>
                <a:spcPct val="90000"/>
              </a:lnSpc>
              <a:spcAft>
                <a:spcPts val="600"/>
              </a:spcAft>
              <a:buFont typeface="Arial" panose="020B0604020202020204" pitchFamily="34" charset="0"/>
              <a:buChar char="•"/>
            </a:pPr>
            <a:endParaRPr lang="en-US" dirty="0">
              <a:solidFill>
                <a:schemeClr val="bg1"/>
              </a:solidFill>
            </a:endParaRPr>
          </a:p>
        </p:txBody>
      </p:sp>
      <p:grpSp>
        <p:nvGrpSpPr>
          <p:cNvPr id="94" name="Graphic 185">
            <a:extLst>
              <a:ext uri="{FF2B5EF4-FFF2-40B4-BE49-F238E27FC236}">
                <a16:creationId xmlns:a16="http://schemas.microsoft.com/office/drawing/2014/main" id="{582A903B-6B78-4F0A-B7C9-3D80499020B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428634" y="5987064"/>
            <a:ext cx="1054466" cy="469689"/>
            <a:chOff x="9841624" y="4115729"/>
            <a:chExt cx="602169" cy="268223"/>
          </a:xfrm>
          <a:solidFill>
            <a:schemeClr val="bg1"/>
          </a:solidFill>
        </p:grpSpPr>
        <p:sp>
          <p:nvSpPr>
            <p:cNvPr id="86" name="Freeform: Shape 85">
              <a:extLst>
                <a:ext uri="{FF2B5EF4-FFF2-40B4-BE49-F238E27FC236}">
                  <a16:creationId xmlns:a16="http://schemas.microsoft.com/office/drawing/2014/main" id="{D510EA93-8F64-42C8-A630-D449506E95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87" name="Freeform: Shape 86">
              <a:extLst>
                <a:ext uri="{FF2B5EF4-FFF2-40B4-BE49-F238E27FC236}">
                  <a16:creationId xmlns:a16="http://schemas.microsoft.com/office/drawing/2014/main" id="{06CB53FC-E4DA-4001-928B-9998A85EA5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88" name="Freeform: Shape 87">
              <a:extLst>
                <a:ext uri="{FF2B5EF4-FFF2-40B4-BE49-F238E27FC236}">
                  <a16:creationId xmlns:a16="http://schemas.microsoft.com/office/drawing/2014/main" id="{D210B969-4FDF-4AAC-9397-63D5434958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89" name="Freeform: Shape 88">
              <a:extLst>
                <a:ext uri="{FF2B5EF4-FFF2-40B4-BE49-F238E27FC236}">
                  <a16:creationId xmlns:a16="http://schemas.microsoft.com/office/drawing/2014/main" id="{570B3EF0-84EA-4F47-86A3-1EA1F644A4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90" name="Freeform: Shape 89">
              <a:extLst>
                <a:ext uri="{FF2B5EF4-FFF2-40B4-BE49-F238E27FC236}">
                  <a16:creationId xmlns:a16="http://schemas.microsoft.com/office/drawing/2014/main" id="{259369A8-EF57-42A1-8EC8-F6A9F92A3A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
        <p:nvSpPr>
          <p:cNvPr id="9" name="TextBox 8">
            <a:extLst>
              <a:ext uri="{FF2B5EF4-FFF2-40B4-BE49-F238E27FC236}">
                <a16:creationId xmlns:a16="http://schemas.microsoft.com/office/drawing/2014/main" id="{23CAB51E-A81E-C525-4B15-1A2F88E509C5}"/>
              </a:ext>
            </a:extLst>
          </p:cNvPr>
          <p:cNvSpPr txBox="1"/>
          <p:nvPr/>
        </p:nvSpPr>
        <p:spPr>
          <a:xfrm>
            <a:off x="168359" y="936854"/>
            <a:ext cx="11137106" cy="954107"/>
          </a:xfrm>
          <a:prstGeom prst="rect">
            <a:avLst/>
          </a:prstGeom>
          <a:noFill/>
        </p:spPr>
        <p:txBody>
          <a:bodyPr wrap="square">
            <a:spAutoFit/>
          </a:bodyPr>
          <a:lstStyle/>
          <a:p>
            <a:pPr>
              <a:spcAft>
                <a:spcPts val="600"/>
              </a:spcAft>
            </a:pPr>
            <a:endParaRPr lang="tr-TR" sz="1400">
              <a:solidFill>
                <a:schemeClr val="accent5">
                  <a:lumMod val="50000"/>
                </a:schemeClr>
              </a:solidFill>
              <a:latin typeface="Arial" panose="020B0604020202020204" pitchFamily="34" charset="0"/>
              <a:cs typeface="Arial" panose="020B0604020202020204" pitchFamily="34" charset="0"/>
            </a:endParaRPr>
          </a:p>
          <a:p>
            <a:pPr>
              <a:spcAft>
                <a:spcPts val="600"/>
              </a:spcAft>
            </a:pPr>
            <a:endParaRPr lang="en-US" sz="1400">
              <a:solidFill>
                <a:schemeClr val="accent5">
                  <a:lumMod val="50000"/>
                </a:schemeClr>
              </a:solidFill>
              <a:highlight>
                <a:srgbClr val="FFFF00"/>
              </a:highlight>
              <a:latin typeface="Arial" panose="020B0604020202020204" pitchFamily="34" charset="0"/>
              <a:cs typeface="Arial" panose="020B0604020202020204" pitchFamily="34" charset="0"/>
            </a:endParaRPr>
          </a:p>
          <a:p>
            <a:pPr>
              <a:spcAft>
                <a:spcPts val="600"/>
              </a:spcAft>
            </a:pPr>
            <a:endParaRPr lang="en-US" sz="1800">
              <a:solidFill>
                <a:schemeClr val="accent5">
                  <a:lumMod val="50000"/>
                </a:schemeClr>
              </a:solidFill>
              <a:highlight>
                <a:srgbClr val="00FF00"/>
              </a:highlight>
            </a:endParaRPr>
          </a:p>
        </p:txBody>
      </p:sp>
    </p:spTree>
    <p:extLst>
      <p:ext uri="{BB962C8B-B14F-4D97-AF65-F5344CB8AC3E}">
        <p14:creationId xmlns:p14="http://schemas.microsoft.com/office/powerpoint/2010/main" val="2499252492"/>
      </p:ext>
    </p:extLst>
  </p:cSld>
  <p:clrMapOvr>
    <a:masterClrMapping/>
  </p:clrMapOvr>
</p:sld>
</file>

<file path=ppt/theme/theme1.xml><?xml version="1.0" encoding="utf-8"?>
<a:theme xmlns:a="http://schemas.openxmlformats.org/drawingml/2006/main" name="Office Theme">
  <a:themeElements>
    <a:clrScheme name="Custom 1">
      <a:dk1>
        <a:sysClr val="windowText" lastClr="000000"/>
      </a:dk1>
      <a:lt1>
        <a:sysClr val="window" lastClr="FFFFFF"/>
      </a:lt1>
      <a:dk2>
        <a:srgbClr val="335B74"/>
      </a:dk2>
      <a:lt2>
        <a:srgbClr val="DFE3E5"/>
      </a:lt2>
      <a:accent1>
        <a:srgbClr val="D1EEF9"/>
      </a:accent1>
      <a:accent2>
        <a:srgbClr val="A3CEED"/>
      </a:accent2>
      <a:accent3>
        <a:srgbClr val="27CED7"/>
      </a:accent3>
      <a:accent4>
        <a:srgbClr val="75B5E4"/>
      </a:accent4>
      <a:accent5>
        <a:srgbClr val="D4EBDA"/>
      </a:accent5>
      <a:accent6>
        <a:srgbClr val="DFECEB"/>
      </a:accent6>
      <a:hlink>
        <a:srgbClr val="FEE4BD"/>
      </a:hlink>
      <a:folHlink>
        <a:srgbClr val="B26B02"/>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docProps/app.xml><?xml version="1.0" encoding="utf-8"?>
<Properties xmlns="http://schemas.openxmlformats.org/officeDocument/2006/extended-properties" xmlns:vt="http://schemas.openxmlformats.org/officeDocument/2006/docPropsVTypes">
  <Template/>
  <TotalTime>2638</TotalTime>
  <Words>4963</Words>
  <Application>Microsoft Office PowerPoint</Application>
  <PresentationFormat>Widescreen</PresentationFormat>
  <Paragraphs>489</Paragraphs>
  <Slides>31</Slides>
  <Notes>7</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31</vt:i4>
      </vt:variant>
    </vt:vector>
  </HeadingPairs>
  <TitlesOfParts>
    <vt:vector size="37" baseType="lpstr">
      <vt:lpstr>Aptos</vt:lpstr>
      <vt:lpstr>Aptos Display</vt:lpstr>
      <vt:lpstr>Arial</vt:lpstr>
      <vt:lpstr>Calibri</vt:lpstr>
      <vt:lpstr>Office Theme</vt:lpstr>
      <vt:lpstr>Worksheet</vt:lpstr>
      <vt:lpstr>PowerPoint Presentation</vt:lpstr>
      <vt:lpstr>PowerPoint Presentation</vt:lpstr>
      <vt:lpstr>PowerPoint Presentation</vt:lpstr>
      <vt:lpstr>PowerPoint Presentation</vt:lpstr>
      <vt:lpstr>PowerPoint Presentation</vt:lpstr>
      <vt:lpstr>Veri İhlali Nedir?</vt:lpstr>
      <vt:lpstr>PowerPoint Presentation</vt:lpstr>
      <vt:lpstr>PowerPoint Presentation</vt:lpstr>
      <vt:lpstr>Küresel Ölçekte Artan Riskler </vt:lpstr>
      <vt:lpstr>2020–2025 Yılları Arası   Küresel Veri  İhlalleri</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Sunusu</dc:title>
  <dc:creator>Gülfiz POYRAZ</dc:creator>
  <cp:lastModifiedBy>Gülfiz POYRAZ</cp:lastModifiedBy>
  <cp:revision>160</cp:revision>
  <dcterms:created xsi:type="dcterms:W3CDTF">2025-10-15T18:06:47Z</dcterms:created>
  <dcterms:modified xsi:type="dcterms:W3CDTF">2025-11-09T08:26:42Z</dcterms:modified>
</cp:coreProperties>
</file>